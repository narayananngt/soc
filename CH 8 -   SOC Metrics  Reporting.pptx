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6"/>
  </p:notesMasterIdLst>
  <p:sldIdLst>
    <p:sldId id="256" r:id="rId5"/>
    <p:sldId id="257" r:id="rId6"/>
    <p:sldId id="366" r:id="rId7"/>
    <p:sldId id="367" r:id="rId8"/>
    <p:sldId id="368" r:id="rId9"/>
    <p:sldId id="369" r:id="rId10"/>
    <p:sldId id="403" r:id="rId11"/>
    <p:sldId id="371" r:id="rId12"/>
    <p:sldId id="374" r:id="rId13"/>
    <p:sldId id="375" r:id="rId14"/>
    <p:sldId id="376" r:id="rId15"/>
    <p:sldId id="340" r:id="rId16"/>
    <p:sldId id="377" r:id="rId17"/>
    <p:sldId id="379" r:id="rId18"/>
    <p:sldId id="334" r:id="rId19"/>
    <p:sldId id="335" r:id="rId20"/>
    <p:sldId id="384" r:id="rId21"/>
    <p:sldId id="380" r:id="rId22"/>
    <p:sldId id="378" r:id="rId23"/>
    <p:sldId id="381" r:id="rId24"/>
    <p:sldId id="382" r:id="rId25"/>
    <p:sldId id="383" r:id="rId26"/>
    <p:sldId id="385" r:id="rId27"/>
    <p:sldId id="386" r:id="rId28"/>
    <p:sldId id="387" r:id="rId29"/>
    <p:sldId id="388" r:id="rId30"/>
    <p:sldId id="389" r:id="rId31"/>
    <p:sldId id="390" r:id="rId32"/>
    <p:sldId id="391" r:id="rId33"/>
    <p:sldId id="404" r:id="rId34"/>
    <p:sldId id="392" r:id="rId35"/>
    <p:sldId id="393" r:id="rId36"/>
    <p:sldId id="394" r:id="rId37"/>
    <p:sldId id="395" r:id="rId38"/>
    <p:sldId id="396" r:id="rId39"/>
    <p:sldId id="397" r:id="rId40"/>
    <p:sldId id="398" r:id="rId41"/>
    <p:sldId id="399" r:id="rId42"/>
    <p:sldId id="400" r:id="rId43"/>
    <p:sldId id="401" r:id="rId44"/>
    <p:sldId id="348"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59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510" y="114"/>
      </p:cViewPr>
      <p:guideLst/>
    </p:cSldViewPr>
  </p:slideViewPr>
  <p:notesTextViewPr>
    <p:cViewPr>
      <p:scale>
        <a:sx n="1" d="1"/>
        <a:sy n="1" d="1"/>
      </p:scale>
      <p:origin x="0" y="0"/>
    </p:cViewPr>
  </p:notesTextViewPr>
  <p:sorterViewPr>
    <p:cViewPr varScale="1">
      <p:scale>
        <a:sx n="100" d="100"/>
        <a:sy n="100" d="100"/>
      </p:scale>
      <p:origin x="0" y="-3149"/>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78F9BA-FAA7-4C71-8E5E-04227D9339CA}"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A5EA9-A665-4B82-8C28-FB17FC9CCCF2}" type="slidenum">
              <a:rPr lang="en-US" smtClean="0"/>
              <a:t>‹#›</a:t>
            </a:fld>
            <a:endParaRPr lang="en-US"/>
          </a:p>
        </p:txBody>
      </p:sp>
    </p:spTree>
    <p:extLst>
      <p:ext uri="{BB962C8B-B14F-4D97-AF65-F5344CB8AC3E}">
        <p14:creationId xmlns:p14="http://schemas.microsoft.com/office/powerpoint/2010/main" val="3205975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B7766-3367-E7D6-00EF-A53508A3A12A}"/>
              </a:ext>
            </a:extLst>
          </p:cNvPr>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67FF1BC-220C-D827-CD59-950320E5C2E8}"/>
              </a:ext>
            </a:extLst>
          </p:cNvPr>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375687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857F2E-339D-E6C5-BCBC-2B077CAE8311}"/>
              </a:ext>
            </a:extLst>
          </p:cNvPr>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29156AB4-EC91-B384-E7B4-E95B4CBC35C4}"/>
              </a:ext>
            </a:extLst>
          </p:cNvPr>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275191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7C730-2526-2436-83B9-31B1FB54BD0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F0D509B-F558-8250-026B-44BDE5F1FD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Graphic 6">
            <a:extLst>
              <a:ext uri="{FF2B5EF4-FFF2-40B4-BE49-F238E27FC236}">
                <a16:creationId xmlns:a16="http://schemas.microsoft.com/office/drawing/2014/main" id="{3FAB82C7-3A7F-3400-8C0C-C6807996BDD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15975"/>
            <a:ext cx="219075" cy="365125"/>
          </a:xfrm>
          <a:prstGeom prst="rect">
            <a:avLst/>
          </a:prstGeom>
        </p:spPr>
      </p:pic>
      <p:pic>
        <p:nvPicPr>
          <p:cNvPr id="8" name="Picture 7">
            <a:extLst>
              <a:ext uri="{FF2B5EF4-FFF2-40B4-BE49-F238E27FC236}">
                <a16:creationId xmlns:a16="http://schemas.microsoft.com/office/drawing/2014/main" id="{BBAF4668-7EA5-DF62-F5E8-E55363257555}"/>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669178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643361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887501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2559A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00384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4_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707399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786BD-C77C-2D23-CF7B-C8D2E30F0B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076FD6-BC76-C316-FEC2-1B2CAD1156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B4B0F8-D10E-C846-C7C8-F2B35F2178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2EB146C-E069-79DF-03A0-3EF507DB1F2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54075"/>
            <a:ext cx="219075" cy="365125"/>
          </a:xfrm>
          <a:prstGeom prst="rect">
            <a:avLst/>
          </a:prstGeom>
        </p:spPr>
      </p:pic>
      <p:pic>
        <p:nvPicPr>
          <p:cNvPr id="10" name="Picture 9">
            <a:extLst>
              <a:ext uri="{FF2B5EF4-FFF2-40B4-BE49-F238E27FC236}">
                <a16:creationId xmlns:a16="http://schemas.microsoft.com/office/drawing/2014/main" id="{D0D7F560-006E-C92C-CAE6-655946296A86}"/>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4288450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CCDCB-0722-1FF7-967A-4C2B8AA78748}"/>
              </a:ext>
            </a:extLst>
          </p:cNvPr>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9240F6-D089-115A-F484-55B95FE6EB86}"/>
              </a:ext>
            </a:extLst>
          </p:cNvPr>
          <p:cNvSpPr>
            <a:spLocks noGrp="1"/>
          </p:cNvSpPr>
          <p:nvPr>
            <p:ph type="body" idx="1"/>
          </p:nvPr>
        </p:nvSpPr>
        <p:spPr>
          <a:xfrm>
            <a:off x="839789" y="1681163"/>
            <a:ext cx="515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62AEC2-681B-D1B2-EB84-84968D66C9AE}"/>
              </a:ext>
            </a:extLst>
          </p:cNvPr>
          <p:cNvSpPr>
            <a:spLocks noGrp="1"/>
          </p:cNvSpPr>
          <p:nvPr>
            <p:ph sz="half" idx="2"/>
          </p:nvPr>
        </p:nvSpPr>
        <p:spPr>
          <a:xfrm>
            <a:off x="839789"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EC8B4E-4F3D-8952-2B49-981561BBF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0FCC89-9EDF-D5CF-08A1-5E55519C00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287A60A5-2807-0E92-F4E2-9BE5550A1FB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11" name="Picture 10">
            <a:extLst>
              <a:ext uri="{FF2B5EF4-FFF2-40B4-BE49-F238E27FC236}">
                <a16:creationId xmlns:a16="http://schemas.microsoft.com/office/drawing/2014/main" id="{97F05A89-2C90-505C-30DC-7C2B9A91F6E1}"/>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832807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14D33-0BE4-90FC-4AE5-0A4A211D1803}"/>
              </a:ext>
            </a:extLst>
          </p:cNvPr>
          <p:cNvSpPr>
            <a:spLocks noGrp="1"/>
          </p:cNvSpPr>
          <p:nvPr>
            <p:ph type="title"/>
          </p:nvPr>
        </p:nvSpPr>
        <p:spPr/>
        <p:txBody>
          <a:bodyPr/>
          <a:lstStyle/>
          <a:p>
            <a:r>
              <a:rPr lang="en-US"/>
              <a:t>Click to edit Master title style</a:t>
            </a:r>
          </a:p>
        </p:txBody>
      </p:sp>
      <p:pic>
        <p:nvPicPr>
          <p:cNvPr id="7" name="Graphic 6">
            <a:extLst>
              <a:ext uri="{FF2B5EF4-FFF2-40B4-BE49-F238E27FC236}">
                <a16:creationId xmlns:a16="http://schemas.microsoft.com/office/drawing/2014/main" id="{5DF5F826-F6F1-CFCA-D42B-E759F28DD1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8" name="Picture 7">
            <a:extLst>
              <a:ext uri="{FF2B5EF4-FFF2-40B4-BE49-F238E27FC236}">
                <a16:creationId xmlns:a16="http://schemas.microsoft.com/office/drawing/2014/main" id="{1DDF20CF-E57F-42E5-6EFD-7AD8EB6F06F4}"/>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460322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3D930E-17D8-84EC-D92C-061363439E3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1831208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9ED7-E623-FCE4-FB92-360B98ADBBF1}"/>
              </a:ext>
            </a:extLst>
          </p:cNvPr>
          <p:cNvSpPr>
            <a:spLocks noGrp="1"/>
          </p:cNvSpPr>
          <p:nvPr>
            <p:ph type="title"/>
          </p:nvPr>
        </p:nvSpPr>
        <p:spPr>
          <a:xfrm>
            <a:off x="839789" y="457200"/>
            <a:ext cx="3932238" cy="16002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ED58EE0-622A-334F-1443-5A4528051E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8AE8A4-A68D-5A4A-A023-8C2D5F871D0F}"/>
              </a:ext>
            </a:extLst>
          </p:cNvPr>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Graphic 8">
            <a:extLst>
              <a:ext uri="{FF2B5EF4-FFF2-40B4-BE49-F238E27FC236}">
                <a16:creationId xmlns:a16="http://schemas.microsoft.com/office/drawing/2014/main" id="{785CBBC2-61B8-7F43-0B0A-9D30B71ECC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1168400"/>
            <a:ext cx="219075" cy="365125"/>
          </a:xfrm>
          <a:prstGeom prst="rect">
            <a:avLst/>
          </a:prstGeom>
        </p:spPr>
      </p:pic>
      <p:pic>
        <p:nvPicPr>
          <p:cNvPr id="10" name="Picture 9">
            <a:extLst>
              <a:ext uri="{FF2B5EF4-FFF2-40B4-BE49-F238E27FC236}">
                <a16:creationId xmlns:a16="http://schemas.microsoft.com/office/drawing/2014/main" id="{37A3BA6B-E9E4-F0D0-8FB5-E35191C16699}"/>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2844495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81D87-5687-C9B5-AE49-A83726D9BC05}"/>
              </a:ext>
            </a:extLst>
          </p:cNvPr>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5FA632-D2F7-E2BA-A935-20B1A394FA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5BA056-00E2-82F6-5FA4-32B76E5B3E0B}"/>
              </a:ext>
            </a:extLst>
          </p:cNvPr>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a:extLst>
              <a:ext uri="{FF2B5EF4-FFF2-40B4-BE49-F238E27FC236}">
                <a16:creationId xmlns:a16="http://schemas.microsoft.com/office/drawing/2014/main" id="{55E1618B-D136-C5BB-2E38-B80F9B3CF5B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914757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EFCBA-3B8B-9D62-253A-5E58F2AA60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21F39B-5912-FF25-7793-DBF7785760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27A3DEB6-94B4-A533-8E42-30DCFEB3B6F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7409918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3ECA9A-730D-7BDC-4EB3-94B6B2FA80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87C848-B2DE-F9EC-9D0C-9077EB2B77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E16726B3-A797-03A8-1C35-BD44D85A1877}"/>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8411737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E40458-2F02-807D-C70A-2A5EC5838CF6}"/>
              </a:ext>
            </a:extLst>
          </p:cNvPr>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6033B479-889B-1E49-D47B-00C9264495FC}"/>
              </a:ext>
            </a:extLst>
          </p:cNvPr>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211263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E40458-2F02-807D-C70A-2A5EC5838CF6}"/>
              </a:ext>
            </a:extLst>
          </p:cNvPr>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6033B479-889B-1E49-D47B-00C9264495FC}"/>
              </a:ext>
            </a:extLst>
          </p:cNvPr>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585134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77EBF4-2CD4-F34B-E5E2-783C7FC90783}"/>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302689-B02C-F697-CBBE-D4B715CAEE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AD59A43A-2FDE-9674-4AB5-0E6557C388F6}"/>
              </a:ext>
            </a:extLst>
          </p:cNvPr>
          <p:cNvSpPr>
            <a:spLocks noGrp="1"/>
          </p:cNvSpPr>
          <p:nvPr>
            <p:ph type="sldNum" sz="quarter" idx="4"/>
          </p:nvPr>
        </p:nvSpPr>
        <p:spPr>
          <a:xfrm>
            <a:off x="5057775" y="6492874"/>
            <a:ext cx="6296025" cy="228602"/>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ar-DZ" dirty="0"/>
              <a:t> </a:t>
            </a:r>
            <a:r>
              <a:rPr lang="en-US" dirty="0"/>
              <a:t>University of Technology and Applied Sciences</a:t>
            </a:r>
            <a:r>
              <a:rPr lang="ar-DZ" dirty="0"/>
              <a:t> جامعة التقنية والعلوم التطبيقية - </a:t>
            </a:r>
            <a:r>
              <a:rPr lang="en-US" dirty="0"/>
              <a:t> </a:t>
            </a:r>
          </a:p>
          <a:p>
            <a:endParaRPr lang="en-US" dirty="0"/>
          </a:p>
          <a:p>
            <a:endParaRPr lang="en-US" dirty="0"/>
          </a:p>
        </p:txBody>
      </p:sp>
    </p:spTree>
    <p:extLst>
      <p:ext uri="{BB962C8B-B14F-4D97-AF65-F5344CB8AC3E}">
        <p14:creationId xmlns:p14="http://schemas.microsoft.com/office/powerpoint/2010/main" val="2974472356"/>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61" r:id="rId4"/>
    <p:sldLayoutId id="2147483651" r:id="rId5"/>
    <p:sldLayoutId id="2147483662" r:id="rId6"/>
    <p:sldLayoutId id="2147483663"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8" Type="http://schemas.openxmlformats.org/officeDocument/2006/relationships/hyperlink" Target="https://managedmethods.com/blog/post-incident-analysis/" TargetMode="External"/><Relationship Id="rId13" Type="http://schemas.openxmlformats.org/officeDocument/2006/relationships/hyperlink" Target="https://vendict.com/blog/what-is-soc-compliance-main-criteria-and-requirements" TargetMode="External"/><Relationship Id="rId3" Type="http://schemas.openxmlformats.org/officeDocument/2006/relationships/hyperlink" Target="https://blueteamresources.in/soc-metrics-and-kpi/" TargetMode="External"/><Relationship Id="rId7" Type="http://schemas.openxmlformats.org/officeDocument/2006/relationships/hyperlink" Target="https://www.ibm.com/security" TargetMode="External"/><Relationship Id="rId12" Type="http://schemas.openxmlformats.org/officeDocument/2006/relationships/hyperlink" Target="https://help.victorops.com/knowledge-base/post-incident-review/" TargetMode="External"/><Relationship Id="rId2" Type="http://schemas.openxmlformats.org/officeDocument/2006/relationships/hyperlink" Target="https://www.aicpa.org/" TargetMode="External"/><Relationship Id="rId1" Type="http://schemas.openxmlformats.org/officeDocument/2006/relationships/slideLayout" Target="../slideLayouts/slideLayout3.xml"/><Relationship Id="rId6" Type="http://schemas.openxmlformats.org/officeDocument/2006/relationships/hyperlink" Target="https://gdpr.eu/" TargetMode="External"/><Relationship Id="rId11" Type="http://schemas.openxmlformats.org/officeDocument/2006/relationships/hyperlink" Target="https://www.sans.org/" TargetMode="External"/><Relationship Id="rId5" Type="http://schemas.openxmlformats.org/officeDocument/2006/relationships/hyperlink" Target="https://www.crowdstrike.com/" TargetMode="External"/><Relationship Id="rId10" Type="http://schemas.openxmlformats.org/officeDocument/2006/relationships/hyperlink" Target="https://www.splunk.com/en_us/blog/learn/security-operations-metrics.html" TargetMode="External"/><Relationship Id="rId4" Type="http://schemas.openxmlformats.org/officeDocument/2006/relationships/hyperlink" Target="https://www.comptia.org/content/articles/what-is-cybersecurity-compliance" TargetMode="External"/><Relationship Id="rId9" Type="http://schemas.openxmlformats.org/officeDocument/2006/relationships/hyperlink" Target="https://www.splunk.com/" TargetMode="External"/><Relationship Id="rId14" Type="http://schemas.openxmlformats.org/officeDocument/2006/relationships/hyperlink" Target="https://demo.servicedeskplu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C5BB2-0847-90FD-A4B9-58B4E1F0AEA3}"/>
              </a:ext>
            </a:extLst>
          </p:cNvPr>
          <p:cNvSpPr>
            <a:spLocks noGrp="1"/>
          </p:cNvSpPr>
          <p:nvPr>
            <p:ph type="ctrTitle"/>
          </p:nvPr>
        </p:nvSpPr>
        <p:spPr/>
        <p:txBody>
          <a:bodyPr>
            <a:normAutofit/>
          </a:bodyPr>
          <a:lstStyle/>
          <a:p>
            <a:r>
              <a:rPr lang="en-US" sz="5400" b="1" dirty="0">
                <a:solidFill>
                  <a:schemeClr val="accent3"/>
                </a:solidFill>
                <a:latin typeface="Times New Roman" panose="02020603050405020304" pitchFamily="18" charset="0"/>
                <a:cs typeface="Times New Roman" panose="02020603050405020304" pitchFamily="18" charset="0"/>
              </a:rPr>
              <a:t>Lecture 8</a:t>
            </a:r>
          </a:p>
        </p:txBody>
      </p:sp>
      <p:sp>
        <p:nvSpPr>
          <p:cNvPr id="3" name="Subtitle 2">
            <a:extLst>
              <a:ext uri="{FF2B5EF4-FFF2-40B4-BE49-F238E27FC236}">
                <a16:creationId xmlns:a16="http://schemas.microsoft.com/office/drawing/2014/main" id="{88893B68-7396-A123-DEDF-BCF392D104FF}"/>
              </a:ext>
            </a:extLst>
          </p:cNvPr>
          <p:cNvSpPr>
            <a:spLocks noGrp="1"/>
          </p:cNvSpPr>
          <p:nvPr>
            <p:ph type="subTitle" idx="1"/>
          </p:nvPr>
        </p:nvSpPr>
        <p:spPr>
          <a:xfrm>
            <a:off x="3380763" y="4514849"/>
            <a:ext cx="8657439" cy="865187"/>
          </a:xfrm>
        </p:spPr>
        <p:txBody>
          <a:bodyPr>
            <a:normAutofit/>
          </a:bodyPr>
          <a:lstStyle/>
          <a:p>
            <a:pPr fontAlgn="base"/>
            <a:r>
              <a:rPr lang="en-GB" sz="4800" b="1" dirty="0">
                <a:latin typeface="Times New Roman" panose="02020603050405020304" pitchFamily="18" charset="0"/>
                <a:cs typeface="Times New Roman" panose="02020603050405020304" pitchFamily="18" charset="0"/>
              </a:rPr>
              <a:t>SOC Metrics &amp; Reporting</a:t>
            </a:r>
            <a:endParaRPr lang="en-US" sz="4800" dirty="0">
              <a:latin typeface="Times New Roman" panose="02020603050405020304" pitchFamily="18" charset="0"/>
              <a:cs typeface="Times New Roman" panose="02020603050405020304" pitchFamily="18" charset="0"/>
            </a:endParaRPr>
          </a:p>
          <a:p>
            <a:pPr fontAlgn="base"/>
            <a:endParaRPr lang="en-US" sz="2800" dirty="0"/>
          </a:p>
        </p:txBody>
      </p:sp>
    </p:spTree>
    <p:extLst>
      <p:ext uri="{BB962C8B-B14F-4D97-AF65-F5344CB8AC3E}">
        <p14:creationId xmlns:p14="http://schemas.microsoft.com/office/powerpoint/2010/main" val="4193284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F0A7D-6E98-D3D8-FDEC-CB1B57869DB8}"/>
              </a:ext>
            </a:extLst>
          </p:cNvPr>
          <p:cNvSpPr>
            <a:spLocks noGrp="1"/>
          </p:cNvSpPr>
          <p:nvPr>
            <p:ph type="title"/>
          </p:nvPr>
        </p:nvSpPr>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84B4EC71-6F30-9AC0-70DF-60AB709659E6}"/>
              </a:ext>
            </a:extLst>
          </p:cNvPr>
          <p:cNvSpPr>
            <a:spLocks noGrp="1"/>
          </p:cNvSpPr>
          <p:nvPr>
            <p:ph idx="1"/>
          </p:nvPr>
        </p:nvSpPr>
        <p:spPr>
          <a:xfrm>
            <a:off x="838199" y="1825625"/>
            <a:ext cx="11145819" cy="4351338"/>
          </a:xfrm>
        </p:spPr>
        <p:txBody>
          <a:bodyPr vert="horz" lIns="91440" tIns="45720" rIns="91440" bIns="45720" rtlCol="0" anchor="t">
            <a:normAutofit/>
          </a:bodyPr>
          <a:lstStyle/>
          <a:p>
            <a:pPr marL="0" indent="0" algn="just">
              <a:lnSpc>
                <a:spcPct val="150000"/>
              </a:lnSpc>
              <a:buNone/>
            </a:pPr>
            <a:r>
              <a:rPr lang="en-US" sz="2400" b="1" dirty="0">
                <a:solidFill>
                  <a:srgbClr val="0070C0"/>
                </a:solidFill>
                <a:latin typeface="Times New Roman" panose="02020603050405020304" pitchFamily="18" charset="0"/>
                <a:cs typeface="Times New Roman" panose="02020603050405020304" pitchFamily="18" charset="0"/>
              </a:rPr>
              <a:t>After studying this chapter, you should be able to understand</a:t>
            </a:r>
          </a:p>
          <a:p>
            <a:pPr fontAlgn="base">
              <a:lnSpc>
                <a:spcPct val="150000"/>
              </a:lnSpc>
            </a:pPr>
            <a:r>
              <a:rPr lang="en-US" sz="2400" b="1" dirty="0">
                <a:solidFill>
                  <a:schemeClr val="accent3"/>
                </a:solidFill>
                <a:latin typeface="Times New Roman" panose="02020603050405020304" pitchFamily="18" charset="0"/>
                <a:cs typeface="Times New Roman" panose="02020603050405020304" pitchFamily="18" charset="0"/>
              </a:rPr>
              <a:t>Measure and evaluate SOC performance using KPIs.</a:t>
            </a:r>
          </a:p>
          <a:p>
            <a:pPr fontAlgn="base">
              <a:lnSpc>
                <a:spcPct val="150000"/>
              </a:lnSpc>
            </a:pPr>
            <a:r>
              <a:rPr lang="en-US" sz="2400" b="1" dirty="0">
                <a:solidFill>
                  <a:schemeClr val="accent3"/>
                </a:solidFill>
                <a:latin typeface="Times New Roman" panose="02020603050405020304" pitchFamily="18" charset="0"/>
                <a:cs typeface="Times New Roman" panose="02020603050405020304" pitchFamily="18" charset="0"/>
              </a:rPr>
              <a:t>Produce accurate and professional incident reports.</a:t>
            </a:r>
          </a:p>
          <a:p>
            <a:pPr fontAlgn="base">
              <a:lnSpc>
                <a:spcPct val="150000"/>
              </a:lnSpc>
            </a:pPr>
            <a:r>
              <a:rPr lang="en-US" sz="2400" b="1" dirty="0">
                <a:solidFill>
                  <a:schemeClr val="accent3"/>
                </a:solidFill>
                <a:latin typeface="Times New Roman" panose="02020603050405020304" pitchFamily="18" charset="0"/>
                <a:cs typeface="Times New Roman" panose="02020603050405020304" pitchFamily="18" charset="0"/>
              </a:rPr>
              <a:t>Conduct post-incident analysis to improve SOC effectiveness.</a:t>
            </a:r>
          </a:p>
          <a:p>
            <a:pPr fontAlgn="base">
              <a:lnSpc>
                <a:spcPct val="150000"/>
              </a:lnSpc>
            </a:pPr>
            <a:r>
              <a:rPr lang="en-US" sz="2400" b="1" dirty="0">
                <a:solidFill>
                  <a:schemeClr val="accent3"/>
                </a:solidFill>
                <a:latin typeface="Times New Roman" panose="02020603050405020304" pitchFamily="18" charset="0"/>
                <a:cs typeface="Times New Roman" panose="02020603050405020304" pitchFamily="18" charset="0"/>
              </a:rPr>
              <a:t>Understand the SOC’s role in supporting organizational compliance and audits.</a:t>
            </a:r>
          </a:p>
        </p:txBody>
      </p:sp>
    </p:spTree>
    <p:extLst>
      <p:ext uri="{BB962C8B-B14F-4D97-AF65-F5344CB8AC3E}">
        <p14:creationId xmlns:p14="http://schemas.microsoft.com/office/powerpoint/2010/main" val="2850008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93E17-7354-4616-9E6C-CA3EECAFA521}"/>
              </a:ext>
            </a:extLst>
          </p:cNvPr>
          <p:cNvSpPr>
            <a:spLocks noGrp="1"/>
          </p:cNvSpPr>
          <p:nvPr>
            <p:ph type="title"/>
          </p:nvPr>
        </p:nvSpPr>
        <p:spPr>
          <a:xfrm>
            <a:off x="967292" y="548007"/>
            <a:ext cx="10515600" cy="894048"/>
          </a:xfrm>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SOC Metrics :</a:t>
            </a:r>
          </a:p>
        </p:txBody>
      </p:sp>
      <p:sp>
        <p:nvSpPr>
          <p:cNvPr id="3" name="Content Placeholder 2">
            <a:extLst>
              <a:ext uri="{FF2B5EF4-FFF2-40B4-BE49-F238E27FC236}">
                <a16:creationId xmlns:a16="http://schemas.microsoft.com/office/drawing/2014/main" id="{18DEE72F-7295-40C4-B254-442A1A78801A}"/>
              </a:ext>
            </a:extLst>
          </p:cNvPr>
          <p:cNvSpPr>
            <a:spLocks noGrp="1"/>
          </p:cNvSpPr>
          <p:nvPr>
            <p:ph idx="1"/>
          </p:nvPr>
        </p:nvSpPr>
        <p:spPr>
          <a:xfrm>
            <a:off x="838200" y="1558977"/>
            <a:ext cx="10758544" cy="4617986"/>
          </a:xfrm>
        </p:spPr>
        <p:txBody>
          <a:bodyPr>
            <a:normAutofit fontScale="62500" lnSpcReduction="20000"/>
          </a:bodyPr>
          <a:lstStyle/>
          <a:p>
            <a:pPr algn="just">
              <a:lnSpc>
                <a:spcPct val="170000"/>
              </a:lnSpc>
            </a:pPr>
            <a:r>
              <a:rPr lang="en-US" sz="2600" b="1" dirty="0">
                <a:solidFill>
                  <a:srgbClr val="0070C0"/>
                </a:solidFill>
                <a:latin typeface="Times New Roman" panose="02020603050405020304" pitchFamily="18" charset="0"/>
                <a:cs typeface="Times New Roman" panose="02020603050405020304" pitchFamily="18" charset="0"/>
              </a:rPr>
              <a:t>SOC Metrics</a:t>
            </a:r>
            <a:r>
              <a:rPr lang="en-US" sz="2600" dirty="0">
                <a:solidFill>
                  <a:srgbClr val="0070C0"/>
                </a:solidFill>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are </a:t>
            </a:r>
            <a:r>
              <a:rPr lang="en-US" sz="2600" b="1" dirty="0">
                <a:latin typeface="Times New Roman" panose="02020603050405020304" pitchFamily="18" charset="0"/>
                <a:cs typeface="Times New Roman" panose="02020603050405020304" pitchFamily="18" charset="0"/>
              </a:rPr>
              <a:t>quantitative and qualitative measurements</a:t>
            </a:r>
            <a:r>
              <a:rPr lang="en-US" sz="2600" dirty="0">
                <a:latin typeface="Times New Roman" panose="02020603050405020304" pitchFamily="18" charset="0"/>
                <a:cs typeface="Times New Roman" panose="02020603050405020304" pitchFamily="18" charset="0"/>
              </a:rPr>
              <a:t> used to evaluate the </a:t>
            </a:r>
            <a:r>
              <a:rPr lang="en-US" sz="2600" b="1" dirty="0">
                <a:latin typeface="Times New Roman" panose="02020603050405020304" pitchFamily="18" charset="0"/>
                <a:cs typeface="Times New Roman" panose="02020603050405020304" pitchFamily="18" charset="0"/>
              </a:rPr>
              <a:t>performance, efficiency, and effectiveness</a:t>
            </a:r>
            <a:r>
              <a:rPr lang="en-US" sz="2600" dirty="0">
                <a:latin typeface="Times New Roman" panose="02020603050405020304" pitchFamily="18" charset="0"/>
                <a:cs typeface="Times New Roman" panose="02020603050405020304" pitchFamily="18" charset="0"/>
              </a:rPr>
              <a:t> of a Security Operations Centre (SOC).</a:t>
            </a:r>
          </a:p>
          <a:p>
            <a:pPr algn="just">
              <a:lnSpc>
                <a:spcPct val="170000"/>
              </a:lnSpc>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They tell you </a:t>
            </a:r>
            <a:r>
              <a:rPr lang="en-US" sz="2600" b="1" dirty="0">
                <a:latin typeface="Times New Roman" panose="02020603050405020304" pitchFamily="18" charset="0"/>
                <a:cs typeface="Times New Roman" panose="02020603050405020304" pitchFamily="18" charset="0"/>
              </a:rPr>
              <a:t>how well the SOC is detecting, analyzing, and responding to security incidents</a:t>
            </a:r>
            <a:r>
              <a:rPr lang="en-US" sz="2600" dirty="0">
                <a:latin typeface="Times New Roman" panose="02020603050405020304" pitchFamily="18" charset="0"/>
                <a:cs typeface="Times New Roman" panose="02020603050405020304" pitchFamily="18" charset="0"/>
              </a:rPr>
              <a:t>.</a:t>
            </a:r>
          </a:p>
          <a:p>
            <a:pPr algn="just">
              <a:lnSpc>
                <a:spcPct val="170000"/>
              </a:lnSpc>
            </a:pPr>
            <a:r>
              <a:rPr lang="en-US" sz="2600" b="1" dirty="0">
                <a:solidFill>
                  <a:srgbClr val="0070C0"/>
                </a:solidFill>
                <a:latin typeface="Times New Roman" panose="02020603050405020304" pitchFamily="18" charset="0"/>
                <a:cs typeface="Times New Roman" panose="02020603050405020304" pitchFamily="18" charset="0"/>
              </a:rPr>
              <a:t>Purpose: </a:t>
            </a:r>
            <a:r>
              <a:rPr lang="en-US" sz="2600" dirty="0">
                <a:latin typeface="Times New Roman" panose="02020603050405020304" pitchFamily="18" charset="0"/>
                <a:cs typeface="Times New Roman" panose="02020603050405020304" pitchFamily="18" charset="0"/>
              </a:rPr>
              <a:t>To monitor SOC </a:t>
            </a:r>
            <a:r>
              <a:rPr lang="en-US" sz="2600" b="1" dirty="0">
                <a:latin typeface="Times New Roman" panose="02020603050405020304" pitchFamily="18" charset="0"/>
                <a:cs typeface="Times New Roman" panose="02020603050405020304" pitchFamily="18" charset="0"/>
              </a:rPr>
              <a:t>performance, trends, and resource utilization</a:t>
            </a:r>
            <a:r>
              <a:rPr lang="en-US" sz="2600" dirty="0">
                <a:latin typeface="Times New Roman" panose="02020603050405020304" pitchFamily="18" charset="0"/>
                <a:cs typeface="Times New Roman" panose="02020603050405020304" pitchFamily="18" charset="0"/>
              </a:rPr>
              <a:t>, and to drive </a:t>
            </a:r>
            <a:r>
              <a:rPr lang="en-US" sz="2600" b="1" dirty="0">
                <a:latin typeface="Times New Roman" panose="02020603050405020304" pitchFamily="18" charset="0"/>
                <a:cs typeface="Times New Roman" panose="02020603050405020304" pitchFamily="18" charset="0"/>
              </a:rPr>
              <a:t>continuous improvement</a:t>
            </a:r>
            <a:r>
              <a:rPr lang="en-US" sz="2600" dirty="0">
                <a:latin typeface="Times New Roman" panose="02020603050405020304" pitchFamily="18" charset="0"/>
                <a:cs typeface="Times New Roman" panose="02020603050405020304" pitchFamily="18" charset="0"/>
              </a:rPr>
              <a:t>.</a:t>
            </a:r>
          </a:p>
          <a:p>
            <a:pPr>
              <a:lnSpc>
                <a:spcPct val="170000"/>
              </a:lnSpc>
            </a:pPr>
            <a:r>
              <a:rPr lang="en-US" sz="2600" b="1" dirty="0">
                <a:solidFill>
                  <a:srgbClr val="0070C0"/>
                </a:solidFill>
                <a:latin typeface="Times New Roman" panose="02020603050405020304" pitchFamily="18" charset="0"/>
                <a:cs typeface="Times New Roman" panose="02020603050405020304" pitchFamily="18" charset="0"/>
              </a:rPr>
              <a:t>Why Metrics Matter</a:t>
            </a:r>
          </a:p>
          <a:p>
            <a:pPr lvl="1">
              <a:lnSpc>
                <a:spcPct val="170000"/>
              </a:lnSpc>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Identify </a:t>
            </a:r>
            <a:r>
              <a:rPr lang="en-US" sz="2600" b="1" dirty="0">
                <a:latin typeface="Times New Roman" panose="02020603050405020304" pitchFamily="18" charset="0"/>
                <a:cs typeface="Times New Roman" panose="02020603050405020304" pitchFamily="18" charset="0"/>
              </a:rPr>
              <a:t>bottlenecks</a:t>
            </a:r>
            <a:r>
              <a:rPr lang="en-US" sz="2600" dirty="0">
                <a:latin typeface="Times New Roman" panose="02020603050405020304" pitchFamily="18" charset="0"/>
                <a:cs typeface="Times New Roman" panose="02020603050405020304" pitchFamily="18" charset="0"/>
              </a:rPr>
              <a:t> in detection or response</a:t>
            </a:r>
          </a:p>
          <a:p>
            <a:pPr lvl="1">
              <a:lnSpc>
                <a:spcPct val="170000"/>
              </a:lnSpc>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Justify </a:t>
            </a:r>
            <a:r>
              <a:rPr lang="en-US" sz="2600" b="1" dirty="0">
                <a:latin typeface="Times New Roman" panose="02020603050405020304" pitchFamily="18" charset="0"/>
                <a:cs typeface="Times New Roman" panose="02020603050405020304" pitchFamily="18" charset="0"/>
              </a:rPr>
              <a:t>budget and staffing</a:t>
            </a:r>
            <a:r>
              <a:rPr lang="en-US" sz="2600" dirty="0">
                <a:latin typeface="Times New Roman" panose="02020603050405020304" pitchFamily="18" charset="0"/>
                <a:cs typeface="Times New Roman" panose="02020603050405020304" pitchFamily="18" charset="0"/>
              </a:rPr>
              <a:t> needs</a:t>
            </a:r>
          </a:p>
          <a:p>
            <a:pPr lvl="1">
              <a:lnSpc>
                <a:spcPct val="170000"/>
              </a:lnSpc>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Show </a:t>
            </a:r>
            <a:r>
              <a:rPr lang="en-US" sz="2600" b="1" dirty="0">
                <a:latin typeface="Times New Roman" panose="02020603050405020304" pitchFamily="18" charset="0"/>
                <a:cs typeface="Times New Roman" panose="02020603050405020304" pitchFamily="18" charset="0"/>
              </a:rPr>
              <a:t>SOC maturity and effectiveness</a:t>
            </a:r>
            <a:r>
              <a:rPr lang="en-US" sz="2600" dirty="0">
                <a:latin typeface="Times New Roman" panose="02020603050405020304" pitchFamily="18" charset="0"/>
                <a:cs typeface="Times New Roman" panose="02020603050405020304" pitchFamily="18" charset="0"/>
              </a:rPr>
              <a:t> to management</a:t>
            </a:r>
          </a:p>
          <a:p>
            <a:pPr lvl="1">
              <a:lnSpc>
                <a:spcPct val="170000"/>
              </a:lnSpc>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Support </a:t>
            </a:r>
            <a:r>
              <a:rPr lang="en-US" sz="2600" b="1" dirty="0">
                <a:latin typeface="Times New Roman" panose="02020603050405020304" pitchFamily="18" charset="0"/>
                <a:cs typeface="Times New Roman" panose="02020603050405020304" pitchFamily="18" charset="0"/>
              </a:rPr>
              <a:t>continuous improvement</a:t>
            </a:r>
            <a:r>
              <a:rPr lang="en-US" sz="2600" dirty="0">
                <a:latin typeface="Times New Roman" panose="02020603050405020304" pitchFamily="18" charset="0"/>
                <a:cs typeface="Times New Roman" panose="02020603050405020304" pitchFamily="18" charset="0"/>
              </a:rPr>
              <a:t> and compliance audits</a:t>
            </a:r>
          </a:p>
          <a:p>
            <a:pPr algn="just">
              <a:lnSpc>
                <a:spcPct val="150000"/>
              </a:lnSpc>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4318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A3592-9370-431E-8C66-E165F509B68C}"/>
              </a:ext>
            </a:extLst>
          </p:cNvPr>
          <p:cNvSpPr>
            <a:spLocks noGrp="1"/>
          </p:cNvSpPr>
          <p:nvPr>
            <p:ph type="title"/>
          </p:nvPr>
        </p:nvSpPr>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Examples of Common SOC Metrics</a:t>
            </a:r>
          </a:p>
        </p:txBody>
      </p:sp>
      <p:graphicFrame>
        <p:nvGraphicFramePr>
          <p:cNvPr id="4" name="Content Placeholder 3">
            <a:extLst>
              <a:ext uri="{FF2B5EF4-FFF2-40B4-BE49-F238E27FC236}">
                <a16:creationId xmlns:a16="http://schemas.microsoft.com/office/drawing/2014/main" id="{101DE562-BD79-429F-84C4-285E18FCF31A}"/>
              </a:ext>
            </a:extLst>
          </p:cNvPr>
          <p:cNvGraphicFramePr>
            <a:graphicFrameLocks noGrp="1"/>
          </p:cNvGraphicFramePr>
          <p:nvPr>
            <p:ph idx="1"/>
            <p:extLst>
              <p:ext uri="{D42A27DB-BD31-4B8C-83A1-F6EECF244321}">
                <p14:modId xmlns:p14="http://schemas.microsoft.com/office/powerpoint/2010/main" val="3178546866"/>
              </p:ext>
            </p:extLst>
          </p:nvPr>
        </p:nvGraphicFramePr>
        <p:xfrm>
          <a:off x="838200" y="1454046"/>
          <a:ext cx="10515600" cy="4421768"/>
        </p:xfrm>
        <a:graphic>
          <a:graphicData uri="http://schemas.openxmlformats.org/drawingml/2006/table">
            <a:tbl>
              <a:tblPr/>
              <a:tblGrid>
                <a:gridCol w="3505200">
                  <a:extLst>
                    <a:ext uri="{9D8B030D-6E8A-4147-A177-3AD203B41FA5}">
                      <a16:colId xmlns:a16="http://schemas.microsoft.com/office/drawing/2014/main" val="3479116507"/>
                    </a:ext>
                  </a:extLst>
                </a:gridCol>
                <a:gridCol w="3505200">
                  <a:extLst>
                    <a:ext uri="{9D8B030D-6E8A-4147-A177-3AD203B41FA5}">
                      <a16:colId xmlns:a16="http://schemas.microsoft.com/office/drawing/2014/main" val="599257469"/>
                    </a:ext>
                  </a:extLst>
                </a:gridCol>
                <a:gridCol w="3505200">
                  <a:extLst>
                    <a:ext uri="{9D8B030D-6E8A-4147-A177-3AD203B41FA5}">
                      <a16:colId xmlns:a16="http://schemas.microsoft.com/office/drawing/2014/main" val="1500758755"/>
                    </a:ext>
                  </a:extLst>
                </a:gridCol>
              </a:tblGrid>
              <a:tr h="431392">
                <a:tc>
                  <a:txBody>
                    <a:bodyPr/>
                    <a:lstStyle/>
                    <a:p>
                      <a:r>
                        <a:rPr lang="en-US" b="1" dirty="0">
                          <a:solidFill>
                            <a:srgbClr val="0070C0"/>
                          </a:solidFill>
                          <a:latin typeface="Times New Roman" panose="02020603050405020304" pitchFamily="18" charset="0"/>
                          <a:cs typeface="Times New Roman" panose="02020603050405020304" pitchFamily="18" charset="0"/>
                        </a:rPr>
                        <a:t>Metric</a:t>
                      </a:r>
                      <a:endParaRPr lang="en-US"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b="1" dirty="0">
                          <a:solidFill>
                            <a:srgbClr val="0070C0"/>
                          </a:solidFill>
                          <a:latin typeface="Times New Roman" panose="02020603050405020304" pitchFamily="18" charset="0"/>
                          <a:cs typeface="Times New Roman" panose="02020603050405020304" pitchFamily="18" charset="0"/>
                        </a:rPr>
                        <a:t>Meaning</a:t>
                      </a:r>
                      <a:endParaRPr lang="en-US"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b="1" dirty="0">
                          <a:solidFill>
                            <a:srgbClr val="0070C0"/>
                          </a:solidFill>
                          <a:latin typeface="Times New Roman" panose="02020603050405020304" pitchFamily="18" charset="0"/>
                          <a:cs typeface="Times New Roman" panose="02020603050405020304" pitchFamily="18" charset="0"/>
                        </a:rPr>
                        <a:t>Purpose</a:t>
                      </a:r>
                      <a:endParaRPr lang="en-US"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extLst>
                  <a:ext uri="{0D108BD9-81ED-4DB2-BD59-A6C34878D82A}">
                    <a16:rowId xmlns:a16="http://schemas.microsoft.com/office/drawing/2014/main" val="2554146070"/>
                  </a:ext>
                </a:extLst>
              </a:tr>
              <a:tr h="431392">
                <a:tc>
                  <a:txBody>
                    <a:bodyPr/>
                    <a:lstStyle/>
                    <a:p>
                      <a:r>
                        <a:rPr lang="en-US" b="1" dirty="0">
                          <a:latin typeface="Times New Roman" panose="02020603050405020304" pitchFamily="18" charset="0"/>
                          <a:cs typeface="Times New Roman" panose="02020603050405020304" pitchFamily="18" charset="0"/>
                        </a:rPr>
                        <a:t>MTTD (Mean Time to Detect)</a:t>
                      </a:r>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Avg. time to detect an incident</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Measures detection speed</a:t>
                      </a:r>
                    </a:p>
                  </a:txBody>
                  <a:tcPr anchor="ctr">
                    <a:lnL>
                      <a:noFill/>
                    </a:lnL>
                    <a:lnR>
                      <a:noFill/>
                    </a:lnR>
                    <a:lnT>
                      <a:noFill/>
                    </a:lnT>
                    <a:lnB>
                      <a:noFill/>
                    </a:lnB>
                  </a:tcPr>
                </a:tc>
                <a:extLst>
                  <a:ext uri="{0D108BD9-81ED-4DB2-BD59-A6C34878D82A}">
                    <a16:rowId xmlns:a16="http://schemas.microsoft.com/office/drawing/2014/main" val="1514751838"/>
                  </a:ext>
                </a:extLst>
              </a:tr>
              <a:tr h="431392">
                <a:tc>
                  <a:txBody>
                    <a:bodyPr/>
                    <a:lstStyle/>
                    <a:p>
                      <a:r>
                        <a:rPr lang="en-US" b="1" dirty="0">
                          <a:latin typeface="Times New Roman" panose="02020603050405020304" pitchFamily="18" charset="0"/>
                          <a:cs typeface="Times New Roman" panose="02020603050405020304" pitchFamily="18" charset="0"/>
                        </a:rPr>
                        <a:t>MTTR (Mean Time to Respond)</a:t>
                      </a:r>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Avg. time to resolve an incident</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Measures response efficiency</a:t>
                      </a:r>
                    </a:p>
                  </a:txBody>
                  <a:tcPr anchor="ctr">
                    <a:lnL>
                      <a:noFill/>
                    </a:lnL>
                    <a:lnR>
                      <a:noFill/>
                    </a:lnR>
                    <a:lnT>
                      <a:noFill/>
                    </a:lnT>
                    <a:lnB>
                      <a:noFill/>
                    </a:lnB>
                  </a:tcPr>
                </a:tc>
                <a:extLst>
                  <a:ext uri="{0D108BD9-81ED-4DB2-BD59-A6C34878D82A}">
                    <a16:rowId xmlns:a16="http://schemas.microsoft.com/office/drawing/2014/main" val="2793936367"/>
                  </a:ext>
                </a:extLst>
              </a:tr>
              <a:tr h="431392">
                <a:tc>
                  <a:txBody>
                    <a:bodyPr/>
                    <a:lstStyle/>
                    <a:p>
                      <a:r>
                        <a:rPr lang="en-US" b="1" dirty="0">
                          <a:latin typeface="Times New Roman" panose="02020603050405020304" pitchFamily="18" charset="0"/>
                          <a:cs typeface="Times New Roman" panose="02020603050405020304" pitchFamily="18" charset="0"/>
                        </a:rPr>
                        <a:t>False Positive Rate</a:t>
                      </a:r>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 of alerts that are false</a:t>
                      </a: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Measures detection accuracy</a:t>
                      </a:r>
                    </a:p>
                  </a:txBody>
                  <a:tcPr anchor="ctr">
                    <a:lnL>
                      <a:noFill/>
                    </a:lnL>
                    <a:lnR>
                      <a:noFill/>
                    </a:lnR>
                    <a:lnT>
                      <a:noFill/>
                    </a:lnT>
                    <a:lnB>
                      <a:noFill/>
                    </a:lnB>
                  </a:tcPr>
                </a:tc>
                <a:extLst>
                  <a:ext uri="{0D108BD9-81ED-4DB2-BD59-A6C34878D82A}">
                    <a16:rowId xmlns:a16="http://schemas.microsoft.com/office/drawing/2014/main" val="1609361955"/>
                  </a:ext>
                </a:extLst>
              </a:tr>
              <a:tr h="431392">
                <a:tc>
                  <a:txBody>
                    <a:bodyPr/>
                    <a:lstStyle/>
                    <a:p>
                      <a:r>
                        <a:rPr lang="en-US" b="1" dirty="0">
                          <a:latin typeface="Times New Roman" panose="02020603050405020304" pitchFamily="18" charset="0"/>
                          <a:cs typeface="Times New Roman" panose="02020603050405020304" pitchFamily="18" charset="0"/>
                        </a:rPr>
                        <a:t>Number of Incidents Handled</a:t>
                      </a:r>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Total incidents managed</a:t>
                      </a: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Indicates workload &amp; capacity</a:t>
                      </a:r>
                    </a:p>
                  </a:txBody>
                  <a:tcPr anchor="ctr">
                    <a:lnL>
                      <a:noFill/>
                    </a:lnL>
                    <a:lnR>
                      <a:noFill/>
                    </a:lnR>
                    <a:lnT>
                      <a:noFill/>
                    </a:lnT>
                    <a:lnB>
                      <a:noFill/>
                    </a:lnB>
                  </a:tcPr>
                </a:tc>
                <a:extLst>
                  <a:ext uri="{0D108BD9-81ED-4DB2-BD59-A6C34878D82A}">
                    <a16:rowId xmlns:a16="http://schemas.microsoft.com/office/drawing/2014/main" val="1300887415"/>
                  </a:ext>
                </a:extLst>
              </a:tr>
              <a:tr h="754936">
                <a:tc>
                  <a:txBody>
                    <a:bodyPr/>
                    <a:lstStyle/>
                    <a:p>
                      <a:r>
                        <a:rPr lang="en-US" b="1" dirty="0">
                          <a:latin typeface="Times New Roman" panose="02020603050405020304" pitchFamily="18" charset="0"/>
                          <a:cs typeface="Times New Roman" panose="02020603050405020304" pitchFamily="18" charset="0"/>
                        </a:rPr>
                        <a:t>MTTA (Mean Time to Acknowledge)</a:t>
                      </a:r>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Time from alert to analyst acknowledgment</a:t>
                      </a: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Measures responsiveness</a:t>
                      </a:r>
                    </a:p>
                  </a:txBody>
                  <a:tcPr anchor="ctr">
                    <a:lnL>
                      <a:noFill/>
                    </a:lnL>
                    <a:lnR>
                      <a:noFill/>
                    </a:lnR>
                    <a:lnT>
                      <a:noFill/>
                    </a:lnT>
                    <a:lnB>
                      <a:noFill/>
                    </a:lnB>
                  </a:tcPr>
                </a:tc>
                <a:extLst>
                  <a:ext uri="{0D108BD9-81ED-4DB2-BD59-A6C34878D82A}">
                    <a16:rowId xmlns:a16="http://schemas.microsoft.com/office/drawing/2014/main" val="1519883528"/>
                  </a:ext>
                </a:extLst>
              </a:tr>
              <a:tr h="754936">
                <a:tc>
                  <a:txBody>
                    <a:bodyPr/>
                    <a:lstStyle/>
                    <a:p>
                      <a:r>
                        <a:rPr lang="en-US" b="1" dirty="0">
                          <a:latin typeface="Times New Roman" panose="02020603050405020304" pitchFamily="18" charset="0"/>
                          <a:cs typeface="Times New Roman" panose="02020603050405020304" pitchFamily="18" charset="0"/>
                        </a:rPr>
                        <a:t>Escalation Rate</a:t>
                      </a:r>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 of incidents escalated to higher tiers</a:t>
                      </a: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Measures SOC maturity</a:t>
                      </a:r>
                    </a:p>
                  </a:txBody>
                  <a:tcPr anchor="ctr">
                    <a:lnL>
                      <a:noFill/>
                    </a:lnL>
                    <a:lnR>
                      <a:noFill/>
                    </a:lnR>
                    <a:lnT>
                      <a:noFill/>
                    </a:lnT>
                    <a:lnB>
                      <a:noFill/>
                    </a:lnB>
                  </a:tcPr>
                </a:tc>
                <a:extLst>
                  <a:ext uri="{0D108BD9-81ED-4DB2-BD59-A6C34878D82A}">
                    <a16:rowId xmlns:a16="http://schemas.microsoft.com/office/drawing/2014/main" val="1357925549"/>
                  </a:ext>
                </a:extLst>
              </a:tr>
              <a:tr h="754936">
                <a:tc>
                  <a:txBody>
                    <a:bodyPr/>
                    <a:lstStyle/>
                    <a:p>
                      <a:r>
                        <a:rPr lang="en-US" b="1">
                          <a:latin typeface="Times New Roman" panose="02020603050405020304" pitchFamily="18" charset="0"/>
                          <a:cs typeface="Times New Roman" panose="02020603050405020304" pitchFamily="18" charset="0"/>
                        </a:rPr>
                        <a:t>Automation Rate</a:t>
                      </a:r>
                      <a:endParaRPr 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 of incidents handled automatically</a:t>
                      </a: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Measures process efficiency</a:t>
                      </a:r>
                    </a:p>
                  </a:txBody>
                  <a:tcPr anchor="ctr">
                    <a:lnL>
                      <a:noFill/>
                    </a:lnL>
                    <a:lnR>
                      <a:noFill/>
                    </a:lnR>
                    <a:lnT>
                      <a:noFill/>
                    </a:lnT>
                    <a:lnB>
                      <a:noFill/>
                    </a:lnB>
                  </a:tcPr>
                </a:tc>
                <a:extLst>
                  <a:ext uri="{0D108BD9-81ED-4DB2-BD59-A6C34878D82A}">
                    <a16:rowId xmlns:a16="http://schemas.microsoft.com/office/drawing/2014/main" val="1552541749"/>
                  </a:ext>
                </a:extLst>
              </a:tr>
            </a:tbl>
          </a:graphicData>
        </a:graphic>
      </p:graphicFrame>
    </p:spTree>
    <p:extLst>
      <p:ext uri="{BB962C8B-B14F-4D97-AF65-F5344CB8AC3E}">
        <p14:creationId xmlns:p14="http://schemas.microsoft.com/office/powerpoint/2010/main" val="4148395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1BC24-E8B6-4893-93FB-56F5887183E7}"/>
              </a:ext>
            </a:extLst>
          </p:cNvPr>
          <p:cNvSpPr>
            <a:spLocks noGrp="1"/>
          </p:cNvSpPr>
          <p:nvPr>
            <p:ph type="title"/>
          </p:nvPr>
        </p:nvSpPr>
        <p:spPr>
          <a:xfrm>
            <a:off x="838200" y="601794"/>
            <a:ext cx="10515600" cy="1325563"/>
          </a:xfrm>
        </p:spPr>
        <p:txBody>
          <a:bodyPr/>
          <a:lstStyle/>
          <a:p>
            <a:r>
              <a:rPr lang="en-US" sz="3200" b="1" dirty="0">
                <a:solidFill>
                  <a:schemeClr val="accent3"/>
                </a:solidFill>
                <a:latin typeface="Times New Roman" panose="02020603050405020304" pitchFamily="18" charset="0"/>
                <a:cs typeface="Times New Roman" panose="02020603050405020304" pitchFamily="18" charset="0"/>
              </a:rPr>
              <a:t>What is SOC Reporting?</a:t>
            </a:r>
            <a:br>
              <a:rPr lang="en-US" sz="3200" b="1" dirty="0">
                <a:solidFill>
                  <a:schemeClr val="accent3"/>
                </a:solidFill>
                <a:latin typeface="Times New Roman" panose="02020603050405020304" pitchFamily="18" charset="0"/>
                <a:cs typeface="Times New Roman" panose="02020603050405020304" pitchFamily="18" charset="0"/>
              </a:rPr>
            </a:br>
            <a:endParaRPr lang="en-US" sz="3200" b="1"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BA032D6-501A-44BA-A290-543835F7E1A7}"/>
              </a:ext>
            </a:extLst>
          </p:cNvPr>
          <p:cNvSpPr>
            <a:spLocks noGrp="1"/>
          </p:cNvSpPr>
          <p:nvPr>
            <p:ph idx="1"/>
          </p:nvPr>
        </p:nvSpPr>
        <p:spPr/>
        <p:txBody>
          <a:bodyPr/>
          <a:lstStyle/>
          <a:p>
            <a:pPr algn="just">
              <a:lnSpc>
                <a:spcPct val="150000"/>
              </a:lnSpc>
            </a:pPr>
            <a:r>
              <a:rPr lang="en-US" sz="2400" b="1" dirty="0">
                <a:latin typeface="Times New Roman" panose="02020603050405020304" pitchFamily="18" charset="0"/>
                <a:cs typeface="Times New Roman" panose="02020603050405020304" pitchFamily="18" charset="0"/>
              </a:rPr>
              <a:t>SOC Reporting</a:t>
            </a:r>
            <a:r>
              <a:rPr lang="en-US" sz="2400" dirty="0">
                <a:latin typeface="Times New Roman" panose="02020603050405020304" pitchFamily="18" charset="0"/>
                <a:cs typeface="Times New Roman" panose="02020603050405020304" pitchFamily="18" charset="0"/>
              </a:rPr>
              <a:t> is the process of </a:t>
            </a:r>
            <a:r>
              <a:rPr lang="en-US" sz="2400" b="1" dirty="0">
                <a:latin typeface="Times New Roman" panose="02020603050405020304" pitchFamily="18" charset="0"/>
                <a:cs typeface="Times New Roman" panose="02020603050405020304" pitchFamily="18" charset="0"/>
              </a:rPr>
              <a:t>collecting, analyzing, and presenting SOC metrics</a:t>
            </a:r>
            <a:r>
              <a:rPr lang="en-US" sz="2400" dirty="0">
                <a:latin typeface="Times New Roman" panose="02020603050405020304" pitchFamily="18" charset="0"/>
                <a:cs typeface="Times New Roman" panose="02020603050405020304" pitchFamily="18" charset="0"/>
              </a:rPr>
              <a:t> in a structured format to communicate performance, incident trends, and operational effectiveness.</a:t>
            </a:r>
          </a:p>
          <a:p>
            <a:pPr algn="just">
              <a:lnSpc>
                <a:spcPct val="150000"/>
              </a:lnSpc>
            </a:pPr>
            <a:r>
              <a:rPr lang="en-US" sz="2400" dirty="0">
                <a:latin typeface="Times New Roman" panose="02020603050405020304" pitchFamily="18" charset="0"/>
                <a:cs typeface="Times New Roman" panose="02020603050405020304" pitchFamily="18" charset="0"/>
              </a:rPr>
              <a:t>Reports translate </a:t>
            </a:r>
            <a:r>
              <a:rPr lang="en-US" sz="2400" b="1" dirty="0">
                <a:latin typeface="Times New Roman" panose="02020603050405020304" pitchFamily="18" charset="0"/>
                <a:cs typeface="Times New Roman" panose="02020603050405020304" pitchFamily="18" charset="0"/>
              </a:rPr>
              <a:t>technical data</a:t>
            </a:r>
            <a:r>
              <a:rPr lang="en-US" sz="2400" dirty="0">
                <a:latin typeface="Times New Roman" panose="02020603050405020304" pitchFamily="18" charset="0"/>
                <a:cs typeface="Times New Roman" panose="02020603050405020304" pitchFamily="18" charset="0"/>
              </a:rPr>
              <a:t> into </a:t>
            </a:r>
            <a:r>
              <a:rPr lang="en-US" sz="2400" b="1" dirty="0">
                <a:latin typeface="Times New Roman" panose="02020603050405020304" pitchFamily="18" charset="0"/>
                <a:cs typeface="Times New Roman" panose="02020603050405020304" pitchFamily="18" charset="0"/>
              </a:rPr>
              <a:t>meaningful insights</a:t>
            </a:r>
            <a:r>
              <a:rPr lang="en-US" sz="2400" dirty="0">
                <a:latin typeface="Times New Roman" panose="02020603050405020304" pitchFamily="18" charset="0"/>
                <a:cs typeface="Times New Roman" panose="02020603050405020304" pitchFamily="18" charset="0"/>
              </a:rPr>
              <a:t> for different stakeholders (analysts, SOC managers, CISOs, auditors, etc.).</a:t>
            </a:r>
          </a:p>
          <a:p>
            <a:endParaRPr lang="en-US" dirty="0"/>
          </a:p>
        </p:txBody>
      </p:sp>
    </p:spTree>
    <p:extLst>
      <p:ext uri="{BB962C8B-B14F-4D97-AF65-F5344CB8AC3E}">
        <p14:creationId xmlns:p14="http://schemas.microsoft.com/office/powerpoint/2010/main" val="932282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55753-FA63-4588-B6FE-4A67F9C98A60}"/>
              </a:ext>
            </a:extLst>
          </p:cNvPr>
          <p:cNvSpPr>
            <a:spLocks noGrp="1"/>
          </p:cNvSpPr>
          <p:nvPr>
            <p:ph type="title"/>
          </p:nvPr>
        </p:nvSpPr>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Types of SOC Reports</a:t>
            </a:r>
          </a:p>
        </p:txBody>
      </p:sp>
      <p:graphicFrame>
        <p:nvGraphicFramePr>
          <p:cNvPr id="4" name="Content Placeholder 3">
            <a:extLst>
              <a:ext uri="{FF2B5EF4-FFF2-40B4-BE49-F238E27FC236}">
                <a16:creationId xmlns:a16="http://schemas.microsoft.com/office/drawing/2014/main" id="{59FAE216-6B1B-40A7-9DC3-9DA0E6DCD5B6}"/>
              </a:ext>
            </a:extLst>
          </p:cNvPr>
          <p:cNvGraphicFramePr>
            <a:graphicFrameLocks noGrp="1"/>
          </p:cNvGraphicFramePr>
          <p:nvPr>
            <p:ph idx="1"/>
            <p:extLst>
              <p:ext uri="{D42A27DB-BD31-4B8C-83A1-F6EECF244321}">
                <p14:modId xmlns:p14="http://schemas.microsoft.com/office/powerpoint/2010/main" val="2291320326"/>
              </p:ext>
            </p:extLst>
          </p:nvPr>
        </p:nvGraphicFramePr>
        <p:xfrm>
          <a:off x="359975" y="1520329"/>
          <a:ext cx="11661288" cy="4649463"/>
        </p:xfrm>
        <a:graphic>
          <a:graphicData uri="http://schemas.openxmlformats.org/drawingml/2006/table">
            <a:tbl>
              <a:tblPr/>
              <a:tblGrid>
                <a:gridCol w="2915322">
                  <a:extLst>
                    <a:ext uri="{9D8B030D-6E8A-4147-A177-3AD203B41FA5}">
                      <a16:colId xmlns:a16="http://schemas.microsoft.com/office/drawing/2014/main" val="154480993"/>
                    </a:ext>
                  </a:extLst>
                </a:gridCol>
                <a:gridCol w="2262861">
                  <a:extLst>
                    <a:ext uri="{9D8B030D-6E8A-4147-A177-3AD203B41FA5}">
                      <a16:colId xmlns:a16="http://schemas.microsoft.com/office/drawing/2014/main" val="4291890675"/>
                    </a:ext>
                  </a:extLst>
                </a:gridCol>
                <a:gridCol w="2113472">
                  <a:extLst>
                    <a:ext uri="{9D8B030D-6E8A-4147-A177-3AD203B41FA5}">
                      <a16:colId xmlns:a16="http://schemas.microsoft.com/office/drawing/2014/main" val="3112714437"/>
                    </a:ext>
                  </a:extLst>
                </a:gridCol>
                <a:gridCol w="4369633">
                  <a:extLst>
                    <a:ext uri="{9D8B030D-6E8A-4147-A177-3AD203B41FA5}">
                      <a16:colId xmlns:a16="http://schemas.microsoft.com/office/drawing/2014/main" val="4294515278"/>
                    </a:ext>
                  </a:extLst>
                </a:gridCol>
              </a:tblGrid>
              <a:tr h="329117">
                <a:tc>
                  <a:txBody>
                    <a:bodyPr/>
                    <a:lstStyle/>
                    <a:p>
                      <a:r>
                        <a:rPr lang="en-US" sz="1800" b="1" dirty="0">
                          <a:solidFill>
                            <a:srgbClr val="0070C0"/>
                          </a:solidFill>
                          <a:latin typeface="Times New Roman" panose="02020603050405020304" pitchFamily="18" charset="0"/>
                          <a:cs typeface="Times New Roman" panose="02020603050405020304" pitchFamily="18" charset="0"/>
                        </a:rPr>
                        <a:t>Report Type</a:t>
                      </a:r>
                      <a:endParaRPr lang="en-US" sz="1800" dirty="0">
                        <a:solidFill>
                          <a:srgbClr val="0070C0"/>
                        </a:solidFill>
                        <a:latin typeface="Times New Roman" panose="02020603050405020304" pitchFamily="18" charset="0"/>
                        <a:cs typeface="Times New Roman" panose="02020603050405020304" pitchFamily="18" charset="0"/>
                      </a:endParaRPr>
                    </a:p>
                  </a:txBody>
                  <a:tcPr marL="76339" marR="76339" marT="38170" marB="38170" anchor="ctr">
                    <a:lnL>
                      <a:noFill/>
                    </a:lnL>
                    <a:lnR>
                      <a:noFill/>
                    </a:lnR>
                    <a:lnT>
                      <a:noFill/>
                    </a:lnT>
                    <a:lnB>
                      <a:noFill/>
                    </a:lnB>
                  </a:tcPr>
                </a:tc>
                <a:tc>
                  <a:txBody>
                    <a:bodyPr/>
                    <a:lstStyle/>
                    <a:p>
                      <a:r>
                        <a:rPr lang="en-US" sz="1800" b="1" dirty="0">
                          <a:solidFill>
                            <a:srgbClr val="0070C0"/>
                          </a:solidFill>
                          <a:latin typeface="Times New Roman" panose="02020603050405020304" pitchFamily="18" charset="0"/>
                          <a:cs typeface="Times New Roman" panose="02020603050405020304" pitchFamily="18" charset="0"/>
                        </a:rPr>
                        <a:t>Frequency</a:t>
                      </a:r>
                      <a:endParaRPr lang="en-US" sz="1800" dirty="0">
                        <a:solidFill>
                          <a:srgbClr val="0070C0"/>
                        </a:solidFill>
                        <a:latin typeface="Times New Roman" panose="02020603050405020304" pitchFamily="18" charset="0"/>
                        <a:cs typeface="Times New Roman" panose="02020603050405020304" pitchFamily="18" charset="0"/>
                      </a:endParaRPr>
                    </a:p>
                  </a:txBody>
                  <a:tcPr marL="76339" marR="76339" marT="38170" marB="38170" anchor="ctr">
                    <a:lnL>
                      <a:noFill/>
                    </a:lnL>
                    <a:lnR>
                      <a:noFill/>
                    </a:lnR>
                    <a:lnT>
                      <a:noFill/>
                    </a:lnT>
                    <a:lnB>
                      <a:noFill/>
                    </a:lnB>
                  </a:tcPr>
                </a:tc>
                <a:tc>
                  <a:txBody>
                    <a:bodyPr/>
                    <a:lstStyle/>
                    <a:p>
                      <a:r>
                        <a:rPr lang="en-US" sz="1800" b="1" dirty="0">
                          <a:solidFill>
                            <a:srgbClr val="0070C0"/>
                          </a:solidFill>
                          <a:latin typeface="Times New Roman" panose="02020603050405020304" pitchFamily="18" charset="0"/>
                          <a:cs typeface="Times New Roman" panose="02020603050405020304" pitchFamily="18" charset="0"/>
                        </a:rPr>
                        <a:t>Audience</a:t>
                      </a:r>
                      <a:endParaRPr lang="en-US" sz="1800" dirty="0">
                        <a:solidFill>
                          <a:srgbClr val="0070C0"/>
                        </a:solidFill>
                        <a:latin typeface="Times New Roman" panose="02020603050405020304" pitchFamily="18" charset="0"/>
                        <a:cs typeface="Times New Roman" panose="02020603050405020304" pitchFamily="18" charset="0"/>
                      </a:endParaRPr>
                    </a:p>
                  </a:txBody>
                  <a:tcPr marL="76339" marR="76339" marT="38170" marB="38170" anchor="ctr">
                    <a:lnL>
                      <a:noFill/>
                    </a:lnL>
                    <a:lnR>
                      <a:noFill/>
                    </a:lnR>
                    <a:lnT>
                      <a:noFill/>
                    </a:lnT>
                    <a:lnB>
                      <a:noFill/>
                    </a:lnB>
                  </a:tcPr>
                </a:tc>
                <a:tc>
                  <a:txBody>
                    <a:bodyPr/>
                    <a:lstStyle/>
                    <a:p>
                      <a:r>
                        <a:rPr lang="en-US" sz="1800" b="1" dirty="0">
                          <a:solidFill>
                            <a:srgbClr val="0070C0"/>
                          </a:solidFill>
                          <a:latin typeface="Times New Roman" panose="02020603050405020304" pitchFamily="18" charset="0"/>
                          <a:cs typeface="Times New Roman" panose="02020603050405020304" pitchFamily="18" charset="0"/>
                        </a:rPr>
                        <a:t>Content</a:t>
                      </a:r>
                      <a:endParaRPr lang="en-US" sz="1800" dirty="0">
                        <a:solidFill>
                          <a:srgbClr val="0070C0"/>
                        </a:solidFill>
                        <a:latin typeface="Times New Roman" panose="02020603050405020304" pitchFamily="18" charset="0"/>
                        <a:cs typeface="Times New Roman" panose="02020603050405020304" pitchFamily="18" charset="0"/>
                      </a:endParaRPr>
                    </a:p>
                  </a:txBody>
                  <a:tcPr marL="76339" marR="76339" marT="38170" marB="38170" anchor="ctr">
                    <a:lnL>
                      <a:noFill/>
                    </a:lnL>
                    <a:lnR>
                      <a:noFill/>
                    </a:lnR>
                    <a:lnT>
                      <a:noFill/>
                    </a:lnT>
                    <a:lnB>
                      <a:noFill/>
                    </a:lnB>
                  </a:tcPr>
                </a:tc>
                <a:extLst>
                  <a:ext uri="{0D108BD9-81ED-4DB2-BD59-A6C34878D82A}">
                    <a16:rowId xmlns:a16="http://schemas.microsoft.com/office/drawing/2014/main" val="2046677581"/>
                  </a:ext>
                </a:extLst>
              </a:tr>
              <a:tr h="811095">
                <a:tc>
                  <a:txBody>
                    <a:bodyPr/>
                    <a:lstStyle/>
                    <a:p>
                      <a:r>
                        <a:rPr lang="en-US" sz="1800" b="1" dirty="0">
                          <a:latin typeface="Times New Roman" panose="02020603050405020304" pitchFamily="18" charset="0"/>
                          <a:cs typeface="Times New Roman" panose="02020603050405020304" pitchFamily="18" charset="0"/>
                        </a:rPr>
                        <a:t>Shift Report / Daily Report</a:t>
                      </a:r>
                      <a:endParaRPr lang="en-US" sz="1800" dirty="0">
                        <a:latin typeface="Times New Roman" panose="02020603050405020304" pitchFamily="18" charset="0"/>
                        <a:cs typeface="Times New Roman" panose="02020603050405020304" pitchFamily="18" charset="0"/>
                      </a:endParaRPr>
                    </a:p>
                  </a:txBody>
                  <a:tcPr marL="76339" marR="76339" marT="38170" marB="38170"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Every 8–24 hrs</a:t>
                      </a:r>
                    </a:p>
                  </a:txBody>
                  <a:tcPr marL="76339" marR="76339" marT="38170" marB="38170"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SOC Team</a:t>
                      </a:r>
                    </a:p>
                  </a:txBody>
                  <a:tcPr marL="76339" marR="76339" marT="38170" marB="38170"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Alerts processed, ongoing investigations, escalations</a:t>
                      </a:r>
                    </a:p>
                  </a:txBody>
                  <a:tcPr marL="76339" marR="76339" marT="38170" marB="38170" anchor="ctr">
                    <a:lnL>
                      <a:noFill/>
                    </a:lnL>
                    <a:lnR>
                      <a:noFill/>
                    </a:lnR>
                    <a:lnT>
                      <a:noFill/>
                    </a:lnT>
                    <a:lnB>
                      <a:noFill/>
                    </a:lnB>
                  </a:tcPr>
                </a:tc>
                <a:extLst>
                  <a:ext uri="{0D108BD9-81ED-4DB2-BD59-A6C34878D82A}">
                    <a16:rowId xmlns:a16="http://schemas.microsoft.com/office/drawing/2014/main" val="2243649251"/>
                  </a:ext>
                </a:extLst>
              </a:tr>
              <a:tr h="811095">
                <a:tc>
                  <a:txBody>
                    <a:bodyPr/>
                    <a:lstStyle/>
                    <a:p>
                      <a:r>
                        <a:rPr lang="en-US" sz="1800" b="1" dirty="0">
                          <a:latin typeface="Times New Roman" panose="02020603050405020304" pitchFamily="18" charset="0"/>
                          <a:cs typeface="Times New Roman" panose="02020603050405020304" pitchFamily="18" charset="0"/>
                        </a:rPr>
                        <a:t>Weekly Operational Report</a:t>
                      </a:r>
                      <a:endParaRPr lang="en-US" sz="1800" dirty="0">
                        <a:latin typeface="Times New Roman" panose="02020603050405020304" pitchFamily="18" charset="0"/>
                        <a:cs typeface="Times New Roman" panose="02020603050405020304" pitchFamily="18" charset="0"/>
                      </a:endParaRPr>
                    </a:p>
                  </a:txBody>
                  <a:tcPr marL="76339" marR="76339" marT="38170" marB="38170" anchor="ctr">
                    <a:lnL>
                      <a:noFill/>
                    </a:lnL>
                    <a:lnR>
                      <a:noFill/>
                    </a:lnR>
                    <a:lnT>
                      <a:noFill/>
                    </a:lnT>
                    <a:lnB>
                      <a:noFill/>
                    </a:lnB>
                  </a:tcPr>
                </a:tc>
                <a:tc>
                  <a:txBody>
                    <a:bodyPr/>
                    <a:lstStyle/>
                    <a:p>
                      <a:r>
                        <a:rPr lang="en-US" sz="1800" dirty="0">
                          <a:latin typeface="Times New Roman" panose="02020603050405020304" pitchFamily="18" charset="0"/>
                          <a:cs typeface="Times New Roman" panose="02020603050405020304" pitchFamily="18" charset="0"/>
                        </a:rPr>
                        <a:t>Weekly</a:t>
                      </a:r>
                    </a:p>
                  </a:txBody>
                  <a:tcPr marL="76339" marR="76339" marT="38170" marB="38170"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SOC Manager</a:t>
                      </a:r>
                    </a:p>
                  </a:txBody>
                  <a:tcPr marL="76339" marR="76339" marT="38170" marB="38170"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Metrics (MTTD, MTTR, false positives), analyst workload</a:t>
                      </a:r>
                    </a:p>
                  </a:txBody>
                  <a:tcPr marL="76339" marR="76339" marT="38170" marB="38170" anchor="ctr">
                    <a:lnL>
                      <a:noFill/>
                    </a:lnL>
                    <a:lnR>
                      <a:noFill/>
                    </a:lnR>
                    <a:lnT>
                      <a:noFill/>
                    </a:lnT>
                    <a:lnB>
                      <a:noFill/>
                    </a:lnB>
                  </a:tcPr>
                </a:tc>
                <a:extLst>
                  <a:ext uri="{0D108BD9-81ED-4DB2-BD59-A6C34878D82A}">
                    <a16:rowId xmlns:a16="http://schemas.microsoft.com/office/drawing/2014/main" val="2608026970"/>
                  </a:ext>
                </a:extLst>
              </a:tr>
              <a:tr h="811095">
                <a:tc>
                  <a:txBody>
                    <a:bodyPr/>
                    <a:lstStyle/>
                    <a:p>
                      <a:r>
                        <a:rPr lang="en-US" sz="1800" b="1" dirty="0">
                          <a:latin typeface="Times New Roman" panose="02020603050405020304" pitchFamily="18" charset="0"/>
                          <a:cs typeface="Times New Roman" panose="02020603050405020304" pitchFamily="18" charset="0"/>
                        </a:rPr>
                        <a:t>Monthly Executive Report</a:t>
                      </a:r>
                      <a:endParaRPr lang="en-US" sz="1800" dirty="0">
                        <a:latin typeface="Times New Roman" panose="02020603050405020304" pitchFamily="18" charset="0"/>
                        <a:cs typeface="Times New Roman" panose="02020603050405020304" pitchFamily="18" charset="0"/>
                      </a:endParaRPr>
                    </a:p>
                  </a:txBody>
                  <a:tcPr marL="76339" marR="76339" marT="38170" marB="38170" anchor="ctr">
                    <a:lnL>
                      <a:noFill/>
                    </a:lnL>
                    <a:lnR>
                      <a:noFill/>
                    </a:lnR>
                    <a:lnT>
                      <a:noFill/>
                    </a:lnT>
                    <a:lnB>
                      <a:noFill/>
                    </a:lnB>
                  </a:tcPr>
                </a:tc>
                <a:tc>
                  <a:txBody>
                    <a:bodyPr/>
                    <a:lstStyle/>
                    <a:p>
                      <a:r>
                        <a:rPr lang="en-US" sz="1800" dirty="0">
                          <a:latin typeface="Times New Roman" panose="02020603050405020304" pitchFamily="18" charset="0"/>
                          <a:cs typeface="Times New Roman" panose="02020603050405020304" pitchFamily="18" charset="0"/>
                        </a:rPr>
                        <a:t>Monthly</a:t>
                      </a:r>
                    </a:p>
                  </a:txBody>
                  <a:tcPr marL="76339" marR="76339" marT="38170" marB="38170"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CISO / Management</a:t>
                      </a:r>
                    </a:p>
                  </a:txBody>
                  <a:tcPr marL="76339" marR="76339" marT="38170" marB="38170"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High-level summary, trends, SLA compliance, ROI</a:t>
                      </a:r>
                    </a:p>
                  </a:txBody>
                  <a:tcPr marL="76339" marR="76339" marT="38170" marB="38170" anchor="ctr">
                    <a:lnL>
                      <a:noFill/>
                    </a:lnL>
                    <a:lnR>
                      <a:noFill/>
                    </a:lnR>
                    <a:lnT>
                      <a:noFill/>
                    </a:lnT>
                    <a:lnB>
                      <a:noFill/>
                    </a:lnB>
                  </a:tcPr>
                </a:tc>
                <a:extLst>
                  <a:ext uri="{0D108BD9-81ED-4DB2-BD59-A6C34878D82A}">
                    <a16:rowId xmlns:a16="http://schemas.microsoft.com/office/drawing/2014/main" val="1581359928"/>
                  </a:ext>
                </a:extLst>
              </a:tr>
              <a:tr h="811095">
                <a:tc>
                  <a:txBody>
                    <a:bodyPr/>
                    <a:lstStyle/>
                    <a:p>
                      <a:r>
                        <a:rPr lang="en-US" sz="1800" b="1">
                          <a:latin typeface="Times New Roman" panose="02020603050405020304" pitchFamily="18" charset="0"/>
                          <a:cs typeface="Times New Roman" panose="02020603050405020304" pitchFamily="18" charset="0"/>
                        </a:rPr>
                        <a:t>Incident Report (Postmortem)</a:t>
                      </a:r>
                      <a:endParaRPr lang="en-US" sz="1800">
                        <a:latin typeface="Times New Roman" panose="02020603050405020304" pitchFamily="18" charset="0"/>
                        <a:cs typeface="Times New Roman" panose="02020603050405020304" pitchFamily="18" charset="0"/>
                      </a:endParaRPr>
                    </a:p>
                  </a:txBody>
                  <a:tcPr marL="76339" marR="76339" marT="38170" marB="38170" anchor="ctr">
                    <a:lnL>
                      <a:noFill/>
                    </a:lnL>
                    <a:lnR>
                      <a:noFill/>
                    </a:lnR>
                    <a:lnT>
                      <a:noFill/>
                    </a:lnT>
                    <a:lnB>
                      <a:noFill/>
                    </a:lnB>
                  </a:tcPr>
                </a:tc>
                <a:tc>
                  <a:txBody>
                    <a:bodyPr/>
                    <a:lstStyle/>
                    <a:p>
                      <a:r>
                        <a:rPr lang="en-US" sz="1800" dirty="0">
                          <a:latin typeface="Times New Roman" panose="02020603050405020304" pitchFamily="18" charset="0"/>
                          <a:cs typeface="Times New Roman" panose="02020603050405020304" pitchFamily="18" charset="0"/>
                        </a:rPr>
                        <a:t>After major incident</a:t>
                      </a:r>
                    </a:p>
                  </a:txBody>
                  <a:tcPr marL="76339" marR="76339" marT="38170" marB="38170"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Security &amp; IT Teams</a:t>
                      </a:r>
                    </a:p>
                  </a:txBody>
                  <a:tcPr marL="76339" marR="76339" marT="38170" marB="38170"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Root cause, impact, response timeline, lessons learned</a:t>
                      </a:r>
                    </a:p>
                  </a:txBody>
                  <a:tcPr marL="76339" marR="76339" marT="38170" marB="38170" anchor="ctr">
                    <a:lnL>
                      <a:noFill/>
                    </a:lnL>
                    <a:lnR>
                      <a:noFill/>
                    </a:lnR>
                    <a:lnT>
                      <a:noFill/>
                    </a:lnT>
                    <a:lnB>
                      <a:noFill/>
                    </a:lnB>
                  </a:tcPr>
                </a:tc>
                <a:extLst>
                  <a:ext uri="{0D108BD9-81ED-4DB2-BD59-A6C34878D82A}">
                    <a16:rowId xmlns:a16="http://schemas.microsoft.com/office/drawing/2014/main" val="3878186833"/>
                  </a:ext>
                </a:extLst>
              </a:tr>
              <a:tr h="1054423">
                <a:tc>
                  <a:txBody>
                    <a:bodyPr/>
                    <a:lstStyle/>
                    <a:p>
                      <a:r>
                        <a:rPr lang="en-US" sz="1800" b="1">
                          <a:latin typeface="Times New Roman" panose="02020603050405020304" pitchFamily="18" charset="0"/>
                          <a:cs typeface="Times New Roman" panose="02020603050405020304" pitchFamily="18" charset="0"/>
                        </a:rPr>
                        <a:t>Compliance / Audit Report</a:t>
                      </a:r>
                      <a:endParaRPr lang="en-US" sz="1800">
                        <a:latin typeface="Times New Roman" panose="02020603050405020304" pitchFamily="18" charset="0"/>
                        <a:cs typeface="Times New Roman" panose="02020603050405020304" pitchFamily="18" charset="0"/>
                      </a:endParaRPr>
                    </a:p>
                  </a:txBody>
                  <a:tcPr marL="76339" marR="76339" marT="38170" marB="38170" anchor="ctr">
                    <a:lnL>
                      <a:noFill/>
                    </a:lnL>
                    <a:lnR>
                      <a:noFill/>
                    </a:lnR>
                    <a:lnT>
                      <a:noFill/>
                    </a:lnT>
                    <a:lnB>
                      <a:noFill/>
                    </a:lnB>
                  </a:tcPr>
                </a:tc>
                <a:tc>
                  <a:txBody>
                    <a:bodyPr/>
                    <a:lstStyle/>
                    <a:p>
                      <a:r>
                        <a:rPr lang="en-US" sz="1800" dirty="0">
                          <a:latin typeface="Times New Roman" panose="02020603050405020304" pitchFamily="18" charset="0"/>
                          <a:cs typeface="Times New Roman" panose="02020603050405020304" pitchFamily="18" charset="0"/>
                        </a:rPr>
                        <a:t>Quarterly / As needed</a:t>
                      </a:r>
                    </a:p>
                  </a:txBody>
                  <a:tcPr marL="76339" marR="76339" marT="38170" marB="38170" anchor="ctr">
                    <a:lnL>
                      <a:noFill/>
                    </a:lnL>
                    <a:lnR>
                      <a:noFill/>
                    </a:lnR>
                    <a:lnT>
                      <a:noFill/>
                    </a:lnT>
                    <a:lnB>
                      <a:noFill/>
                    </a:lnB>
                  </a:tcPr>
                </a:tc>
                <a:tc>
                  <a:txBody>
                    <a:bodyPr/>
                    <a:lstStyle/>
                    <a:p>
                      <a:r>
                        <a:rPr lang="en-US" sz="1800" dirty="0">
                          <a:latin typeface="Times New Roman" panose="02020603050405020304" pitchFamily="18" charset="0"/>
                          <a:cs typeface="Times New Roman" panose="02020603050405020304" pitchFamily="18" charset="0"/>
                        </a:rPr>
                        <a:t>Auditors, Regulators</a:t>
                      </a:r>
                    </a:p>
                  </a:txBody>
                  <a:tcPr marL="76339" marR="76339" marT="38170" marB="38170" anchor="ctr">
                    <a:lnL>
                      <a:noFill/>
                    </a:lnL>
                    <a:lnR>
                      <a:noFill/>
                    </a:lnR>
                    <a:lnT>
                      <a:noFill/>
                    </a:lnT>
                    <a:lnB>
                      <a:noFill/>
                    </a:lnB>
                  </a:tcPr>
                </a:tc>
                <a:tc>
                  <a:txBody>
                    <a:bodyPr/>
                    <a:lstStyle/>
                    <a:p>
                      <a:r>
                        <a:rPr lang="en-US" sz="1800" dirty="0">
                          <a:latin typeface="Times New Roman" panose="02020603050405020304" pitchFamily="18" charset="0"/>
                          <a:cs typeface="Times New Roman" panose="02020603050405020304" pitchFamily="18" charset="0"/>
                        </a:rPr>
                        <a:t>Evidence of monitoring, response, and data protection controls</a:t>
                      </a:r>
                    </a:p>
                  </a:txBody>
                  <a:tcPr marL="76339" marR="76339" marT="38170" marB="38170" anchor="ctr">
                    <a:lnL>
                      <a:noFill/>
                    </a:lnL>
                    <a:lnR>
                      <a:noFill/>
                    </a:lnR>
                    <a:lnT>
                      <a:noFill/>
                    </a:lnT>
                    <a:lnB>
                      <a:noFill/>
                    </a:lnB>
                  </a:tcPr>
                </a:tc>
                <a:extLst>
                  <a:ext uri="{0D108BD9-81ED-4DB2-BD59-A6C34878D82A}">
                    <a16:rowId xmlns:a16="http://schemas.microsoft.com/office/drawing/2014/main" val="4064352105"/>
                  </a:ext>
                </a:extLst>
              </a:tr>
            </a:tbl>
          </a:graphicData>
        </a:graphic>
      </p:graphicFrame>
      <p:sp>
        <p:nvSpPr>
          <p:cNvPr id="5" name="Rectangle 1">
            <a:extLst>
              <a:ext uri="{FF2B5EF4-FFF2-40B4-BE49-F238E27FC236}">
                <a16:creationId xmlns:a16="http://schemas.microsoft.com/office/drawing/2014/main" id="{604FB740-E9D0-4218-B642-5DA73C65ED2C}"/>
              </a:ext>
            </a:extLst>
          </p:cNvPr>
          <p:cNvSpPr>
            <a:spLocks noChangeArrowheads="1"/>
          </p:cNvSpPr>
          <p:nvPr/>
        </p:nvSpPr>
        <p:spPr bwMode="auto">
          <a:xfrm>
            <a:off x="-1906783" y="-21757"/>
            <a:ext cx="16194805"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chemeClr val="tx1"/>
                </a:solidFill>
                <a:effectLst/>
                <a:latin typeface="Arial" panose="020B0604020202020204" pitchFamily="34" charset="0"/>
              </a:rPr>
              <a:t>Types of SOC Reports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49823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D179A-2C6C-48E7-9B33-539720CCB432}"/>
              </a:ext>
            </a:extLst>
          </p:cNvPr>
          <p:cNvSpPr>
            <a:spLocks noGrp="1"/>
          </p:cNvSpPr>
          <p:nvPr>
            <p:ph type="title"/>
          </p:nvPr>
        </p:nvSpPr>
        <p:spPr>
          <a:xfrm>
            <a:off x="161365" y="2387564"/>
            <a:ext cx="11876441" cy="1325563"/>
          </a:xfrm>
        </p:spPr>
        <p:txBody>
          <a:bodyPr>
            <a:normAutofit fontScale="90000"/>
          </a:bodyPr>
          <a:lstStyle/>
          <a:p>
            <a:pPr algn="ctr"/>
            <a:r>
              <a:rPr lang="en-US" sz="3600" b="1" dirty="0">
                <a:solidFill>
                  <a:schemeClr val="accent3"/>
                </a:solidFill>
                <a:latin typeface="Times New Roman" panose="02020603050405020304" pitchFamily="18" charset="0"/>
                <a:cs typeface="Times New Roman" panose="02020603050405020304" pitchFamily="18" charset="0"/>
              </a:rPr>
              <a:t>SOC KPIs </a:t>
            </a:r>
            <a:br>
              <a:rPr lang="en-US" sz="3600" b="1" dirty="0">
                <a:solidFill>
                  <a:schemeClr val="accent3"/>
                </a:solidFill>
                <a:latin typeface="Times New Roman" panose="02020603050405020304" pitchFamily="18" charset="0"/>
                <a:cs typeface="Times New Roman" panose="02020603050405020304" pitchFamily="18" charset="0"/>
              </a:rPr>
            </a:br>
            <a:r>
              <a:rPr lang="en-US" sz="3600" b="1" dirty="0">
                <a:solidFill>
                  <a:schemeClr val="accent3"/>
                </a:solidFill>
                <a:latin typeface="Times New Roman" panose="02020603050405020304" pitchFamily="18" charset="0"/>
                <a:cs typeface="Times New Roman" panose="02020603050405020304" pitchFamily="18" charset="0"/>
              </a:rPr>
              <a:t>(MTTD, MTTR, number of incidents handled, false positives rate) </a:t>
            </a:r>
          </a:p>
        </p:txBody>
      </p:sp>
    </p:spTree>
    <p:extLst>
      <p:ext uri="{BB962C8B-B14F-4D97-AF65-F5344CB8AC3E}">
        <p14:creationId xmlns:p14="http://schemas.microsoft.com/office/powerpoint/2010/main" val="2163193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6EA5E-46E8-4B61-A3FF-26093197FFA2}"/>
              </a:ext>
            </a:extLst>
          </p:cNvPr>
          <p:cNvSpPr>
            <a:spLocks noGrp="1"/>
          </p:cNvSpPr>
          <p:nvPr>
            <p:ph type="title"/>
          </p:nvPr>
        </p:nvSpPr>
        <p:spPr>
          <a:xfrm>
            <a:off x="956534" y="967556"/>
            <a:ext cx="10515600" cy="484728"/>
          </a:xfrm>
        </p:spPr>
        <p:txBody>
          <a:bodyPr>
            <a:noAutofit/>
          </a:bodyPr>
          <a:lstStyle/>
          <a:p>
            <a:r>
              <a:rPr lang="en-US" sz="3200" b="1" dirty="0">
                <a:solidFill>
                  <a:schemeClr val="accent3"/>
                </a:solidFill>
                <a:latin typeface="Times New Roman" panose="02020603050405020304" pitchFamily="18" charset="0"/>
                <a:cs typeface="Times New Roman" panose="02020603050405020304" pitchFamily="18" charset="0"/>
              </a:rPr>
              <a:t>MTTD (Mean Time To Detect)</a:t>
            </a:r>
            <a:br>
              <a:rPr lang="en-US" sz="3200" b="1" dirty="0">
                <a:solidFill>
                  <a:schemeClr val="accent3"/>
                </a:solidFill>
                <a:latin typeface="Times New Roman" panose="02020603050405020304" pitchFamily="18" charset="0"/>
                <a:cs typeface="Times New Roman" panose="02020603050405020304" pitchFamily="18" charset="0"/>
              </a:rPr>
            </a:br>
            <a:endParaRPr lang="en-US" sz="3200"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3779083-DE26-4C52-9B48-262249822C91}"/>
              </a:ext>
            </a:extLst>
          </p:cNvPr>
          <p:cNvSpPr>
            <a:spLocks noGrp="1"/>
          </p:cNvSpPr>
          <p:nvPr>
            <p:ph idx="1"/>
          </p:nvPr>
        </p:nvSpPr>
        <p:spPr>
          <a:xfrm>
            <a:off x="838199" y="1416351"/>
            <a:ext cx="10887635" cy="4351338"/>
          </a:xfrm>
        </p:spPr>
        <p:txBody>
          <a:bodyPr/>
          <a:lstStyle/>
          <a:p>
            <a:pPr marL="0" indent="0">
              <a:buNone/>
            </a:pPr>
            <a:r>
              <a:rPr lang="en-US" sz="2400" b="1" dirty="0">
                <a:solidFill>
                  <a:srgbClr val="0070C0"/>
                </a:solidFill>
                <a:latin typeface="Times New Roman" panose="02020603050405020304" pitchFamily="18" charset="0"/>
                <a:cs typeface="Times New Roman" panose="02020603050405020304" pitchFamily="18" charset="0"/>
              </a:rPr>
              <a:t>Definition: </a:t>
            </a:r>
            <a:r>
              <a:rPr lang="en-US" sz="2400" dirty="0">
                <a:latin typeface="Times New Roman" panose="02020603050405020304" pitchFamily="18" charset="0"/>
                <a:cs typeface="Times New Roman" panose="02020603050405020304" pitchFamily="18" charset="0"/>
              </a:rPr>
              <a:t>The </a:t>
            </a:r>
            <a:r>
              <a:rPr lang="en-US" sz="2400" i="1" dirty="0">
                <a:latin typeface="Times New Roman" panose="02020603050405020304" pitchFamily="18" charset="0"/>
                <a:cs typeface="Times New Roman" panose="02020603050405020304" pitchFamily="18" charset="0"/>
              </a:rPr>
              <a:t>average time it takes to detect</a:t>
            </a:r>
            <a:r>
              <a:rPr lang="en-US" sz="2400" dirty="0">
                <a:latin typeface="Times New Roman" panose="02020603050405020304" pitchFamily="18" charset="0"/>
                <a:cs typeface="Times New Roman" panose="02020603050405020304" pitchFamily="18" charset="0"/>
              </a:rPr>
              <a:t> a threat after it has entered the environment.</a:t>
            </a:r>
          </a:p>
          <a:p>
            <a:pPr marL="0" indent="0">
              <a:buNone/>
            </a:pPr>
            <a:r>
              <a:rPr lang="en-US" sz="2400" b="1" dirty="0">
                <a:solidFill>
                  <a:srgbClr val="0070C0"/>
                </a:solidFill>
                <a:latin typeface="Times New Roman" panose="02020603050405020304" pitchFamily="18" charset="0"/>
                <a:cs typeface="Times New Roman" panose="02020603050405020304" pitchFamily="18" charset="0"/>
              </a:rPr>
              <a:t>Why it matters: </a:t>
            </a:r>
            <a:r>
              <a:rPr lang="en-US" sz="2400" dirty="0">
                <a:latin typeface="Times New Roman" panose="02020603050405020304" pitchFamily="18" charset="0"/>
                <a:cs typeface="Times New Roman" panose="02020603050405020304" pitchFamily="18" charset="0"/>
              </a:rPr>
              <a:t>A lower MTTD means the SOC is catching threats more quickly, thereby limiting potential damage.</a:t>
            </a:r>
          </a:p>
          <a:p>
            <a:endParaRPr lang="en-US" dirty="0"/>
          </a:p>
        </p:txBody>
      </p:sp>
      <p:pic>
        <p:nvPicPr>
          <p:cNvPr id="5" name="Picture 4">
            <a:extLst>
              <a:ext uri="{FF2B5EF4-FFF2-40B4-BE49-F238E27FC236}">
                <a16:creationId xmlns:a16="http://schemas.microsoft.com/office/drawing/2014/main" id="{C2BFE2D0-D057-4955-A587-DB01A078272E}"/>
              </a:ext>
            </a:extLst>
          </p:cNvPr>
          <p:cNvPicPr>
            <a:picLocks noChangeAspect="1"/>
          </p:cNvPicPr>
          <p:nvPr/>
        </p:nvPicPr>
        <p:blipFill>
          <a:blip r:embed="rId2"/>
          <a:stretch>
            <a:fillRect/>
          </a:stretch>
        </p:blipFill>
        <p:spPr>
          <a:xfrm>
            <a:off x="6049382" y="2915322"/>
            <a:ext cx="6142618" cy="3420932"/>
          </a:xfrm>
          <a:prstGeom prst="rect">
            <a:avLst/>
          </a:prstGeom>
        </p:spPr>
      </p:pic>
      <p:sp>
        <p:nvSpPr>
          <p:cNvPr id="6" name="TextBox 5">
            <a:extLst>
              <a:ext uri="{FF2B5EF4-FFF2-40B4-BE49-F238E27FC236}">
                <a16:creationId xmlns:a16="http://schemas.microsoft.com/office/drawing/2014/main" id="{3585AC85-844F-4261-8294-6942F83ACAE1}"/>
              </a:ext>
            </a:extLst>
          </p:cNvPr>
          <p:cNvSpPr txBox="1"/>
          <p:nvPr/>
        </p:nvSpPr>
        <p:spPr>
          <a:xfrm>
            <a:off x="838198" y="3028122"/>
            <a:ext cx="5121537" cy="3785652"/>
          </a:xfrm>
          <a:prstGeom prst="rect">
            <a:avLst/>
          </a:prstGeom>
          <a:noFill/>
        </p:spPr>
        <p:txBody>
          <a:bodyPr wrap="square" rtlCol="0">
            <a:spAutoFit/>
          </a:bodyPr>
          <a:lstStyle/>
          <a:p>
            <a:r>
              <a:rPr lang="en-US" sz="2400" b="1" dirty="0">
                <a:solidFill>
                  <a:srgbClr val="0070C0"/>
                </a:solidFill>
                <a:latin typeface="Times New Roman" panose="02020603050405020304" pitchFamily="18" charset="0"/>
                <a:cs typeface="Times New Roman" panose="02020603050405020304" pitchFamily="18" charset="0"/>
              </a:rPr>
              <a:t>Interpretation:</a:t>
            </a:r>
          </a:p>
          <a:p>
            <a:pPr algn="just"/>
            <a:r>
              <a:rPr lang="en-US" sz="2400" dirty="0">
                <a:latin typeface="Times New Roman" panose="02020603050405020304" pitchFamily="18" charset="0"/>
                <a:cs typeface="Times New Roman" panose="02020603050405020304" pitchFamily="18" charset="0"/>
              </a:rPr>
              <a:t>On average, it takes </a:t>
            </a:r>
            <a:r>
              <a:rPr lang="en-US" sz="2400" b="1" dirty="0">
                <a:latin typeface="Times New Roman" panose="02020603050405020304" pitchFamily="18" charset="0"/>
                <a:cs typeface="Times New Roman" panose="02020603050405020304" pitchFamily="18" charset="0"/>
              </a:rPr>
              <a:t>4 hours</a:t>
            </a:r>
            <a:r>
              <a:rPr lang="en-US" sz="2400" dirty="0">
                <a:latin typeface="Times New Roman" panose="02020603050405020304" pitchFamily="18" charset="0"/>
                <a:cs typeface="Times New Roman" panose="02020603050405020304" pitchFamily="18" charset="0"/>
              </a:rPr>
              <a:t> for the SOC to detect an incident.</a:t>
            </a:r>
          </a:p>
          <a:p>
            <a:pPr algn="just"/>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goal could be to reduce MTTD to </a:t>
            </a:r>
            <a:r>
              <a:rPr lang="en-US" sz="2400" b="1" dirty="0">
                <a:latin typeface="Times New Roman" panose="02020603050405020304" pitchFamily="18" charset="0"/>
                <a:cs typeface="Times New Roman" panose="02020603050405020304" pitchFamily="18" charset="0"/>
              </a:rPr>
              <a:t>2 hours</a:t>
            </a:r>
            <a:r>
              <a:rPr lang="en-US" sz="2400" dirty="0">
                <a:latin typeface="Times New Roman" panose="02020603050405020304" pitchFamily="18" charset="0"/>
                <a:cs typeface="Times New Roman" panose="02020603050405020304" pitchFamily="18" charset="0"/>
              </a:rPr>
              <a:t> by improving alert correlation or using AI-based threat detection.</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18597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22B0A-D46E-4907-9F33-D7325B8162FA}"/>
              </a:ext>
            </a:extLst>
          </p:cNvPr>
          <p:cNvSpPr>
            <a:spLocks noGrp="1"/>
          </p:cNvSpPr>
          <p:nvPr>
            <p:ph type="title"/>
          </p:nvPr>
        </p:nvSpPr>
        <p:spPr>
          <a:xfrm>
            <a:off x="1031838" y="881495"/>
            <a:ext cx="10515600" cy="613820"/>
          </a:xfrm>
        </p:spPr>
        <p:txBody>
          <a:bodyPr>
            <a:normAutofit fontScale="90000"/>
          </a:bodyPr>
          <a:lstStyle/>
          <a:p>
            <a:r>
              <a:rPr lang="en-US" sz="3200" b="1" dirty="0">
                <a:solidFill>
                  <a:schemeClr val="accent3"/>
                </a:solidFill>
                <a:latin typeface="Times New Roman" panose="02020603050405020304" pitchFamily="18" charset="0"/>
                <a:cs typeface="Times New Roman" panose="02020603050405020304" pitchFamily="18" charset="0"/>
              </a:rPr>
              <a:t>MTTR (Mean Time To Respond/Remediate)</a:t>
            </a:r>
            <a:br>
              <a:rPr lang="en-US" sz="3200" b="1"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B042FE9-961B-44EE-B8B8-B24634D47426}"/>
              </a:ext>
            </a:extLst>
          </p:cNvPr>
          <p:cNvSpPr>
            <a:spLocks noGrp="1"/>
          </p:cNvSpPr>
          <p:nvPr>
            <p:ph idx="1"/>
          </p:nvPr>
        </p:nvSpPr>
        <p:spPr>
          <a:xfrm>
            <a:off x="924261" y="1384561"/>
            <a:ext cx="10515600" cy="4351338"/>
          </a:xfrm>
        </p:spPr>
        <p:txBody>
          <a:bodyPr/>
          <a:lstStyle/>
          <a:p>
            <a:pPr marL="0" indent="0">
              <a:buNone/>
            </a:pPr>
            <a:r>
              <a:rPr lang="en-US" sz="2400" b="1" dirty="0">
                <a:solidFill>
                  <a:srgbClr val="0070C0"/>
                </a:solidFill>
                <a:latin typeface="Times New Roman" panose="02020603050405020304" pitchFamily="18" charset="0"/>
                <a:cs typeface="Times New Roman" panose="02020603050405020304" pitchFamily="18" charset="0"/>
              </a:rPr>
              <a:t>Definition:</a:t>
            </a:r>
            <a:r>
              <a:rPr lang="en-US" sz="2400" dirty="0">
                <a:latin typeface="Times New Roman" panose="02020603050405020304" pitchFamily="18" charset="0"/>
                <a:cs typeface="Times New Roman" panose="02020603050405020304" pitchFamily="18" charset="0"/>
              </a:rPr>
              <a:t>The </a:t>
            </a:r>
            <a:r>
              <a:rPr lang="en-US" sz="2400" i="1" dirty="0">
                <a:latin typeface="Times New Roman" panose="02020603050405020304" pitchFamily="18" charset="0"/>
                <a:cs typeface="Times New Roman" panose="02020603050405020304" pitchFamily="18" charset="0"/>
              </a:rPr>
              <a:t>average time it takes to respond to and recover from</a:t>
            </a:r>
            <a:r>
              <a:rPr lang="en-US" sz="2400" dirty="0">
                <a:latin typeface="Times New Roman" panose="02020603050405020304" pitchFamily="18" charset="0"/>
                <a:cs typeface="Times New Roman" panose="02020603050405020304" pitchFamily="18" charset="0"/>
              </a:rPr>
              <a:t> an incident after it’s detected.</a:t>
            </a:r>
          </a:p>
          <a:p>
            <a:pPr marL="0" indent="0">
              <a:buNone/>
            </a:pPr>
            <a:r>
              <a:rPr lang="en-US" sz="2400" b="1" dirty="0">
                <a:solidFill>
                  <a:srgbClr val="0070C0"/>
                </a:solidFill>
                <a:latin typeface="Times New Roman" panose="02020603050405020304" pitchFamily="18" charset="0"/>
                <a:cs typeface="Times New Roman" panose="02020603050405020304" pitchFamily="18" charset="0"/>
              </a:rPr>
              <a:t>Why it matters:</a:t>
            </a:r>
            <a:r>
              <a:rPr lang="en-US" sz="2400" dirty="0">
                <a:latin typeface="Times New Roman" panose="02020603050405020304" pitchFamily="18" charset="0"/>
                <a:cs typeface="Times New Roman" panose="02020603050405020304" pitchFamily="18" charset="0"/>
              </a:rPr>
              <a:t>A low MTTR reduces downtime, limits data loss, and improves business continuity.</a:t>
            </a:r>
          </a:p>
          <a:p>
            <a:pPr marL="0" indent="0">
              <a:buNone/>
            </a:pPr>
            <a:endParaRPr lang="en-US" dirty="0"/>
          </a:p>
        </p:txBody>
      </p:sp>
      <p:pic>
        <p:nvPicPr>
          <p:cNvPr id="4" name="Picture 3">
            <a:extLst>
              <a:ext uri="{FF2B5EF4-FFF2-40B4-BE49-F238E27FC236}">
                <a16:creationId xmlns:a16="http://schemas.microsoft.com/office/drawing/2014/main" id="{6320C458-417D-46BB-B6DC-3953DAAD35A7}"/>
              </a:ext>
            </a:extLst>
          </p:cNvPr>
          <p:cNvPicPr>
            <a:picLocks noChangeAspect="1"/>
          </p:cNvPicPr>
          <p:nvPr/>
        </p:nvPicPr>
        <p:blipFill>
          <a:blip r:embed="rId2"/>
          <a:stretch>
            <a:fillRect/>
          </a:stretch>
        </p:blipFill>
        <p:spPr>
          <a:xfrm>
            <a:off x="5884432" y="2646381"/>
            <a:ext cx="6307567" cy="3592584"/>
          </a:xfrm>
          <a:prstGeom prst="rect">
            <a:avLst/>
          </a:prstGeom>
        </p:spPr>
      </p:pic>
      <p:sp>
        <p:nvSpPr>
          <p:cNvPr id="6" name="TextBox 5">
            <a:extLst>
              <a:ext uri="{FF2B5EF4-FFF2-40B4-BE49-F238E27FC236}">
                <a16:creationId xmlns:a16="http://schemas.microsoft.com/office/drawing/2014/main" id="{BE39C6F5-6995-4A61-B1F0-5BA198A42C44}"/>
              </a:ext>
            </a:extLst>
          </p:cNvPr>
          <p:cNvSpPr txBox="1"/>
          <p:nvPr/>
        </p:nvSpPr>
        <p:spPr>
          <a:xfrm>
            <a:off x="924260" y="3065930"/>
            <a:ext cx="5476539" cy="2585323"/>
          </a:xfrm>
          <a:prstGeom prst="rect">
            <a:avLst/>
          </a:prstGeom>
          <a:noFill/>
        </p:spPr>
        <p:txBody>
          <a:bodyPr wrap="square" rtlCol="0">
            <a:spAutoFit/>
          </a:bodyPr>
          <a:lstStyle/>
          <a:p>
            <a:r>
              <a:rPr lang="en-US" sz="2400" b="1" dirty="0">
                <a:solidFill>
                  <a:srgbClr val="0070C0"/>
                </a:solidFill>
                <a:latin typeface="Times New Roman" panose="02020603050405020304" pitchFamily="18" charset="0"/>
                <a:cs typeface="Times New Roman" panose="02020603050405020304" pitchFamily="18" charset="0"/>
              </a:rPr>
              <a:t>Interpretation: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SOC takes </a:t>
            </a:r>
            <a:r>
              <a:rPr lang="en-US" sz="2400" b="1" dirty="0">
                <a:latin typeface="Times New Roman" panose="02020603050405020304" pitchFamily="18" charset="0"/>
                <a:cs typeface="Times New Roman" panose="02020603050405020304" pitchFamily="18" charset="0"/>
              </a:rPr>
              <a:t>8 hours</a:t>
            </a:r>
            <a:r>
              <a:rPr lang="en-US" sz="2400" dirty="0">
                <a:latin typeface="Times New Roman" panose="02020603050405020304" pitchFamily="18" charset="0"/>
                <a:cs typeface="Times New Roman" panose="02020603050405020304" pitchFamily="18" charset="0"/>
              </a:rPr>
              <a:t> on average to remediate an incident.</a:t>
            </a:r>
          </a:p>
          <a:p>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goal might be to reduce this to </a:t>
            </a:r>
            <a:r>
              <a:rPr lang="en-US" sz="2400" b="1" dirty="0">
                <a:latin typeface="Times New Roman" panose="02020603050405020304" pitchFamily="18" charset="0"/>
                <a:cs typeface="Times New Roman" panose="02020603050405020304" pitchFamily="18" charset="0"/>
              </a:rPr>
              <a:t>5 hours</a:t>
            </a:r>
            <a:r>
              <a:rPr lang="en-US" sz="2400" dirty="0">
                <a:latin typeface="Times New Roman" panose="02020603050405020304" pitchFamily="18" charset="0"/>
                <a:cs typeface="Times New Roman" panose="02020603050405020304" pitchFamily="18" charset="0"/>
              </a:rPr>
              <a:t> by automating response actions.</a:t>
            </a:r>
          </a:p>
          <a:p>
            <a:endParaRPr lang="en-US" dirty="0"/>
          </a:p>
        </p:txBody>
      </p:sp>
    </p:spTree>
    <p:extLst>
      <p:ext uri="{BB962C8B-B14F-4D97-AF65-F5344CB8AC3E}">
        <p14:creationId xmlns:p14="http://schemas.microsoft.com/office/powerpoint/2010/main" val="1781474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6CDEC-F93A-4783-A3C9-9A2953912A17}"/>
              </a:ext>
            </a:extLst>
          </p:cNvPr>
          <p:cNvSpPr>
            <a:spLocks noGrp="1"/>
          </p:cNvSpPr>
          <p:nvPr>
            <p:ph type="title"/>
          </p:nvPr>
        </p:nvSpPr>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Number of Incidents Handled</a:t>
            </a:r>
          </a:p>
        </p:txBody>
      </p:sp>
      <p:sp>
        <p:nvSpPr>
          <p:cNvPr id="3" name="Content Placeholder 2">
            <a:extLst>
              <a:ext uri="{FF2B5EF4-FFF2-40B4-BE49-F238E27FC236}">
                <a16:creationId xmlns:a16="http://schemas.microsoft.com/office/drawing/2014/main" id="{16A1D34A-3DDA-4972-89AF-8935ED7023A3}"/>
              </a:ext>
            </a:extLst>
          </p:cNvPr>
          <p:cNvSpPr>
            <a:spLocks noGrp="1"/>
          </p:cNvSpPr>
          <p:nvPr>
            <p:ph idx="1"/>
          </p:nvPr>
        </p:nvSpPr>
        <p:spPr>
          <a:xfrm>
            <a:off x="838200" y="1352289"/>
            <a:ext cx="10515600" cy="4351338"/>
          </a:xfrm>
        </p:spPr>
        <p:txBody>
          <a:bodyPr/>
          <a:lstStyle/>
          <a:p>
            <a:pPr algn="just"/>
            <a:r>
              <a:rPr lang="en-US" sz="2400" b="1" dirty="0">
                <a:solidFill>
                  <a:srgbClr val="0070C0"/>
                </a:solidFill>
                <a:latin typeface="Times New Roman" panose="02020603050405020304" pitchFamily="18" charset="0"/>
                <a:cs typeface="Times New Roman" panose="02020603050405020304" pitchFamily="18" charset="0"/>
              </a:rPr>
              <a:t>Definition: </a:t>
            </a:r>
            <a:r>
              <a:rPr lang="en-US" sz="2400" dirty="0">
                <a:solidFill>
                  <a:srgbClr val="0070C0"/>
                </a:solidFill>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total number of security incidents the SOC identifies and manages over a specific period (daily, weekly, monthly, etc.).</a:t>
            </a:r>
          </a:p>
          <a:p>
            <a:pPr algn="just"/>
            <a:r>
              <a:rPr lang="en-US" sz="2400" b="1" dirty="0">
                <a:solidFill>
                  <a:srgbClr val="0070C0"/>
                </a:solidFill>
                <a:latin typeface="Times New Roman" panose="02020603050405020304" pitchFamily="18" charset="0"/>
                <a:cs typeface="Times New Roman" panose="02020603050405020304" pitchFamily="18" charset="0"/>
              </a:rPr>
              <a:t>Why it matters: </a:t>
            </a:r>
            <a:r>
              <a:rPr lang="en-US" sz="2400" dirty="0">
                <a:latin typeface="Times New Roman" panose="02020603050405020304" pitchFamily="18" charset="0"/>
                <a:cs typeface="Times New Roman" panose="02020603050405020304" pitchFamily="18" charset="0"/>
              </a:rPr>
              <a:t>Shows workload, performance trends, and resource needs.</a:t>
            </a:r>
          </a:p>
          <a:p>
            <a:endParaRPr lang="en-US" dirty="0"/>
          </a:p>
        </p:txBody>
      </p:sp>
      <p:graphicFrame>
        <p:nvGraphicFramePr>
          <p:cNvPr id="4" name="Table 3">
            <a:extLst>
              <a:ext uri="{FF2B5EF4-FFF2-40B4-BE49-F238E27FC236}">
                <a16:creationId xmlns:a16="http://schemas.microsoft.com/office/drawing/2014/main" id="{612205CF-8268-4550-888B-4948242E5284}"/>
              </a:ext>
            </a:extLst>
          </p:cNvPr>
          <p:cNvGraphicFramePr>
            <a:graphicFrameLocks noGrp="1"/>
          </p:cNvGraphicFramePr>
          <p:nvPr>
            <p:extLst>
              <p:ext uri="{D42A27DB-BD31-4B8C-83A1-F6EECF244321}">
                <p14:modId xmlns:p14="http://schemas.microsoft.com/office/powerpoint/2010/main" val="352467936"/>
              </p:ext>
            </p:extLst>
          </p:nvPr>
        </p:nvGraphicFramePr>
        <p:xfrm>
          <a:off x="1126066" y="2760831"/>
          <a:ext cx="7165488" cy="1946584"/>
        </p:xfrm>
        <a:graphic>
          <a:graphicData uri="http://schemas.openxmlformats.org/drawingml/2006/table">
            <a:tbl>
              <a:tblPr/>
              <a:tblGrid>
                <a:gridCol w="2388496">
                  <a:extLst>
                    <a:ext uri="{9D8B030D-6E8A-4147-A177-3AD203B41FA5}">
                      <a16:colId xmlns:a16="http://schemas.microsoft.com/office/drawing/2014/main" val="1074557829"/>
                    </a:ext>
                  </a:extLst>
                </a:gridCol>
                <a:gridCol w="2388496">
                  <a:extLst>
                    <a:ext uri="{9D8B030D-6E8A-4147-A177-3AD203B41FA5}">
                      <a16:colId xmlns:a16="http://schemas.microsoft.com/office/drawing/2014/main" val="4160051873"/>
                    </a:ext>
                  </a:extLst>
                </a:gridCol>
                <a:gridCol w="2388496">
                  <a:extLst>
                    <a:ext uri="{9D8B030D-6E8A-4147-A177-3AD203B41FA5}">
                      <a16:colId xmlns:a16="http://schemas.microsoft.com/office/drawing/2014/main" val="2524944448"/>
                    </a:ext>
                  </a:extLst>
                </a:gridCol>
              </a:tblGrid>
              <a:tr h="486646">
                <a:tc>
                  <a:txBody>
                    <a:bodyPr/>
                    <a:lstStyle/>
                    <a:p>
                      <a:r>
                        <a:rPr lang="en-US" sz="2000" dirty="0">
                          <a:solidFill>
                            <a:schemeClr val="accent3"/>
                          </a:solidFill>
                          <a:latin typeface="Times New Roman" panose="02020603050405020304" pitchFamily="18" charset="0"/>
                          <a:cs typeface="Times New Roman" panose="02020603050405020304" pitchFamily="18" charset="0"/>
                        </a:rPr>
                        <a:t>Month</a:t>
                      </a:r>
                    </a:p>
                  </a:txBody>
                  <a:tcPr anchor="ctr">
                    <a:lnL>
                      <a:noFill/>
                    </a:lnL>
                    <a:lnR>
                      <a:noFill/>
                    </a:lnR>
                    <a:lnT>
                      <a:noFill/>
                    </a:lnT>
                    <a:lnB>
                      <a:noFill/>
                    </a:lnB>
                  </a:tcPr>
                </a:tc>
                <a:tc>
                  <a:txBody>
                    <a:bodyPr/>
                    <a:lstStyle/>
                    <a:p>
                      <a:r>
                        <a:rPr lang="en-US" sz="2000" dirty="0">
                          <a:solidFill>
                            <a:schemeClr val="accent3"/>
                          </a:solidFill>
                          <a:latin typeface="Times New Roman" panose="02020603050405020304" pitchFamily="18" charset="0"/>
                          <a:cs typeface="Times New Roman" panose="02020603050405020304" pitchFamily="18" charset="0"/>
                        </a:rPr>
                        <a:t>Incidents Detected</a:t>
                      </a:r>
                    </a:p>
                  </a:txBody>
                  <a:tcPr anchor="ctr">
                    <a:lnL>
                      <a:noFill/>
                    </a:lnL>
                    <a:lnR>
                      <a:noFill/>
                    </a:lnR>
                    <a:lnT>
                      <a:noFill/>
                    </a:lnT>
                    <a:lnB>
                      <a:noFill/>
                    </a:lnB>
                  </a:tcPr>
                </a:tc>
                <a:tc>
                  <a:txBody>
                    <a:bodyPr/>
                    <a:lstStyle/>
                    <a:p>
                      <a:r>
                        <a:rPr lang="en-US" sz="2000" dirty="0">
                          <a:solidFill>
                            <a:schemeClr val="accent3"/>
                          </a:solidFill>
                          <a:latin typeface="Times New Roman" panose="02020603050405020304" pitchFamily="18" charset="0"/>
                          <a:cs typeface="Times New Roman" panose="02020603050405020304" pitchFamily="18" charset="0"/>
                        </a:rPr>
                        <a:t>Incidents Resolved</a:t>
                      </a:r>
                    </a:p>
                  </a:txBody>
                  <a:tcPr anchor="ctr">
                    <a:lnL>
                      <a:noFill/>
                    </a:lnL>
                    <a:lnR>
                      <a:noFill/>
                    </a:lnR>
                    <a:lnT>
                      <a:noFill/>
                    </a:lnT>
                    <a:lnB>
                      <a:noFill/>
                    </a:lnB>
                  </a:tcPr>
                </a:tc>
                <a:extLst>
                  <a:ext uri="{0D108BD9-81ED-4DB2-BD59-A6C34878D82A}">
                    <a16:rowId xmlns:a16="http://schemas.microsoft.com/office/drawing/2014/main" val="670246525"/>
                  </a:ext>
                </a:extLst>
              </a:tr>
              <a:tr h="486646">
                <a:tc>
                  <a:txBody>
                    <a:bodyPr/>
                    <a:lstStyle/>
                    <a:p>
                      <a:r>
                        <a:rPr lang="en-US" sz="2000" dirty="0">
                          <a:latin typeface="Times New Roman" panose="02020603050405020304" pitchFamily="18" charset="0"/>
                          <a:cs typeface="Times New Roman" panose="02020603050405020304" pitchFamily="18" charset="0"/>
                        </a:rPr>
                        <a:t>January</a:t>
                      </a:r>
                    </a:p>
                  </a:txBody>
                  <a:tcPr anchor="ctr">
                    <a:lnL>
                      <a:noFill/>
                    </a:lnL>
                    <a:lnR>
                      <a:noFill/>
                    </a:lnR>
                    <a:lnT>
                      <a:noFill/>
                    </a:lnT>
                    <a:lnB>
                      <a:noFill/>
                    </a:lnB>
                  </a:tcPr>
                </a:tc>
                <a:tc>
                  <a:txBody>
                    <a:bodyPr/>
                    <a:lstStyle/>
                    <a:p>
                      <a:r>
                        <a:rPr lang="en-US" sz="2000" dirty="0">
                          <a:latin typeface="Times New Roman" panose="02020603050405020304" pitchFamily="18" charset="0"/>
                          <a:cs typeface="Times New Roman" panose="02020603050405020304" pitchFamily="18" charset="0"/>
                        </a:rPr>
                        <a:t>120</a:t>
                      </a:r>
                    </a:p>
                  </a:txBody>
                  <a:tcPr anchor="ctr">
                    <a:lnL>
                      <a:noFill/>
                    </a:lnL>
                    <a:lnR>
                      <a:noFill/>
                    </a:lnR>
                    <a:lnT>
                      <a:noFill/>
                    </a:lnT>
                    <a:lnB>
                      <a:noFill/>
                    </a:lnB>
                  </a:tcPr>
                </a:tc>
                <a:tc>
                  <a:txBody>
                    <a:bodyPr/>
                    <a:lstStyle/>
                    <a:p>
                      <a:r>
                        <a:rPr lang="en-US" sz="2000">
                          <a:latin typeface="Times New Roman" panose="02020603050405020304" pitchFamily="18" charset="0"/>
                          <a:cs typeface="Times New Roman" panose="02020603050405020304" pitchFamily="18" charset="0"/>
                        </a:rPr>
                        <a:t>115</a:t>
                      </a:r>
                    </a:p>
                  </a:txBody>
                  <a:tcPr anchor="ctr">
                    <a:lnL>
                      <a:noFill/>
                    </a:lnL>
                    <a:lnR>
                      <a:noFill/>
                    </a:lnR>
                    <a:lnT>
                      <a:noFill/>
                    </a:lnT>
                    <a:lnB>
                      <a:noFill/>
                    </a:lnB>
                  </a:tcPr>
                </a:tc>
                <a:extLst>
                  <a:ext uri="{0D108BD9-81ED-4DB2-BD59-A6C34878D82A}">
                    <a16:rowId xmlns:a16="http://schemas.microsoft.com/office/drawing/2014/main" val="1459468740"/>
                  </a:ext>
                </a:extLst>
              </a:tr>
              <a:tr h="486646">
                <a:tc>
                  <a:txBody>
                    <a:bodyPr/>
                    <a:lstStyle/>
                    <a:p>
                      <a:r>
                        <a:rPr lang="en-US" sz="2000">
                          <a:latin typeface="Times New Roman" panose="02020603050405020304" pitchFamily="18" charset="0"/>
                          <a:cs typeface="Times New Roman" panose="02020603050405020304" pitchFamily="18" charset="0"/>
                        </a:rPr>
                        <a:t>February</a:t>
                      </a:r>
                    </a:p>
                  </a:txBody>
                  <a:tcPr anchor="ctr">
                    <a:lnL>
                      <a:noFill/>
                    </a:lnL>
                    <a:lnR>
                      <a:noFill/>
                    </a:lnR>
                    <a:lnT>
                      <a:noFill/>
                    </a:lnT>
                    <a:lnB>
                      <a:noFill/>
                    </a:lnB>
                  </a:tcPr>
                </a:tc>
                <a:tc>
                  <a:txBody>
                    <a:bodyPr/>
                    <a:lstStyle/>
                    <a:p>
                      <a:r>
                        <a:rPr lang="en-US" sz="2000" dirty="0">
                          <a:latin typeface="Times New Roman" panose="02020603050405020304" pitchFamily="18" charset="0"/>
                          <a:cs typeface="Times New Roman" panose="02020603050405020304" pitchFamily="18" charset="0"/>
                        </a:rPr>
                        <a:t>150</a:t>
                      </a:r>
                    </a:p>
                  </a:txBody>
                  <a:tcPr anchor="ctr">
                    <a:lnL>
                      <a:noFill/>
                    </a:lnL>
                    <a:lnR>
                      <a:noFill/>
                    </a:lnR>
                    <a:lnT>
                      <a:noFill/>
                    </a:lnT>
                    <a:lnB>
                      <a:noFill/>
                    </a:lnB>
                  </a:tcPr>
                </a:tc>
                <a:tc>
                  <a:txBody>
                    <a:bodyPr/>
                    <a:lstStyle/>
                    <a:p>
                      <a:r>
                        <a:rPr lang="en-US" sz="2000">
                          <a:latin typeface="Times New Roman" panose="02020603050405020304" pitchFamily="18" charset="0"/>
                          <a:cs typeface="Times New Roman" panose="02020603050405020304" pitchFamily="18" charset="0"/>
                        </a:rPr>
                        <a:t>145</a:t>
                      </a:r>
                    </a:p>
                  </a:txBody>
                  <a:tcPr anchor="ctr">
                    <a:lnL>
                      <a:noFill/>
                    </a:lnL>
                    <a:lnR>
                      <a:noFill/>
                    </a:lnR>
                    <a:lnT>
                      <a:noFill/>
                    </a:lnT>
                    <a:lnB>
                      <a:noFill/>
                    </a:lnB>
                  </a:tcPr>
                </a:tc>
                <a:extLst>
                  <a:ext uri="{0D108BD9-81ED-4DB2-BD59-A6C34878D82A}">
                    <a16:rowId xmlns:a16="http://schemas.microsoft.com/office/drawing/2014/main" val="260813799"/>
                  </a:ext>
                </a:extLst>
              </a:tr>
              <a:tr h="486646">
                <a:tc>
                  <a:txBody>
                    <a:bodyPr/>
                    <a:lstStyle/>
                    <a:p>
                      <a:r>
                        <a:rPr lang="en-US" sz="2000">
                          <a:latin typeface="Times New Roman" panose="02020603050405020304" pitchFamily="18" charset="0"/>
                          <a:cs typeface="Times New Roman" panose="02020603050405020304" pitchFamily="18" charset="0"/>
                        </a:rPr>
                        <a:t>March</a:t>
                      </a:r>
                    </a:p>
                  </a:txBody>
                  <a:tcPr anchor="ctr">
                    <a:lnL>
                      <a:noFill/>
                    </a:lnL>
                    <a:lnR>
                      <a:noFill/>
                    </a:lnR>
                    <a:lnT>
                      <a:noFill/>
                    </a:lnT>
                    <a:lnB>
                      <a:noFill/>
                    </a:lnB>
                  </a:tcPr>
                </a:tc>
                <a:tc>
                  <a:txBody>
                    <a:bodyPr/>
                    <a:lstStyle/>
                    <a:p>
                      <a:r>
                        <a:rPr lang="en-US" sz="2000" dirty="0">
                          <a:latin typeface="Times New Roman" panose="02020603050405020304" pitchFamily="18" charset="0"/>
                          <a:cs typeface="Times New Roman" panose="02020603050405020304" pitchFamily="18" charset="0"/>
                        </a:rPr>
                        <a:t>180</a:t>
                      </a:r>
                    </a:p>
                  </a:txBody>
                  <a:tcPr anchor="ctr">
                    <a:lnL>
                      <a:noFill/>
                    </a:lnL>
                    <a:lnR>
                      <a:noFill/>
                    </a:lnR>
                    <a:lnT>
                      <a:noFill/>
                    </a:lnT>
                    <a:lnB>
                      <a:noFill/>
                    </a:lnB>
                  </a:tcPr>
                </a:tc>
                <a:tc>
                  <a:txBody>
                    <a:bodyPr/>
                    <a:lstStyle/>
                    <a:p>
                      <a:r>
                        <a:rPr lang="en-US" sz="2000" dirty="0">
                          <a:latin typeface="Times New Roman" panose="02020603050405020304" pitchFamily="18" charset="0"/>
                          <a:cs typeface="Times New Roman" panose="02020603050405020304" pitchFamily="18" charset="0"/>
                        </a:rPr>
                        <a:t>175</a:t>
                      </a:r>
                    </a:p>
                  </a:txBody>
                  <a:tcPr anchor="ctr">
                    <a:lnL>
                      <a:noFill/>
                    </a:lnL>
                    <a:lnR>
                      <a:noFill/>
                    </a:lnR>
                    <a:lnT>
                      <a:noFill/>
                    </a:lnT>
                    <a:lnB>
                      <a:noFill/>
                    </a:lnB>
                  </a:tcPr>
                </a:tc>
                <a:extLst>
                  <a:ext uri="{0D108BD9-81ED-4DB2-BD59-A6C34878D82A}">
                    <a16:rowId xmlns:a16="http://schemas.microsoft.com/office/drawing/2014/main" val="4056584659"/>
                  </a:ext>
                </a:extLst>
              </a:tr>
            </a:tbl>
          </a:graphicData>
        </a:graphic>
      </p:graphicFrame>
      <p:sp>
        <p:nvSpPr>
          <p:cNvPr id="5" name="Rectangle 4">
            <a:extLst>
              <a:ext uri="{FF2B5EF4-FFF2-40B4-BE49-F238E27FC236}">
                <a16:creationId xmlns:a16="http://schemas.microsoft.com/office/drawing/2014/main" id="{E0323328-581A-459A-8D0C-23C88B795D1E}"/>
              </a:ext>
            </a:extLst>
          </p:cNvPr>
          <p:cNvSpPr/>
          <p:nvPr/>
        </p:nvSpPr>
        <p:spPr>
          <a:xfrm>
            <a:off x="1032934" y="4872630"/>
            <a:ext cx="10969215" cy="830997"/>
          </a:xfrm>
          <a:prstGeom prst="rect">
            <a:avLst/>
          </a:prstGeom>
        </p:spPr>
        <p:txBody>
          <a:bodyPr wrap="square">
            <a:spAutoFit/>
          </a:bodyPr>
          <a:lstStyle/>
          <a:p>
            <a:r>
              <a:rPr lang="en-US" sz="2400" b="1" dirty="0">
                <a:solidFill>
                  <a:srgbClr val="0070C0"/>
                </a:solidFill>
                <a:latin typeface="Times New Roman" panose="02020603050405020304" pitchFamily="18" charset="0"/>
                <a:cs typeface="Times New Roman" panose="02020603050405020304" pitchFamily="18" charset="0"/>
              </a:rPr>
              <a:t>Interpretation: </a:t>
            </a:r>
            <a:r>
              <a:rPr lang="en-US" sz="2400" dirty="0">
                <a:latin typeface="Times New Roman" panose="02020603050405020304" pitchFamily="18" charset="0"/>
                <a:cs typeface="Times New Roman" panose="02020603050405020304" pitchFamily="18" charset="0"/>
              </a:rPr>
              <a:t>The SOC handled </a:t>
            </a:r>
            <a:r>
              <a:rPr lang="en-US" sz="2400" b="1" dirty="0">
                <a:latin typeface="Times New Roman" panose="02020603050405020304" pitchFamily="18" charset="0"/>
                <a:cs typeface="Times New Roman" panose="02020603050405020304" pitchFamily="18" charset="0"/>
              </a:rPr>
              <a:t>180 incidents in March</a:t>
            </a:r>
            <a:r>
              <a:rPr lang="en-US" sz="2400" dirty="0">
                <a:latin typeface="Times New Roman" panose="02020603050405020304" pitchFamily="18" charset="0"/>
                <a:cs typeface="Times New Roman" panose="02020603050405020304" pitchFamily="18" charset="0"/>
              </a:rPr>
              <a:t>, showing an increase. May indicate rising threats or improved detection needs analysis.</a:t>
            </a:r>
          </a:p>
        </p:txBody>
      </p:sp>
    </p:spTree>
    <p:extLst>
      <p:ext uri="{BB962C8B-B14F-4D97-AF65-F5344CB8AC3E}">
        <p14:creationId xmlns:p14="http://schemas.microsoft.com/office/powerpoint/2010/main" val="1417285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3710F-D107-4FB1-A58E-94321289CD01}"/>
              </a:ext>
            </a:extLst>
          </p:cNvPr>
          <p:cNvSpPr>
            <a:spLocks noGrp="1"/>
          </p:cNvSpPr>
          <p:nvPr>
            <p:ph type="title"/>
          </p:nvPr>
        </p:nvSpPr>
        <p:spPr>
          <a:xfrm>
            <a:off x="838200" y="305860"/>
            <a:ext cx="10515600" cy="1325563"/>
          </a:xfrm>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False Positive Rate</a:t>
            </a:r>
          </a:p>
        </p:txBody>
      </p:sp>
      <p:sp>
        <p:nvSpPr>
          <p:cNvPr id="3" name="Content Placeholder 2">
            <a:extLst>
              <a:ext uri="{FF2B5EF4-FFF2-40B4-BE49-F238E27FC236}">
                <a16:creationId xmlns:a16="http://schemas.microsoft.com/office/drawing/2014/main" id="{471323E1-274C-4533-9787-8270F8737995}"/>
              </a:ext>
            </a:extLst>
          </p:cNvPr>
          <p:cNvSpPr>
            <a:spLocks noGrp="1"/>
          </p:cNvSpPr>
          <p:nvPr>
            <p:ph idx="1"/>
          </p:nvPr>
        </p:nvSpPr>
        <p:spPr>
          <a:xfrm>
            <a:off x="752139" y="1253331"/>
            <a:ext cx="10515600" cy="4351338"/>
          </a:xfrm>
        </p:spPr>
        <p:txBody>
          <a:bodyPr/>
          <a:lstStyle/>
          <a:p>
            <a:pPr marL="0" indent="0" algn="just">
              <a:buNone/>
            </a:pPr>
            <a:r>
              <a:rPr lang="en-US" sz="2400" b="1" dirty="0">
                <a:solidFill>
                  <a:srgbClr val="0070C0"/>
                </a:solidFill>
                <a:latin typeface="Times New Roman" panose="02020603050405020304" pitchFamily="18" charset="0"/>
                <a:cs typeface="Times New Roman" panose="02020603050405020304" pitchFamily="18" charset="0"/>
              </a:rPr>
              <a:t>Definition:</a:t>
            </a:r>
            <a:r>
              <a:rPr lang="en-US" sz="2400" dirty="0">
                <a:latin typeface="Times New Roman" panose="02020603050405020304" pitchFamily="18" charset="0"/>
                <a:cs typeface="Times New Roman" panose="02020603050405020304" pitchFamily="18" charset="0"/>
              </a:rPr>
              <a:t>The percentage of alerts that turn out to be </a:t>
            </a:r>
            <a:r>
              <a:rPr lang="en-US" sz="2400" i="1" dirty="0">
                <a:latin typeface="Times New Roman" panose="02020603050405020304" pitchFamily="18" charset="0"/>
                <a:cs typeface="Times New Roman" panose="02020603050405020304" pitchFamily="18" charset="0"/>
              </a:rPr>
              <a:t>benign</a:t>
            </a:r>
            <a:r>
              <a:rPr lang="en-US" sz="2400" dirty="0">
                <a:latin typeface="Times New Roman" panose="02020603050405020304" pitchFamily="18" charset="0"/>
                <a:cs typeface="Times New Roman" panose="02020603050405020304" pitchFamily="18" charset="0"/>
              </a:rPr>
              <a:t> or </a:t>
            </a:r>
            <a:r>
              <a:rPr lang="en-US" sz="2400" i="1" dirty="0">
                <a:latin typeface="Times New Roman" panose="02020603050405020304" pitchFamily="18" charset="0"/>
                <a:cs typeface="Times New Roman" panose="02020603050405020304" pitchFamily="18" charset="0"/>
              </a:rPr>
              <a:t>non-malicious</a:t>
            </a:r>
            <a:r>
              <a:rPr lang="en-US" sz="2400" dirty="0">
                <a:latin typeface="Times New Roman" panose="02020603050405020304" pitchFamily="18" charset="0"/>
                <a:cs typeface="Times New Roman" panose="02020603050405020304" pitchFamily="18" charset="0"/>
              </a:rPr>
              <a:t> after investigation.</a:t>
            </a:r>
          </a:p>
          <a:p>
            <a:pPr marL="0" indent="0" algn="just">
              <a:buNone/>
            </a:pPr>
            <a:r>
              <a:rPr lang="en-US" sz="2400" b="1" dirty="0">
                <a:solidFill>
                  <a:srgbClr val="0070C0"/>
                </a:solidFill>
                <a:latin typeface="Times New Roman" panose="02020603050405020304" pitchFamily="18" charset="0"/>
                <a:cs typeface="Times New Roman" panose="02020603050405020304" pitchFamily="18" charset="0"/>
              </a:rPr>
              <a:t>Why it matters:</a:t>
            </a:r>
            <a:r>
              <a:rPr lang="en-US" sz="2400" dirty="0">
                <a:latin typeface="Times New Roman" panose="02020603050405020304" pitchFamily="18" charset="0"/>
                <a:cs typeface="Times New Roman" panose="02020603050405020304" pitchFamily="18" charset="0"/>
              </a:rPr>
              <a:t>High false positive rates waste analyst time and reduce focus on real threats.</a:t>
            </a:r>
          </a:p>
          <a:p>
            <a:endParaRPr lang="en-US" dirty="0"/>
          </a:p>
        </p:txBody>
      </p:sp>
      <p:pic>
        <p:nvPicPr>
          <p:cNvPr id="4" name="Picture 3">
            <a:extLst>
              <a:ext uri="{FF2B5EF4-FFF2-40B4-BE49-F238E27FC236}">
                <a16:creationId xmlns:a16="http://schemas.microsoft.com/office/drawing/2014/main" id="{446BA3B5-E6B6-4B09-80F7-FFE25D5133EE}"/>
              </a:ext>
            </a:extLst>
          </p:cNvPr>
          <p:cNvPicPr>
            <a:picLocks noChangeAspect="1"/>
          </p:cNvPicPr>
          <p:nvPr/>
        </p:nvPicPr>
        <p:blipFill>
          <a:blip r:embed="rId2"/>
          <a:stretch>
            <a:fillRect/>
          </a:stretch>
        </p:blipFill>
        <p:spPr>
          <a:xfrm>
            <a:off x="924261" y="3473246"/>
            <a:ext cx="6035339" cy="3175268"/>
          </a:xfrm>
          <a:prstGeom prst="rect">
            <a:avLst/>
          </a:prstGeom>
        </p:spPr>
      </p:pic>
      <p:sp>
        <p:nvSpPr>
          <p:cNvPr id="5" name="TextBox 4">
            <a:extLst>
              <a:ext uri="{FF2B5EF4-FFF2-40B4-BE49-F238E27FC236}">
                <a16:creationId xmlns:a16="http://schemas.microsoft.com/office/drawing/2014/main" id="{DC225AA3-61FB-43EF-A3FF-99B401C57DD9}"/>
              </a:ext>
            </a:extLst>
          </p:cNvPr>
          <p:cNvSpPr txBox="1"/>
          <p:nvPr/>
        </p:nvSpPr>
        <p:spPr>
          <a:xfrm>
            <a:off x="752139" y="2675268"/>
            <a:ext cx="10687722" cy="830997"/>
          </a:xfrm>
          <a:prstGeom prst="rect">
            <a:avLst/>
          </a:prstGeom>
          <a:noFill/>
        </p:spPr>
        <p:txBody>
          <a:bodyPr wrap="square" rtlCol="0">
            <a:spAutoFit/>
          </a:bodyPr>
          <a:lstStyle/>
          <a:p>
            <a:r>
              <a:rPr lang="en-US" sz="2400" b="1" dirty="0">
                <a:solidFill>
                  <a:srgbClr val="0070C0"/>
                </a:solidFill>
                <a:latin typeface="Times New Roman" panose="02020603050405020304" pitchFamily="18" charset="0"/>
                <a:cs typeface="Times New Roman" panose="02020603050405020304" pitchFamily="18" charset="0"/>
              </a:rPr>
              <a:t>Interpretation:</a:t>
            </a:r>
            <a:r>
              <a:rPr lang="en-US" sz="2400" dirty="0">
                <a:latin typeface="Times New Roman" panose="02020603050405020304" pitchFamily="18" charset="0"/>
                <a:cs typeface="Times New Roman" panose="02020603050405020304" pitchFamily="18" charset="0"/>
              </a:rPr>
              <a:t>40% of alerts are false positives. This is quite high.Improve tuning of SIEM rules or use threat intelligence feeds to lower it.</a:t>
            </a:r>
          </a:p>
        </p:txBody>
      </p:sp>
    </p:spTree>
    <p:extLst>
      <p:ext uri="{BB962C8B-B14F-4D97-AF65-F5344CB8AC3E}">
        <p14:creationId xmlns:p14="http://schemas.microsoft.com/office/powerpoint/2010/main" val="2150895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50411" y="1021722"/>
            <a:ext cx="11134181" cy="5972961"/>
          </a:xfrm>
        </p:spPr>
        <p:txBody>
          <a:bodyPr>
            <a:normAutofit fontScale="62500" lnSpcReduction="20000"/>
          </a:bodyPr>
          <a:lstStyle/>
          <a:p>
            <a:pPr fontAlgn="auto">
              <a:lnSpc>
                <a:spcPct val="170000"/>
              </a:lnSpc>
            </a:pPr>
            <a:r>
              <a:rPr lang="en-US" b="1" dirty="0">
                <a:solidFill>
                  <a:srgbClr val="0070C0"/>
                </a:solidFill>
                <a:latin typeface="Times New Roman" panose="02020603050405020304" pitchFamily="18" charset="0"/>
                <a:cs typeface="Times New Roman" panose="02020603050405020304" pitchFamily="18" charset="0"/>
              </a:rPr>
              <a:t>Threat Detection and Response Time:</a:t>
            </a:r>
            <a:r>
              <a:rPr lang="en-US"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measures the time taken to detect and respond to security threats.</a:t>
            </a:r>
          </a:p>
          <a:p>
            <a:pPr fontAlgn="auto">
              <a:lnSpc>
                <a:spcPct val="170000"/>
              </a:lnSpc>
            </a:pPr>
            <a:r>
              <a:rPr lang="en-US" b="1" dirty="0">
                <a:solidFill>
                  <a:srgbClr val="0070C0"/>
                </a:solidFill>
                <a:latin typeface="Times New Roman" panose="02020603050405020304" pitchFamily="18" charset="0"/>
                <a:cs typeface="Times New Roman" panose="02020603050405020304" pitchFamily="18" charset="0"/>
              </a:rPr>
              <a:t>False Positive and False Negative Rates: </a:t>
            </a:r>
            <a:r>
              <a:rPr lang="en-US" dirty="0">
                <a:latin typeface="Times New Roman" panose="02020603050405020304" pitchFamily="18" charset="0"/>
                <a:cs typeface="Times New Roman" panose="02020603050405020304" pitchFamily="18" charset="0"/>
              </a:rPr>
              <a:t>measures the accuracy of threat detection systems.</a:t>
            </a:r>
          </a:p>
          <a:p>
            <a:pPr fontAlgn="auto">
              <a:lnSpc>
                <a:spcPct val="170000"/>
              </a:lnSpc>
            </a:pPr>
            <a:r>
              <a:rPr lang="en-US" b="1" dirty="0">
                <a:solidFill>
                  <a:srgbClr val="0070C0"/>
                </a:solidFill>
                <a:latin typeface="Times New Roman" panose="02020603050405020304" pitchFamily="18" charset="0"/>
                <a:cs typeface="Times New Roman" panose="02020603050405020304" pitchFamily="18" charset="0"/>
              </a:rPr>
              <a:t>Mean Time to Attend and </a:t>
            </a:r>
            <a:r>
              <a:rPr lang="en-US" b="1" dirty="0" err="1">
                <a:solidFill>
                  <a:srgbClr val="0070C0"/>
                </a:solidFill>
                <a:latin typeface="Times New Roman" panose="02020603050405020304" pitchFamily="18" charset="0"/>
                <a:cs typeface="Times New Roman" panose="02020603050405020304" pitchFamily="18" charset="0"/>
              </a:rPr>
              <a:t>Analyse</a:t>
            </a:r>
            <a:r>
              <a:rPr lang="en-US" b="1" dirty="0">
                <a:solidFill>
                  <a:srgbClr val="0070C0"/>
                </a:solidFill>
                <a:latin typeface="Times New Roman" panose="02020603050405020304" pitchFamily="18" charset="0"/>
                <a:cs typeface="Times New Roman" panose="02020603050405020304" pitchFamily="18" charset="0"/>
              </a:rPr>
              <a:t> (MTTA&amp;A)</a:t>
            </a:r>
            <a:r>
              <a:rPr lang="en-US"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measures the time taken to attend and </a:t>
            </a:r>
            <a:r>
              <a:rPr lang="en-US" dirty="0" err="1">
                <a:latin typeface="Times New Roman" panose="02020603050405020304" pitchFamily="18" charset="0"/>
                <a:cs typeface="Times New Roman" panose="02020603050405020304" pitchFamily="18" charset="0"/>
              </a:rPr>
              <a:t>Analyse</a:t>
            </a:r>
            <a:r>
              <a:rPr lang="en-US" dirty="0">
                <a:latin typeface="Times New Roman" panose="02020603050405020304" pitchFamily="18" charset="0"/>
                <a:cs typeface="Times New Roman" panose="02020603050405020304" pitchFamily="18" charset="0"/>
              </a:rPr>
              <a:t> the security Alert.</a:t>
            </a:r>
          </a:p>
          <a:p>
            <a:pPr fontAlgn="auto">
              <a:lnSpc>
                <a:spcPct val="170000"/>
              </a:lnSpc>
            </a:pPr>
            <a:r>
              <a:rPr lang="en-US" b="1" dirty="0">
                <a:solidFill>
                  <a:srgbClr val="0070C0"/>
                </a:solidFill>
                <a:latin typeface="Times New Roman" panose="02020603050405020304" pitchFamily="18" charset="0"/>
                <a:cs typeface="Times New Roman" panose="02020603050405020304" pitchFamily="18" charset="0"/>
              </a:rPr>
              <a:t>Mean Time to Resolution (MTTR):</a:t>
            </a:r>
            <a:r>
              <a:rPr lang="en-US"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measures the time taken to resolve security incidents.</a:t>
            </a:r>
          </a:p>
          <a:p>
            <a:pPr fontAlgn="auto">
              <a:lnSpc>
                <a:spcPct val="170000"/>
              </a:lnSpc>
            </a:pPr>
            <a:r>
              <a:rPr lang="en-US" b="1" dirty="0">
                <a:solidFill>
                  <a:srgbClr val="0070C0"/>
                </a:solidFill>
                <a:latin typeface="Times New Roman" panose="02020603050405020304" pitchFamily="18" charset="0"/>
                <a:cs typeface="Times New Roman" panose="02020603050405020304" pitchFamily="18" charset="0"/>
              </a:rPr>
              <a:t>Incident Response Efficiency:</a:t>
            </a:r>
            <a:r>
              <a:rPr lang="en-US"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measures the efficiency of the incident response process.</a:t>
            </a:r>
          </a:p>
          <a:p>
            <a:pPr fontAlgn="auto">
              <a:lnSpc>
                <a:spcPct val="170000"/>
              </a:lnSpc>
            </a:pPr>
            <a:r>
              <a:rPr lang="en-US" b="1" dirty="0">
                <a:solidFill>
                  <a:srgbClr val="0070C0"/>
                </a:solidFill>
                <a:latin typeface="Times New Roman" panose="02020603050405020304" pitchFamily="18" charset="0"/>
                <a:cs typeface="Times New Roman" panose="02020603050405020304" pitchFamily="18" charset="0"/>
              </a:rPr>
              <a:t>Security Incidents Trends:</a:t>
            </a:r>
            <a:r>
              <a:rPr lang="en-US"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tracks the number and type of security incidents over time.</a:t>
            </a:r>
          </a:p>
          <a:p>
            <a:pPr fontAlgn="auto">
              <a:lnSpc>
                <a:spcPct val="170000"/>
              </a:lnSpc>
            </a:pPr>
            <a:r>
              <a:rPr lang="en-US" b="1" dirty="0">
                <a:solidFill>
                  <a:srgbClr val="0070C0"/>
                </a:solidFill>
                <a:latin typeface="Times New Roman" panose="02020603050405020304" pitchFamily="18" charset="0"/>
                <a:cs typeface="Times New Roman" panose="02020603050405020304" pitchFamily="18" charset="0"/>
              </a:rPr>
              <a:t>Compliance and Audit Metrics:</a:t>
            </a:r>
            <a:r>
              <a:rPr lang="en-US"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measures the compliance with industry and </a:t>
            </a:r>
            <a:r>
              <a:rPr lang="en-US" dirty="0" err="1">
                <a:latin typeface="Times New Roman" panose="02020603050405020304" pitchFamily="18" charset="0"/>
                <a:cs typeface="Times New Roman" panose="02020603050405020304" pitchFamily="18" charset="0"/>
              </a:rPr>
              <a:t>organisational</a:t>
            </a:r>
            <a:r>
              <a:rPr lang="en-US" dirty="0">
                <a:latin typeface="Times New Roman" panose="02020603050405020304" pitchFamily="18" charset="0"/>
                <a:cs typeface="Times New Roman" panose="02020603050405020304" pitchFamily="18" charset="0"/>
              </a:rPr>
              <a:t> security standards.</a:t>
            </a:r>
          </a:p>
          <a:p>
            <a:pPr fontAlgn="auto">
              <a:lnSpc>
                <a:spcPct val="170000"/>
              </a:lnSpc>
            </a:pPr>
            <a:r>
              <a:rPr lang="en-US" b="1" dirty="0">
                <a:solidFill>
                  <a:srgbClr val="0070C0"/>
                </a:solidFill>
                <a:latin typeface="Times New Roman" panose="02020603050405020304" pitchFamily="18" charset="0"/>
                <a:cs typeface="Times New Roman" panose="02020603050405020304" pitchFamily="18" charset="0"/>
              </a:rPr>
              <a:t>Vulnerability Management Metrics: </a:t>
            </a:r>
            <a:r>
              <a:rPr lang="en-US" dirty="0">
                <a:latin typeface="Times New Roman" panose="02020603050405020304" pitchFamily="18" charset="0"/>
                <a:cs typeface="Times New Roman" panose="02020603050405020304" pitchFamily="18" charset="0"/>
              </a:rPr>
              <a:t>measures the effectiveness of the vulnerability management process.</a:t>
            </a:r>
          </a:p>
          <a:p>
            <a:pPr fontAlgn="auto">
              <a:lnSpc>
                <a:spcPct val="170000"/>
              </a:lnSpc>
            </a:pPr>
            <a:r>
              <a:rPr lang="en-US" b="1" dirty="0">
                <a:solidFill>
                  <a:srgbClr val="0070C0"/>
                </a:solidFill>
                <a:latin typeface="Times New Roman" panose="02020603050405020304" pitchFamily="18" charset="0"/>
                <a:cs typeface="Times New Roman" panose="02020603050405020304" pitchFamily="18" charset="0"/>
              </a:rPr>
              <a:t>User Awareness and Training Metrics:</a:t>
            </a:r>
            <a:r>
              <a:rPr lang="en-US"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measures the effectiveness of security awareness and training programs.</a:t>
            </a:r>
          </a:p>
          <a:p>
            <a:pPr fontAlgn="auto">
              <a:lnSpc>
                <a:spcPct val="170000"/>
              </a:lnSpc>
            </a:pPr>
            <a:r>
              <a:rPr lang="en-US" b="1" dirty="0">
                <a:solidFill>
                  <a:srgbClr val="0070C0"/>
                </a:solidFill>
                <a:latin typeface="Times New Roman" panose="02020603050405020304" pitchFamily="18" charset="0"/>
                <a:cs typeface="Times New Roman" panose="02020603050405020304" pitchFamily="18" charset="0"/>
              </a:rPr>
              <a:t>Security Spend and Resource </a:t>
            </a:r>
            <a:r>
              <a:rPr lang="en-US" b="1" dirty="0" err="1">
                <a:solidFill>
                  <a:srgbClr val="0070C0"/>
                </a:solidFill>
                <a:latin typeface="Times New Roman" panose="02020603050405020304" pitchFamily="18" charset="0"/>
                <a:cs typeface="Times New Roman" panose="02020603050405020304" pitchFamily="18" charset="0"/>
              </a:rPr>
              <a:t>Utilisation</a:t>
            </a:r>
            <a:r>
              <a:rPr lang="en-US" b="1" dirty="0">
                <a:solidFill>
                  <a:srgbClr val="0070C0"/>
                </a:solidFill>
                <a:latin typeface="Times New Roman" panose="02020603050405020304" pitchFamily="18" charset="0"/>
                <a:cs typeface="Times New Roman" panose="02020603050405020304" pitchFamily="18" charset="0"/>
              </a:rPr>
              <a:t> Metrics:</a:t>
            </a:r>
            <a:r>
              <a:rPr lang="en-US"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measures the cost-effectiveness of security operations.</a:t>
            </a:r>
          </a:p>
          <a:p>
            <a:pPr fontAlgn="auto">
              <a:lnSpc>
                <a:spcPct val="170000"/>
              </a:lnSpc>
            </a:pPr>
            <a:endParaRPr lang="en-US" dirty="0"/>
          </a:p>
          <a:p>
            <a:endParaRPr lang="en-US" dirty="0"/>
          </a:p>
        </p:txBody>
      </p:sp>
      <p:sp>
        <p:nvSpPr>
          <p:cNvPr id="2" name="Rectangle 1">
            <a:extLst>
              <a:ext uri="{FF2B5EF4-FFF2-40B4-BE49-F238E27FC236}">
                <a16:creationId xmlns:a16="http://schemas.microsoft.com/office/drawing/2014/main" id="{8CC1937A-499B-4F3E-B1BA-85A2F4E14883}"/>
              </a:ext>
            </a:extLst>
          </p:cNvPr>
          <p:cNvSpPr/>
          <p:nvPr/>
        </p:nvSpPr>
        <p:spPr>
          <a:xfrm>
            <a:off x="1150411" y="627735"/>
            <a:ext cx="5178021" cy="584775"/>
          </a:xfrm>
          <a:prstGeom prst="rect">
            <a:avLst/>
          </a:prstGeom>
        </p:spPr>
        <p:txBody>
          <a:bodyPr wrap="none">
            <a:spAutoFit/>
          </a:bodyPr>
          <a:lstStyle/>
          <a:p>
            <a:r>
              <a:rPr lang="en-US" sz="3200" b="1" dirty="0">
                <a:solidFill>
                  <a:schemeClr val="accent3"/>
                </a:solidFill>
                <a:latin typeface="Times New Roman" panose="02020603050405020304" pitchFamily="18" charset="0"/>
                <a:cs typeface="Times New Roman" panose="02020603050405020304" pitchFamily="18" charset="0"/>
              </a:rPr>
              <a:t>Key Performance Indicators</a:t>
            </a:r>
            <a:endParaRPr lang="en-US" sz="3200" b="1" dirty="0">
              <a:solidFill>
                <a:schemeClr val="accent3"/>
              </a:solidFill>
            </a:endParaRPr>
          </a:p>
        </p:txBody>
      </p:sp>
    </p:spTree>
    <p:extLst>
      <p:ext uri="{BB962C8B-B14F-4D97-AF65-F5344CB8AC3E}">
        <p14:creationId xmlns:p14="http://schemas.microsoft.com/office/powerpoint/2010/main" val="1014979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42723-A34A-4900-8318-8B875B8BE8BC}"/>
              </a:ext>
            </a:extLst>
          </p:cNvPr>
          <p:cNvSpPr>
            <a:spLocks noGrp="1"/>
          </p:cNvSpPr>
          <p:nvPr>
            <p:ph type="title"/>
          </p:nvPr>
        </p:nvSpPr>
        <p:spPr>
          <a:xfrm>
            <a:off x="1846332" y="2638313"/>
            <a:ext cx="8143538" cy="1581374"/>
          </a:xfrm>
        </p:spPr>
        <p:txBody>
          <a:bodyPr/>
          <a:lstStyle/>
          <a:p>
            <a:pPr algn="ctr"/>
            <a:r>
              <a:rPr lang="en-GB" b="1" dirty="0">
                <a:solidFill>
                  <a:schemeClr val="accent3"/>
                </a:solidFill>
                <a:latin typeface="Times New Roman" panose="02020603050405020304" pitchFamily="18" charset="0"/>
                <a:cs typeface="Times New Roman" panose="02020603050405020304" pitchFamily="18" charset="0"/>
              </a:rPr>
              <a:t>Writing Incident Reports </a:t>
            </a:r>
            <a:endParaRPr lang="en-US" b="1" dirty="0">
              <a:solidFill>
                <a:schemeClr val="accent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871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D8B7-869B-4D03-842B-EF5553B84FF0}"/>
              </a:ext>
            </a:extLst>
          </p:cNvPr>
          <p:cNvSpPr>
            <a:spLocks noGrp="1"/>
          </p:cNvSpPr>
          <p:nvPr>
            <p:ph type="title"/>
          </p:nvPr>
        </p:nvSpPr>
        <p:spPr>
          <a:xfrm>
            <a:off x="988807" y="859977"/>
            <a:ext cx="10515600" cy="689123"/>
          </a:xfrm>
        </p:spPr>
        <p:txBody>
          <a:bodyPr>
            <a:noAutofit/>
          </a:bodyPr>
          <a:lstStyle/>
          <a:p>
            <a:r>
              <a:rPr lang="en-US" sz="3200" b="1" dirty="0">
                <a:solidFill>
                  <a:schemeClr val="accent3"/>
                </a:solidFill>
                <a:latin typeface="Times New Roman" panose="02020603050405020304" pitchFamily="18" charset="0"/>
                <a:cs typeface="Times New Roman" panose="02020603050405020304" pitchFamily="18" charset="0"/>
              </a:rPr>
              <a:t>What Is an Incident Report?</a:t>
            </a:r>
            <a:br>
              <a:rPr lang="en-US" sz="3200" b="1" dirty="0">
                <a:solidFill>
                  <a:schemeClr val="accent3"/>
                </a:solidFill>
                <a:latin typeface="Times New Roman" panose="02020603050405020304" pitchFamily="18" charset="0"/>
                <a:cs typeface="Times New Roman" panose="02020603050405020304" pitchFamily="18" charset="0"/>
              </a:rPr>
            </a:br>
            <a:endParaRPr lang="en-US" sz="3200" b="1"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3219085-7E0B-48B8-A9A9-0069EA1F7582}"/>
              </a:ext>
            </a:extLst>
          </p:cNvPr>
          <p:cNvSpPr>
            <a:spLocks noGrp="1"/>
          </p:cNvSpPr>
          <p:nvPr>
            <p:ph idx="1"/>
          </p:nvPr>
        </p:nvSpPr>
        <p:spPr>
          <a:xfrm>
            <a:off x="838200" y="1449108"/>
            <a:ext cx="10515600" cy="4351338"/>
          </a:xfrm>
        </p:spPr>
        <p:txBody>
          <a:bodyPr/>
          <a:lstStyle/>
          <a:p>
            <a:pPr algn="just"/>
            <a:r>
              <a:rPr lang="en-US" sz="2400" dirty="0">
                <a:latin typeface="Times New Roman" panose="02020603050405020304" pitchFamily="18" charset="0"/>
                <a:cs typeface="Times New Roman" panose="02020603050405020304" pitchFamily="18" charset="0"/>
              </a:rPr>
              <a:t>An </a:t>
            </a:r>
            <a:r>
              <a:rPr lang="en-US" sz="2400" b="1" dirty="0">
                <a:solidFill>
                  <a:srgbClr val="0070C0"/>
                </a:solidFill>
                <a:latin typeface="Times New Roman" panose="02020603050405020304" pitchFamily="18" charset="0"/>
                <a:cs typeface="Times New Roman" panose="02020603050405020304" pitchFamily="18" charset="0"/>
              </a:rPr>
              <a:t>incident report</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a </a:t>
            </a:r>
            <a:r>
              <a:rPr lang="en-US" sz="2400" b="1" dirty="0">
                <a:latin typeface="Times New Roman" panose="02020603050405020304" pitchFamily="18" charset="0"/>
                <a:cs typeface="Times New Roman" panose="02020603050405020304" pitchFamily="18" charset="0"/>
              </a:rPr>
              <a:t>formal document</a:t>
            </a:r>
            <a:r>
              <a:rPr lang="en-US" sz="2400" dirty="0">
                <a:latin typeface="Times New Roman" panose="02020603050405020304" pitchFamily="18" charset="0"/>
                <a:cs typeface="Times New Roman" panose="02020603050405020304" pitchFamily="18" charset="0"/>
              </a:rPr>
              <a:t> that records the details of a </a:t>
            </a:r>
            <a:r>
              <a:rPr lang="en-US" sz="2400" b="1" dirty="0">
                <a:latin typeface="Times New Roman" panose="02020603050405020304" pitchFamily="18" charset="0"/>
                <a:cs typeface="Times New Roman" panose="02020603050405020304" pitchFamily="18" charset="0"/>
              </a:rPr>
              <a:t>security event or breach</a:t>
            </a:r>
            <a:r>
              <a:rPr lang="en-US" sz="2400" dirty="0">
                <a:latin typeface="Times New Roman" panose="02020603050405020304" pitchFamily="18" charset="0"/>
                <a:cs typeface="Times New Roman" panose="02020603050405020304" pitchFamily="18" charset="0"/>
              </a:rPr>
              <a:t>  what happened, when, how it was detected, what actions were taken, and what can be improved.</a:t>
            </a:r>
          </a:p>
          <a:p>
            <a:pPr marL="0" indent="0" algn="just">
              <a:buNone/>
            </a:pPr>
            <a:r>
              <a:rPr lang="en-US" sz="2400" dirty="0">
                <a:solidFill>
                  <a:srgbClr val="0070C0"/>
                </a:solidFill>
                <a:latin typeface="Times New Roman" panose="02020603050405020304" pitchFamily="18" charset="0"/>
                <a:cs typeface="Times New Roman" panose="02020603050405020304" pitchFamily="18" charset="0"/>
              </a:rPr>
              <a:t>It provides a </a:t>
            </a:r>
            <a:r>
              <a:rPr lang="en-US" sz="2400" b="1" dirty="0">
                <a:solidFill>
                  <a:srgbClr val="0070C0"/>
                </a:solidFill>
                <a:latin typeface="Times New Roman" panose="02020603050405020304" pitchFamily="18" charset="0"/>
                <a:cs typeface="Times New Roman" panose="02020603050405020304" pitchFamily="18" charset="0"/>
              </a:rPr>
              <a:t>clear, factual record</a:t>
            </a:r>
            <a:r>
              <a:rPr lang="en-US" sz="2400" dirty="0">
                <a:solidFill>
                  <a:srgbClr val="0070C0"/>
                </a:solidFill>
                <a:latin typeface="Times New Roman" panose="02020603050405020304" pitchFamily="18" charset="0"/>
                <a:cs typeface="Times New Roman" panose="02020603050405020304" pitchFamily="18" charset="0"/>
              </a:rPr>
              <a:t> for:</a:t>
            </a:r>
          </a:p>
          <a:p>
            <a:pPr algn="just"/>
            <a:r>
              <a:rPr lang="en-US" sz="2400" dirty="0">
                <a:latin typeface="Times New Roman" panose="02020603050405020304" pitchFamily="18" charset="0"/>
                <a:cs typeface="Times New Roman" panose="02020603050405020304" pitchFamily="18" charset="0"/>
              </a:rPr>
              <a:t>Internal review (SOC management, IT teams)</a:t>
            </a:r>
          </a:p>
          <a:p>
            <a:pPr algn="just"/>
            <a:r>
              <a:rPr lang="en-US" sz="2400" dirty="0">
                <a:latin typeface="Times New Roman" panose="02020603050405020304" pitchFamily="18" charset="0"/>
                <a:cs typeface="Times New Roman" panose="02020603050405020304" pitchFamily="18" charset="0"/>
              </a:rPr>
              <a:t>External audits (compliance)</a:t>
            </a:r>
          </a:p>
          <a:p>
            <a:pPr algn="just"/>
            <a:r>
              <a:rPr lang="en-US" sz="2400" dirty="0">
                <a:latin typeface="Times New Roman" panose="02020603050405020304" pitchFamily="18" charset="0"/>
                <a:cs typeface="Times New Roman" panose="02020603050405020304" pitchFamily="18" charset="0"/>
              </a:rPr>
              <a:t>Future prevention (lessons learned)</a:t>
            </a:r>
          </a:p>
          <a:p>
            <a:endParaRPr lang="en-US" dirty="0"/>
          </a:p>
        </p:txBody>
      </p:sp>
    </p:spTree>
    <p:extLst>
      <p:ext uri="{BB962C8B-B14F-4D97-AF65-F5344CB8AC3E}">
        <p14:creationId xmlns:p14="http://schemas.microsoft.com/office/powerpoint/2010/main" val="3207137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0322" y="510347"/>
            <a:ext cx="10515600" cy="1019057"/>
          </a:xfrm>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Number of Security Incidents</a:t>
            </a:r>
            <a:endParaRPr lang="en-US" sz="3200"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199" y="1269403"/>
            <a:ext cx="11178093" cy="4593516"/>
          </a:xfrm>
        </p:spPr>
        <p:txBody>
          <a:bodyPr>
            <a:noAutofit/>
          </a:bodyPr>
          <a:lstStyle/>
          <a:p>
            <a:pPr>
              <a:lnSpc>
                <a:spcPct val="100000"/>
              </a:lnSpc>
            </a:pPr>
            <a:r>
              <a:rPr lang="en-US" sz="1800" dirty="0">
                <a:latin typeface="Times New Roman" panose="02020603050405020304" pitchFamily="18" charset="0"/>
                <a:cs typeface="Times New Roman" panose="02020603050405020304" pitchFamily="18" charset="0"/>
              </a:rPr>
              <a:t>This metric measures the </a:t>
            </a:r>
            <a:r>
              <a:rPr lang="en-US" sz="1800" dirty="0">
                <a:solidFill>
                  <a:srgbClr val="FF0000"/>
                </a:solidFill>
                <a:latin typeface="Times New Roman" panose="02020603050405020304" pitchFamily="18" charset="0"/>
                <a:cs typeface="Times New Roman" panose="02020603050405020304" pitchFamily="18" charset="0"/>
              </a:rPr>
              <a:t>number of security incidents detected and reported </a:t>
            </a:r>
            <a:r>
              <a:rPr lang="en-US" sz="1800" dirty="0">
                <a:latin typeface="Times New Roman" panose="02020603050405020304" pitchFamily="18" charset="0"/>
                <a:cs typeface="Times New Roman" panose="02020603050405020304" pitchFamily="18" charset="0"/>
              </a:rPr>
              <a:t>within a specific timeframe. </a:t>
            </a:r>
          </a:p>
          <a:p>
            <a:pPr lvl="1">
              <a:lnSpc>
                <a:spcPct val="100000"/>
              </a:lnSpc>
            </a:pPr>
            <a:r>
              <a:rPr lang="en-US" sz="1800" dirty="0">
                <a:latin typeface="Times New Roman" panose="02020603050405020304" pitchFamily="18" charset="0"/>
                <a:cs typeface="Times New Roman" panose="02020603050405020304" pitchFamily="18" charset="0"/>
              </a:rPr>
              <a:t>It </a:t>
            </a:r>
            <a:r>
              <a:rPr lang="en-US" sz="1800" dirty="0">
                <a:solidFill>
                  <a:srgbClr val="FF0000"/>
                </a:solidFill>
                <a:latin typeface="Times New Roman" panose="02020603050405020304" pitchFamily="18" charset="0"/>
                <a:cs typeface="Times New Roman" panose="02020603050405020304" pitchFamily="18" charset="0"/>
              </a:rPr>
              <a:t>helps organizations get insights into patterns or trends in security incidents.</a:t>
            </a:r>
          </a:p>
          <a:p>
            <a:pPr lvl="1">
              <a:lnSpc>
                <a:spcPct val="100000"/>
              </a:lnSpc>
            </a:pPr>
            <a:r>
              <a:rPr lang="en-US" sz="1800" dirty="0">
                <a:latin typeface="Times New Roman" panose="02020603050405020304" pitchFamily="18" charset="0"/>
                <a:cs typeface="Times New Roman" panose="02020603050405020304" pitchFamily="18" charset="0"/>
              </a:rPr>
              <a:t>For instance, if there is an increasing trend for several incidents, it may indicate that the organization needs improvements to its existing security controls. </a:t>
            </a:r>
          </a:p>
          <a:p>
            <a:pPr lvl="1">
              <a:lnSpc>
                <a:spcPct val="100000"/>
              </a:lnSpc>
            </a:pPr>
            <a:r>
              <a:rPr lang="en-US" sz="1800" dirty="0">
                <a:latin typeface="Times New Roman" panose="02020603050405020304" pitchFamily="18" charset="0"/>
                <a:cs typeface="Times New Roman" panose="02020603050405020304" pitchFamily="18" charset="0"/>
              </a:rPr>
              <a:t>Additionally, tracking the number of security incidents allows organizations to easily identify which types occur more frequently and require attention to prioritize them.</a:t>
            </a:r>
          </a:p>
          <a:p>
            <a:pPr>
              <a:lnSpc>
                <a:spcPct val="150000"/>
              </a:lnSpc>
            </a:pPr>
            <a:r>
              <a:rPr lang="en-US" sz="1800" b="1" dirty="0">
                <a:solidFill>
                  <a:srgbClr val="0070C0"/>
                </a:solidFill>
                <a:latin typeface="Times New Roman" panose="02020603050405020304" pitchFamily="18" charset="0"/>
                <a:cs typeface="Times New Roman" panose="02020603050405020304" pitchFamily="18" charset="0"/>
              </a:rPr>
              <a:t>False Positive Rates (FPR) and False Negative Rates (FNR)</a:t>
            </a:r>
          </a:p>
          <a:p>
            <a:pPr lvl="1">
              <a:lnSpc>
                <a:spcPct val="150000"/>
              </a:lnSpc>
            </a:pPr>
            <a:r>
              <a:rPr lang="en-US" sz="1800" dirty="0">
                <a:latin typeface="Times New Roman" panose="02020603050405020304" pitchFamily="18" charset="0"/>
                <a:cs typeface="Times New Roman" panose="02020603050405020304" pitchFamily="18" charset="0"/>
              </a:rPr>
              <a:t>FPR, or False positive rate, measures the percentage of incidents that are incorrectly classified as cybersecurity incidents but are not actual threats. </a:t>
            </a:r>
          </a:p>
          <a:p>
            <a:pPr lvl="2">
              <a:lnSpc>
                <a:spcPct val="150000"/>
              </a:lnSpc>
            </a:pPr>
            <a:r>
              <a:rPr lang="en-US" sz="1800" dirty="0">
                <a:solidFill>
                  <a:srgbClr val="FF0000"/>
                </a:solidFill>
                <a:latin typeface="Times New Roman" panose="02020603050405020304" pitchFamily="18" charset="0"/>
                <a:cs typeface="Times New Roman" panose="02020603050405020304" pitchFamily="18" charset="0"/>
              </a:rPr>
              <a:t>A high false-positive rate indicates that the system is more likely to generate false alarms.</a:t>
            </a:r>
          </a:p>
          <a:p>
            <a:pPr lvl="1">
              <a:lnSpc>
                <a:spcPct val="150000"/>
              </a:lnSpc>
            </a:pPr>
            <a:r>
              <a:rPr lang="en-US" sz="1800" dirty="0">
                <a:latin typeface="Times New Roman" panose="02020603050405020304" pitchFamily="18" charset="0"/>
                <a:cs typeface="Times New Roman" panose="02020603050405020304" pitchFamily="18" charset="0"/>
              </a:rPr>
              <a:t>False negative rate (FNR) is the percentage of incidents that are mistakenly categorized as non-cyber threats but are actually cyber threats. </a:t>
            </a:r>
          </a:p>
          <a:p>
            <a:pPr lvl="2">
              <a:lnSpc>
                <a:spcPct val="150000"/>
              </a:lnSpc>
            </a:pPr>
            <a:r>
              <a:rPr lang="en-US" sz="1800" dirty="0">
                <a:solidFill>
                  <a:srgbClr val="FF0000"/>
                </a:solidFill>
                <a:latin typeface="Times New Roman" panose="02020603050405020304" pitchFamily="18" charset="0"/>
                <a:cs typeface="Times New Roman" panose="02020603050405020304" pitchFamily="18" charset="0"/>
              </a:rPr>
              <a:t>A high false-negative rate indicates that the system is highly likely to miss the real security threats.</a:t>
            </a:r>
          </a:p>
          <a:p>
            <a:pPr>
              <a:lnSpc>
                <a:spcPct val="100000"/>
              </a:lnSpc>
            </a:pPr>
            <a:endParaRPr lang="en-US" sz="1800" dirty="0"/>
          </a:p>
        </p:txBody>
      </p:sp>
    </p:spTree>
    <p:extLst>
      <p:ext uri="{BB962C8B-B14F-4D97-AF65-F5344CB8AC3E}">
        <p14:creationId xmlns:p14="http://schemas.microsoft.com/office/powerpoint/2010/main" val="1554952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32906"/>
            <a:ext cx="10515600" cy="1002280"/>
          </a:xfrm>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Cost of an Incident</a:t>
            </a:r>
            <a:endParaRPr lang="en-US" sz="3200"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52085"/>
            <a:ext cx="10515600" cy="4423664"/>
          </a:xfrm>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This metric allows organizations to measure the direct and indirect costs of an incident:</a:t>
            </a:r>
          </a:p>
          <a:p>
            <a:pPr lvl="1">
              <a:lnSpc>
                <a:spcPct val="150000"/>
              </a:lnSpc>
            </a:pPr>
            <a:r>
              <a:rPr lang="en-US" sz="2000" b="1" dirty="0">
                <a:solidFill>
                  <a:srgbClr val="0070C0"/>
                </a:solidFill>
                <a:latin typeface="Times New Roman" panose="02020603050405020304" pitchFamily="18" charset="0"/>
                <a:cs typeface="Times New Roman" panose="02020603050405020304" pitchFamily="18" charset="0"/>
              </a:rPr>
              <a:t>Direct costs</a:t>
            </a:r>
            <a:r>
              <a:rPr lang="en-US" sz="2000" dirty="0">
                <a:solidFill>
                  <a:srgbClr val="0070C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include expenses such as the time and resources required for detection and response and legal fees.</a:t>
            </a:r>
          </a:p>
          <a:p>
            <a:pPr lvl="1">
              <a:lnSpc>
                <a:spcPct val="150000"/>
              </a:lnSpc>
            </a:pPr>
            <a:r>
              <a:rPr lang="en-US" sz="2000" b="1" dirty="0">
                <a:solidFill>
                  <a:srgbClr val="0070C0"/>
                </a:solidFill>
                <a:latin typeface="Times New Roman" panose="02020603050405020304" pitchFamily="18" charset="0"/>
                <a:cs typeface="Times New Roman" panose="02020603050405020304" pitchFamily="18" charset="0"/>
              </a:rPr>
              <a:t>Indirect costs</a:t>
            </a:r>
            <a:r>
              <a:rPr lang="en-US" sz="2000" dirty="0">
                <a:solidFill>
                  <a:srgbClr val="0070C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include the loss of revenue due to customer turnover, regulatory penalties, reputational damage, etc. </a:t>
            </a:r>
          </a:p>
          <a:p>
            <a:pPr lvl="1">
              <a:lnSpc>
                <a:spcPct val="150000"/>
              </a:lnSpc>
            </a:pPr>
            <a:r>
              <a:rPr lang="en-US" sz="2000" dirty="0">
                <a:latin typeface="Times New Roman" panose="02020603050405020304" pitchFamily="18" charset="0"/>
                <a:cs typeface="Times New Roman" panose="02020603050405020304" pitchFamily="18" charset="0"/>
              </a:rPr>
              <a:t>Additionally, there may be </a:t>
            </a:r>
            <a:r>
              <a:rPr lang="en-US" sz="2000" dirty="0">
                <a:solidFill>
                  <a:srgbClr val="0070C0"/>
                </a:solidFill>
                <a:latin typeface="Times New Roman" panose="02020603050405020304" pitchFamily="18" charset="0"/>
                <a:cs typeface="Times New Roman" panose="02020603050405020304" pitchFamily="18" charset="0"/>
              </a:rPr>
              <a:t>other expenses</a:t>
            </a:r>
            <a:r>
              <a:rPr lang="en-US" sz="2000" dirty="0">
                <a:latin typeface="Times New Roman" panose="02020603050405020304" pitchFamily="18" charset="0"/>
                <a:cs typeface="Times New Roman" panose="02020603050405020304" pitchFamily="18" charset="0"/>
              </a:rPr>
              <a:t>, such as costs associated with software updates and measures to prevent future incidents.</a:t>
            </a:r>
          </a:p>
          <a:p>
            <a:endParaRPr lang="en-US" sz="2000" dirty="0"/>
          </a:p>
        </p:txBody>
      </p:sp>
    </p:spTree>
    <p:extLst>
      <p:ext uri="{BB962C8B-B14F-4D97-AF65-F5344CB8AC3E}">
        <p14:creationId xmlns:p14="http://schemas.microsoft.com/office/powerpoint/2010/main" val="1111767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19D31-3E42-40F5-957B-0CCD6B871BBC}"/>
              </a:ext>
            </a:extLst>
          </p:cNvPr>
          <p:cNvSpPr>
            <a:spLocks noGrp="1"/>
          </p:cNvSpPr>
          <p:nvPr>
            <p:ph type="title"/>
          </p:nvPr>
        </p:nvSpPr>
        <p:spPr>
          <a:xfrm>
            <a:off x="838200" y="681037"/>
            <a:ext cx="10515600" cy="1325563"/>
          </a:xfrm>
        </p:spPr>
        <p:txBody>
          <a:bodyPr/>
          <a:lstStyle/>
          <a:p>
            <a:r>
              <a:rPr lang="en-US" sz="3200" b="1" dirty="0">
                <a:solidFill>
                  <a:schemeClr val="accent3"/>
                </a:solidFill>
                <a:latin typeface="Times New Roman" panose="02020603050405020304" pitchFamily="18" charset="0"/>
                <a:cs typeface="Times New Roman" panose="02020603050405020304" pitchFamily="18" charset="0"/>
              </a:rPr>
              <a:t>Purpose of an Incident Report</a:t>
            </a:r>
            <a:br>
              <a:rPr lang="en-US" b="1" dirty="0">
                <a:solidFill>
                  <a:schemeClr val="accent3"/>
                </a:solidFill>
                <a:latin typeface="Times New Roman" panose="02020603050405020304" pitchFamily="18" charset="0"/>
                <a:cs typeface="Times New Roman" panose="02020603050405020304" pitchFamily="18" charset="0"/>
              </a:rPr>
            </a:br>
            <a:endParaRPr lang="en-US"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75F4A54-32CA-40F9-A8B1-AACEC89B2BC7}"/>
              </a:ext>
            </a:extLst>
          </p:cNvPr>
          <p:cNvSpPr>
            <a:spLocks noGrp="1"/>
          </p:cNvSpPr>
          <p:nvPr>
            <p:ph idx="1"/>
          </p:nvPr>
        </p:nvSpPr>
        <p:spPr>
          <a:xfrm>
            <a:off x="838200" y="1621230"/>
            <a:ext cx="10515600" cy="4351338"/>
          </a:xfrm>
        </p:spPr>
        <p:txBody>
          <a:bodyPr/>
          <a:lstStyle/>
          <a:p>
            <a:pPr>
              <a:lnSpc>
                <a:spcPct val="150000"/>
              </a:lnSpc>
            </a:pPr>
            <a:r>
              <a:rPr lang="en-US" sz="2400" dirty="0">
                <a:latin typeface="Times New Roman" panose="02020603050405020304" pitchFamily="18" charset="0"/>
                <a:cs typeface="Times New Roman" panose="02020603050405020304" pitchFamily="18" charset="0"/>
              </a:rPr>
              <a:t>Document the </a:t>
            </a:r>
            <a:r>
              <a:rPr lang="en-US" sz="2400" b="1" dirty="0">
                <a:latin typeface="Times New Roman" panose="02020603050405020304" pitchFamily="18" charset="0"/>
                <a:cs typeface="Times New Roman" panose="02020603050405020304" pitchFamily="18" charset="0"/>
              </a:rPr>
              <a:t>timeline</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impact</a:t>
            </a:r>
            <a:r>
              <a:rPr lang="en-US" sz="2400" dirty="0">
                <a:latin typeface="Times New Roman" panose="02020603050405020304" pitchFamily="18" charset="0"/>
                <a:cs typeface="Times New Roman" panose="02020603050405020304" pitchFamily="18" charset="0"/>
              </a:rPr>
              <a:t> of the incident</a:t>
            </a:r>
          </a:p>
          <a:p>
            <a:pPr>
              <a:lnSpc>
                <a:spcPct val="150000"/>
              </a:lnSpc>
            </a:pPr>
            <a:r>
              <a:rPr lang="en-US" sz="2400" dirty="0">
                <a:latin typeface="Times New Roman" panose="02020603050405020304" pitchFamily="18" charset="0"/>
                <a:cs typeface="Times New Roman" panose="02020603050405020304" pitchFamily="18" charset="0"/>
              </a:rPr>
              <a:t>Support </a:t>
            </a:r>
            <a:r>
              <a:rPr lang="en-US" sz="2400" b="1" dirty="0">
                <a:latin typeface="Times New Roman" panose="02020603050405020304" pitchFamily="18" charset="0"/>
                <a:cs typeface="Times New Roman" panose="02020603050405020304" pitchFamily="18" charset="0"/>
              </a:rPr>
              <a:t>investigation and forensic analysis</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Show </a:t>
            </a:r>
            <a:r>
              <a:rPr lang="en-US" sz="2400" b="1" dirty="0">
                <a:latin typeface="Times New Roman" panose="02020603050405020304" pitchFamily="18" charset="0"/>
                <a:cs typeface="Times New Roman" panose="02020603050405020304" pitchFamily="18" charset="0"/>
              </a:rPr>
              <a:t>response actions and containment efforts</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Provide </a:t>
            </a:r>
            <a:r>
              <a:rPr lang="en-US" sz="2400" b="1" dirty="0">
                <a:latin typeface="Times New Roman" panose="02020603050405020304" pitchFamily="18" charset="0"/>
                <a:cs typeface="Times New Roman" panose="02020603050405020304" pitchFamily="18" charset="0"/>
              </a:rPr>
              <a:t>evidence</a:t>
            </a:r>
            <a:r>
              <a:rPr lang="en-US" sz="2400" dirty="0">
                <a:latin typeface="Times New Roman" panose="02020603050405020304" pitchFamily="18" charset="0"/>
                <a:cs typeface="Times New Roman" panose="02020603050405020304" pitchFamily="18" charset="0"/>
              </a:rPr>
              <a:t> for compliance or legal review</a:t>
            </a:r>
          </a:p>
          <a:p>
            <a:pPr>
              <a:lnSpc>
                <a:spcPct val="150000"/>
              </a:lnSpc>
            </a:pPr>
            <a:r>
              <a:rPr lang="en-US" sz="2400" dirty="0">
                <a:latin typeface="Times New Roman" panose="02020603050405020304" pitchFamily="18" charset="0"/>
                <a:cs typeface="Times New Roman" panose="02020603050405020304" pitchFamily="18" charset="0"/>
              </a:rPr>
              <a:t>Help prevent </a:t>
            </a:r>
            <a:r>
              <a:rPr lang="en-US" sz="2400" b="1" dirty="0">
                <a:latin typeface="Times New Roman" panose="02020603050405020304" pitchFamily="18" charset="0"/>
                <a:cs typeface="Times New Roman" panose="02020603050405020304" pitchFamily="18" charset="0"/>
              </a:rPr>
              <a:t>similar incidents</a:t>
            </a:r>
            <a:r>
              <a:rPr lang="en-US" sz="2400" dirty="0">
                <a:latin typeface="Times New Roman" panose="02020603050405020304" pitchFamily="18" charset="0"/>
                <a:cs typeface="Times New Roman" panose="02020603050405020304" pitchFamily="18" charset="0"/>
              </a:rPr>
              <a:t> in the future</a:t>
            </a:r>
          </a:p>
          <a:p>
            <a:endParaRPr lang="en-US" dirty="0"/>
          </a:p>
        </p:txBody>
      </p:sp>
    </p:spTree>
    <p:extLst>
      <p:ext uri="{BB962C8B-B14F-4D97-AF65-F5344CB8AC3E}">
        <p14:creationId xmlns:p14="http://schemas.microsoft.com/office/powerpoint/2010/main" val="299278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414F4-AA97-4D7A-A35F-A5B0986DCB41}"/>
              </a:ext>
            </a:extLst>
          </p:cNvPr>
          <p:cNvSpPr>
            <a:spLocks noGrp="1"/>
          </p:cNvSpPr>
          <p:nvPr>
            <p:ph type="title"/>
          </p:nvPr>
        </p:nvSpPr>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Document the Timeline and Impact of the Incident</a:t>
            </a:r>
          </a:p>
        </p:txBody>
      </p:sp>
      <p:sp>
        <p:nvSpPr>
          <p:cNvPr id="4" name="Rectangle 1">
            <a:extLst>
              <a:ext uri="{FF2B5EF4-FFF2-40B4-BE49-F238E27FC236}">
                <a16:creationId xmlns:a16="http://schemas.microsoft.com/office/drawing/2014/main" id="{2A28E4C4-B9E6-400B-8C3E-74FCA8130973}"/>
              </a:ext>
            </a:extLst>
          </p:cNvPr>
          <p:cNvSpPr>
            <a:spLocks noGrp="1" noChangeArrowheads="1"/>
          </p:cNvSpPr>
          <p:nvPr>
            <p:ph idx="1"/>
          </p:nvPr>
        </p:nvSpPr>
        <p:spPr bwMode="auto">
          <a:xfrm>
            <a:off x="659198" y="1594110"/>
            <a:ext cx="11141941"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sz="2400" dirty="0">
                <a:latin typeface="Times New Roman" panose="02020603050405020304" pitchFamily="18" charset="0"/>
                <a:cs typeface="Times New Roman" panose="02020603050405020304" pitchFamily="18" charset="0"/>
              </a:rPr>
              <a:t>An incident report provides a </a:t>
            </a:r>
            <a:r>
              <a:rPr lang="en-US" sz="2400" b="1" dirty="0">
                <a:latin typeface="Times New Roman" panose="02020603050405020304" pitchFamily="18" charset="0"/>
                <a:cs typeface="Times New Roman" panose="02020603050405020304" pitchFamily="18" charset="0"/>
              </a:rPr>
              <a:t>detailed timeline</a:t>
            </a:r>
            <a:r>
              <a:rPr lang="en-US" sz="2400" dirty="0">
                <a:latin typeface="Times New Roman" panose="02020603050405020304" pitchFamily="18" charset="0"/>
                <a:cs typeface="Times New Roman" panose="02020603050405020304" pitchFamily="18" charset="0"/>
              </a:rPr>
              <a:t> of all events from detection to resolution and records the </a:t>
            </a:r>
            <a:r>
              <a:rPr lang="en-US" sz="2400" b="1" dirty="0">
                <a:latin typeface="Times New Roman" panose="02020603050405020304" pitchFamily="18" charset="0"/>
                <a:cs typeface="Times New Roman" panose="02020603050405020304" pitchFamily="18" charset="0"/>
              </a:rPr>
              <a:t>impact</a:t>
            </a:r>
            <a:r>
              <a:rPr lang="en-US" sz="2400" dirty="0">
                <a:latin typeface="Times New Roman" panose="02020603050405020304" pitchFamily="18" charset="0"/>
                <a:cs typeface="Times New Roman" panose="02020603050405020304" pitchFamily="18" charset="0"/>
              </a:rPr>
              <a:t> (e.g., number of users affected, data loss, system downtime).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This helps track how quickly and effectively the SOC team responded.</a:t>
            </a:r>
          </a:p>
          <a:p>
            <a:pPr marL="0" indent="0" algn="just">
              <a:buNone/>
            </a:pPr>
            <a:r>
              <a:rPr lang="en-US" sz="2400" b="1" dirty="0">
                <a:solidFill>
                  <a:srgbClr val="0070C0"/>
                </a:solidFill>
                <a:latin typeface="Times New Roman" panose="02020603050405020304" pitchFamily="18" charset="0"/>
                <a:cs typeface="Times New Roman" panose="02020603050405020304" pitchFamily="18" charset="0"/>
              </a:rPr>
              <a:t>Example:</a:t>
            </a:r>
            <a:endParaRPr lang="en-US" sz="2400" dirty="0">
              <a:solidFill>
                <a:srgbClr val="0070C0"/>
              </a:solidFill>
              <a:latin typeface="Times New Roman" panose="02020603050405020304" pitchFamily="18" charset="0"/>
              <a:cs typeface="Times New Roman" panose="02020603050405020304" pitchFamily="18" charset="0"/>
            </a:endParaRPr>
          </a:p>
          <a:p>
            <a:pPr algn="just"/>
            <a:r>
              <a:rPr lang="en-US" sz="2400" i="1" dirty="0">
                <a:latin typeface="Times New Roman" panose="02020603050405020304" pitchFamily="18" charset="0"/>
                <a:cs typeface="Times New Roman" panose="02020603050405020304" pitchFamily="18" charset="0"/>
              </a:rPr>
              <a:t>09:42 AM</a:t>
            </a:r>
            <a:r>
              <a:rPr lang="en-US" sz="2400" dirty="0">
                <a:latin typeface="Times New Roman" panose="02020603050405020304" pitchFamily="18" charset="0"/>
                <a:cs typeface="Times New Roman" panose="02020603050405020304" pitchFamily="18" charset="0"/>
              </a:rPr>
              <a:t>: Suspicious email detected.</a:t>
            </a:r>
          </a:p>
          <a:p>
            <a:pPr algn="just"/>
            <a:r>
              <a:rPr lang="en-US" sz="2400" i="1" dirty="0">
                <a:latin typeface="Times New Roman" panose="02020603050405020304" pitchFamily="18" charset="0"/>
                <a:cs typeface="Times New Roman" panose="02020603050405020304" pitchFamily="18" charset="0"/>
              </a:rPr>
              <a:t>10:15 AM</a:t>
            </a:r>
            <a:r>
              <a:rPr lang="en-US" sz="2400" dirty="0">
                <a:latin typeface="Times New Roman" panose="02020603050405020304" pitchFamily="18" charset="0"/>
                <a:cs typeface="Times New Roman" panose="02020603050405020304" pitchFamily="18" charset="0"/>
              </a:rPr>
              <a:t>: Malicious domain blocked.</a:t>
            </a:r>
          </a:p>
          <a:p>
            <a:pPr algn="just"/>
            <a:r>
              <a:rPr lang="en-US" sz="2400" i="1" dirty="0">
                <a:latin typeface="Times New Roman" panose="02020603050405020304" pitchFamily="18" charset="0"/>
                <a:cs typeface="Times New Roman" panose="02020603050405020304" pitchFamily="18" charset="0"/>
              </a:rPr>
              <a:t>12:00 PM</a:t>
            </a:r>
            <a:r>
              <a:rPr lang="en-US" sz="2400" dirty="0">
                <a:latin typeface="Times New Roman" panose="02020603050405020304" pitchFamily="18" charset="0"/>
                <a:cs typeface="Times New Roman" panose="02020603050405020304" pitchFamily="18" charset="0"/>
              </a:rPr>
              <a:t>: Incident closed.</a:t>
            </a:r>
          </a:p>
          <a:p>
            <a:pPr algn="just"/>
            <a:r>
              <a:rPr lang="en-US" sz="2400" dirty="0">
                <a:latin typeface="Times New Roman" panose="02020603050405020304" pitchFamily="18" charset="0"/>
                <a:cs typeface="Times New Roman" panose="02020603050405020304" pitchFamily="18" charset="0"/>
              </a:rPr>
              <a:t>The report shows the duration and scale of the incident crucial for measuring SOC efficiency (e.g., MTTD, MTTR).</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7409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CFF3C-637B-444A-9D03-F7C4EE840A48}"/>
              </a:ext>
            </a:extLst>
          </p:cNvPr>
          <p:cNvSpPr>
            <a:spLocks noGrp="1"/>
          </p:cNvSpPr>
          <p:nvPr>
            <p:ph type="title"/>
          </p:nvPr>
        </p:nvSpPr>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Support Investigation and Forensic Analysis</a:t>
            </a:r>
          </a:p>
        </p:txBody>
      </p:sp>
      <p:sp>
        <p:nvSpPr>
          <p:cNvPr id="3" name="Content Placeholder 2">
            <a:extLst>
              <a:ext uri="{FF2B5EF4-FFF2-40B4-BE49-F238E27FC236}">
                <a16:creationId xmlns:a16="http://schemas.microsoft.com/office/drawing/2014/main" id="{FC3A1128-C334-4FF5-AA70-8DF7E8F3D227}"/>
              </a:ext>
            </a:extLst>
          </p:cNvPr>
          <p:cNvSpPr>
            <a:spLocks noGrp="1"/>
          </p:cNvSpPr>
          <p:nvPr>
            <p:ph idx="1"/>
          </p:nvPr>
        </p:nvSpPr>
        <p:spPr>
          <a:xfrm>
            <a:off x="623944" y="1481380"/>
            <a:ext cx="10729856" cy="4351338"/>
          </a:xfrm>
        </p:spPr>
        <p:txBody>
          <a:bodyPr>
            <a:normAutofit/>
          </a:bodyPr>
          <a:lstStyle/>
          <a:p>
            <a:r>
              <a:rPr lang="en-US" sz="2600" dirty="0">
                <a:latin typeface="Times New Roman" panose="02020603050405020304" pitchFamily="18" charset="0"/>
                <a:cs typeface="Times New Roman" panose="02020603050405020304" pitchFamily="18" charset="0"/>
              </a:rPr>
              <a:t>The report serves as a </a:t>
            </a:r>
            <a:r>
              <a:rPr lang="en-US" sz="2600" b="1" dirty="0">
                <a:latin typeface="Times New Roman" panose="02020603050405020304" pitchFamily="18" charset="0"/>
                <a:cs typeface="Times New Roman" panose="02020603050405020304" pitchFamily="18" charset="0"/>
              </a:rPr>
              <a:t>record for investigators or forensic teams</a:t>
            </a:r>
            <a:r>
              <a:rPr lang="en-US" sz="2600" dirty="0">
                <a:latin typeface="Times New Roman" panose="02020603050405020304" pitchFamily="18" charset="0"/>
                <a:cs typeface="Times New Roman" panose="02020603050405020304" pitchFamily="18" charset="0"/>
              </a:rPr>
              <a:t> to analyze how the incident occurred, what vulnerabilities were exploited, and what evidence (like logs or files) exists.</a:t>
            </a:r>
          </a:p>
          <a:p>
            <a:pPr marL="0" indent="0">
              <a:buNone/>
            </a:pPr>
            <a:r>
              <a:rPr lang="en-US" sz="2600" b="1" dirty="0">
                <a:solidFill>
                  <a:srgbClr val="0070C0"/>
                </a:solidFill>
                <a:latin typeface="Times New Roman" panose="02020603050405020304" pitchFamily="18" charset="0"/>
                <a:cs typeface="Times New Roman" panose="02020603050405020304" pitchFamily="18" charset="0"/>
              </a:rPr>
              <a:t>Example:</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During a malware attack, the report might include:</a:t>
            </a:r>
          </a:p>
          <a:p>
            <a:r>
              <a:rPr lang="en-US" sz="2600" dirty="0">
                <a:latin typeface="Times New Roman" panose="02020603050405020304" pitchFamily="18" charset="0"/>
                <a:cs typeface="Times New Roman" panose="02020603050405020304" pitchFamily="18" charset="0"/>
              </a:rPr>
              <a:t>File hashes of malicious payloads</a:t>
            </a:r>
          </a:p>
          <a:p>
            <a:r>
              <a:rPr lang="en-US" sz="2600" dirty="0">
                <a:latin typeface="Times New Roman" panose="02020603050405020304" pitchFamily="18" charset="0"/>
                <a:cs typeface="Times New Roman" panose="02020603050405020304" pitchFamily="18" charset="0"/>
              </a:rPr>
              <a:t>Network logs showing the attacker’s IP</a:t>
            </a:r>
          </a:p>
          <a:p>
            <a:r>
              <a:rPr lang="en-US" sz="2600" dirty="0">
                <a:latin typeface="Times New Roman" panose="02020603050405020304" pitchFamily="18" charset="0"/>
                <a:cs typeface="Times New Roman" panose="02020603050405020304" pitchFamily="18" charset="0"/>
              </a:rPr>
              <a:t>User actions before and after infection</a:t>
            </a:r>
          </a:p>
          <a:p>
            <a:r>
              <a:rPr lang="en-US" sz="2600" dirty="0">
                <a:latin typeface="Times New Roman" panose="02020603050405020304" pitchFamily="18" charset="0"/>
                <a:cs typeface="Times New Roman" panose="02020603050405020304" pitchFamily="18" charset="0"/>
              </a:rPr>
              <a:t>This allows forensic experts to </a:t>
            </a:r>
            <a:r>
              <a:rPr lang="en-US" sz="2600" b="1" dirty="0">
                <a:latin typeface="Times New Roman" panose="02020603050405020304" pitchFamily="18" charset="0"/>
                <a:cs typeface="Times New Roman" panose="02020603050405020304" pitchFamily="18" charset="0"/>
              </a:rPr>
              <a:t>recreate the event</a:t>
            </a:r>
            <a:r>
              <a:rPr lang="en-US" sz="2600" dirty="0">
                <a:latin typeface="Times New Roman" panose="02020603050405020304" pitchFamily="18" charset="0"/>
                <a:cs typeface="Times New Roman" panose="02020603050405020304" pitchFamily="18" charset="0"/>
              </a:rPr>
              <a:t> and identify the </a:t>
            </a:r>
            <a:r>
              <a:rPr lang="en-US" sz="2600" b="1" dirty="0">
                <a:latin typeface="Times New Roman" panose="02020603050405020304" pitchFamily="18" charset="0"/>
                <a:cs typeface="Times New Roman" panose="02020603050405020304" pitchFamily="18" charset="0"/>
              </a:rPr>
              <a:t>root cause</a:t>
            </a:r>
            <a:r>
              <a:rPr lang="en-US" sz="2600"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981873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2EB87-900D-410A-AD97-2677A151553E}"/>
              </a:ext>
            </a:extLst>
          </p:cNvPr>
          <p:cNvSpPr>
            <a:spLocks noGrp="1"/>
          </p:cNvSpPr>
          <p:nvPr>
            <p:ph type="title"/>
          </p:nvPr>
        </p:nvSpPr>
        <p:spPr>
          <a:xfrm>
            <a:off x="838200" y="820887"/>
            <a:ext cx="10515600" cy="738972"/>
          </a:xfrm>
        </p:spPr>
        <p:txBody>
          <a:bodyPr>
            <a:normAutofit fontScale="90000"/>
          </a:bodyPr>
          <a:lstStyle/>
          <a:p>
            <a:r>
              <a:rPr lang="en-US" sz="3600" b="1" dirty="0">
                <a:solidFill>
                  <a:schemeClr val="accent3"/>
                </a:solidFill>
                <a:latin typeface="Times New Roman" panose="02020603050405020304" pitchFamily="18" charset="0"/>
                <a:cs typeface="Times New Roman" panose="02020603050405020304" pitchFamily="18" charset="0"/>
              </a:rPr>
              <a:t>Show Response Actions and Containment Efforts</a:t>
            </a:r>
            <a:br>
              <a:rPr lang="en-US" b="1" dirty="0"/>
            </a:br>
            <a:endParaRPr lang="en-US" dirty="0"/>
          </a:p>
        </p:txBody>
      </p:sp>
      <p:sp>
        <p:nvSpPr>
          <p:cNvPr id="3" name="Content Placeholder 2">
            <a:extLst>
              <a:ext uri="{FF2B5EF4-FFF2-40B4-BE49-F238E27FC236}">
                <a16:creationId xmlns:a16="http://schemas.microsoft.com/office/drawing/2014/main" id="{9D49AA44-9384-46D4-B8DF-DC705591FC38}"/>
              </a:ext>
            </a:extLst>
          </p:cNvPr>
          <p:cNvSpPr>
            <a:spLocks noGrp="1"/>
          </p:cNvSpPr>
          <p:nvPr>
            <p:ph idx="1"/>
          </p:nvPr>
        </p:nvSpPr>
        <p:spPr>
          <a:xfrm>
            <a:off x="838200" y="1384562"/>
            <a:ext cx="10941424" cy="4351338"/>
          </a:xfrm>
        </p:spPr>
        <p:txBody>
          <a:bodyPr>
            <a:normAutofit/>
          </a:bodyPr>
          <a:lstStyle/>
          <a:p>
            <a:r>
              <a:rPr lang="en-US" sz="2400" dirty="0">
                <a:latin typeface="Times New Roman" panose="02020603050405020304" pitchFamily="18" charset="0"/>
                <a:cs typeface="Times New Roman" panose="02020603050405020304" pitchFamily="18" charset="0"/>
              </a:rPr>
              <a:t>The report clearly lists </a:t>
            </a:r>
            <a:r>
              <a:rPr lang="en-US" sz="2400" b="1" dirty="0">
                <a:latin typeface="Times New Roman" panose="02020603050405020304" pitchFamily="18" charset="0"/>
                <a:cs typeface="Times New Roman" panose="02020603050405020304" pitchFamily="18" charset="0"/>
              </a:rPr>
              <a:t>what actions were taken</a:t>
            </a:r>
            <a:r>
              <a:rPr lang="en-US" sz="2400" dirty="0">
                <a:latin typeface="Times New Roman" panose="02020603050405020304" pitchFamily="18" charset="0"/>
                <a:cs typeface="Times New Roman" panose="02020603050405020304" pitchFamily="18" charset="0"/>
              </a:rPr>
              <a:t> to contain, mitigate, and recover from the incident.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This demonstrates the SOC’s </a:t>
            </a:r>
            <a:r>
              <a:rPr lang="en-US" sz="2400" b="1" dirty="0">
                <a:latin typeface="Times New Roman" panose="02020603050405020304" pitchFamily="18" charset="0"/>
                <a:cs typeface="Times New Roman" panose="02020603050405020304" pitchFamily="18" charset="0"/>
              </a:rPr>
              <a:t>effectiveness and accountability</a:t>
            </a:r>
            <a:r>
              <a:rPr lang="en-US" sz="2400" dirty="0">
                <a:latin typeface="Times New Roman" panose="02020603050405020304" pitchFamily="18" charset="0"/>
                <a:cs typeface="Times New Roman" panose="02020603050405020304" pitchFamily="18" charset="0"/>
              </a:rPr>
              <a:t> in protecting organizational assets.</a:t>
            </a:r>
          </a:p>
          <a:p>
            <a:pPr marL="0" indent="0">
              <a:buNone/>
            </a:pPr>
            <a:r>
              <a:rPr lang="en-US" sz="2400" b="1" dirty="0">
                <a:solidFill>
                  <a:srgbClr val="0070C0"/>
                </a:solidFill>
                <a:latin typeface="Times New Roman" panose="02020603050405020304" pitchFamily="18" charset="0"/>
                <a:cs typeface="Times New Roman" panose="02020603050405020304" pitchFamily="18" charset="0"/>
              </a:rPr>
              <a:t>Example:</a:t>
            </a:r>
            <a:endParaRPr lang="en-US" sz="2400" dirty="0">
              <a:solidFill>
                <a:srgbClr val="0070C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Blocked attacker IP at firewall</a:t>
            </a:r>
          </a:p>
          <a:p>
            <a:r>
              <a:rPr lang="en-US" sz="2400" dirty="0">
                <a:latin typeface="Times New Roman" panose="02020603050405020304" pitchFamily="18" charset="0"/>
                <a:cs typeface="Times New Roman" panose="02020603050405020304" pitchFamily="18" charset="0"/>
              </a:rPr>
              <a:t>Isolated infected machine from the network</a:t>
            </a:r>
          </a:p>
          <a:p>
            <a:r>
              <a:rPr lang="en-US" sz="2400" dirty="0">
                <a:latin typeface="Times New Roman" panose="02020603050405020304" pitchFamily="18" charset="0"/>
                <a:cs typeface="Times New Roman" panose="02020603050405020304" pitchFamily="18" charset="0"/>
              </a:rPr>
              <a:t>Reset user credentials</a:t>
            </a:r>
          </a:p>
          <a:p>
            <a:r>
              <a:rPr lang="en-US" sz="2400" dirty="0">
                <a:latin typeface="Times New Roman" panose="02020603050405020304" pitchFamily="18" charset="0"/>
                <a:cs typeface="Times New Roman" panose="02020603050405020304" pitchFamily="18" charset="0"/>
              </a:rPr>
              <a:t>These actions prove that the SOC followed a proper </a:t>
            </a:r>
            <a:r>
              <a:rPr lang="en-US" sz="2400" b="1" dirty="0">
                <a:latin typeface="Times New Roman" panose="02020603050405020304" pitchFamily="18" charset="0"/>
                <a:cs typeface="Times New Roman" panose="02020603050405020304" pitchFamily="18" charset="0"/>
              </a:rPr>
              <a:t>incident response procedure</a:t>
            </a:r>
            <a:r>
              <a:rPr lang="en-US" sz="2400"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341145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F293E-0582-4576-9F57-FDEDC7945DBF}"/>
              </a:ext>
            </a:extLst>
          </p:cNvPr>
          <p:cNvSpPr>
            <a:spLocks noGrp="1"/>
          </p:cNvSpPr>
          <p:nvPr>
            <p:ph type="title"/>
          </p:nvPr>
        </p:nvSpPr>
        <p:spPr>
          <a:xfrm>
            <a:off x="838200" y="580279"/>
            <a:ext cx="10515600" cy="1325563"/>
          </a:xfrm>
        </p:spPr>
        <p:txBody>
          <a:bodyPr>
            <a:normAutofit/>
          </a:bodyPr>
          <a:lstStyle/>
          <a:p>
            <a:r>
              <a:rPr lang="en-US" sz="3600" b="1" dirty="0">
                <a:solidFill>
                  <a:schemeClr val="accent3"/>
                </a:solidFill>
                <a:latin typeface="Times New Roman" panose="02020603050405020304" pitchFamily="18" charset="0"/>
                <a:cs typeface="Times New Roman" panose="02020603050405020304" pitchFamily="18" charset="0"/>
              </a:rPr>
              <a:t>Provide Evidence for Compliance or Legal Review</a:t>
            </a:r>
            <a:br>
              <a:rPr lang="en-US" b="1" dirty="0">
                <a:solidFill>
                  <a:schemeClr val="accent3"/>
                </a:solidFill>
              </a:rPr>
            </a:br>
            <a:endParaRPr lang="en-US" dirty="0">
              <a:solidFill>
                <a:schemeClr val="accent3"/>
              </a:solidFill>
            </a:endParaRPr>
          </a:p>
        </p:txBody>
      </p:sp>
      <p:sp>
        <p:nvSpPr>
          <p:cNvPr id="3" name="Content Placeholder 2">
            <a:extLst>
              <a:ext uri="{FF2B5EF4-FFF2-40B4-BE49-F238E27FC236}">
                <a16:creationId xmlns:a16="http://schemas.microsoft.com/office/drawing/2014/main" id="{A7586917-0C56-49FC-9679-28FCE467EEA6}"/>
              </a:ext>
            </a:extLst>
          </p:cNvPr>
          <p:cNvSpPr>
            <a:spLocks noGrp="1"/>
          </p:cNvSpPr>
          <p:nvPr>
            <p:ph idx="1"/>
          </p:nvPr>
        </p:nvSpPr>
        <p:spPr>
          <a:xfrm>
            <a:off x="838200" y="1492138"/>
            <a:ext cx="10941424" cy="4607448"/>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Incident reports often serve as </a:t>
            </a:r>
            <a:r>
              <a:rPr lang="en-US" sz="2400" b="1" dirty="0">
                <a:latin typeface="Times New Roman" panose="02020603050405020304" pitchFamily="18" charset="0"/>
                <a:cs typeface="Times New Roman" panose="02020603050405020304" pitchFamily="18" charset="0"/>
              </a:rPr>
              <a:t>official documentation</a:t>
            </a:r>
            <a:r>
              <a:rPr lang="en-US" sz="2400" dirty="0">
                <a:latin typeface="Times New Roman" panose="02020603050405020304" pitchFamily="18" charset="0"/>
                <a:cs typeface="Times New Roman" panose="02020603050405020304" pitchFamily="18" charset="0"/>
              </a:rPr>
              <a:t> for audits, regulatory compliance (e.g., ISO 27001, GDPR), or legal investigations.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They provide </a:t>
            </a:r>
            <a:r>
              <a:rPr lang="en-US" sz="2400" b="1" dirty="0">
                <a:latin typeface="Times New Roman" panose="02020603050405020304" pitchFamily="18" charset="0"/>
                <a:cs typeface="Times New Roman" panose="02020603050405020304" pitchFamily="18" charset="0"/>
              </a:rPr>
              <a:t>evidence</a:t>
            </a:r>
            <a:r>
              <a:rPr lang="en-US" sz="2400" dirty="0">
                <a:latin typeface="Times New Roman" panose="02020603050405020304" pitchFamily="18" charset="0"/>
                <a:cs typeface="Times New Roman" panose="02020603050405020304" pitchFamily="18" charset="0"/>
              </a:rPr>
              <a:t> that the organization took appropriate steps to respond to the incident.</a:t>
            </a:r>
          </a:p>
          <a:p>
            <a:pPr marL="0" indent="0" algn="just">
              <a:buNone/>
            </a:pPr>
            <a:r>
              <a:rPr lang="en-US" sz="2400" b="1" dirty="0">
                <a:solidFill>
                  <a:srgbClr val="0070C0"/>
                </a:solidFill>
                <a:latin typeface="Times New Roman" panose="02020603050405020304" pitchFamily="18" charset="0"/>
                <a:cs typeface="Times New Roman" panose="02020603050405020304" pitchFamily="18" charset="0"/>
              </a:rPr>
              <a:t>Example:</a:t>
            </a:r>
            <a:endParaRPr lang="en-US" sz="2400" dirty="0">
              <a:solidFill>
                <a:srgbClr val="0070C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If personal data was exposed, regulators may request an incident report showing </a:t>
            </a:r>
            <a:r>
              <a:rPr lang="en-US" sz="2400" b="1" dirty="0">
                <a:latin typeface="Times New Roman" panose="02020603050405020304" pitchFamily="18" charset="0"/>
                <a:cs typeface="Times New Roman" panose="02020603050405020304" pitchFamily="18" charset="0"/>
              </a:rPr>
              <a:t>how the breach was handled</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In court, the report may act as evidence of </a:t>
            </a:r>
            <a:r>
              <a:rPr lang="en-US" sz="2400" b="1" dirty="0">
                <a:latin typeface="Times New Roman" panose="02020603050405020304" pitchFamily="18" charset="0"/>
                <a:cs typeface="Times New Roman" panose="02020603050405020304" pitchFamily="18" charset="0"/>
              </a:rPr>
              <a:t>due diligence</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It ensures the organization meets </a:t>
            </a:r>
            <a:r>
              <a:rPr lang="en-US" sz="2400" b="1" dirty="0">
                <a:latin typeface="Times New Roman" panose="02020603050405020304" pitchFamily="18" charset="0"/>
                <a:cs typeface="Times New Roman" panose="02020603050405020304" pitchFamily="18" charset="0"/>
              </a:rPr>
              <a:t>legal and compliance obligations</a:t>
            </a:r>
            <a:r>
              <a:rPr lang="en-US" sz="2400"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1071905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36B11-6017-4033-85C2-AF5DC0EADABE}"/>
              </a:ext>
            </a:extLst>
          </p:cNvPr>
          <p:cNvSpPr>
            <a:spLocks noGrp="1"/>
          </p:cNvSpPr>
          <p:nvPr>
            <p:ph type="title"/>
          </p:nvPr>
        </p:nvSpPr>
        <p:spPr>
          <a:xfrm>
            <a:off x="978049" y="601795"/>
            <a:ext cx="10515600" cy="1325563"/>
          </a:xfrm>
        </p:spPr>
        <p:txBody>
          <a:bodyPr>
            <a:normAutofit/>
          </a:bodyPr>
          <a:lstStyle/>
          <a:p>
            <a:r>
              <a:rPr lang="en-US" sz="3600" b="1" dirty="0">
                <a:solidFill>
                  <a:schemeClr val="accent3"/>
                </a:solidFill>
                <a:latin typeface="Times New Roman" panose="02020603050405020304" pitchFamily="18" charset="0"/>
                <a:cs typeface="Times New Roman" panose="02020603050405020304" pitchFamily="18" charset="0"/>
              </a:rPr>
              <a:t>Help Prevent Similar Incidents in the Future</a:t>
            </a:r>
            <a:br>
              <a:rPr lang="en-US" b="1" dirty="0">
                <a:solidFill>
                  <a:schemeClr val="accent3"/>
                </a:solidFill>
              </a:rPr>
            </a:br>
            <a:endParaRPr lang="en-US" dirty="0">
              <a:solidFill>
                <a:schemeClr val="accent3"/>
              </a:solidFill>
            </a:endParaRPr>
          </a:p>
        </p:txBody>
      </p:sp>
      <p:sp>
        <p:nvSpPr>
          <p:cNvPr id="3" name="Content Placeholder 2">
            <a:extLst>
              <a:ext uri="{FF2B5EF4-FFF2-40B4-BE49-F238E27FC236}">
                <a16:creationId xmlns:a16="http://schemas.microsoft.com/office/drawing/2014/main" id="{2114C26F-21BF-4E2B-9C64-151845637832}"/>
              </a:ext>
            </a:extLst>
          </p:cNvPr>
          <p:cNvSpPr>
            <a:spLocks noGrp="1"/>
          </p:cNvSpPr>
          <p:nvPr>
            <p:ph idx="1"/>
          </p:nvPr>
        </p:nvSpPr>
        <p:spPr>
          <a:xfrm>
            <a:off x="657561" y="1556684"/>
            <a:ext cx="10876878" cy="4351338"/>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After analysis, the incident report includes </a:t>
            </a:r>
            <a:r>
              <a:rPr lang="en-US" sz="2400" b="1" dirty="0">
                <a:latin typeface="Times New Roman" panose="02020603050405020304" pitchFamily="18" charset="0"/>
                <a:cs typeface="Times New Roman" panose="02020603050405020304" pitchFamily="18" charset="0"/>
              </a:rPr>
              <a:t>lessons learned</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recommendations</a:t>
            </a:r>
            <a:r>
              <a:rPr lang="en-US" sz="2400" dirty="0">
                <a:latin typeface="Times New Roman" panose="02020603050405020304" pitchFamily="18" charset="0"/>
                <a:cs typeface="Times New Roman" panose="02020603050405020304" pitchFamily="18" charset="0"/>
              </a:rPr>
              <a:t> to prevent recurrence.</a:t>
            </a:r>
          </a:p>
          <a:p>
            <a:pPr marL="0" indent="0" algn="just">
              <a:buNone/>
            </a:pPr>
            <a:r>
              <a:rPr lang="en-US" sz="2400" dirty="0">
                <a:latin typeface="Times New Roman" panose="02020603050405020304" pitchFamily="18" charset="0"/>
                <a:cs typeface="Times New Roman" panose="02020603050405020304" pitchFamily="18" charset="0"/>
              </a:rPr>
              <a:t>It’s used for training SOC staff and improving security controls.</a:t>
            </a:r>
          </a:p>
          <a:p>
            <a:pPr marL="0" indent="0" algn="just">
              <a:buNone/>
            </a:pPr>
            <a:r>
              <a:rPr lang="en-US" sz="2400" b="1" dirty="0">
                <a:solidFill>
                  <a:srgbClr val="0070C0"/>
                </a:solidFill>
                <a:latin typeface="Times New Roman" panose="02020603050405020304" pitchFamily="18" charset="0"/>
                <a:cs typeface="Times New Roman" panose="02020603050405020304" pitchFamily="18" charset="0"/>
              </a:rPr>
              <a:t>Example:</a:t>
            </a:r>
            <a:endParaRPr lang="en-US" sz="2400" dirty="0">
              <a:solidFill>
                <a:srgbClr val="0070C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Recommendation: Enable multi-factor authentication (MFA)</a:t>
            </a:r>
          </a:p>
          <a:p>
            <a:pPr algn="just"/>
            <a:r>
              <a:rPr lang="en-US" sz="2400" dirty="0">
                <a:latin typeface="Times New Roman" panose="02020603050405020304" pitchFamily="18" charset="0"/>
                <a:cs typeface="Times New Roman" panose="02020603050405020304" pitchFamily="18" charset="0"/>
              </a:rPr>
              <a:t>Recommendation: Conduct phishing awareness training quarterly</a:t>
            </a:r>
          </a:p>
          <a:p>
            <a:pPr algn="just"/>
            <a:r>
              <a:rPr lang="en-US" sz="2400" dirty="0">
                <a:latin typeface="Times New Roman" panose="02020603050405020304" pitchFamily="18" charset="0"/>
                <a:cs typeface="Times New Roman" panose="02020603050405020304" pitchFamily="18" charset="0"/>
              </a:rPr>
              <a:t>The report drives </a:t>
            </a:r>
            <a:r>
              <a:rPr lang="en-US" sz="2400" b="1" dirty="0">
                <a:latin typeface="Times New Roman" panose="02020603050405020304" pitchFamily="18" charset="0"/>
                <a:cs typeface="Times New Roman" panose="02020603050405020304" pitchFamily="18" charset="0"/>
              </a:rPr>
              <a:t>continuous improvement</a:t>
            </a:r>
            <a:r>
              <a:rPr lang="en-US" sz="2400" dirty="0">
                <a:latin typeface="Times New Roman" panose="02020603050405020304" pitchFamily="18" charset="0"/>
                <a:cs typeface="Times New Roman" panose="02020603050405020304" pitchFamily="18" charset="0"/>
              </a:rPr>
              <a:t> and strengthens future defense.</a:t>
            </a:r>
          </a:p>
          <a:p>
            <a:endParaRPr lang="en-US" dirty="0"/>
          </a:p>
        </p:txBody>
      </p:sp>
    </p:spTree>
    <p:extLst>
      <p:ext uri="{BB962C8B-B14F-4D97-AF65-F5344CB8AC3E}">
        <p14:creationId xmlns:p14="http://schemas.microsoft.com/office/powerpoint/2010/main" val="3049556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117E7-B24A-46EC-9B1F-42F7A5717C69}"/>
              </a:ext>
            </a:extLst>
          </p:cNvPr>
          <p:cNvSpPr>
            <a:spLocks noGrp="1"/>
          </p:cNvSpPr>
          <p:nvPr>
            <p:ph type="title"/>
          </p:nvPr>
        </p:nvSpPr>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Structure of an Incident Report</a:t>
            </a:r>
          </a:p>
        </p:txBody>
      </p:sp>
      <p:graphicFrame>
        <p:nvGraphicFramePr>
          <p:cNvPr id="4" name="Content Placeholder 3">
            <a:extLst>
              <a:ext uri="{FF2B5EF4-FFF2-40B4-BE49-F238E27FC236}">
                <a16:creationId xmlns:a16="http://schemas.microsoft.com/office/drawing/2014/main" id="{B05BA6BF-D93F-4A60-B22C-3025398AE489}"/>
              </a:ext>
            </a:extLst>
          </p:cNvPr>
          <p:cNvGraphicFramePr>
            <a:graphicFrameLocks noGrp="1"/>
          </p:cNvGraphicFramePr>
          <p:nvPr>
            <p:ph idx="1"/>
            <p:extLst>
              <p:ext uri="{D42A27DB-BD31-4B8C-83A1-F6EECF244321}">
                <p14:modId xmlns:p14="http://schemas.microsoft.com/office/powerpoint/2010/main" val="4163409642"/>
              </p:ext>
            </p:extLst>
          </p:nvPr>
        </p:nvGraphicFramePr>
        <p:xfrm>
          <a:off x="838200" y="2572816"/>
          <a:ext cx="8273528" cy="3145975"/>
        </p:xfrm>
        <a:graphic>
          <a:graphicData uri="http://schemas.openxmlformats.org/drawingml/2006/table">
            <a:tbl>
              <a:tblPr/>
              <a:tblGrid>
                <a:gridCol w="4136764">
                  <a:extLst>
                    <a:ext uri="{9D8B030D-6E8A-4147-A177-3AD203B41FA5}">
                      <a16:colId xmlns:a16="http://schemas.microsoft.com/office/drawing/2014/main" val="3187584003"/>
                    </a:ext>
                  </a:extLst>
                </a:gridCol>
                <a:gridCol w="4136764">
                  <a:extLst>
                    <a:ext uri="{9D8B030D-6E8A-4147-A177-3AD203B41FA5}">
                      <a16:colId xmlns:a16="http://schemas.microsoft.com/office/drawing/2014/main" val="3282755309"/>
                    </a:ext>
                  </a:extLst>
                </a:gridCol>
              </a:tblGrid>
              <a:tr h="449425">
                <a:tc>
                  <a:txBody>
                    <a:bodyPr/>
                    <a:lstStyle/>
                    <a:p>
                      <a:r>
                        <a:rPr lang="en-US" sz="2000" b="1" dirty="0">
                          <a:solidFill>
                            <a:schemeClr val="accent3"/>
                          </a:solidFill>
                          <a:latin typeface="Times New Roman" panose="02020603050405020304" pitchFamily="18" charset="0"/>
                          <a:cs typeface="Times New Roman" panose="02020603050405020304" pitchFamily="18" charset="0"/>
                        </a:rPr>
                        <a:t>Field</a:t>
                      </a:r>
                    </a:p>
                  </a:txBody>
                  <a:tcPr anchor="ctr">
                    <a:lnL>
                      <a:noFill/>
                    </a:lnL>
                    <a:lnR>
                      <a:noFill/>
                    </a:lnR>
                    <a:lnT>
                      <a:noFill/>
                    </a:lnT>
                    <a:lnB>
                      <a:noFill/>
                    </a:lnB>
                  </a:tcPr>
                </a:tc>
                <a:tc>
                  <a:txBody>
                    <a:bodyPr/>
                    <a:lstStyle/>
                    <a:p>
                      <a:r>
                        <a:rPr lang="en-US" sz="2000" b="1" dirty="0">
                          <a:solidFill>
                            <a:schemeClr val="accent3"/>
                          </a:solidFill>
                          <a:latin typeface="Times New Roman" panose="02020603050405020304" pitchFamily="18" charset="0"/>
                          <a:cs typeface="Times New Roman" panose="02020603050405020304" pitchFamily="18" charset="0"/>
                        </a:rPr>
                        <a:t>Example</a:t>
                      </a:r>
                    </a:p>
                  </a:txBody>
                  <a:tcPr anchor="ctr">
                    <a:lnL>
                      <a:noFill/>
                    </a:lnL>
                    <a:lnR>
                      <a:noFill/>
                    </a:lnR>
                    <a:lnT>
                      <a:noFill/>
                    </a:lnT>
                    <a:lnB>
                      <a:noFill/>
                    </a:lnB>
                  </a:tcPr>
                </a:tc>
                <a:extLst>
                  <a:ext uri="{0D108BD9-81ED-4DB2-BD59-A6C34878D82A}">
                    <a16:rowId xmlns:a16="http://schemas.microsoft.com/office/drawing/2014/main" val="3282761239"/>
                  </a:ext>
                </a:extLst>
              </a:tr>
              <a:tr h="449425">
                <a:tc>
                  <a:txBody>
                    <a:bodyPr/>
                    <a:lstStyle/>
                    <a:p>
                      <a:r>
                        <a:rPr lang="en-US" sz="2000" b="1" dirty="0">
                          <a:solidFill>
                            <a:srgbClr val="0070C0"/>
                          </a:solidFill>
                          <a:latin typeface="Times New Roman" panose="02020603050405020304" pitchFamily="18" charset="0"/>
                          <a:cs typeface="Times New Roman" panose="02020603050405020304" pitchFamily="18" charset="0"/>
                        </a:rPr>
                        <a:t>Incident ID</a:t>
                      </a:r>
                      <a:endParaRPr lang="en-US" sz="20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a:latin typeface="Times New Roman" panose="02020603050405020304" pitchFamily="18" charset="0"/>
                          <a:cs typeface="Times New Roman" panose="02020603050405020304" pitchFamily="18" charset="0"/>
                        </a:rPr>
                        <a:t>SOC-2025-041</a:t>
                      </a:r>
                    </a:p>
                  </a:txBody>
                  <a:tcPr anchor="ctr">
                    <a:lnL>
                      <a:noFill/>
                    </a:lnL>
                    <a:lnR>
                      <a:noFill/>
                    </a:lnR>
                    <a:lnT>
                      <a:noFill/>
                    </a:lnT>
                    <a:lnB>
                      <a:noFill/>
                    </a:lnB>
                  </a:tcPr>
                </a:tc>
                <a:extLst>
                  <a:ext uri="{0D108BD9-81ED-4DB2-BD59-A6C34878D82A}">
                    <a16:rowId xmlns:a16="http://schemas.microsoft.com/office/drawing/2014/main" val="3959470012"/>
                  </a:ext>
                </a:extLst>
              </a:tr>
              <a:tr h="449425">
                <a:tc>
                  <a:txBody>
                    <a:bodyPr/>
                    <a:lstStyle/>
                    <a:p>
                      <a:r>
                        <a:rPr lang="en-US" sz="2000" b="1" dirty="0">
                          <a:solidFill>
                            <a:srgbClr val="0070C0"/>
                          </a:solidFill>
                          <a:latin typeface="Times New Roman" panose="02020603050405020304" pitchFamily="18" charset="0"/>
                          <a:cs typeface="Times New Roman" panose="02020603050405020304" pitchFamily="18" charset="0"/>
                        </a:rPr>
                        <a:t>Reported By</a:t>
                      </a:r>
                      <a:endParaRPr lang="en-US" sz="20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a:latin typeface="Times New Roman" panose="02020603050405020304" pitchFamily="18" charset="0"/>
                          <a:cs typeface="Times New Roman" panose="02020603050405020304" pitchFamily="18" charset="0"/>
                        </a:rPr>
                        <a:t>John Doe, Tier 1 Analyst</a:t>
                      </a:r>
                    </a:p>
                  </a:txBody>
                  <a:tcPr anchor="ctr">
                    <a:lnL>
                      <a:noFill/>
                    </a:lnL>
                    <a:lnR>
                      <a:noFill/>
                    </a:lnR>
                    <a:lnT>
                      <a:noFill/>
                    </a:lnT>
                    <a:lnB>
                      <a:noFill/>
                    </a:lnB>
                  </a:tcPr>
                </a:tc>
                <a:extLst>
                  <a:ext uri="{0D108BD9-81ED-4DB2-BD59-A6C34878D82A}">
                    <a16:rowId xmlns:a16="http://schemas.microsoft.com/office/drawing/2014/main" val="3388981996"/>
                  </a:ext>
                </a:extLst>
              </a:tr>
              <a:tr h="449425">
                <a:tc>
                  <a:txBody>
                    <a:bodyPr/>
                    <a:lstStyle/>
                    <a:p>
                      <a:r>
                        <a:rPr lang="en-US" sz="2000" b="1" dirty="0">
                          <a:solidFill>
                            <a:srgbClr val="0070C0"/>
                          </a:solidFill>
                          <a:latin typeface="Times New Roman" panose="02020603050405020304" pitchFamily="18" charset="0"/>
                          <a:cs typeface="Times New Roman" panose="02020603050405020304" pitchFamily="18" charset="0"/>
                        </a:rPr>
                        <a:t>Date/Time Reported</a:t>
                      </a:r>
                      <a:endParaRPr lang="en-US" sz="20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a:latin typeface="Times New Roman" panose="02020603050405020304" pitchFamily="18" charset="0"/>
                          <a:cs typeface="Times New Roman" panose="02020603050405020304" pitchFamily="18" charset="0"/>
                        </a:rPr>
                        <a:t>11 Nov 2025, 10:25 AM</a:t>
                      </a:r>
                    </a:p>
                  </a:txBody>
                  <a:tcPr anchor="ctr">
                    <a:lnL>
                      <a:noFill/>
                    </a:lnL>
                    <a:lnR>
                      <a:noFill/>
                    </a:lnR>
                    <a:lnT>
                      <a:noFill/>
                    </a:lnT>
                    <a:lnB>
                      <a:noFill/>
                    </a:lnB>
                  </a:tcPr>
                </a:tc>
                <a:extLst>
                  <a:ext uri="{0D108BD9-81ED-4DB2-BD59-A6C34878D82A}">
                    <a16:rowId xmlns:a16="http://schemas.microsoft.com/office/drawing/2014/main" val="475820705"/>
                  </a:ext>
                </a:extLst>
              </a:tr>
              <a:tr h="449425">
                <a:tc>
                  <a:txBody>
                    <a:bodyPr/>
                    <a:lstStyle/>
                    <a:p>
                      <a:r>
                        <a:rPr lang="en-US" sz="2000" b="1" dirty="0">
                          <a:solidFill>
                            <a:srgbClr val="0070C0"/>
                          </a:solidFill>
                          <a:latin typeface="Times New Roman" panose="02020603050405020304" pitchFamily="18" charset="0"/>
                          <a:cs typeface="Times New Roman" panose="02020603050405020304" pitchFamily="18" charset="0"/>
                        </a:rPr>
                        <a:t>Severity Level</a:t>
                      </a:r>
                      <a:endParaRPr lang="en-US" sz="20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dirty="0">
                          <a:latin typeface="Times New Roman" panose="02020603050405020304" pitchFamily="18" charset="0"/>
                          <a:cs typeface="Times New Roman" panose="02020603050405020304" pitchFamily="18" charset="0"/>
                        </a:rPr>
                        <a:t>Medium</a:t>
                      </a:r>
                    </a:p>
                  </a:txBody>
                  <a:tcPr anchor="ctr">
                    <a:lnL>
                      <a:noFill/>
                    </a:lnL>
                    <a:lnR>
                      <a:noFill/>
                    </a:lnR>
                    <a:lnT>
                      <a:noFill/>
                    </a:lnT>
                    <a:lnB>
                      <a:noFill/>
                    </a:lnB>
                  </a:tcPr>
                </a:tc>
                <a:extLst>
                  <a:ext uri="{0D108BD9-81ED-4DB2-BD59-A6C34878D82A}">
                    <a16:rowId xmlns:a16="http://schemas.microsoft.com/office/drawing/2014/main" val="1859755610"/>
                  </a:ext>
                </a:extLst>
              </a:tr>
              <a:tr h="449425">
                <a:tc>
                  <a:txBody>
                    <a:bodyPr/>
                    <a:lstStyle/>
                    <a:p>
                      <a:r>
                        <a:rPr lang="en-US" sz="2000" b="1">
                          <a:solidFill>
                            <a:srgbClr val="0070C0"/>
                          </a:solidFill>
                          <a:latin typeface="Times New Roman" panose="02020603050405020304" pitchFamily="18" charset="0"/>
                          <a:cs typeface="Times New Roman" panose="02020603050405020304" pitchFamily="18" charset="0"/>
                        </a:rPr>
                        <a:t>Status</a:t>
                      </a:r>
                      <a:endParaRPr lang="en-US" sz="200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dirty="0">
                          <a:latin typeface="Times New Roman" panose="02020603050405020304" pitchFamily="18" charset="0"/>
                          <a:cs typeface="Times New Roman" panose="02020603050405020304" pitchFamily="18" charset="0"/>
                        </a:rPr>
                        <a:t>Closed</a:t>
                      </a:r>
                    </a:p>
                  </a:txBody>
                  <a:tcPr anchor="ctr">
                    <a:lnL>
                      <a:noFill/>
                    </a:lnL>
                    <a:lnR>
                      <a:noFill/>
                    </a:lnR>
                    <a:lnT>
                      <a:noFill/>
                    </a:lnT>
                    <a:lnB>
                      <a:noFill/>
                    </a:lnB>
                  </a:tcPr>
                </a:tc>
                <a:extLst>
                  <a:ext uri="{0D108BD9-81ED-4DB2-BD59-A6C34878D82A}">
                    <a16:rowId xmlns:a16="http://schemas.microsoft.com/office/drawing/2014/main" val="2573550340"/>
                  </a:ext>
                </a:extLst>
              </a:tr>
              <a:tr h="449425">
                <a:tc>
                  <a:txBody>
                    <a:bodyPr/>
                    <a:lstStyle/>
                    <a:p>
                      <a:r>
                        <a:rPr lang="en-US" sz="2000" b="1" dirty="0">
                          <a:solidFill>
                            <a:srgbClr val="0070C0"/>
                          </a:solidFill>
                          <a:latin typeface="Times New Roman" panose="02020603050405020304" pitchFamily="18" charset="0"/>
                          <a:cs typeface="Times New Roman" panose="02020603050405020304" pitchFamily="18" charset="0"/>
                        </a:rPr>
                        <a:t>Category</a:t>
                      </a:r>
                      <a:endParaRPr lang="en-US" sz="20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dirty="0">
                          <a:latin typeface="Times New Roman" panose="02020603050405020304" pitchFamily="18" charset="0"/>
                          <a:cs typeface="Times New Roman" panose="02020603050405020304" pitchFamily="18" charset="0"/>
                        </a:rPr>
                        <a:t>Phishing Attempt</a:t>
                      </a:r>
                    </a:p>
                  </a:txBody>
                  <a:tcPr anchor="ctr">
                    <a:lnL>
                      <a:noFill/>
                    </a:lnL>
                    <a:lnR>
                      <a:noFill/>
                    </a:lnR>
                    <a:lnT>
                      <a:noFill/>
                    </a:lnT>
                    <a:lnB>
                      <a:noFill/>
                    </a:lnB>
                  </a:tcPr>
                </a:tc>
                <a:extLst>
                  <a:ext uri="{0D108BD9-81ED-4DB2-BD59-A6C34878D82A}">
                    <a16:rowId xmlns:a16="http://schemas.microsoft.com/office/drawing/2014/main" val="990054379"/>
                  </a:ext>
                </a:extLst>
              </a:tr>
            </a:tbl>
          </a:graphicData>
        </a:graphic>
      </p:graphicFrame>
      <p:sp>
        <p:nvSpPr>
          <p:cNvPr id="6" name="Rectangle 5">
            <a:extLst>
              <a:ext uri="{FF2B5EF4-FFF2-40B4-BE49-F238E27FC236}">
                <a16:creationId xmlns:a16="http://schemas.microsoft.com/office/drawing/2014/main" id="{C43066DD-E107-4B9D-A578-892367F045F9}"/>
              </a:ext>
            </a:extLst>
          </p:cNvPr>
          <p:cNvSpPr/>
          <p:nvPr/>
        </p:nvSpPr>
        <p:spPr>
          <a:xfrm>
            <a:off x="702832" y="1663360"/>
            <a:ext cx="10807850" cy="830997"/>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Below is a standard </a:t>
            </a:r>
            <a:r>
              <a:rPr lang="en-US" sz="2400" b="1" dirty="0">
                <a:latin typeface="Times New Roman" panose="02020603050405020304" pitchFamily="18" charset="0"/>
                <a:cs typeface="Times New Roman" panose="02020603050405020304" pitchFamily="18" charset="0"/>
              </a:rPr>
              <a:t>SOC Incident Report Template</a:t>
            </a:r>
            <a:r>
              <a:rPr lang="en-US" sz="2400" dirty="0">
                <a:latin typeface="Times New Roman" panose="02020603050405020304" pitchFamily="18" charset="0"/>
                <a:cs typeface="Times New Roman" panose="02020603050405020304" pitchFamily="18" charset="0"/>
              </a:rPr>
              <a:t> with explanations and examples for each section:</a:t>
            </a:r>
          </a:p>
        </p:txBody>
      </p:sp>
    </p:spTree>
    <p:extLst>
      <p:ext uri="{BB962C8B-B14F-4D97-AF65-F5344CB8AC3E}">
        <p14:creationId xmlns:p14="http://schemas.microsoft.com/office/powerpoint/2010/main" val="39745927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924AE-BFD2-4ABC-ABC6-6B022986B9FF}"/>
              </a:ext>
            </a:extLst>
          </p:cNvPr>
          <p:cNvSpPr>
            <a:spLocks noGrp="1"/>
          </p:cNvSpPr>
          <p:nvPr>
            <p:ph type="title"/>
          </p:nvPr>
        </p:nvSpPr>
        <p:spPr>
          <a:xfrm>
            <a:off x="838200" y="365126"/>
            <a:ext cx="10672482" cy="1325563"/>
          </a:xfrm>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Executive Summary &amp; Impact Assessment</a:t>
            </a:r>
            <a:br>
              <a:rPr lang="en-US" sz="3200" b="1" dirty="0"/>
            </a:br>
            <a:endParaRPr lang="en-US" sz="3200" b="1"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6432A2B-432F-4D97-A74F-85F587801AFE}"/>
              </a:ext>
            </a:extLst>
          </p:cNvPr>
          <p:cNvSpPr>
            <a:spLocks noGrp="1"/>
          </p:cNvSpPr>
          <p:nvPr>
            <p:ph idx="1"/>
          </p:nvPr>
        </p:nvSpPr>
        <p:spPr>
          <a:xfrm>
            <a:off x="838201" y="1196473"/>
            <a:ext cx="10435814" cy="2654765"/>
          </a:xfrm>
        </p:spPr>
        <p:txBody>
          <a:bodyPr>
            <a:normAutofit fontScale="77500" lnSpcReduction="20000"/>
          </a:bodyPr>
          <a:lstStyle/>
          <a:p>
            <a:pPr marL="0" indent="0">
              <a:lnSpc>
                <a:spcPct val="110000"/>
              </a:lnSpc>
              <a:buNone/>
            </a:pPr>
            <a:r>
              <a:rPr lang="en-US" sz="3100" dirty="0">
                <a:latin typeface="Times New Roman" panose="02020603050405020304" pitchFamily="18" charset="0"/>
                <a:cs typeface="Times New Roman" panose="02020603050405020304" pitchFamily="18" charset="0"/>
              </a:rPr>
              <a:t>Provide a short overview (1–2 paragraphs) of what happened.</a:t>
            </a:r>
          </a:p>
          <a:p>
            <a:pPr marL="0" indent="0" algn="just">
              <a:lnSpc>
                <a:spcPct val="110000"/>
              </a:lnSpc>
              <a:buNone/>
            </a:pPr>
            <a:r>
              <a:rPr lang="en-US" sz="3100" b="1" dirty="0">
                <a:solidFill>
                  <a:srgbClr val="0070C0"/>
                </a:solidFill>
                <a:latin typeface="Times New Roman" panose="02020603050405020304" pitchFamily="18" charset="0"/>
                <a:cs typeface="Times New Roman" panose="02020603050405020304" pitchFamily="18" charset="0"/>
              </a:rPr>
              <a:t>Example: </a:t>
            </a:r>
            <a:r>
              <a:rPr lang="en-US" sz="3100" dirty="0">
                <a:latin typeface="Times New Roman" panose="02020603050405020304" pitchFamily="18" charset="0"/>
                <a:cs typeface="Times New Roman" panose="02020603050405020304" pitchFamily="18" charset="0"/>
              </a:rPr>
              <a:t>On 11 November 2025, the SOC detected a phishing email campaign targeting university staff. The phishing email contained a malicious link designed to harvest credentials. The incident was detected by the email security gateway and escalated to the SOC for analysis. No data loss was confirmed, and the malicious domain was blocked.</a:t>
            </a:r>
          </a:p>
          <a:p>
            <a:pPr marL="0" indent="0" algn="just">
              <a:lnSpc>
                <a:spcPct val="110000"/>
              </a:lnSpc>
              <a:buNone/>
            </a:pPr>
            <a:r>
              <a:rPr lang="en-US" sz="3100" b="1" dirty="0">
                <a:solidFill>
                  <a:schemeClr val="accent3"/>
                </a:solidFill>
                <a:latin typeface="Times New Roman" panose="02020603050405020304" pitchFamily="18" charset="0"/>
                <a:cs typeface="Times New Roman" panose="02020603050405020304" pitchFamily="18" charset="0"/>
              </a:rPr>
              <a:t>Impact Assessment</a:t>
            </a:r>
          </a:p>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7B467E69-3019-4996-A78E-41E1FAE78DC8}"/>
              </a:ext>
            </a:extLst>
          </p:cNvPr>
          <p:cNvGraphicFramePr>
            <a:graphicFrameLocks noGrp="1"/>
          </p:cNvGraphicFramePr>
          <p:nvPr>
            <p:extLst>
              <p:ext uri="{D42A27DB-BD31-4B8C-83A1-F6EECF244321}">
                <p14:modId xmlns:p14="http://schemas.microsoft.com/office/powerpoint/2010/main" val="3442602541"/>
              </p:ext>
            </p:extLst>
          </p:nvPr>
        </p:nvGraphicFramePr>
        <p:xfrm>
          <a:off x="798308" y="3851238"/>
          <a:ext cx="10515600" cy="1981200"/>
        </p:xfrm>
        <a:graphic>
          <a:graphicData uri="http://schemas.openxmlformats.org/drawingml/2006/table">
            <a:tbl>
              <a:tblPr/>
              <a:tblGrid>
                <a:gridCol w="3644600">
                  <a:extLst>
                    <a:ext uri="{9D8B030D-6E8A-4147-A177-3AD203B41FA5}">
                      <a16:colId xmlns:a16="http://schemas.microsoft.com/office/drawing/2014/main" val="542882203"/>
                    </a:ext>
                  </a:extLst>
                </a:gridCol>
                <a:gridCol w="6871000">
                  <a:extLst>
                    <a:ext uri="{9D8B030D-6E8A-4147-A177-3AD203B41FA5}">
                      <a16:colId xmlns:a16="http://schemas.microsoft.com/office/drawing/2014/main" val="4041262354"/>
                    </a:ext>
                  </a:extLst>
                </a:gridCol>
              </a:tblGrid>
              <a:tr h="0">
                <a:tc>
                  <a:txBody>
                    <a:bodyPr/>
                    <a:lstStyle/>
                    <a:p>
                      <a:r>
                        <a:rPr lang="en-US" sz="2000" b="1" dirty="0">
                          <a:solidFill>
                            <a:schemeClr val="accent3"/>
                          </a:solidFill>
                          <a:latin typeface="Times New Roman" panose="02020603050405020304" pitchFamily="18" charset="0"/>
                          <a:cs typeface="Times New Roman" panose="02020603050405020304" pitchFamily="18" charset="0"/>
                        </a:rPr>
                        <a:t>Impact Area</a:t>
                      </a:r>
                      <a:endParaRPr lang="en-US" sz="2000" dirty="0">
                        <a:solidFill>
                          <a:schemeClr val="accent3"/>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b="1" dirty="0">
                          <a:solidFill>
                            <a:schemeClr val="accent3"/>
                          </a:solidFill>
                          <a:latin typeface="Times New Roman" panose="02020603050405020304" pitchFamily="18" charset="0"/>
                          <a:cs typeface="Times New Roman" panose="02020603050405020304" pitchFamily="18" charset="0"/>
                        </a:rPr>
                        <a:t>Description</a:t>
                      </a:r>
                      <a:endParaRPr lang="en-US" sz="2000" dirty="0">
                        <a:solidFill>
                          <a:schemeClr val="accent3"/>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extLst>
                  <a:ext uri="{0D108BD9-81ED-4DB2-BD59-A6C34878D82A}">
                    <a16:rowId xmlns:a16="http://schemas.microsoft.com/office/drawing/2014/main" val="440968666"/>
                  </a:ext>
                </a:extLst>
              </a:tr>
              <a:tr h="0">
                <a:tc>
                  <a:txBody>
                    <a:bodyPr/>
                    <a:lstStyle/>
                    <a:p>
                      <a:r>
                        <a:rPr lang="en-US" sz="2000" b="1" dirty="0">
                          <a:solidFill>
                            <a:srgbClr val="0070C0"/>
                          </a:solidFill>
                          <a:latin typeface="Times New Roman" panose="02020603050405020304" pitchFamily="18" charset="0"/>
                          <a:cs typeface="Times New Roman" panose="02020603050405020304" pitchFamily="18" charset="0"/>
                        </a:rPr>
                        <a:t>Systems Affected</a:t>
                      </a:r>
                      <a:endParaRPr lang="en-US" sz="20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dirty="0">
                          <a:latin typeface="Times New Roman" panose="02020603050405020304" pitchFamily="18" charset="0"/>
                          <a:cs typeface="Times New Roman" panose="02020603050405020304" pitchFamily="18" charset="0"/>
                        </a:rPr>
                        <a:t>1 user mailbox</a:t>
                      </a:r>
                    </a:p>
                  </a:txBody>
                  <a:tcPr anchor="ctr">
                    <a:lnL>
                      <a:noFill/>
                    </a:lnL>
                    <a:lnR>
                      <a:noFill/>
                    </a:lnR>
                    <a:lnT>
                      <a:noFill/>
                    </a:lnT>
                    <a:lnB>
                      <a:noFill/>
                    </a:lnB>
                  </a:tcPr>
                </a:tc>
                <a:extLst>
                  <a:ext uri="{0D108BD9-81ED-4DB2-BD59-A6C34878D82A}">
                    <a16:rowId xmlns:a16="http://schemas.microsoft.com/office/drawing/2014/main" val="68513345"/>
                  </a:ext>
                </a:extLst>
              </a:tr>
              <a:tr h="0">
                <a:tc>
                  <a:txBody>
                    <a:bodyPr/>
                    <a:lstStyle/>
                    <a:p>
                      <a:r>
                        <a:rPr lang="en-US" sz="2000" b="1">
                          <a:solidFill>
                            <a:srgbClr val="0070C0"/>
                          </a:solidFill>
                          <a:latin typeface="Times New Roman" panose="02020603050405020304" pitchFamily="18" charset="0"/>
                          <a:cs typeface="Times New Roman" panose="02020603050405020304" pitchFamily="18" charset="0"/>
                        </a:rPr>
                        <a:t>Data Loss</a:t>
                      </a:r>
                      <a:endParaRPr lang="en-US" sz="200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a:latin typeface="Times New Roman" panose="02020603050405020304" pitchFamily="18" charset="0"/>
                          <a:cs typeface="Times New Roman" panose="02020603050405020304" pitchFamily="18" charset="0"/>
                        </a:rPr>
                        <a:t>None</a:t>
                      </a:r>
                    </a:p>
                  </a:txBody>
                  <a:tcPr anchor="ctr">
                    <a:lnL>
                      <a:noFill/>
                    </a:lnL>
                    <a:lnR>
                      <a:noFill/>
                    </a:lnR>
                    <a:lnT>
                      <a:noFill/>
                    </a:lnT>
                    <a:lnB>
                      <a:noFill/>
                    </a:lnB>
                  </a:tcPr>
                </a:tc>
                <a:extLst>
                  <a:ext uri="{0D108BD9-81ED-4DB2-BD59-A6C34878D82A}">
                    <a16:rowId xmlns:a16="http://schemas.microsoft.com/office/drawing/2014/main" val="3584559672"/>
                  </a:ext>
                </a:extLst>
              </a:tr>
              <a:tr h="0">
                <a:tc>
                  <a:txBody>
                    <a:bodyPr/>
                    <a:lstStyle/>
                    <a:p>
                      <a:r>
                        <a:rPr lang="en-US" sz="2000" b="1">
                          <a:solidFill>
                            <a:srgbClr val="0070C0"/>
                          </a:solidFill>
                          <a:latin typeface="Times New Roman" panose="02020603050405020304" pitchFamily="18" charset="0"/>
                          <a:cs typeface="Times New Roman" panose="02020603050405020304" pitchFamily="18" charset="0"/>
                        </a:rPr>
                        <a:t>Service Downtime</a:t>
                      </a:r>
                      <a:endParaRPr lang="en-US" sz="200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dirty="0">
                          <a:latin typeface="Times New Roman" panose="02020603050405020304" pitchFamily="18" charset="0"/>
                          <a:cs typeface="Times New Roman" panose="02020603050405020304" pitchFamily="18" charset="0"/>
                        </a:rPr>
                        <a:t>None</a:t>
                      </a:r>
                    </a:p>
                  </a:txBody>
                  <a:tcPr anchor="ctr">
                    <a:lnL>
                      <a:noFill/>
                    </a:lnL>
                    <a:lnR>
                      <a:noFill/>
                    </a:lnR>
                    <a:lnT>
                      <a:noFill/>
                    </a:lnT>
                    <a:lnB>
                      <a:noFill/>
                    </a:lnB>
                  </a:tcPr>
                </a:tc>
                <a:extLst>
                  <a:ext uri="{0D108BD9-81ED-4DB2-BD59-A6C34878D82A}">
                    <a16:rowId xmlns:a16="http://schemas.microsoft.com/office/drawing/2014/main" val="1240475134"/>
                  </a:ext>
                </a:extLst>
              </a:tr>
              <a:tr h="0">
                <a:tc>
                  <a:txBody>
                    <a:bodyPr/>
                    <a:lstStyle/>
                    <a:p>
                      <a:r>
                        <a:rPr lang="en-US" sz="2000" b="1" dirty="0">
                          <a:solidFill>
                            <a:srgbClr val="0070C0"/>
                          </a:solidFill>
                          <a:latin typeface="Times New Roman" panose="02020603050405020304" pitchFamily="18" charset="0"/>
                          <a:cs typeface="Times New Roman" panose="02020603050405020304" pitchFamily="18" charset="0"/>
                        </a:rPr>
                        <a:t>Business Impact</a:t>
                      </a:r>
                      <a:endParaRPr lang="en-US" sz="20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2000" dirty="0">
                          <a:latin typeface="Times New Roman" panose="02020603050405020304" pitchFamily="18" charset="0"/>
                          <a:cs typeface="Times New Roman" panose="02020603050405020304" pitchFamily="18" charset="0"/>
                        </a:rPr>
                        <a:t>Minimal -prevented early</a:t>
                      </a:r>
                    </a:p>
                  </a:txBody>
                  <a:tcPr anchor="ctr">
                    <a:lnL>
                      <a:noFill/>
                    </a:lnL>
                    <a:lnR>
                      <a:noFill/>
                    </a:lnR>
                    <a:lnT>
                      <a:noFill/>
                    </a:lnT>
                    <a:lnB>
                      <a:noFill/>
                    </a:lnB>
                  </a:tcPr>
                </a:tc>
                <a:extLst>
                  <a:ext uri="{0D108BD9-81ED-4DB2-BD59-A6C34878D82A}">
                    <a16:rowId xmlns:a16="http://schemas.microsoft.com/office/drawing/2014/main" val="2017936352"/>
                  </a:ext>
                </a:extLst>
              </a:tr>
            </a:tbl>
          </a:graphicData>
        </a:graphic>
      </p:graphicFrame>
    </p:spTree>
    <p:extLst>
      <p:ext uri="{BB962C8B-B14F-4D97-AF65-F5344CB8AC3E}">
        <p14:creationId xmlns:p14="http://schemas.microsoft.com/office/powerpoint/2010/main" val="572264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BE752-CC0D-441D-88D5-D77D76C3EFEC}"/>
              </a:ext>
            </a:extLst>
          </p:cNvPr>
          <p:cNvSpPr>
            <a:spLocks noGrp="1"/>
          </p:cNvSpPr>
          <p:nvPr>
            <p:ph type="title"/>
          </p:nvPr>
        </p:nvSpPr>
        <p:spPr>
          <a:xfrm>
            <a:off x="838200" y="1085890"/>
            <a:ext cx="10515600" cy="258818"/>
          </a:xfrm>
        </p:spPr>
        <p:txBody>
          <a:bodyPr>
            <a:normAutofit fontScale="90000"/>
          </a:bodyPr>
          <a:lstStyle/>
          <a:p>
            <a:r>
              <a:rPr lang="en-US" altLang="en-US" sz="3600" b="1" dirty="0">
                <a:solidFill>
                  <a:schemeClr val="accent3"/>
                </a:solidFill>
                <a:latin typeface="Times New Roman" panose="02020603050405020304" pitchFamily="18" charset="0"/>
                <a:cs typeface="Times New Roman" panose="02020603050405020304" pitchFamily="18" charset="0"/>
              </a:rPr>
              <a:t>Incident Details</a:t>
            </a:r>
            <a:br>
              <a:rPr lang="en-US" altLang="en-US" b="1" dirty="0">
                <a:latin typeface="Arial" panose="020B0604020202020204" pitchFamily="34" charset="0"/>
              </a:rPr>
            </a:br>
            <a:endParaRPr lang="en-US" dirty="0"/>
          </a:p>
        </p:txBody>
      </p:sp>
      <p:sp>
        <p:nvSpPr>
          <p:cNvPr id="4" name="Rectangle 1">
            <a:extLst>
              <a:ext uri="{FF2B5EF4-FFF2-40B4-BE49-F238E27FC236}">
                <a16:creationId xmlns:a16="http://schemas.microsoft.com/office/drawing/2014/main" id="{3001DF92-13A6-4F40-B87F-9AFF6998005A}"/>
              </a:ext>
            </a:extLst>
          </p:cNvPr>
          <p:cNvSpPr>
            <a:spLocks noGrp="1" noChangeArrowheads="1"/>
          </p:cNvSpPr>
          <p:nvPr>
            <p:ph idx="1"/>
          </p:nvPr>
        </p:nvSpPr>
        <p:spPr bwMode="auto">
          <a:xfrm>
            <a:off x="764465" y="1344708"/>
            <a:ext cx="11355020"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Describe what happened when, where, and how.</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Include: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Detection source (SIEM, EDR, firewall, etc.)</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Affected systems or users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Type of attack (e.g., malware, phishing, DoS)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Example: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incident was detected via Microsoft Defender ATP, which triggered an alert for multiple failed login attempts. Analysis showed that the attempts originated from an IP address in Russia (185.x.x.x). Three user accounts were targeted, and one account experienced a successful login attempt.</a:t>
            </a:r>
          </a:p>
        </p:txBody>
      </p:sp>
    </p:spTree>
    <p:extLst>
      <p:ext uri="{BB962C8B-B14F-4D97-AF65-F5344CB8AC3E}">
        <p14:creationId xmlns:p14="http://schemas.microsoft.com/office/powerpoint/2010/main" val="26418613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A3EE2-A1A3-4CEC-A490-6FF75FF8C526}"/>
              </a:ext>
            </a:extLst>
          </p:cNvPr>
          <p:cNvSpPr>
            <a:spLocks noGrp="1"/>
          </p:cNvSpPr>
          <p:nvPr>
            <p:ph type="title"/>
          </p:nvPr>
        </p:nvSpPr>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Timeline of Events &amp; Root Cause Analysis</a:t>
            </a:r>
          </a:p>
        </p:txBody>
      </p:sp>
      <p:graphicFrame>
        <p:nvGraphicFramePr>
          <p:cNvPr id="10" name="Content Placeholder 9">
            <a:extLst>
              <a:ext uri="{FF2B5EF4-FFF2-40B4-BE49-F238E27FC236}">
                <a16:creationId xmlns:a16="http://schemas.microsoft.com/office/drawing/2014/main" id="{C425AA6E-B170-40E8-8565-FB7B9D3F64E6}"/>
              </a:ext>
            </a:extLst>
          </p:cNvPr>
          <p:cNvGraphicFramePr>
            <a:graphicFrameLocks noGrp="1"/>
          </p:cNvGraphicFramePr>
          <p:nvPr>
            <p:ph idx="1"/>
            <p:extLst>
              <p:ext uri="{D42A27DB-BD31-4B8C-83A1-F6EECF244321}">
                <p14:modId xmlns:p14="http://schemas.microsoft.com/office/powerpoint/2010/main" val="794105275"/>
              </p:ext>
            </p:extLst>
          </p:nvPr>
        </p:nvGraphicFramePr>
        <p:xfrm>
          <a:off x="838200" y="1345263"/>
          <a:ext cx="10590906" cy="2571079"/>
        </p:xfrm>
        <a:graphic>
          <a:graphicData uri="http://schemas.openxmlformats.org/drawingml/2006/table">
            <a:tbl>
              <a:tblPr/>
              <a:tblGrid>
                <a:gridCol w="2055610">
                  <a:extLst>
                    <a:ext uri="{9D8B030D-6E8A-4147-A177-3AD203B41FA5}">
                      <a16:colId xmlns:a16="http://schemas.microsoft.com/office/drawing/2014/main" val="120724411"/>
                    </a:ext>
                  </a:extLst>
                </a:gridCol>
                <a:gridCol w="8535296">
                  <a:extLst>
                    <a:ext uri="{9D8B030D-6E8A-4147-A177-3AD203B41FA5}">
                      <a16:colId xmlns:a16="http://schemas.microsoft.com/office/drawing/2014/main" val="2369255383"/>
                    </a:ext>
                  </a:extLst>
                </a:gridCol>
              </a:tblGrid>
              <a:tr h="420526">
                <a:tc>
                  <a:txBody>
                    <a:bodyPr/>
                    <a:lstStyle/>
                    <a:p>
                      <a:r>
                        <a:rPr lang="en-US" sz="1800" b="1" dirty="0">
                          <a:solidFill>
                            <a:srgbClr val="0070C0"/>
                          </a:solidFill>
                          <a:latin typeface="Times New Roman" panose="02020603050405020304" pitchFamily="18" charset="0"/>
                          <a:cs typeface="Times New Roman" panose="02020603050405020304" pitchFamily="18" charset="0"/>
                        </a:rPr>
                        <a:t>Time</a:t>
                      </a:r>
                      <a:endParaRPr lang="en-US" sz="18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1800" b="1" dirty="0">
                          <a:solidFill>
                            <a:srgbClr val="0070C0"/>
                          </a:solidFill>
                          <a:latin typeface="Times New Roman" panose="02020603050405020304" pitchFamily="18" charset="0"/>
                          <a:cs typeface="Times New Roman" panose="02020603050405020304" pitchFamily="18" charset="0"/>
                        </a:rPr>
                        <a:t>Event Description</a:t>
                      </a:r>
                      <a:endParaRPr lang="en-US" sz="18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extLst>
                  <a:ext uri="{0D108BD9-81ED-4DB2-BD59-A6C34878D82A}">
                    <a16:rowId xmlns:a16="http://schemas.microsoft.com/office/drawing/2014/main" val="289122394"/>
                  </a:ext>
                </a:extLst>
              </a:tr>
              <a:tr h="420526">
                <a:tc>
                  <a:txBody>
                    <a:bodyPr/>
                    <a:lstStyle/>
                    <a:p>
                      <a:r>
                        <a:rPr lang="en-US" sz="1800">
                          <a:latin typeface="Times New Roman" panose="02020603050405020304" pitchFamily="18" charset="0"/>
                          <a:cs typeface="Times New Roman" panose="02020603050405020304" pitchFamily="18" charset="0"/>
                        </a:rPr>
                        <a:t>10:25 AM</a:t>
                      </a:r>
                    </a:p>
                  </a:txBody>
                  <a:tcPr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Alert received from Defender ATP</a:t>
                      </a:r>
                    </a:p>
                  </a:txBody>
                  <a:tcPr anchor="ctr">
                    <a:lnL>
                      <a:noFill/>
                    </a:lnL>
                    <a:lnR>
                      <a:noFill/>
                    </a:lnR>
                    <a:lnT>
                      <a:noFill/>
                    </a:lnT>
                    <a:lnB>
                      <a:noFill/>
                    </a:lnB>
                  </a:tcPr>
                </a:tc>
                <a:extLst>
                  <a:ext uri="{0D108BD9-81ED-4DB2-BD59-A6C34878D82A}">
                    <a16:rowId xmlns:a16="http://schemas.microsoft.com/office/drawing/2014/main" val="460481929"/>
                  </a:ext>
                </a:extLst>
              </a:tr>
              <a:tr h="468449">
                <a:tc>
                  <a:txBody>
                    <a:bodyPr/>
                    <a:lstStyle/>
                    <a:p>
                      <a:r>
                        <a:rPr lang="en-US" sz="1800">
                          <a:latin typeface="Times New Roman" panose="02020603050405020304" pitchFamily="18" charset="0"/>
                          <a:cs typeface="Times New Roman" panose="02020603050405020304" pitchFamily="18" charset="0"/>
                        </a:rPr>
                        <a:t>10:35 AM</a:t>
                      </a:r>
                    </a:p>
                  </a:txBody>
                  <a:tcPr anchor="ctr">
                    <a:lnL>
                      <a:noFill/>
                    </a:lnL>
                    <a:lnR>
                      <a:noFill/>
                    </a:lnR>
                    <a:lnT>
                      <a:noFill/>
                    </a:lnT>
                    <a:lnB>
                      <a:noFill/>
                    </a:lnB>
                  </a:tcPr>
                </a:tc>
                <a:tc>
                  <a:txBody>
                    <a:bodyPr/>
                    <a:lstStyle/>
                    <a:p>
                      <a:r>
                        <a:rPr lang="en-US" sz="1800" dirty="0">
                          <a:latin typeface="Times New Roman" panose="02020603050405020304" pitchFamily="18" charset="0"/>
                          <a:cs typeface="Times New Roman" panose="02020603050405020304" pitchFamily="18" charset="0"/>
                        </a:rPr>
                        <a:t>Analyst verified alert and escalated to Tier 2</a:t>
                      </a:r>
                    </a:p>
                  </a:txBody>
                  <a:tcPr anchor="ctr">
                    <a:lnL>
                      <a:noFill/>
                    </a:lnL>
                    <a:lnR>
                      <a:noFill/>
                    </a:lnR>
                    <a:lnT>
                      <a:noFill/>
                    </a:lnT>
                    <a:lnB>
                      <a:noFill/>
                    </a:lnB>
                  </a:tcPr>
                </a:tc>
                <a:extLst>
                  <a:ext uri="{0D108BD9-81ED-4DB2-BD59-A6C34878D82A}">
                    <a16:rowId xmlns:a16="http://schemas.microsoft.com/office/drawing/2014/main" val="1378118994"/>
                  </a:ext>
                </a:extLst>
              </a:tr>
              <a:tr h="420526">
                <a:tc>
                  <a:txBody>
                    <a:bodyPr/>
                    <a:lstStyle/>
                    <a:p>
                      <a:r>
                        <a:rPr lang="en-US" sz="1800">
                          <a:latin typeface="Times New Roman" panose="02020603050405020304" pitchFamily="18" charset="0"/>
                          <a:cs typeface="Times New Roman" panose="02020603050405020304" pitchFamily="18" charset="0"/>
                        </a:rPr>
                        <a:t>10:50 AM</a:t>
                      </a:r>
                    </a:p>
                  </a:txBody>
                  <a:tcPr anchor="ctr">
                    <a:lnL>
                      <a:noFill/>
                    </a:lnL>
                    <a:lnR>
                      <a:noFill/>
                    </a:lnR>
                    <a:lnT>
                      <a:noFill/>
                    </a:lnT>
                    <a:lnB>
                      <a:noFill/>
                    </a:lnB>
                  </a:tcPr>
                </a:tc>
                <a:tc>
                  <a:txBody>
                    <a:bodyPr/>
                    <a:lstStyle/>
                    <a:p>
                      <a:r>
                        <a:rPr lang="en-US" sz="1800">
                          <a:latin typeface="Times New Roman" panose="02020603050405020304" pitchFamily="18" charset="0"/>
                          <a:cs typeface="Times New Roman" panose="02020603050405020304" pitchFamily="18" charset="0"/>
                        </a:rPr>
                        <a:t>Account locked; malicious IP blocked</a:t>
                      </a:r>
                    </a:p>
                  </a:txBody>
                  <a:tcPr anchor="ctr">
                    <a:lnL>
                      <a:noFill/>
                    </a:lnL>
                    <a:lnR>
                      <a:noFill/>
                    </a:lnR>
                    <a:lnT>
                      <a:noFill/>
                    </a:lnT>
                    <a:lnB>
                      <a:noFill/>
                    </a:lnB>
                  </a:tcPr>
                </a:tc>
                <a:extLst>
                  <a:ext uri="{0D108BD9-81ED-4DB2-BD59-A6C34878D82A}">
                    <a16:rowId xmlns:a16="http://schemas.microsoft.com/office/drawing/2014/main" val="1223551159"/>
                  </a:ext>
                </a:extLst>
              </a:tr>
              <a:tr h="420526">
                <a:tc>
                  <a:txBody>
                    <a:bodyPr/>
                    <a:lstStyle/>
                    <a:p>
                      <a:r>
                        <a:rPr lang="en-US" sz="1800">
                          <a:latin typeface="Times New Roman" panose="02020603050405020304" pitchFamily="18" charset="0"/>
                          <a:cs typeface="Times New Roman" panose="02020603050405020304" pitchFamily="18" charset="0"/>
                        </a:rPr>
                        <a:t>11:10 AM</a:t>
                      </a:r>
                    </a:p>
                  </a:txBody>
                  <a:tcPr anchor="ctr">
                    <a:lnL>
                      <a:noFill/>
                    </a:lnL>
                    <a:lnR>
                      <a:noFill/>
                    </a:lnR>
                    <a:lnT>
                      <a:noFill/>
                    </a:lnT>
                    <a:lnB>
                      <a:noFill/>
                    </a:lnB>
                  </a:tcPr>
                </a:tc>
                <a:tc>
                  <a:txBody>
                    <a:bodyPr/>
                    <a:lstStyle/>
                    <a:p>
                      <a:r>
                        <a:rPr lang="en-US" sz="1800" dirty="0">
                          <a:latin typeface="Times New Roman" panose="02020603050405020304" pitchFamily="18" charset="0"/>
                          <a:cs typeface="Times New Roman" panose="02020603050405020304" pitchFamily="18" charset="0"/>
                        </a:rPr>
                        <a:t>Forensic log review initiated</a:t>
                      </a:r>
                    </a:p>
                  </a:txBody>
                  <a:tcPr anchor="ctr">
                    <a:lnL>
                      <a:noFill/>
                    </a:lnL>
                    <a:lnR>
                      <a:noFill/>
                    </a:lnR>
                    <a:lnT>
                      <a:noFill/>
                    </a:lnT>
                    <a:lnB>
                      <a:noFill/>
                    </a:lnB>
                  </a:tcPr>
                </a:tc>
                <a:extLst>
                  <a:ext uri="{0D108BD9-81ED-4DB2-BD59-A6C34878D82A}">
                    <a16:rowId xmlns:a16="http://schemas.microsoft.com/office/drawing/2014/main" val="2056169189"/>
                  </a:ext>
                </a:extLst>
              </a:tr>
              <a:tr h="420526">
                <a:tc>
                  <a:txBody>
                    <a:bodyPr/>
                    <a:lstStyle/>
                    <a:p>
                      <a:r>
                        <a:rPr lang="en-US" sz="1800" dirty="0">
                          <a:latin typeface="Times New Roman" panose="02020603050405020304" pitchFamily="18" charset="0"/>
                          <a:cs typeface="Times New Roman" panose="02020603050405020304" pitchFamily="18" charset="0"/>
                        </a:rPr>
                        <a:t>12:00 PM</a:t>
                      </a:r>
                    </a:p>
                  </a:txBody>
                  <a:tcPr anchor="ctr">
                    <a:lnL>
                      <a:noFill/>
                    </a:lnL>
                    <a:lnR>
                      <a:noFill/>
                    </a:lnR>
                    <a:lnT>
                      <a:noFill/>
                    </a:lnT>
                    <a:lnB>
                      <a:noFill/>
                    </a:lnB>
                  </a:tcPr>
                </a:tc>
                <a:tc>
                  <a:txBody>
                    <a:bodyPr/>
                    <a:lstStyle/>
                    <a:p>
                      <a:r>
                        <a:rPr lang="en-US" sz="1800" dirty="0">
                          <a:latin typeface="Times New Roman" panose="02020603050405020304" pitchFamily="18" charset="0"/>
                          <a:cs typeface="Times New Roman" panose="02020603050405020304" pitchFamily="18" charset="0"/>
                        </a:rPr>
                        <a:t>Incident contained and verified safe</a:t>
                      </a:r>
                    </a:p>
                  </a:txBody>
                  <a:tcPr anchor="ctr">
                    <a:lnL>
                      <a:noFill/>
                    </a:lnL>
                    <a:lnR>
                      <a:noFill/>
                    </a:lnR>
                    <a:lnT>
                      <a:noFill/>
                    </a:lnT>
                    <a:lnB>
                      <a:noFill/>
                    </a:lnB>
                  </a:tcPr>
                </a:tc>
                <a:extLst>
                  <a:ext uri="{0D108BD9-81ED-4DB2-BD59-A6C34878D82A}">
                    <a16:rowId xmlns:a16="http://schemas.microsoft.com/office/drawing/2014/main" val="4007315094"/>
                  </a:ext>
                </a:extLst>
              </a:tr>
            </a:tbl>
          </a:graphicData>
        </a:graphic>
      </p:graphicFrame>
      <p:sp>
        <p:nvSpPr>
          <p:cNvPr id="12" name="Rectangle 1">
            <a:extLst>
              <a:ext uri="{FF2B5EF4-FFF2-40B4-BE49-F238E27FC236}">
                <a16:creationId xmlns:a16="http://schemas.microsoft.com/office/drawing/2014/main" id="{0DD1BFCE-79B4-4C39-A716-66EA5F8A4869}"/>
              </a:ext>
            </a:extLst>
          </p:cNvPr>
          <p:cNvSpPr>
            <a:spLocks noChangeArrowheads="1"/>
          </p:cNvSpPr>
          <p:nvPr/>
        </p:nvSpPr>
        <p:spPr bwMode="auto">
          <a:xfrm>
            <a:off x="762894" y="3916342"/>
            <a:ext cx="11253398"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Times New Roman" panose="02020603050405020304" pitchFamily="18" charset="0"/>
                <a:cs typeface="Times New Roman" panose="02020603050405020304" pitchFamily="18" charset="0"/>
              </a:rPr>
              <a:t>Root Cause Analysis</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underlying cause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the incident.</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Example: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phishing email bypassed initial filtering due to a newly registered domain not yet recognized by the security gateway. The user clicked the link, but MFA (Multi-Factor Authentication) prevented unauthorized access.</a:t>
            </a:r>
          </a:p>
        </p:txBody>
      </p:sp>
    </p:spTree>
    <p:extLst>
      <p:ext uri="{BB962C8B-B14F-4D97-AF65-F5344CB8AC3E}">
        <p14:creationId xmlns:p14="http://schemas.microsoft.com/office/powerpoint/2010/main" val="8179598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0236-08D3-47D0-B423-6BAA9F1E0F93}"/>
              </a:ext>
            </a:extLst>
          </p:cNvPr>
          <p:cNvSpPr>
            <a:spLocks noGrp="1"/>
          </p:cNvSpPr>
          <p:nvPr>
            <p:ph type="title"/>
          </p:nvPr>
        </p:nvSpPr>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Containment, Eradication &amp; Recovery Actions</a:t>
            </a:r>
          </a:p>
        </p:txBody>
      </p:sp>
      <p:sp>
        <p:nvSpPr>
          <p:cNvPr id="3" name="Content Placeholder 2">
            <a:extLst>
              <a:ext uri="{FF2B5EF4-FFF2-40B4-BE49-F238E27FC236}">
                <a16:creationId xmlns:a16="http://schemas.microsoft.com/office/drawing/2014/main" id="{2FA56C87-0C76-4CB8-88C4-8E41D0A6CAEE}"/>
              </a:ext>
            </a:extLst>
          </p:cNvPr>
          <p:cNvSpPr>
            <a:spLocks noGrp="1"/>
          </p:cNvSpPr>
          <p:nvPr>
            <p:ph idx="1"/>
          </p:nvPr>
        </p:nvSpPr>
        <p:spPr>
          <a:xfrm>
            <a:off x="945776" y="1443263"/>
            <a:ext cx="10515600" cy="4351338"/>
          </a:xfrm>
        </p:spPr>
        <p:txBody>
          <a:bodyPr/>
          <a:lstStyle/>
          <a:p>
            <a:pPr marL="0" indent="0">
              <a:lnSpc>
                <a:spcPct val="100000"/>
              </a:lnSpc>
              <a:buNone/>
            </a:pPr>
            <a:r>
              <a:rPr lang="en-US" sz="2400" dirty="0">
                <a:latin typeface="Times New Roman" panose="02020603050405020304" pitchFamily="18" charset="0"/>
                <a:cs typeface="Times New Roman" panose="02020603050405020304" pitchFamily="18" charset="0"/>
              </a:rPr>
              <a:t>Document steps taken to stop and fix the incident.</a:t>
            </a:r>
          </a:p>
          <a:p>
            <a:pPr marL="0" indent="0">
              <a:lnSpc>
                <a:spcPct val="100000"/>
              </a:lnSpc>
              <a:buNone/>
            </a:pPr>
            <a:r>
              <a:rPr lang="en-US" sz="2400" b="1" dirty="0">
                <a:solidFill>
                  <a:srgbClr val="0070C0"/>
                </a:solidFill>
                <a:latin typeface="Times New Roman" panose="02020603050405020304" pitchFamily="18" charset="0"/>
                <a:cs typeface="Times New Roman" panose="02020603050405020304" pitchFamily="18" charset="0"/>
              </a:rPr>
              <a:t>Example:</a:t>
            </a:r>
            <a:endParaRPr lang="en-US" sz="2400" dirty="0">
              <a:solidFill>
                <a:srgbClr val="0070C0"/>
              </a:solidFill>
              <a:latin typeface="Times New Roman" panose="02020603050405020304" pitchFamily="18" charset="0"/>
              <a:cs typeface="Times New Roman" panose="02020603050405020304" pitchFamily="18" charset="0"/>
            </a:endParaRPr>
          </a:p>
          <a:p>
            <a:pPr>
              <a:lnSpc>
                <a:spcPct val="100000"/>
              </a:lnSpc>
            </a:pPr>
            <a:r>
              <a:rPr lang="en-US" sz="2400" dirty="0">
                <a:latin typeface="Times New Roman" panose="02020603050405020304" pitchFamily="18" charset="0"/>
                <a:cs typeface="Times New Roman" panose="02020603050405020304" pitchFamily="18" charset="0"/>
              </a:rPr>
              <a:t>Blocked malicious IP at firewall</a:t>
            </a:r>
          </a:p>
          <a:p>
            <a:pPr>
              <a:lnSpc>
                <a:spcPct val="100000"/>
              </a:lnSpc>
            </a:pPr>
            <a:r>
              <a:rPr lang="en-US" sz="2400" dirty="0">
                <a:latin typeface="Times New Roman" panose="02020603050405020304" pitchFamily="18" charset="0"/>
                <a:cs typeface="Times New Roman" panose="02020603050405020304" pitchFamily="18" charset="0"/>
              </a:rPr>
              <a:t>Forced password reset for affected accounts</a:t>
            </a:r>
          </a:p>
          <a:p>
            <a:pPr>
              <a:lnSpc>
                <a:spcPct val="100000"/>
              </a:lnSpc>
            </a:pPr>
            <a:r>
              <a:rPr lang="en-US" sz="2400" dirty="0">
                <a:latin typeface="Times New Roman" panose="02020603050405020304" pitchFamily="18" charset="0"/>
                <a:cs typeface="Times New Roman" panose="02020603050405020304" pitchFamily="18" charset="0"/>
              </a:rPr>
              <a:t>Removed phishing emails from all inboxes</a:t>
            </a:r>
          </a:p>
          <a:p>
            <a:pPr>
              <a:lnSpc>
                <a:spcPct val="100000"/>
              </a:lnSpc>
            </a:pPr>
            <a:r>
              <a:rPr lang="en-US" sz="2400" dirty="0">
                <a:latin typeface="Times New Roman" panose="02020603050405020304" pitchFamily="18" charset="0"/>
                <a:cs typeface="Times New Roman" panose="02020603050405020304" pitchFamily="18" charset="0"/>
              </a:rPr>
              <a:t>Added domain to blocklist</a:t>
            </a:r>
          </a:p>
          <a:p>
            <a:pPr>
              <a:lnSpc>
                <a:spcPct val="100000"/>
              </a:lnSpc>
            </a:pPr>
            <a:r>
              <a:rPr lang="en-US" sz="2400" dirty="0">
                <a:latin typeface="Times New Roman" panose="02020603050405020304" pitchFamily="18" charset="0"/>
                <a:cs typeface="Times New Roman" panose="02020603050405020304" pitchFamily="18" charset="0"/>
              </a:rPr>
              <a:t>Updated email security rules</a:t>
            </a:r>
          </a:p>
          <a:p>
            <a:endParaRPr lang="en-US" dirty="0"/>
          </a:p>
        </p:txBody>
      </p:sp>
    </p:spTree>
    <p:extLst>
      <p:ext uri="{BB962C8B-B14F-4D97-AF65-F5344CB8AC3E}">
        <p14:creationId xmlns:p14="http://schemas.microsoft.com/office/powerpoint/2010/main" val="24583111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98DA0-D2ED-4A57-B344-DD7CC9DB1C1E}"/>
              </a:ext>
            </a:extLst>
          </p:cNvPr>
          <p:cNvSpPr>
            <a:spLocks noGrp="1"/>
          </p:cNvSpPr>
          <p:nvPr>
            <p:ph type="title"/>
          </p:nvPr>
        </p:nvSpPr>
        <p:spPr>
          <a:xfrm>
            <a:off x="838200" y="365126"/>
            <a:ext cx="11231880" cy="1325563"/>
          </a:xfrm>
        </p:spPr>
        <p:txBody>
          <a:bodyPr>
            <a:normAutofit/>
          </a:bodyPr>
          <a:lstStyle/>
          <a:p>
            <a:r>
              <a:rPr lang="en-US" sz="2800" b="1" dirty="0">
                <a:solidFill>
                  <a:schemeClr val="accent3"/>
                </a:solidFill>
                <a:latin typeface="Times New Roman" panose="02020603050405020304" pitchFamily="18" charset="0"/>
                <a:cs typeface="Times New Roman" panose="02020603050405020304" pitchFamily="18" charset="0"/>
              </a:rPr>
              <a:t>Lessons Learned &amp; Recommendations - Attachments / Evidence</a:t>
            </a:r>
          </a:p>
        </p:txBody>
      </p:sp>
      <p:sp>
        <p:nvSpPr>
          <p:cNvPr id="3" name="Content Placeholder 2">
            <a:extLst>
              <a:ext uri="{FF2B5EF4-FFF2-40B4-BE49-F238E27FC236}">
                <a16:creationId xmlns:a16="http://schemas.microsoft.com/office/drawing/2014/main" id="{11151FF3-6861-482F-9FAA-96154303B318}"/>
              </a:ext>
            </a:extLst>
          </p:cNvPr>
          <p:cNvSpPr>
            <a:spLocks noGrp="1"/>
          </p:cNvSpPr>
          <p:nvPr>
            <p:ph idx="1"/>
          </p:nvPr>
        </p:nvSpPr>
        <p:spPr>
          <a:xfrm>
            <a:off x="838200" y="1378716"/>
            <a:ext cx="10898393" cy="3591316"/>
          </a:xfrm>
        </p:spPr>
        <p:txBody>
          <a:bodyPr/>
          <a:lstStyle/>
          <a:p>
            <a:pPr marL="0" indent="0">
              <a:buNone/>
            </a:pPr>
            <a:r>
              <a:rPr lang="en-US" sz="2400" dirty="0">
                <a:latin typeface="Times New Roman" panose="02020603050405020304" pitchFamily="18" charset="0"/>
                <a:cs typeface="Times New Roman" panose="02020603050405020304" pitchFamily="18" charset="0"/>
              </a:rPr>
              <a:t>Prevent recurrence and improve response capability.</a:t>
            </a:r>
          </a:p>
          <a:p>
            <a:pPr marL="0" indent="0">
              <a:buNone/>
            </a:pPr>
            <a:r>
              <a:rPr lang="en-US" sz="2400" b="1" dirty="0">
                <a:solidFill>
                  <a:srgbClr val="0070C0"/>
                </a:solidFill>
                <a:latin typeface="Times New Roman" panose="02020603050405020304" pitchFamily="18" charset="0"/>
                <a:cs typeface="Times New Roman" panose="02020603050405020304" pitchFamily="18" charset="0"/>
              </a:rPr>
              <a:t>Example:</a:t>
            </a:r>
            <a:endParaRPr lang="en-US" sz="2400" dirty="0">
              <a:solidFill>
                <a:srgbClr val="0070C0"/>
              </a:solidFill>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Conduct phishing awareness training for staff</a:t>
            </a:r>
          </a:p>
          <a:p>
            <a:r>
              <a:rPr lang="en-US" sz="2400" dirty="0">
                <a:latin typeface="Times New Roman" panose="02020603050405020304" pitchFamily="18" charset="0"/>
                <a:cs typeface="Times New Roman" panose="02020603050405020304" pitchFamily="18" charset="0"/>
              </a:rPr>
              <a:t>Strengthen email filtering rules</a:t>
            </a:r>
          </a:p>
          <a:p>
            <a:r>
              <a:rPr lang="en-US" sz="2400" dirty="0">
                <a:latin typeface="Times New Roman" panose="02020603050405020304" pitchFamily="18" charset="0"/>
                <a:cs typeface="Times New Roman" panose="02020603050405020304" pitchFamily="18" charset="0"/>
              </a:rPr>
              <a:t>Enhance detection for new domain registrations</a:t>
            </a:r>
          </a:p>
          <a:p>
            <a:r>
              <a:rPr lang="en-US" sz="2400" dirty="0">
                <a:latin typeface="Times New Roman" panose="02020603050405020304" pitchFamily="18" charset="0"/>
                <a:cs typeface="Times New Roman" panose="02020603050405020304" pitchFamily="18" charset="0"/>
              </a:rPr>
              <a:t>Review MFA configuration regularly</a:t>
            </a:r>
          </a:p>
          <a:p>
            <a:endParaRPr lang="en-US" dirty="0"/>
          </a:p>
        </p:txBody>
      </p:sp>
      <p:sp>
        <p:nvSpPr>
          <p:cNvPr id="4" name="TextBox 3">
            <a:extLst>
              <a:ext uri="{FF2B5EF4-FFF2-40B4-BE49-F238E27FC236}">
                <a16:creationId xmlns:a16="http://schemas.microsoft.com/office/drawing/2014/main" id="{DE047978-78E0-4FA9-8743-F6F022EDF024}"/>
              </a:ext>
            </a:extLst>
          </p:cNvPr>
          <p:cNvSpPr txBox="1"/>
          <p:nvPr/>
        </p:nvSpPr>
        <p:spPr>
          <a:xfrm>
            <a:off x="883472" y="4269048"/>
            <a:ext cx="10425056" cy="1938992"/>
          </a:xfrm>
          <a:prstGeom prst="rect">
            <a:avLst/>
          </a:prstGeom>
          <a:noFill/>
        </p:spPr>
        <p:txBody>
          <a:bodyPr wrap="square" rtlCol="0">
            <a:spAutoFit/>
          </a:bodyPr>
          <a:lstStyle/>
          <a:p>
            <a:r>
              <a:rPr lang="en-US" sz="2400" b="1" dirty="0">
                <a:solidFill>
                  <a:schemeClr val="accent3"/>
                </a:solidFill>
                <a:latin typeface="Times New Roman" panose="02020603050405020304" pitchFamily="18" charset="0"/>
                <a:cs typeface="Times New Roman" panose="02020603050405020304" pitchFamily="18" charset="0"/>
              </a:rPr>
              <a:t>Attachments / Evidence</a:t>
            </a:r>
          </a:p>
          <a:p>
            <a:r>
              <a:rPr lang="en-US" sz="2400" dirty="0">
                <a:latin typeface="Times New Roman" panose="02020603050405020304" pitchFamily="18" charset="0"/>
                <a:cs typeface="Times New Roman" panose="02020603050405020304" pitchFamily="18" charset="0"/>
              </a:rPr>
              <a:t>SIEM logs</a:t>
            </a:r>
          </a:p>
          <a:p>
            <a:r>
              <a:rPr lang="en-US" sz="2400" dirty="0">
                <a:latin typeface="Times New Roman" panose="02020603050405020304" pitchFamily="18" charset="0"/>
                <a:cs typeface="Times New Roman" panose="02020603050405020304" pitchFamily="18" charset="0"/>
              </a:rPr>
              <a:t>Email headers</a:t>
            </a:r>
          </a:p>
          <a:p>
            <a:r>
              <a:rPr lang="en-US" sz="2400" dirty="0">
                <a:latin typeface="Times New Roman" panose="02020603050405020304" pitchFamily="18" charset="0"/>
                <a:cs typeface="Times New Roman" panose="02020603050405020304" pitchFamily="18" charset="0"/>
              </a:rPr>
              <a:t>Screenshots of alerts</a:t>
            </a:r>
          </a:p>
          <a:p>
            <a:r>
              <a:rPr lang="en-US" sz="2400" dirty="0">
                <a:latin typeface="Times New Roman" panose="02020603050405020304" pitchFamily="18" charset="0"/>
                <a:cs typeface="Times New Roman" panose="02020603050405020304" pitchFamily="18" charset="0"/>
              </a:rPr>
              <a:t>IP/domain threat intelligence data</a:t>
            </a:r>
          </a:p>
        </p:txBody>
      </p:sp>
    </p:spTree>
    <p:extLst>
      <p:ext uri="{BB962C8B-B14F-4D97-AF65-F5344CB8AC3E}">
        <p14:creationId xmlns:p14="http://schemas.microsoft.com/office/powerpoint/2010/main" val="7520438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C879C-A04A-4715-8E0A-4D1073926EDD}"/>
              </a:ext>
            </a:extLst>
          </p:cNvPr>
          <p:cNvSpPr>
            <a:spLocks noGrp="1"/>
          </p:cNvSpPr>
          <p:nvPr>
            <p:ph type="title"/>
          </p:nvPr>
        </p:nvSpPr>
        <p:spPr>
          <a:xfrm>
            <a:off x="838200" y="521188"/>
            <a:ext cx="10515600" cy="1325563"/>
          </a:xfrm>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Incident Report Example (Short Sample)</a:t>
            </a:r>
            <a:br>
              <a:rPr lang="en-US" sz="3200" b="1" dirty="0">
                <a:solidFill>
                  <a:schemeClr val="accent3"/>
                </a:solidFill>
              </a:rPr>
            </a:br>
            <a:endParaRPr lang="en-US" sz="3200" dirty="0">
              <a:solidFill>
                <a:schemeClr val="accent3"/>
              </a:solidFill>
            </a:endParaRPr>
          </a:p>
        </p:txBody>
      </p:sp>
      <p:sp>
        <p:nvSpPr>
          <p:cNvPr id="9" name="Rectangle 6">
            <a:extLst>
              <a:ext uri="{FF2B5EF4-FFF2-40B4-BE49-F238E27FC236}">
                <a16:creationId xmlns:a16="http://schemas.microsoft.com/office/drawing/2014/main" id="{D29A4696-E7C2-48B6-835B-6DC5A610D4E4}"/>
              </a:ext>
            </a:extLst>
          </p:cNvPr>
          <p:cNvSpPr>
            <a:spLocks noChangeArrowheads="1"/>
          </p:cNvSpPr>
          <p:nvPr/>
        </p:nvSpPr>
        <p:spPr bwMode="auto">
          <a:xfrm>
            <a:off x="838200" y="1097254"/>
            <a:ext cx="10515600"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Incident ID: SOC-2025-041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Category: Phishing Attempt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Date: 11 Nov 2025</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Severity: Medium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Summary:</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Phishing email detected targeting finance department users. Malicious link led to credential harvesting site. No credentials compromised.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Detection:</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Detected via Microsoft Defender ATP alert: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“Suspicious Email URL Clicked.”</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Response Actions: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Contained within 45 minutes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Blocked domain and sender address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educated about phishing recognition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Impact:</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user targeted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data loss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Business impact: None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Recommendations: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 domain to blocklist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Conduct phishing awareness training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Review email gateway rules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534416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2D1B0-F24C-4AC2-A4CA-ABF16EE9B56D}"/>
              </a:ext>
            </a:extLst>
          </p:cNvPr>
          <p:cNvSpPr>
            <a:spLocks noGrp="1"/>
          </p:cNvSpPr>
          <p:nvPr>
            <p:ph type="title"/>
          </p:nvPr>
        </p:nvSpPr>
        <p:spPr>
          <a:xfrm>
            <a:off x="687593" y="3054537"/>
            <a:ext cx="10515600" cy="1325563"/>
          </a:xfrm>
        </p:spPr>
        <p:txBody>
          <a:bodyPr/>
          <a:lstStyle/>
          <a:p>
            <a:pPr algn="ctr"/>
            <a:r>
              <a:rPr lang="en-US" b="1" dirty="0">
                <a:solidFill>
                  <a:schemeClr val="accent3"/>
                </a:solidFill>
                <a:latin typeface="Times New Roman" panose="02020603050405020304" pitchFamily="18" charset="0"/>
                <a:cs typeface="Times New Roman" panose="02020603050405020304" pitchFamily="18" charset="0"/>
              </a:rPr>
              <a:t>Post-Incident Reporting</a:t>
            </a:r>
            <a:endParaRPr lang="en-US" b="1" dirty="0"/>
          </a:p>
        </p:txBody>
      </p:sp>
    </p:spTree>
    <p:extLst>
      <p:ext uri="{BB962C8B-B14F-4D97-AF65-F5344CB8AC3E}">
        <p14:creationId xmlns:p14="http://schemas.microsoft.com/office/powerpoint/2010/main" val="24560475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EB409-5DF6-4921-A87E-6292139A7444}"/>
              </a:ext>
            </a:extLst>
          </p:cNvPr>
          <p:cNvSpPr>
            <a:spLocks noGrp="1"/>
          </p:cNvSpPr>
          <p:nvPr>
            <p:ph type="title"/>
          </p:nvPr>
        </p:nvSpPr>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Post-Incident Reporting</a:t>
            </a:r>
          </a:p>
        </p:txBody>
      </p:sp>
      <p:sp>
        <p:nvSpPr>
          <p:cNvPr id="3" name="Content Placeholder 2">
            <a:extLst>
              <a:ext uri="{FF2B5EF4-FFF2-40B4-BE49-F238E27FC236}">
                <a16:creationId xmlns:a16="http://schemas.microsoft.com/office/drawing/2014/main" id="{FB2DAF3D-B093-493C-962F-3398DC50A4EC}"/>
              </a:ext>
            </a:extLst>
          </p:cNvPr>
          <p:cNvSpPr>
            <a:spLocks noGrp="1"/>
          </p:cNvSpPr>
          <p:nvPr>
            <p:ph idx="1"/>
          </p:nvPr>
        </p:nvSpPr>
        <p:spPr>
          <a:xfrm>
            <a:off x="569259" y="1470622"/>
            <a:ext cx="10515600" cy="4351338"/>
          </a:xfrm>
        </p:spPr>
        <p:txBody>
          <a:bodyPr/>
          <a:lstStyle/>
          <a:p>
            <a:pPr>
              <a:lnSpc>
                <a:spcPct val="150000"/>
              </a:lnSpc>
            </a:pPr>
            <a:r>
              <a:rPr lang="en-US" sz="2400" b="1" dirty="0">
                <a:latin typeface="Times New Roman" panose="02020603050405020304" pitchFamily="18" charset="0"/>
                <a:cs typeface="Times New Roman" panose="02020603050405020304" pitchFamily="18" charset="0"/>
              </a:rPr>
              <a:t>Post-Incident Reporting</a:t>
            </a:r>
            <a:r>
              <a:rPr lang="en-US" sz="2400" dirty="0">
                <a:latin typeface="Times New Roman" panose="02020603050405020304" pitchFamily="18" charset="0"/>
                <a:cs typeface="Times New Roman" panose="02020603050405020304" pitchFamily="18" charset="0"/>
              </a:rPr>
              <a:t> is the final stage of the incident response process.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It involves </a:t>
            </a:r>
            <a:r>
              <a:rPr lang="en-US" sz="2400" b="1" dirty="0">
                <a:latin typeface="Times New Roman" panose="02020603050405020304" pitchFamily="18" charset="0"/>
                <a:cs typeface="Times New Roman" panose="02020603050405020304" pitchFamily="18" charset="0"/>
              </a:rPr>
              <a:t>documenting, analyzing, and communicating</a:t>
            </a:r>
            <a:r>
              <a:rPr lang="en-US" sz="2400" dirty="0">
                <a:latin typeface="Times New Roman" panose="02020603050405020304" pitchFamily="18" charset="0"/>
                <a:cs typeface="Times New Roman" panose="02020603050405020304" pitchFamily="18" charset="0"/>
              </a:rPr>
              <a:t> all the details of a security incident </a:t>
            </a:r>
            <a:r>
              <a:rPr lang="en-US" sz="2400" b="1" dirty="0">
                <a:latin typeface="Times New Roman" panose="02020603050405020304" pitchFamily="18" charset="0"/>
                <a:cs typeface="Times New Roman" panose="02020603050405020304" pitchFamily="18" charset="0"/>
              </a:rPr>
              <a:t>after it has been resolved</a:t>
            </a:r>
            <a:r>
              <a:rPr lang="en-US" sz="2400" dirty="0">
                <a:latin typeface="Times New Roman" panose="02020603050405020304" pitchFamily="18" charset="0"/>
                <a:cs typeface="Times New Roman" panose="02020603050405020304" pitchFamily="18" charset="0"/>
              </a:rPr>
              <a:t>.</a:t>
            </a:r>
          </a:p>
          <a:p>
            <a:pPr>
              <a:lnSpc>
                <a:spcPct val="150000"/>
              </a:lnSpc>
            </a:pPr>
            <a:r>
              <a:rPr lang="en-US" sz="2400" dirty="0">
                <a:latin typeface="Times New Roman" panose="02020603050405020304" pitchFamily="18" charset="0"/>
                <a:cs typeface="Times New Roman" panose="02020603050405020304" pitchFamily="18" charset="0"/>
              </a:rPr>
              <a:t>The goal is to ensure that the organization understands </a:t>
            </a:r>
            <a:r>
              <a:rPr lang="en-US" sz="2400" b="1" dirty="0">
                <a:latin typeface="Times New Roman" panose="02020603050405020304" pitchFamily="18" charset="0"/>
                <a:cs typeface="Times New Roman" panose="02020603050405020304" pitchFamily="18" charset="0"/>
              </a:rPr>
              <a:t>what happened</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how it was handled</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how to prevent it from happening again</a:t>
            </a:r>
            <a:r>
              <a:rPr lang="en-US" sz="2400" dirty="0">
                <a:latin typeface="Times New Roman" panose="02020603050405020304" pitchFamily="18" charset="0"/>
                <a:cs typeface="Times New Roman" panose="02020603050405020304" pitchFamily="18" charset="0"/>
              </a:rPr>
              <a:t>.</a:t>
            </a:r>
          </a:p>
          <a:p>
            <a:endParaRPr lang="en-US" dirty="0"/>
          </a:p>
          <a:p>
            <a:endParaRPr lang="en-US" dirty="0"/>
          </a:p>
          <a:p>
            <a:endParaRPr lang="en-US" dirty="0"/>
          </a:p>
        </p:txBody>
      </p:sp>
    </p:spTree>
    <p:extLst>
      <p:ext uri="{BB962C8B-B14F-4D97-AF65-F5344CB8AC3E}">
        <p14:creationId xmlns:p14="http://schemas.microsoft.com/office/powerpoint/2010/main" val="34528274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4FADF-1744-4450-BC48-72DFCFD2C840}"/>
              </a:ext>
            </a:extLst>
          </p:cNvPr>
          <p:cNvSpPr>
            <a:spLocks noGrp="1"/>
          </p:cNvSpPr>
          <p:nvPr>
            <p:ph type="title"/>
          </p:nvPr>
        </p:nvSpPr>
        <p:spPr>
          <a:xfrm>
            <a:off x="949362" y="514503"/>
            <a:ext cx="10515600" cy="1013083"/>
          </a:xfrm>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Purpose of Post-Incident Reporting</a:t>
            </a:r>
          </a:p>
        </p:txBody>
      </p:sp>
      <p:sp>
        <p:nvSpPr>
          <p:cNvPr id="5" name="Rectangle 2">
            <a:extLst>
              <a:ext uri="{FF2B5EF4-FFF2-40B4-BE49-F238E27FC236}">
                <a16:creationId xmlns:a16="http://schemas.microsoft.com/office/drawing/2014/main" id="{51A8F0A7-5998-4089-8F99-A0E4989D8BF5}"/>
              </a:ext>
            </a:extLst>
          </p:cNvPr>
          <p:cNvSpPr>
            <a:spLocks noGrp="1" noChangeArrowheads="1"/>
          </p:cNvSpPr>
          <p:nvPr>
            <p:ph idx="1"/>
          </p:nvPr>
        </p:nvSpPr>
        <p:spPr bwMode="auto">
          <a:xfrm>
            <a:off x="727038" y="1211511"/>
            <a:ext cx="1099431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1. Record a Detailed Account of the Incident</a:t>
            </a:r>
            <a:endParaRPr kumimoji="0" lang="en-US" altLang="en-US" sz="20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Capture a full summary: when the incident occurred, how it was detected, who was involved, and what actions were taken.</a:t>
            </a:r>
          </a:p>
          <a:p>
            <a:pPr marL="457200" lvl="1" indent="0"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Acts as an official record for audits or investigations.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phishing incident detected on Nov 10, 2025, was contained within 2 hours. No data breach occurred.</a:t>
            </a:r>
          </a:p>
        </p:txBody>
      </p:sp>
      <p:sp>
        <p:nvSpPr>
          <p:cNvPr id="6" name="Rectangle 3">
            <a:extLst>
              <a:ext uri="{FF2B5EF4-FFF2-40B4-BE49-F238E27FC236}">
                <a16:creationId xmlns:a16="http://schemas.microsoft.com/office/drawing/2014/main" id="{997AA90F-2A00-4F68-B158-47267EFBB2AF}"/>
              </a:ext>
            </a:extLst>
          </p:cNvPr>
          <p:cNvSpPr>
            <a:spLocks noChangeArrowheads="1"/>
          </p:cNvSpPr>
          <p:nvPr/>
        </p:nvSpPr>
        <p:spPr bwMode="auto">
          <a:xfrm>
            <a:off x="710005" y="3150503"/>
            <a:ext cx="1089749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2. Analyze Root Cause and Impact</a:t>
            </a:r>
            <a:endParaRPr kumimoji="0" lang="en-US" altLang="en-US" sz="20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what allowed the incident to occur  technical vulnerability, human error, or policy gap.</a:t>
            </a:r>
          </a:p>
          <a:p>
            <a:pPr lvl="1"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 the impact on systems, users, and data.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Root cause: A newly registered domain bypassed the email gateway filter.</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Impact: 12 employees targeted; no credentials compromised.</a:t>
            </a:r>
          </a:p>
        </p:txBody>
      </p:sp>
      <p:sp>
        <p:nvSpPr>
          <p:cNvPr id="7" name="Rectangle 4">
            <a:extLst>
              <a:ext uri="{FF2B5EF4-FFF2-40B4-BE49-F238E27FC236}">
                <a16:creationId xmlns:a16="http://schemas.microsoft.com/office/drawing/2014/main" id="{CD8DF646-1B58-4DC0-A99F-3149E1F98443}"/>
              </a:ext>
            </a:extLst>
          </p:cNvPr>
          <p:cNvSpPr>
            <a:spLocks noChangeArrowheads="1"/>
          </p:cNvSpPr>
          <p:nvPr/>
        </p:nvSpPr>
        <p:spPr bwMode="auto">
          <a:xfrm>
            <a:off x="710005" y="4676993"/>
            <a:ext cx="11514268"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3. Evaluate Response Effectiveness</a:t>
            </a:r>
            <a:endParaRPr kumimoji="0" lang="en-US" altLang="en-US" sz="20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Assess how quickly and effectively the SOC team detected and responded.</a:t>
            </a:r>
          </a:p>
          <a:p>
            <a:pPr lvl="1"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key metrics such as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MTTD (Mean Time to Detect)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MTTR (Mean Time to Respond)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MTTD = 8 minutes, MTTR = 2 hours → meets SOC performance targets.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408997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1CC9A-BEE4-46FA-AAA5-82694CA236ED}"/>
              </a:ext>
            </a:extLst>
          </p:cNvPr>
          <p:cNvSpPr>
            <a:spLocks noGrp="1"/>
          </p:cNvSpPr>
          <p:nvPr>
            <p:ph type="title"/>
          </p:nvPr>
        </p:nvSpPr>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Purpose of Post-Incident Reporting</a:t>
            </a:r>
            <a:endParaRPr lang="en-US" sz="32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1B742F6-F824-4596-AC36-076CC168D127}"/>
              </a:ext>
            </a:extLst>
          </p:cNvPr>
          <p:cNvSpPr>
            <a:spLocks noGrp="1" noChangeArrowheads="1"/>
          </p:cNvSpPr>
          <p:nvPr>
            <p:ph idx="1"/>
          </p:nvPr>
        </p:nvSpPr>
        <p:spPr bwMode="auto">
          <a:xfrm>
            <a:off x="613685" y="1788374"/>
            <a:ext cx="11242637"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4. Provide Lessons Learned and Recommendations</a:t>
            </a:r>
            <a:endParaRPr kumimoji="0" lang="en-US" altLang="en-US" sz="20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Suggest improvements to tools, processes, or training.</a:t>
            </a:r>
          </a:p>
          <a:p>
            <a:pPr marL="457200" lvl="1" indent="0" eaLnBrk="0" fontAlgn="base" hangingPunct="0">
              <a:lnSpc>
                <a:spcPct val="100000"/>
              </a:lnSpc>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an action plan to strengthen security posture.</a:t>
            </a:r>
          </a:p>
          <a:p>
            <a:pPr marL="0" indent="0" eaLnBrk="0" fontAlgn="base" hangingPunct="0">
              <a:lnSpc>
                <a:spcPct val="100000"/>
              </a:lnSpc>
              <a:spcBef>
                <a:spcPct val="0"/>
              </a:spcBef>
              <a:spcAft>
                <a:spcPct val="0"/>
              </a:spcAft>
              <a:buNone/>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Recommendation: Implement advanced URL reputation checks in the email gateway. Action: Conduct quarterly phishing simulation exercises.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51B56C24-CDEB-42C8-92D9-D44221421F63}"/>
              </a:ext>
            </a:extLst>
          </p:cNvPr>
          <p:cNvSpPr>
            <a:spLocks noChangeArrowheads="1"/>
          </p:cNvSpPr>
          <p:nvPr/>
        </p:nvSpPr>
        <p:spPr bwMode="auto">
          <a:xfrm>
            <a:off x="613685" y="3794273"/>
            <a:ext cx="1080157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5. Ensure Compliance and Accountability</a:t>
            </a:r>
            <a:endParaRPr kumimoji="0" lang="en-US" altLang="en-US" sz="20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Post-incident reports are often required by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regulatory bodies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(e.g., ISO 27001, GDPR, NIST).</a:t>
            </a:r>
          </a:p>
          <a:p>
            <a:pPr lvl="1"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show the organization acted responsibly and transparently.</a:t>
            </a:r>
          </a:p>
          <a:p>
            <a:pPr eaLnBrk="0" fontAlgn="base" hangingPunct="0">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report can be shared with auditors to demonstrate due diligence and corrective actions.</a:t>
            </a:r>
          </a:p>
        </p:txBody>
      </p:sp>
    </p:spTree>
    <p:extLst>
      <p:ext uri="{BB962C8B-B14F-4D97-AF65-F5344CB8AC3E}">
        <p14:creationId xmlns:p14="http://schemas.microsoft.com/office/powerpoint/2010/main" val="21560367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0DF62-B810-4C30-AA5F-5D589F9C9DB2}"/>
              </a:ext>
            </a:extLst>
          </p:cNvPr>
          <p:cNvSpPr>
            <a:spLocks noGrp="1"/>
          </p:cNvSpPr>
          <p:nvPr>
            <p:ph type="title"/>
          </p:nvPr>
        </p:nvSpPr>
        <p:spPr>
          <a:xfrm>
            <a:off x="976265" y="117700"/>
            <a:ext cx="10515600" cy="1325563"/>
          </a:xfrm>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Typical Structure of a Post-Incident Report</a:t>
            </a:r>
          </a:p>
        </p:txBody>
      </p:sp>
      <p:graphicFrame>
        <p:nvGraphicFramePr>
          <p:cNvPr id="4" name="Content Placeholder 3">
            <a:extLst>
              <a:ext uri="{FF2B5EF4-FFF2-40B4-BE49-F238E27FC236}">
                <a16:creationId xmlns:a16="http://schemas.microsoft.com/office/drawing/2014/main" id="{69AD6C81-C8A5-48E7-98E6-529772BE568D}"/>
              </a:ext>
            </a:extLst>
          </p:cNvPr>
          <p:cNvGraphicFramePr>
            <a:graphicFrameLocks noGrp="1"/>
          </p:cNvGraphicFramePr>
          <p:nvPr>
            <p:ph idx="1"/>
            <p:extLst>
              <p:ext uri="{D42A27DB-BD31-4B8C-83A1-F6EECF244321}">
                <p14:modId xmlns:p14="http://schemas.microsoft.com/office/powerpoint/2010/main" val="1223525356"/>
              </p:ext>
            </p:extLst>
          </p:nvPr>
        </p:nvGraphicFramePr>
        <p:xfrm>
          <a:off x="1014365" y="1052451"/>
          <a:ext cx="10280168" cy="2743200"/>
        </p:xfrm>
        <a:graphic>
          <a:graphicData uri="http://schemas.openxmlformats.org/drawingml/2006/table">
            <a:tbl>
              <a:tblPr/>
              <a:tblGrid>
                <a:gridCol w="3902606">
                  <a:extLst>
                    <a:ext uri="{9D8B030D-6E8A-4147-A177-3AD203B41FA5}">
                      <a16:colId xmlns:a16="http://schemas.microsoft.com/office/drawing/2014/main" val="1202056362"/>
                    </a:ext>
                  </a:extLst>
                </a:gridCol>
                <a:gridCol w="6377562">
                  <a:extLst>
                    <a:ext uri="{9D8B030D-6E8A-4147-A177-3AD203B41FA5}">
                      <a16:colId xmlns:a16="http://schemas.microsoft.com/office/drawing/2014/main" val="207775904"/>
                    </a:ext>
                  </a:extLst>
                </a:gridCol>
              </a:tblGrid>
              <a:tr h="302609">
                <a:tc>
                  <a:txBody>
                    <a:bodyPr/>
                    <a:lstStyle/>
                    <a:p>
                      <a:r>
                        <a:rPr lang="en-US" sz="1400" b="1" dirty="0">
                          <a:solidFill>
                            <a:schemeClr val="accent3"/>
                          </a:solidFill>
                        </a:rPr>
                        <a:t>Section</a:t>
                      </a:r>
                    </a:p>
                  </a:txBody>
                  <a:tcPr anchor="ctr">
                    <a:lnL>
                      <a:noFill/>
                    </a:lnL>
                    <a:lnR>
                      <a:noFill/>
                    </a:lnR>
                    <a:lnT>
                      <a:noFill/>
                    </a:lnT>
                    <a:lnB>
                      <a:noFill/>
                    </a:lnB>
                  </a:tcPr>
                </a:tc>
                <a:tc>
                  <a:txBody>
                    <a:bodyPr/>
                    <a:lstStyle/>
                    <a:p>
                      <a:r>
                        <a:rPr lang="en-US" sz="1400" b="1" dirty="0">
                          <a:solidFill>
                            <a:schemeClr val="accent3"/>
                          </a:solidFill>
                        </a:rPr>
                        <a:t>Description</a:t>
                      </a:r>
                    </a:p>
                  </a:txBody>
                  <a:tcPr anchor="ctr">
                    <a:lnL>
                      <a:noFill/>
                    </a:lnL>
                    <a:lnR>
                      <a:noFill/>
                    </a:lnR>
                    <a:lnT>
                      <a:noFill/>
                    </a:lnT>
                    <a:lnB>
                      <a:noFill/>
                    </a:lnB>
                  </a:tcPr>
                </a:tc>
                <a:extLst>
                  <a:ext uri="{0D108BD9-81ED-4DB2-BD59-A6C34878D82A}">
                    <a16:rowId xmlns:a16="http://schemas.microsoft.com/office/drawing/2014/main" val="920605458"/>
                  </a:ext>
                </a:extLst>
              </a:tr>
              <a:tr h="302609">
                <a:tc>
                  <a:txBody>
                    <a:bodyPr/>
                    <a:lstStyle/>
                    <a:p>
                      <a:r>
                        <a:rPr lang="en-US" sz="1400" b="1" dirty="0">
                          <a:solidFill>
                            <a:srgbClr val="0070C0"/>
                          </a:solidFill>
                          <a:latin typeface="Times New Roman" panose="02020603050405020304" pitchFamily="18" charset="0"/>
                          <a:cs typeface="Times New Roman" panose="02020603050405020304" pitchFamily="18" charset="0"/>
                        </a:rPr>
                        <a:t>Incident Summary</a:t>
                      </a:r>
                      <a:endParaRPr lang="en-US" sz="14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1400" dirty="0">
                          <a:latin typeface="Times New Roman" panose="02020603050405020304" pitchFamily="18" charset="0"/>
                          <a:cs typeface="Times New Roman" panose="02020603050405020304" pitchFamily="18" charset="0"/>
                        </a:rPr>
                        <a:t>Short overview (date, type, impact).</a:t>
                      </a:r>
                    </a:p>
                  </a:txBody>
                  <a:tcPr anchor="ctr">
                    <a:lnL>
                      <a:noFill/>
                    </a:lnL>
                    <a:lnR>
                      <a:noFill/>
                    </a:lnR>
                    <a:lnT>
                      <a:noFill/>
                    </a:lnT>
                    <a:lnB>
                      <a:noFill/>
                    </a:lnB>
                  </a:tcPr>
                </a:tc>
                <a:extLst>
                  <a:ext uri="{0D108BD9-81ED-4DB2-BD59-A6C34878D82A}">
                    <a16:rowId xmlns:a16="http://schemas.microsoft.com/office/drawing/2014/main" val="1793080188"/>
                  </a:ext>
                </a:extLst>
              </a:tr>
              <a:tr h="302609">
                <a:tc>
                  <a:txBody>
                    <a:bodyPr/>
                    <a:lstStyle/>
                    <a:p>
                      <a:r>
                        <a:rPr lang="en-US" sz="1400" b="1" dirty="0">
                          <a:solidFill>
                            <a:srgbClr val="0070C0"/>
                          </a:solidFill>
                          <a:latin typeface="Times New Roman" panose="02020603050405020304" pitchFamily="18" charset="0"/>
                          <a:cs typeface="Times New Roman" panose="02020603050405020304" pitchFamily="18" charset="0"/>
                        </a:rPr>
                        <a:t>Timeline of Events</a:t>
                      </a:r>
                      <a:endParaRPr lang="en-US" sz="14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1400" dirty="0">
                          <a:latin typeface="Times New Roman" panose="02020603050405020304" pitchFamily="18" charset="0"/>
                          <a:cs typeface="Times New Roman" panose="02020603050405020304" pitchFamily="18" charset="0"/>
                        </a:rPr>
                        <a:t>Chronological list of detection, response, and recovery.</a:t>
                      </a:r>
                    </a:p>
                  </a:txBody>
                  <a:tcPr anchor="ctr">
                    <a:lnL>
                      <a:noFill/>
                    </a:lnL>
                    <a:lnR>
                      <a:noFill/>
                    </a:lnR>
                    <a:lnT>
                      <a:noFill/>
                    </a:lnT>
                    <a:lnB>
                      <a:noFill/>
                    </a:lnB>
                  </a:tcPr>
                </a:tc>
                <a:extLst>
                  <a:ext uri="{0D108BD9-81ED-4DB2-BD59-A6C34878D82A}">
                    <a16:rowId xmlns:a16="http://schemas.microsoft.com/office/drawing/2014/main" val="77954435"/>
                  </a:ext>
                </a:extLst>
              </a:tr>
              <a:tr h="302609">
                <a:tc>
                  <a:txBody>
                    <a:bodyPr/>
                    <a:lstStyle/>
                    <a:p>
                      <a:r>
                        <a:rPr lang="en-US" sz="1400" b="1" dirty="0">
                          <a:solidFill>
                            <a:srgbClr val="0070C0"/>
                          </a:solidFill>
                          <a:latin typeface="Times New Roman" panose="02020603050405020304" pitchFamily="18" charset="0"/>
                          <a:cs typeface="Times New Roman" panose="02020603050405020304" pitchFamily="18" charset="0"/>
                        </a:rPr>
                        <a:t>Root Cause Analysis</a:t>
                      </a:r>
                      <a:endParaRPr lang="en-US" sz="14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1400" dirty="0">
                          <a:latin typeface="Times New Roman" panose="02020603050405020304" pitchFamily="18" charset="0"/>
                          <a:cs typeface="Times New Roman" panose="02020603050405020304" pitchFamily="18" charset="0"/>
                        </a:rPr>
                        <a:t>Explanation of what caused the incident.</a:t>
                      </a:r>
                    </a:p>
                  </a:txBody>
                  <a:tcPr anchor="ctr">
                    <a:lnL>
                      <a:noFill/>
                    </a:lnL>
                    <a:lnR>
                      <a:noFill/>
                    </a:lnR>
                    <a:lnT>
                      <a:noFill/>
                    </a:lnT>
                    <a:lnB>
                      <a:noFill/>
                    </a:lnB>
                  </a:tcPr>
                </a:tc>
                <a:extLst>
                  <a:ext uri="{0D108BD9-81ED-4DB2-BD59-A6C34878D82A}">
                    <a16:rowId xmlns:a16="http://schemas.microsoft.com/office/drawing/2014/main" val="1237305508"/>
                  </a:ext>
                </a:extLst>
              </a:tr>
              <a:tr h="302609">
                <a:tc>
                  <a:txBody>
                    <a:bodyPr/>
                    <a:lstStyle/>
                    <a:p>
                      <a:r>
                        <a:rPr lang="en-US" sz="1400" b="1" dirty="0">
                          <a:solidFill>
                            <a:srgbClr val="0070C0"/>
                          </a:solidFill>
                          <a:latin typeface="Times New Roman" panose="02020603050405020304" pitchFamily="18" charset="0"/>
                          <a:cs typeface="Times New Roman" panose="02020603050405020304" pitchFamily="18" charset="0"/>
                        </a:rPr>
                        <a:t>Containment &amp; Recovery Actions</a:t>
                      </a:r>
                      <a:endParaRPr lang="en-US" sz="14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1400" dirty="0">
                          <a:latin typeface="Times New Roman" panose="02020603050405020304" pitchFamily="18" charset="0"/>
                          <a:cs typeface="Times New Roman" panose="02020603050405020304" pitchFamily="18" charset="0"/>
                        </a:rPr>
                        <a:t>Steps taken to control and restore systems.</a:t>
                      </a:r>
                    </a:p>
                  </a:txBody>
                  <a:tcPr anchor="ctr">
                    <a:lnL>
                      <a:noFill/>
                    </a:lnL>
                    <a:lnR>
                      <a:noFill/>
                    </a:lnR>
                    <a:lnT>
                      <a:noFill/>
                    </a:lnT>
                    <a:lnB>
                      <a:noFill/>
                    </a:lnB>
                  </a:tcPr>
                </a:tc>
                <a:extLst>
                  <a:ext uri="{0D108BD9-81ED-4DB2-BD59-A6C34878D82A}">
                    <a16:rowId xmlns:a16="http://schemas.microsoft.com/office/drawing/2014/main" val="1749722530"/>
                  </a:ext>
                </a:extLst>
              </a:tr>
              <a:tr h="302609">
                <a:tc>
                  <a:txBody>
                    <a:bodyPr/>
                    <a:lstStyle/>
                    <a:p>
                      <a:r>
                        <a:rPr lang="en-US" sz="1400" b="1" dirty="0">
                          <a:solidFill>
                            <a:srgbClr val="0070C0"/>
                          </a:solidFill>
                          <a:latin typeface="Times New Roman" panose="02020603050405020304" pitchFamily="18" charset="0"/>
                          <a:cs typeface="Times New Roman" panose="02020603050405020304" pitchFamily="18" charset="0"/>
                        </a:rPr>
                        <a:t>Impact Assessment</a:t>
                      </a:r>
                      <a:endParaRPr lang="en-US" sz="14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1400" dirty="0">
                          <a:latin typeface="Times New Roman" panose="02020603050405020304" pitchFamily="18" charset="0"/>
                          <a:cs typeface="Times New Roman" panose="02020603050405020304" pitchFamily="18" charset="0"/>
                        </a:rPr>
                        <a:t>Details on users, systems, or data affected.</a:t>
                      </a:r>
                    </a:p>
                  </a:txBody>
                  <a:tcPr anchor="ctr">
                    <a:lnL>
                      <a:noFill/>
                    </a:lnL>
                    <a:lnR>
                      <a:noFill/>
                    </a:lnR>
                    <a:lnT>
                      <a:noFill/>
                    </a:lnT>
                    <a:lnB>
                      <a:noFill/>
                    </a:lnB>
                  </a:tcPr>
                </a:tc>
                <a:extLst>
                  <a:ext uri="{0D108BD9-81ED-4DB2-BD59-A6C34878D82A}">
                    <a16:rowId xmlns:a16="http://schemas.microsoft.com/office/drawing/2014/main" val="3825686969"/>
                  </a:ext>
                </a:extLst>
              </a:tr>
              <a:tr h="302609">
                <a:tc>
                  <a:txBody>
                    <a:bodyPr/>
                    <a:lstStyle/>
                    <a:p>
                      <a:r>
                        <a:rPr lang="en-US" sz="1400" b="1" dirty="0">
                          <a:solidFill>
                            <a:srgbClr val="0070C0"/>
                          </a:solidFill>
                          <a:latin typeface="Times New Roman" panose="02020603050405020304" pitchFamily="18" charset="0"/>
                          <a:cs typeface="Times New Roman" panose="02020603050405020304" pitchFamily="18" charset="0"/>
                        </a:rPr>
                        <a:t>Metrics (MTTD, MTTR, etc.)</a:t>
                      </a:r>
                      <a:endParaRPr lang="en-US" sz="14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1400" dirty="0">
                          <a:latin typeface="Times New Roman" panose="02020603050405020304" pitchFamily="18" charset="0"/>
                          <a:cs typeface="Times New Roman" panose="02020603050405020304" pitchFamily="18" charset="0"/>
                        </a:rPr>
                        <a:t>Performance indicators showing SOC response time.</a:t>
                      </a:r>
                    </a:p>
                  </a:txBody>
                  <a:tcPr anchor="ctr">
                    <a:lnL>
                      <a:noFill/>
                    </a:lnL>
                    <a:lnR>
                      <a:noFill/>
                    </a:lnR>
                    <a:lnT>
                      <a:noFill/>
                    </a:lnT>
                    <a:lnB>
                      <a:noFill/>
                    </a:lnB>
                  </a:tcPr>
                </a:tc>
                <a:extLst>
                  <a:ext uri="{0D108BD9-81ED-4DB2-BD59-A6C34878D82A}">
                    <a16:rowId xmlns:a16="http://schemas.microsoft.com/office/drawing/2014/main" val="4021576394"/>
                  </a:ext>
                </a:extLst>
              </a:tr>
              <a:tr h="302609">
                <a:tc>
                  <a:txBody>
                    <a:bodyPr/>
                    <a:lstStyle/>
                    <a:p>
                      <a:r>
                        <a:rPr lang="en-US" sz="1400" b="1">
                          <a:solidFill>
                            <a:srgbClr val="0070C0"/>
                          </a:solidFill>
                          <a:latin typeface="Times New Roman" panose="02020603050405020304" pitchFamily="18" charset="0"/>
                          <a:cs typeface="Times New Roman" panose="02020603050405020304" pitchFamily="18" charset="0"/>
                        </a:rPr>
                        <a:t>Lessons Learned</a:t>
                      </a:r>
                      <a:endParaRPr lang="en-US" sz="140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1400" dirty="0">
                          <a:latin typeface="Times New Roman" panose="02020603050405020304" pitchFamily="18" charset="0"/>
                          <a:cs typeface="Times New Roman" panose="02020603050405020304" pitchFamily="18" charset="0"/>
                        </a:rPr>
                        <a:t>What worked well and what can improve.</a:t>
                      </a:r>
                    </a:p>
                  </a:txBody>
                  <a:tcPr anchor="ctr">
                    <a:lnL>
                      <a:noFill/>
                    </a:lnL>
                    <a:lnR>
                      <a:noFill/>
                    </a:lnR>
                    <a:lnT>
                      <a:noFill/>
                    </a:lnT>
                    <a:lnB>
                      <a:noFill/>
                    </a:lnB>
                  </a:tcPr>
                </a:tc>
                <a:extLst>
                  <a:ext uri="{0D108BD9-81ED-4DB2-BD59-A6C34878D82A}">
                    <a16:rowId xmlns:a16="http://schemas.microsoft.com/office/drawing/2014/main" val="1123776410"/>
                  </a:ext>
                </a:extLst>
              </a:tr>
              <a:tr h="302609">
                <a:tc>
                  <a:txBody>
                    <a:bodyPr/>
                    <a:lstStyle/>
                    <a:p>
                      <a:r>
                        <a:rPr lang="en-US" sz="1400" b="1" dirty="0">
                          <a:solidFill>
                            <a:srgbClr val="0070C0"/>
                          </a:solidFill>
                          <a:latin typeface="Times New Roman" panose="02020603050405020304" pitchFamily="18" charset="0"/>
                          <a:cs typeface="Times New Roman" panose="02020603050405020304" pitchFamily="18" charset="0"/>
                        </a:rPr>
                        <a:t>Recommendations</a:t>
                      </a:r>
                      <a:endParaRPr lang="en-US" sz="14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1400" dirty="0">
                          <a:latin typeface="Times New Roman" panose="02020603050405020304" pitchFamily="18" charset="0"/>
                          <a:cs typeface="Times New Roman" panose="02020603050405020304" pitchFamily="18" charset="0"/>
                        </a:rPr>
                        <a:t>Action items to prevent recurrence.</a:t>
                      </a:r>
                    </a:p>
                  </a:txBody>
                  <a:tcPr anchor="ctr">
                    <a:lnL>
                      <a:noFill/>
                    </a:lnL>
                    <a:lnR>
                      <a:noFill/>
                    </a:lnR>
                    <a:lnT>
                      <a:noFill/>
                    </a:lnT>
                    <a:lnB>
                      <a:noFill/>
                    </a:lnB>
                  </a:tcPr>
                </a:tc>
                <a:extLst>
                  <a:ext uri="{0D108BD9-81ED-4DB2-BD59-A6C34878D82A}">
                    <a16:rowId xmlns:a16="http://schemas.microsoft.com/office/drawing/2014/main" val="4288641083"/>
                  </a:ext>
                </a:extLst>
              </a:tr>
            </a:tbl>
          </a:graphicData>
        </a:graphic>
      </p:graphicFrame>
      <p:sp>
        <p:nvSpPr>
          <p:cNvPr id="5" name="Rectangle 4">
            <a:extLst>
              <a:ext uri="{FF2B5EF4-FFF2-40B4-BE49-F238E27FC236}">
                <a16:creationId xmlns:a16="http://schemas.microsoft.com/office/drawing/2014/main" id="{8A5A4AF3-E8C0-4DD6-9CAC-081B30CC0CC4}"/>
              </a:ext>
            </a:extLst>
          </p:cNvPr>
          <p:cNvSpPr/>
          <p:nvPr/>
        </p:nvSpPr>
        <p:spPr>
          <a:xfrm>
            <a:off x="976265" y="3795651"/>
            <a:ext cx="5208477" cy="461665"/>
          </a:xfrm>
          <a:prstGeom prst="rect">
            <a:avLst/>
          </a:prstGeom>
        </p:spPr>
        <p:txBody>
          <a:bodyPr wrap="none">
            <a:spAutoFit/>
          </a:bodyPr>
          <a:lstStyle/>
          <a:p>
            <a:r>
              <a:rPr lang="en-US" sz="2400" b="1" dirty="0">
                <a:solidFill>
                  <a:schemeClr val="accent3"/>
                </a:solidFill>
              </a:rPr>
              <a:t>Benefits of Post-Incident Reporting</a:t>
            </a:r>
          </a:p>
        </p:txBody>
      </p:sp>
      <p:graphicFrame>
        <p:nvGraphicFramePr>
          <p:cNvPr id="6" name="Table 5">
            <a:extLst>
              <a:ext uri="{FF2B5EF4-FFF2-40B4-BE49-F238E27FC236}">
                <a16:creationId xmlns:a16="http://schemas.microsoft.com/office/drawing/2014/main" id="{0EA1F118-73CF-4814-9829-744A6A66C4FA}"/>
              </a:ext>
            </a:extLst>
          </p:cNvPr>
          <p:cNvGraphicFramePr>
            <a:graphicFrameLocks noGrp="1"/>
          </p:cNvGraphicFramePr>
          <p:nvPr>
            <p:extLst>
              <p:ext uri="{D42A27DB-BD31-4B8C-83A1-F6EECF244321}">
                <p14:modId xmlns:p14="http://schemas.microsoft.com/office/powerpoint/2010/main" val="1076496466"/>
              </p:ext>
            </p:extLst>
          </p:nvPr>
        </p:nvGraphicFramePr>
        <p:xfrm>
          <a:off x="1024467" y="4257316"/>
          <a:ext cx="10467398" cy="1978746"/>
        </p:xfrm>
        <a:graphic>
          <a:graphicData uri="http://schemas.openxmlformats.org/drawingml/2006/table">
            <a:tbl>
              <a:tblPr/>
              <a:tblGrid>
                <a:gridCol w="3894666">
                  <a:extLst>
                    <a:ext uri="{9D8B030D-6E8A-4147-A177-3AD203B41FA5}">
                      <a16:colId xmlns:a16="http://schemas.microsoft.com/office/drawing/2014/main" val="1896094879"/>
                    </a:ext>
                  </a:extLst>
                </a:gridCol>
                <a:gridCol w="6572732">
                  <a:extLst>
                    <a:ext uri="{9D8B030D-6E8A-4147-A177-3AD203B41FA5}">
                      <a16:colId xmlns:a16="http://schemas.microsoft.com/office/drawing/2014/main" val="3131821491"/>
                    </a:ext>
                  </a:extLst>
                </a:gridCol>
              </a:tblGrid>
              <a:tr h="260789">
                <a:tc>
                  <a:txBody>
                    <a:bodyPr/>
                    <a:lstStyle/>
                    <a:p>
                      <a:r>
                        <a:rPr lang="en-US" sz="1400" b="1" dirty="0">
                          <a:solidFill>
                            <a:schemeClr val="accent3"/>
                          </a:solidFill>
                          <a:latin typeface="Times New Roman" panose="02020603050405020304" pitchFamily="18" charset="0"/>
                          <a:cs typeface="Times New Roman" panose="02020603050405020304" pitchFamily="18" charset="0"/>
                        </a:rPr>
                        <a:t>Benefit</a:t>
                      </a:r>
                      <a:endParaRPr lang="en-US" sz="1400" dirty="0">
                        <a:solidFill>
                          <a:schemeClr val="accent3"/>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1400" b="1" dirty="0">
                          <a:solidFill>
                            <a:schemeClr val="accent3"/>
                          </a:solidFill>
                          <a:latin typeface="Times New Roman" panose="02020603050405020304" pitchFamily="18" charset="0"/>
                          <a:cs typeface="Times New Roman" panose="02020603050405020304" pitchFamily="18" charset="0"/>
                        </a:rPr>
                        <a:t>Explanation</a:t>
                      </a:r>
                      <a:endParaRPr lang="en-US" sz="1400" dirty="0">
                        <a:solidFill>
                          <a:schemeClr val="accent3"/>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extLst>
                  <a:ext uri="{0D108BD9-81ED-4DB2-BD59-A6C34878D82A}">
                    <a16:rowId xmlns:a16="http://schemas.microsoft.com/office/drawing/2014/main" val="966158649"/>
                  </a:ext>
                </a:extLst>
              </a:tr>
              <a:tr h="260789">
                <a:tc>
                  <a:txBody>
                    <a:bodyPr/>
                    <a:lstStyle/>
                    <a:p>
                      <a:r>
                        <a:rPr lang="en-US" sz="1400" b="1" dirty="0">
                          <a:solidFill>
                            <a:srgbClr val="0070C0"/>
                          </a:solidFill>
                          <a:latin typeface="Times New Roman" panose="02020603050405020304" pitchFamily="18" charset="0"/>
                          <a:cs typeface="Times New Roman" panose="02020603050405020304" pitchFamily="18" charset="0"/>
                        </a:rPr>
                        <a:t>Improves SOC readiness</a:t>
                      </a:r>
                      <a:endParaRPr lang="en-US" sz="14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1400">
                          <a:latin typeface="Times New Roman" panose="02020603050405020304" pitchFamily="18" charset="0"/>
                          <a:cs typeface="Times New Roman" panose="02020603050405020304" pitchFamily="18" charset="0"/>
                        </a:rPr>
                        <a:t>Helps fine-tune response playbooks and tools.</a:t>
                      </a:r>
                    </a:p>
                  </a:txBody>
                  <a:tcPr anchor="ctr">
                    <a:lnL>
                      <a:noFill/>
                    </a:lnL>
                    <a:lnR>
                      <a:noFill/>
                    </a:lnR>
                    <a:lnT>
                      <a:noFill/>
                    </a:lnT>
                    <a:lnB>
                      <a:noFill/>
                    </a:lnB>
                  </a:tcPr>
                </a:tc>
                <a:extLst>
                  <a:ext uri="{0D108BD9-81ED-4DB2-BD59-A6C34878D82A}">
                    <a16:rowId xmlns:a16="http://schemas.microsoft.com/office/drawing/2014/main" val="340744676"/>
                  </a:ext>
                </a:extLst>
              </a:tr>
              <a:tr h="456382">
                <a:tc>
                  <a:txBody>
                    <a:bodyPr/>
                    <a:lstStyle/>
                    <a:p>
                      <a:r>
                        <a:rPr lang="en-US" sz="1400" b="1" dirty="0">
                          <a:solidFill>
                            <a:srgbClr val="0070C0"/>
                          </a:solidFill>
                          <a:latin typeface="Times New Roman" panose="02020603050405020304" pitchFamily="18" charset="0"/>
                          <a:cs typeface="Times New Roman" panose="02020603050405020304" pitchFamily="18" charset="0"/>
                        </a:rPr>
                        <a:t>Enhances communication</a:t>
                      </a:r>
                      <a:endParaRPr lang="en-US" sz="14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1400" dirty="0">
                          <a:latin typeface="Times New Roman" panose="02020603050405020304" pitchFamily="18" charset="0"/>
                          <a:cs typeface="Times New Roman" panose="02020603050405020304" pitchFamily="18" charset="0"/>
                        </a:rPr>
                        <a:t>Provides management and stakeholders with clear visibility.</a:t>
                      </a:r>
                    </a:p>
                  </a:txBody>
                  <a:tcPr anchor="ctr">
                    <a:lnL>
                      <a:noFill/>
                    </a:lnL>
                    <a:lnR>
                      <a:noFill/>
                    </a:lnR>
                    <a:lnT>
                      <a:noFill/>
                    </a:lnT>
                    <a:lnB>
                      <a:noFill/>
                    </a:lnB>
                  </a:tcPr>
                </a:tc>
                <a:extLst>
                  <a:ext uri="{0D108BD9-81ED-4DB2-BD59-A6C34878D82A}">
                    <a16:rowId xmlns:a16="http://schemas.microsoft.com/office/drawing/2014/main" val="429108160"/>
                  </a:ext>
                </a:extLst>
              </a:tr>
              <a:tr h="456382">
                <a:tc>
                  <a:txBody>
                    <a:bodyPr/>
                    <a:lstStyle/>
                    <a:p>
                      <a:r>
                        <a:rPr lang="en-US" sz="1400" b="1" dirty="0">
                          <a:solidFill>
                            <a:srgbClr val="0070C0"/>
                          </a:solidFill>
                          <a:latin typeface="Times New Roman" panose="02020603050405020304" pitchFamily="18" charset="0"/>
                          <a:cs typeface="Times New Roman" panose="02020603050405020304" pitchFamily="18" charset="0"/>
                        </a:rPr>
                        <a:t>Supports training</a:t>
                      </a:r>
                      <a:endParaRPr lang="en-US" sz="14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1400" dirty="0">
                          <a:latin typeface="Times New Roman" panose="02020603050405020304" pitchFamily="18" charset="0"/>
                          <a:cs typeface="Times New Roman" panose="02020603050405020304" pitchFamily="18" charset="0"/>
                        </a:rPr>
                        <a:t>Real incidents become learning material for analysts.</a:t>
                      </a:r>
                    </a:p>
                  </a:txBody>
                  <a:tcPr anchor="ctr">
                    <a:lnL>
                      <a:noFill/>
                    </a:lnL>
                    <a:lnR>
                      <a:noFill/>
                    </a:lnR>
                    <a:lnT>
                      <a:noFill/>
                    </a:lnT>
                    <a:lnB>
                      <a:noFill/>
                    </a:lnB>
                  </a:tcPr>
                </a:tc>
                <a:extLst>
                  <a:ext uri="{0D108BD9-81ED-4DB2-BD59-A6C34878D82A}">
                    <a16:rowId xmlns:a16="http://schemas.microsoft.com/office/drawing/2014/main" val="1533576641"/>
                  </a:ext>
                </a:extLst>
              </a:tr>
              <a:tr h="456382">
                <a:tc>
                  <a:txBody>
                    <a:bodyPr/>
                    <a:lstStyle/>
                    <a:p>
                      <a:r>
                        <a:rPr lang="en-US" sz="1400" b="1" dirty="0">
                          <a:solidFill>
                            <a:srgbClr val="0070C0"/>
                          </a:solidFill>
                          <a:latin typeface="Times New Roman" panose="02020603050405020304" pitchFamily="18" charset="0"/>
                          <a:cs typeface="Times New Roman" panose="02020603050405020304" pitchFamily="18" charset="0"/>
                        </a:rPr>
                        <a:t>Maintains compliance</a:t>
                      </a:r>
                      <a:endParaRPr lang="en-US" sz="1400"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sz="1400" dirty="0">
                          <a:latin typeface="Times New Roman" panose="02020603050405020304" pitchFamily="18" charset="0"/>
                          <a:cs typeface="Times New Roman" panose="02020603050405020304" pitchFamily="18" charset="0"/>
                        </a:rPr>
                        <a:t>Documents proof of effective incident management.</a:t>
                      </a:r>
                    </a:p>
                  </a:txBody>
                  <a:tcPr anchor="ctr">
                    <a:lnL>
                      <a:noFill/>
                    </a:lnL>
                    <a:lnR>
                      <a:noFill/>
                    </a:lnR>
                    <a:lnT>
                      <a:noFill/>
                    </a:lnT>
                    <a:lnB>
                      <a:noFill/>
                    </a:lnB>
                  </a:tcPr>
                </a:tc>
                <a:extLst>
                  <a:ext uri="{0D108BD9-81ED-4DB2-BD59-A6C34878D82A}">
                    <a16:rowId xmlns:a16="http://schemas.microsoft.com/office/drawing/2014/main" val="1163704843"/>
                  </a:ext>
                </a:extLst>
              </a:tr>
            </a:tbl>
          </a:graphicData>
        </a:graphic>
      </p:graphicFrame>
    </p:spTree>
    <p:extLst>
      <p:ext uri="{BB962C8B-B14F-4D97-AF65-F5344CB8AC3E}">
        <p14:creationId xmlns:p14="http://schemas.microsoft.com/office/powerpoint/2010/main" val="21421715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6917-F52E-4A7A-8553-6DA16F5CC0E3}"/>
              </a:ext>
            </a:extLst>
          </p:cNvPr>
          <p:cNvSpPr>
            <a:spLocks noGrp="1"/>
          </p:cNvSpPr>
          <p:nvPr>
            <p:ph type="title"/>
          </p:nvPr>
        </p:nvSpPr>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Example: Post-Incident Summary (Phishing Case)</a:t>
            </a:r>
          </a:p>
        </p:txBody>
      </p:sp>
      <p:sp>
        <p:nvSpPr>
          <p:cNvPr id="3" name="Content Placeholder 2">
            <a:extLst>
              <a:ext uri="{FF2B5EF4-FFF2-40B4-BE49-F238E27FC236}">
                <a16:creationId xmlns:a16="http://schemas.microsoft.com/office/drawing/2014/main" id="{F1854C75-D26E-4404-ABD5-DAB5751DCF7F}"/>
              </a:ext>
            </a:extLst>
          </p:cNvPr>
          <p:cNvSpPr>
            <a:spLocks noGrp="1"/>
          </p:cNvSpPr>
          <p:nvPr>
            <p:ph idx="1"/>
          </p:nvPr>
        </p:nvSpPr>
        <p:spPr>
          <a:xfrm>
            <a:off x="838200" y="1461558"/>
            <a:ext cx="10693998" cy="4351338"/>
          </a:xfrm>
        </p:spPr>
        <p:txBody>
          <a:bodyPr>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On November 10, 2025, the SOC detected a phishing campaign targeting staff members.Detection occurred within 8 minutes (MTTD), and containment was completed in 2 hours (MTTR).The attack leveraged a newly registered domain to mimic the university’s IT portal.No data loss or credential compromise occurred.After containment, the SOC recommended stronger domain reputation filtering and staff awareness training.</a:t>
            </a:r>
          </a:p>
          <a:p>
            <a:pPr marL="0" indent="0" algn="just">
              <a:lnSpc>
                <a:spcPct val="150000"/>
              </a:lnSpc>
              <a:buNone/>
            </a:pPr>
            <a:r>
              <a:rPr lang="en-US" sz="2400" dirty="0">
                <a:latin typeface="Times New Roman" panose="02020603050405020304" pitchFamily="18" charset="0"/>
                <a:cs typeface="Times New Roman" panose="02020603050405020304" pitchFamily="18" charset="0"/>
              </a:rPr>
              <a:t>A follow-up review will confirm completion of corrective actions by December 2025.</a:t>
            </a:r>
          </a:p>
        </p:txBody>
      </p:sp>
    </p:spTree>
    <p:extLst>
      <p:ext uri="{BB962C8B-B14F-4D97-AF65-F5344CB8AC3E}">
        <p14:creationId xmlns:p14="http://schemas.microsoft.com/office/powerpoint/2010/main" val="4849262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0FEC0-305B-443C-8C53-BE5E56CFC283}"/>
              </a:ext>
            </a:extLst>
          </p:cNvPr>
          <p:cNvSpPr>
            <a:spLocks noGrp="1"/>
          </p:cNvSpPr>
          <p:nvPr>
            <p:ph type="title"/>
          </p:nvPr>
        </p:nvSpPr>
        <p:spPr>
          <a:xfrm>
            <a:off x="838200" y="2766218"/>
            <a:ext cx="10515600" cy="1325563"/>
          </a:xfrm>
        </p:spPr>
        <p:txBody>
          <a:bodyPr>
            <a:normAutofit/>
          </a:bodyPr>
          <a:lstStyle/>
          <a:p>
            <a:r>
              <a:rPr lang="en-GB" sz="3600" b="1" dirty="0">
                <a:solidFill>
                  <a:schemeClr val="accent3"/>
                </a:solidFill>
                <a:latin typeface="Times New Roman" panose="02020603050405020304" pitchFamily="18" charset="0"/>
                <a:cs typeface="Times New Roman" panose="02020603050405020304" pitchFamily="18" charset="0"/>
              </a:rPr>
              <a:t>SOC role in compliance (ISO 27001, SOC 2, GDPR) </a:t>
            </a:r>
            <a:endParaRPr lang="en-US" sz="3600" b="1" dirty="0">
              <a:solidFill>
                <a:schemeClr val="accent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74875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9CFD8-A87D-4B49-B091-226531CA3F43}"/>
              </a:ext>
            </a:extLst>
          </p:cNvPr>
          <p:cNvSpPr>
            <a:spLocks noGrp="1"/>
          </p:cNvSpPr>
          <p:nvPr>
            <p:ph type="title"/>
          </p:nvPr>
        </p:nvSpPr>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SOC Role in Compliance</a:t>
            </a:r>
          </a:p>
        </p:txBody>
      </p:sp>
      <p:sp>
        <p:nvSpPr>
          <p:cNvPr id="4" name="Rectangle 1">
            <a:extLst>
              <a:ext uri="{FF2B5EF4-FFF2-40B4-BE49-F238E27FC236}">
                <a16:creationId xmlns:a16="http://schemas.microsoft.com/office/drawing/2014/main" id="{5EED586F-356C-4C37-92D2-C094CBA78EBE}"/>
              </a:ext>
            </a:extLst>
          </p:cNvPr>
          <p:cNvSpPr>
            <a:spLocks noGrp="1" noChangeArrowheads="1"/>
          </p:cNvSpPr>
          <p:nvPr>
            <p:ph idx="1"/>
          </p:nvPr>
        </p:nvSpPr>
        <p:spPr bwMode="auto">
          <a:xfrm>
            <a:off x="838200" y="1536174"/>
            <a:ext cx="1093066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Operations Centre (SOC)</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that an organization’s security controls are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effective, monitored, and auditable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1"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This aligns with regulatory and industry standards, such as: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ISO 27001</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international standard for information security management.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SOC 2</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auditing framework for service organizations on security, availability, confidentiality, processing integrity, and privacy.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GDPR</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European regulation for personal data protection.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SOC’s continuous monitoring, incident detection, and reporting are critical for demonstrating compliance.</a:t>
            </a:r>
          </a:p>
        </p:txBody>
      </p:sp>
    </p:spTree>
    <p:extLst>
      <p:ext uri="{BB962C8B-B14F-4D97-AF65-F5344CB8AC3E}">
        <p14:creationId xmlns:p14="http://schemas.microsoft.com/office/powerpoint/2010/main" val="10650325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5E34-6290-467F-9B10-80FD144C758D}"/>
              </a:ext>
            </a:extLst>
          </p:cNvPr>
          <p:cNvSpPr>
            <a:spLocks noGrp="1"/>
          </p:cNvSpPr>
          <p:nvPr>
            <p:ph type="title"/>
          </p:nvPr>
        </p:nvSpPr>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Key SOC Responsibilities for Compliance</a:t>
            </a:r>
          </a:p>
        </p:txBody>
      </p:sp>
      <p:graphicFrame>
        <p:nvGraphicFramePr>
          <p:cNvPr id="4" name="Content Placeholder 3">
            <a:extLst>
              <a:ext uri="{FF2B5EF4-FFF2-40B4-BE49-F238E27FC236}">
                <a16:creationId xmlns:a16="http://schemas.microsoft.com/office/drawing/2014/main" id="{485F804D-BF1E-4AF0-B7B8-140AE201D5C1}"/>
              </a:ext>
            </a:extLst>
          </p:cNvPr>
          <p:cNvGraphicFramePr>
            <a:graphicFrameLocks noGrp="1"/>
          </p:cNvGraphicFramePr>
          <p:nvPr>
            <p:ph idx="1"/>
            <p:extLst>
              <p:ext uri="{D42A27DB-BD31-4B8C-83A1-F6EECF244321}">
                <p14:modId xmlns:p14="http://schemas.microsoft.com/office/powerpoint/2010/main" val="1499857188"/>
              </p:ext>
            </p:extLst>
          </p:nvPr>
        </p:nvGraphicFramePr>
        <p:xfrm>
          <a:off x="602562" y="1430767"/>
          <a:ext cx="11091000" cy="4611262"/>
        </p:xfrm>
        <a:graphic>
          <a:graphicData uri="http://schemas.openxmlformats.org/drawingml/2006/table">
            <a:tbl>
              <a:tblPr/>
              <a:tblGrid>
                <a:gridCol w="3259433">
                  <a:extLst>
                    <a:ext uri="{9D8B030D-6E8A-4147-A177-3AD203B41FA5}">
                      <a16:colId xmlns:a16="http://schemas.microsoft.com/office/drawing/2014/main" val="2573379816"/>
                    </a:ext>
                  </a:extLst>
                </a:gridCol>
                <a:gridCol w="3915784">
                  <a:extLst>
                    <a:ext uri="{9D8B030D-6E8A-4147-A177-3AD203B41FA5}">
                      <a16:colId xmlns:a16="http://schemas.microsoft.com/office/drawing/2014/main" val="2285620413"/>
                    </a:ext>
                  </a:extLst>
                </a:gridCol>
                <a:gridCol w="3915783">
                  <a:extLst>
                    <a:ext uri="{9D8B030D-6E8A-4147-A177-3AD203B41FA5}">
                      <a16:colId xmlns:a16="http://schemas.microsoft.com/office/drawing/2014/main" val="3806645205"/>
                    </a:ext>
                  </a:extLst>
                </a:gridCol>
              </a:tblGrid>
              <a:tr h="376429">
                <a:tc>
                  <a:txBody>
                    <a:bodyPr/>
                    <a:lstStyle/>
                    <a:p>
                      <a:r>
                        <a:rPr lang="en-US" sz="1700" b="1" dirty="0">
                          <a:solidFill>
                            <a:srgbClr val="0070C0"/>
                          </a:solidFill>
                        </a:rPr>
                        <a:t>Activity</a:t>
                      </a:r>
                      <a:endParaRPr lang="en-US" sz="1700" dirty="0">
                        <a:solidFill>
                          <a:srgbClr val="0070C0"/>
                        </a:solidFill>
                      </a:endParaRPr>
                    </a:p>
                  </a:txBody>
                  <a:tcPr marL="88803" marR="88803" marT="44401" marB="44401" anchor="ctr">
                    <a:lnL>
                      <a:noFill/>
                    </a:lnL>
                    <a:lnR>
                      <a:noFill/>
                    </a:lnR>
                    <a:lnT>
                      <a:noFill/>
                    </a:lnT>
                    <a:lnB>
                      <a:noFill/>
                    </a:lnB>
                  </a:tcPr>
                </a:tc>
                <a:tc>
                  <a:txBody>
                    <a:bodyPr/>
                    <a:lstStyle/>
                    <a:p>
                      <a:r>
                        <a:rPr lang="en-US" sz="1700" b="1" dirty="0">
                          <a:solidFill>
                            <a:srgbClr val="0070C0"/>
                          </a:solidFill>
                        </a:rPr>
                        <a:t>SOC Role</a:t>
                      </a:r>
                      <a:endParaRPr lang="en-US" sz="1700" dirty="0">
                        <a:solidFill>
                          <a:srgbClr val="0070C0"/>
                        </a:solidFill>
                      </a:endParaRPr>
                    </a:p>
                  </a:txBody>
                  <a:tcPr marL="88803" marR="88803" marT="44401" marB="44401" anchor="ctr">
                    <a:lnL>
                      <a:noFill/>
                    </a:lnL>
                    <a:lnR>
                      <a:noFill/>
                    </a:lnR>
                    <a:lnT>
                      <a:noFill/>
                    </a:lnT>
                    <a:lnB>
                      <a:noFill/>
                    </a:lnB>
                  </a:tcPr>
                </a:tc>
                <a:tc>
                  <a:txBody>
                    <a:bodyPr/>
                    <a:lstStyle/>
                    <a:p>
                      <a:r>
                        <a:rPr lang="en-US" sz="1700" b="1" dirty="0">
                          <a:solidFill>
                            <a:srgbClr val="0070C0"/>
                          </a:solidFill>
                        </a:rPr>
                        <a:t>Example</a:t>
                      </a:r>
                      <a:endParaRPr lang="en-US" sz="1700" dirty="0">
                        <a:solidFill>
                          <a:srgbClr val="0070C0"/>
                        </a:solidFill>
                      </a:endParaRPr>
                    </a:p>
                  </a:txBody>
                  <a:tcPr marL="88803" marR="88803" marT="44401" marB="44401" anchor="ctr">
                    <a:lnL>
                      <a:noFill/>
                    </a:lnL>
                    <a:lnR>
                      <a:noFill/>
                    </a:lnR>
                    <a:lnT>
                      <a:noFill/>
                    </a:lnT>
                    <a:lnB>
                      <a:noFill/>
                    </a:lnB>
                  </a:tcPr>
                </a:tc>
                <a:extLst>
                  <a:ext uri="{0D108BD9-81ED-4DB2-BD59-A6C34878D82A}">
                    <a16:rowId xmlns:a16="http://schemas.microsoft.com/office/drawing/2014/main" val="1975000822"/>
                  </a:ext>
                </a:extLst>
              </a:tr>
              <a:tr h="941073">
                <a:tc>
                  <a:txBody>
                    <a:bodyPr/>
                    <a:lstStyle/>
                    <a:p>
                      <a:r>
                        <a:rPr lang="en-US" sz="1700" b="1" dirty="0">
                          <a:solidFill>
                            <a:schemeClr val="accent3"/>
                          </a:solidFill>
                          <a:latin typeface="Times New Roman" panose="02020603050405020304" pitchFamily="18" charset="0"/>
                          <a:cs typeface="Times New Roman" panose="02020603050405020304" pitchFamily="18" charset="0"/>
                        </a:rPr>
                        <a:t>Continuous Monitoring</a:t>
                      </a:r>
                      <a:endParaRPr lang="en-US" sz="1700" dirty="0">
                        <a:solidFill>
                          <a:schemeClr val="accent3"/>
                        </a:solidFill>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tc>
                  <a:txBody>
                    <a:bodyPr/>
                    <a:lstStyle/>
                    <a:p>
                      <a:r>
                        <a:rPr lang="en-US" sz="1700">
                          <a:latin typeface="Times New Roman" panose="02020603050405020304" pitchFamily="18" charset="0"/>
                          <a:cs typeface="Times New Roman" panose="02020603050405020304" pitchFamily="18" charset="0"/>
                        </a:rPr>
                        <a:t>Collect and analyze logs from systems, network devices, and applications.</a:t>
                      </a:r>
                    </a:p>
                  </a:txBody>
                  <a:tcPr marL="88803" marR="88803" marT="44401" marB="44401" anchor="ctr">
                    <a:lnL>
                      <a:noFill/>
                    </a:lnL>
                    <a:lnR>
                      <a:noFill/>
                    </a:lnR>
                    <a:lnT>
                      <a:noFill/>
                    </a:lnT>
                    <a:lnB>
                      <a:noFill/>
                    </a:lnB>
                  </a:tcPr>
                </a:tc>
                <a:tc>
                  <a:txBody>
                    <a:bodyPr/>
                    <a:lstStyle/>
                    <a:p>
                      <a:r>
                        <a:rPr lang="en-US" sz="1700">
                          <a:latin typeface="Times New Roman" panose="02020603050405020304" pitchFamily="18" charset="0"/>
                          <a:cs typeface="Times New Roman" panose="02020603050405020304" pitchFamily="18" charset="0"/>
                        </a:rPr>
                        <a:t>Use SIEM to detect anomalies like unusual login attempts or malware.</a:t>
                      </a:r>
                    </a:p>
                  </a:txBody>
                  <a:tcPr marL="88803" marR="88803" marT="44401" marB="44401" anchor="ctr">
                    <a:lnL>
                      <a:noFill/>
                    </a:lnL>
                    <a:lnR>
                      <a:noFill/>
                    </a:lnR>
                    <a:lnT>
                      <a:noFill/>
                    </a:lnT>
                    <a:lnB>
                      <a:noFill/>
                    </a:lnB>
                  </a:tcPr>
                </a:tc>
                <a:extLst>
                  <a:ext uri="{0D108BD9-81ED-4DB2-BD59-A6C34878D82A}">
                    <a16:rowId xmlns:a16="http://schemas.microsoft.com/office/drawing/2014/main" val="1627191239"/>
                  </a:ext>
                </a:extLst>
              </a:tr>
              <a:tr h="658752">
                <a:tc>
                  <a:txBody>
                    <a:bodyPr/>
                    <a:lstStyle/>
                    <a:p>
                      <a:r>
                        <a:rPr lang="en-US" sz="1700" b="1" dirty="0">
                          <a:solidFill>
                            <a:schemeClr val="accent3"/>
                          </a:solidFill>
                          <a:latin typeface="Times New Roman" panose="02020603050405020304" pitchFamily="18" charset="0"/>
                          <a:cs typeface="Times New Roman" panose="02020603050405020304" pitchFamily="18" charset="0"/>
                        </a:rPr>
                        <a:t>Incident Detection &amp; Response</a:t>
                      </a:r>
                      <a:endParaRPr lang="en-US" sz="1700" dirty="0">
                        <a:solidFill>
                          <a:schemeClr val="accent3"/>
                        </a:solidFill>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tc>
                  <a:txBody>
                    <a:bodyPr/>
                    <a:lstStyle/>
                    <a:p>
                      <a:r>
                        <a:rPr lang="en-US" sz="1700" dirty="0">
                          <a:latin typeface="Times New Roman" panose="02020603050405020304" pitchFamily="18" charset="0"/>
                          <a:cs typeface="Times New Roman" panose="02020603050405020304" pitchFamily="18" charset="0"/>
                        </a:rPr>
                        <a:t>Detect, investigate, and remediate security incidents.</a:t>
                      </a:r>
                    </a:p>
                  </a:txBody>
                  <a:tcPr marL="88803" marR="88803" marT="44401" marB="44401" anchor="ctr">
                    <a:lnL>
                      <a:noFill/>
                    </a:lnL>
                    <a:lnR>
                      <a:noFill/>
                    </a:lnR>
                    <a:lnT>
                      <a:noFill/>
                    </a:lnT>
                    <a:lnB>
                      <a:noFill/>
                    </a:lnB>
                  </a:tcPr>
                </a:tc>
                <a:tc>
                  <a:txBody>
                    <a:bodyPr/>
                    <a:lstStyle/>
                    <a:p>
                      <a:r>
                        <a:rPr lang="en-US" sz="1700">
                          <a:latin typeface="Times New Roman" panose="02020603050405020304" pitchFamily="18" charset="0"/>
                          <a:cs typeface="Times New Roman" panose="02020603050405020304" pitchFamily="18" charset="0"/>
                        </a:rPr>
                        <a:t>Identify a phishing attack and block the malicious domain.</a:t>
                      </a:r>
                    </a:p>
                  </a:txBody>
                  <a:tcPr marL="88803" marR="88803" marT="44401" marB="44401" anchor="ctr">
                    <a:lnL>
                      <a:noFill/>
                    </a:lnL>
                    <a:lnR>
                      <a:noFill/>
                    </a:lnR>
                    <a:lnT>
                      <a:noFill/>
                    </a:lnT>
                    <a:lnB>
                      <a:noFill/>
                    </a:lnB>
                  </a:tcPr>
                </a:tc>
                <a:extLst>
                  <a:ext uri="{0D108BD9-81ED-4DB2-BD59-A6C34878D82A}">
                    <a16:rowId xmlns:a16="http://schemas.microsoft.com/office/drawing/2014/main" val="1120900728"/>
                  </a:ext>
                </a:extLst>
              </a:tr>
              <a:tr h="658752">
                <a:tc>
                  <a:txBody>
                    <a:bodyPr/>
                    <a:lstStyle/>
                    <a:p>
                      <a:r>
                        <a:rPr lang="en-US" sz="1700" b="1" dirty="0">
                          <a:solidFill>
                            <a:schemeClr val="accent3"/>
                          </a:solidFill>
                          <a:latin typeface="Times New Roman" panose="02020603050405020304" pitchFamily="18" charset="0"/>
                          <a:cs typeface="Times New Roman" panose="02020603050405020304" pitchFamily="18" charset="0"/>
                        </a:rPr>
                        <a:t>Log Management &amp; Retention</a:t>
                      </a:r>
                      <a:endParaRPr lang="en-US" sz="1700" dirty="0">
                        <a:solidFill>
                          <a:schemeClr val="accent3"/>
                        </a:solidFill>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tc>
                  <a:txBody>
                    <a:bodyPr/>
                    <a:lstStyle/>
                    <a:p>
                      <a:r>
                        <a:rPr lang="en-US" sz="1700" dirty="0">
                          <a:latin typeface="Times New Roman" panose="02020603050405020304" pitchFamily="18" charset="0"/>
                          <a:cs typeface="Times New Roman" panose="02020603050405020304" pitchFamily="18" charset="0"/>
                        </a:rPr>
                        <a:t>Maintain secure logs for audits.</a:t>
                      </a:r>
                    </a:p>
                  </a:txBody>
                  <a:tcPr marL="88803" marR="88803" marT="44401" marB="44401" anchor="ctr">
                    <a:lnL>
                      <a:noFill/>
                    </a:lnL>
                    <a:lnR>
                      <a:noFill/>
                    </a:lnR>
                    <a:lnT>
                      <a:noFill/>
                    </a:lnT>
                    <a:lnB>
                      <a:noFill/>
                    </a:lnB>
                  </a:tcPr>
                </a:tc>
                <a:tc>
                  <a:txBody>
                    <a:bodyPr/>
                    <a:lstStyle/>
                    <a:p>
                      <a:r>
                        <a:rPr lang="en-US" sz="1700">
                          <a:latin typeface="Times New Roman" panose="02020603050405020304" pitchFamily="18" charset="0"/>
                          <a:cs typeface="Times New Roman" panose="02020603050405020304" pitchFamily="18" charset="0"/>
                        </a:rPr>
                        <a:t>Retain event logs for 12 months per ISO 27001 or SOC 2.</a:t>
                      </a:r>
                    </a:p>
                  </a:txBody>
                  <a:tcPr marL="88803" marR="88803" marT="44401" marB="44401" anchor="ctr">
                    <a:lnL>
                      <a:noFill/>
                    </a:lnL>
                    <a:lnR>
                      <a:noFill/>
                    </a:lnR>
                    <a:lnT>
                      <a:noFill/>
                    </a:lnT>
                    <a:lnB>
                      <a:noFill/>
                    </a:lnB>
                  </a:tcPr>
                </a:tc>
                <a:extLst>
                  <a:ext uri="{0D108BD9-81ED-4DB2-BD59-A6C34878D82A}">
                    <a16:rowId xmlns:a16="http://schemas.microsoft.com/office/drawing/2014/main" val="1625878335"/>
                  </a:ext>
                </a:extLst>
              </a:tr>
              <a:tr h="658752">
                <a:tc>
                  <a:txBody>
                    <a:bodyPr/>
                    <a:lstStyle/>
                    <a:p>
                      <a:r>
                        <a:rPr lang="en-US" sz="1700" b="1" dirty="0">
                          <a:solidFill>
                            <a:schemeClr val="accent3"/>
                          </a:solidFill>
                          <a:latin typeface="Times New Roman" panose="02020603050405020304" pitchFamily="18" charset="0"/>
                          <a:cs typeface="Times New Roman" panose="02020603050405020304" pitchFamily="18" charset="0"/>
                        </a:rPr>
                        <a:t>Reporting &amp; Documentation</a:t>
                      </a:r>
                      <a:endParaRPr lang="en-US" sz="1700" dirty="0">
                        <a:solidFill>
                          <a:schemeClr val="accent3"/>
                        </a:solidFill>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tc>
                  <a:txBody>
                    <a:bodyPr/>
                    <a:lstStyle/>
                    <a:p>
                      <a:r>
                        <a:rPr lang="en-US" sz="1700" dirty="0">
                          <a:latin typeface="Times New Roman" panose="02020603050405020304" pitchFamily="18" charset="0"/>
                          <a:cs typeface="Times New Roman" panose="02020603050405020304" pitchFamily="18" charset="0"/>
                        </a:rPr>
                        <a:t>Provide evidence for auditors and management.</a:t>
                      </a:r>
                    </a:p>
                  </a:txBody>
                  <a:tcPr marL="88803" marR="88803" marT="44401" marB="44401" anchor="ctr">
                    <a:lnL>
                      <a:noFill/>
                    </a:lnL>
                    <a:lnR>
                      <a:noFill/>
                    </a:lnR>
                    <a:lnT>
                      <a:noFill/>
                    </a:lnT>
                    <a:lnB>
                      <a:noFill/>
                    </a:lnB>
                  </a:tcPr>
                </a:tc>
                <a:tc>
                  <a:txBody>
                    <a:bodyPr/>
                    <a:lstStyle/>
                    <a:p>
                      <a:r>
                        <a:rPr lang="en-US" sz="1700">
                          <a:latin typeface="Times New Roman" panose="02020603050405020304" pitchFamily="18" charset="0"/>
                          <a:cs typeface="Times New Roman" panose="02020603050405020304" pitchFamily="18" charset="0"/>
                        </a:rPr>
                        <a:t>Monthly reports showing MTTR, MTTD, and incidents handled.</a:t>
                      </a:r>
                    </a:p>
                  </a:txBody>
                  <a:tcPr marL="88803" marR="88803" marT="44401" marB="44401" anchor="ctr">
                    <a:lnL>
                      <a:noFill/>
                    </a:lnL>
                    <a:lnR>
                      <a:noFill/>
                    </a:lnR>
                    <a:lnT>
                      <a:noFill/>
                    </a:lnT>
                    <a:lnB>
                      <a:noFill/>
                    </a:lnB>
                  </a:tcPr>
                </a:tc>
                <a:extLst>
                  <a:ext uri="{0D108BD9-81ED-4DB2-BD59-A6C34878D82A}">
                    <a16:rowId xmlns:a16="http://schemas.microsoft.com/office/drawing/2014/main" val="1840309581"/>
                  </a:ext>
                </a:extLst>
              </a:tr>
              <a:tr h="658752">
                <a:tc>
                  <a:txBody>
                    <a:bodyPr/>
                    <a:lstStyle/>
                    <a:p>
                      <a:r>
                        <a:rPr lang="en-US" sz="1700" b="1" dirty="0">
                          <a:solidFill>
                            <a:schemeClr val="accent3"/>
                          </a:solidFill>
                          <a:latin typeface="Times New Roman" panose="02020603050405020304" pitchFamily="18" charset="0"/>
                          <a:cs typeface="Times New Roman" panose="02020603050405020304" pitchFamily="18" charset="0"/>
                        </a:rPr>
                        <a:t>Risk &amp; Vulnerability Management</a:t>
                      </a:r>
                      <a:endParaRPr lang="en-US" sz="1700" dirty="0">
                        <a:solidFill>
                          <a:schemeClr val="accent3"/>
                        </a:solidFill>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tc>
                  <a:txBody>
                    <a:bodyPr/>
                    <a:lstStyle/>
                    <a:p>
                      <a:r>
                        <a:rPr lang="en-US" sz="1700">
                          <a:latin typeface="Times New Roman" panose="02020603050405020304" pitchFamily="18" charset="0"/>
                          <a:cs typeface="Times New Roman" panose="02020603050405020304" pitchFamily="18" charset="0"/>
                        </a:rPr>
                        <a:t>Support risk assessments and patching efforts.</a:t>
                      </a:r>
                    </a:p>
                  </a:txBody>
                  <a:tcPr marL="88803" marR="88803" marT="44401" marB="44401" anchor="ctr">
                    <a:lnL>
                      <a:noFill/>
                    </a:lnL>
                    <a:lnR>
                      <a:noFill/>
                    </a:lnR>
                    <a:lnT>
                      <a:noFill/>
                    </a:lnT>
                    <a:lnB>
                      <a:noFill/>
                    </a:lnB>
                  </a:tcPr>
                </a:tc>
                <a:tc>
                  <a:txBody>
                    <a:bodyPr/>
                    <a:lstStyle/>
                    <a:p>
                      <a:r>
                        <a:rPr lang="en-US" sz="1700" dirty="0">
                          <a:latin typeface="Times New Roman" panose="02020603050405020304" pitchFamily="18" charset="0"/>
                          <a:cs typeface="Times New Roman" panose="02020603050405020304" pitchFamily="18" charset="0"/>
                        </a:rPr>
                        <a:t>Detect unpatched servers or vulnerable applications.</a:t>
                      </a:r>
                    </a:p>
                  </a:txBody>
                  <a:tcPr marL="88803" marR="88803" marT="44401" marB="44401" anchor="ctr">
                    <a:lnL>
                      <a:noFill/>
                    </a:lnL>
                    <a:lnR>
                      <a:noFill/>
                    </a:lnR>
                    <a:lnT>
                      <a:noFill/>
                    </a:lnT>
                    <a:lnB>
                      <a:noFill/>
                    </a:lnB>
                  </a:tcPr>
                </a:tc>
                <a:extLst>
                  <a:ext uri="{0D108BD9-81ED-4DB2-BD59-A6C34878D82A}">
                    <a16:rowId xmlns:a16="http://schemas.microsoft.com/office/drawing/2014/main" val="2147046634"/>
                  </a:ext>
                </a:extLst>
              </a:tr>
              <a:tr h="658752">
                <a:tc>
                  <a:txBody>
                    <a:bodyPr/>
                    <a:lstStyle/>
                    <a:p>
                      <a:r>
                        <a:rPr lang="en-US" sz="1700" b="1" dirty="0">
                          <a:solidFill>
                            <a:schemeClr val="accent3"/>
                          </a:solidFill>
                          <a:latin typeface="Times New Roman" panose="02020603050405020304" pitchFamily="18" charset="0"/>
                          <a:cs typeface="Times New Roman" panose="02020603050405020304" pitchFamily="18" charset="0"/>
                        </a:rPr>
                        <a:t>Awareness &amp; Training</a:t>
                      </a:r>
                      <a:endParaRPr lang="en-US" sz="1700" dirty="0">
                        <a:solidFill>
                          <a:schemeClr val="accent3"/>
                        </a:solidFill>
                        <a:latin typeface="Times New Roman" panose="02020603050405020304" pitchFamily="18" charset="0"/>
                        <a:cs typeface="Times New Roman" panose="02020603050405020304" pitchFamily="18" charset="0"/>
                      </a:endParaRPr>
                    </a:p>
                  </a:txBody>
                  <a:tcPr marL="88803" marR="88803" marT="44401" marB="44401" anchor="ctr">
                    <a:lnL>
                      <a:noFill/>
                    </a:lnL>
                    <a:lnR>
                      <a:noFill/>
                    </a:lnR>
                    <a:lnT>
                      <a:noFill/>
                    </a:lnT>
                    <a:lnB>
                      <a:noFill/>
                    </a:lnB>
                  </a:tcPr>
                </a:tc>
                <a:tc>
                  <a:txBody>
                    <a:bodyPr/>
                    <a:lstStyle/>
                    <a:p>
                      <a:r>
                        <a:rPr lang="en-US" sz="1700">
                          <a:latin typeface="Times New Roman" panose="02020603050405020304" pitchFamily="18" charset="0"/>
                          <a:cs typeface="Times New Roman" panose="02020603050405020304" pitchFamily="18" charset="0"/>
                        </a:rPr>
                        <a:t>Assist in staff security training programs.</a:t>
                      </a:r>
                    </a:p>
                  </a:txBody>
                  <a:tcPr marL="88803" marR="88803" marT="44401" marB="44401" anchor="ctr">
                    <a:lnL>
                      <a:noFill/>
                    </a:lnL>
                    <a:lnR>
                      <a:noFill/>
                    </a:lnR>
                    <a:lnT>
                      <a:noFill/>
                    </a:lnT>
                    <a:lnB>
                      <a:noFill/>
                    </a:lnB>
                  </a:tcPr>
                </a:tc>
                <a:tc>
                  <a:txBody>
                    <a:bodyPr/>
                    <a:lstStyle/>
                    <a:p>
                      <a:r>
                        <a:rPr lang="en-US" sz="1700" dirty="0">
                          <a:latin typeface="Times New Roman" panose="02020603050405020304" pitchFamily="18" charset="0"/>
                          <a:cs typeface="Times New Roman" panose="02020603050405020304" pitchFamily="18" charset="0"/>
                        </a:rPr>
                        <a:t>Conduct phishing simulations and track completion rates.</a:t>
                      </a:r>
                    </a:p>
                  </a:txBody>
                  <a:tcPr marL="88803" marR="88803" marT="44401" marB="44401" anchor="ctr">
                    <a:lnL>
                      <a:noFill/>
                    </a:lnL>
                    <a:lnR>
                      <a:noFill/>
                    </a:lnR>
                    <a:lnT>
                      <a:noFill/>
                    </a:lnT>
                    <a:lnB>
                      <a:noFill/>
                    </a:lnB>
                  </a:tcPr>
                </a:tc>
                <a:extLst>
                  <a:ext uri="{0D108BD9-81ED-4DB2-BD59-A6C34878D82A}">
                    <a16:rowId xmlns:a16="http://schemas.microsoft.com/office/drawing/2014/main" val="176856074"/>
                  </a:ext>
                </a:extLst>
              </a:tr>
            </a:tbl>
          </a:graphicData>
        </a:graphic>
      </p:graphicFrame>
    </p:spTree>
    <p:extLst>
      <p:ext uri="{BB962C8B-B14F-4D97-AF65-F5344CB8AC3E}">
        <p14:creationId xmlns:p14="http://schemas.microsoft.com/office/powerpoint/2010/main" val="41481417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13A5-0D28-4A2A-93A4-194B592A2F53}"/>
              </a:ext>
            </a:extLst>
          </p:cNvPr>
          <p:cNvSpPr>
            <a:spLocks noGrp="1"/>
          </p:cNvSpPr>
          <p:nvPr>
            <p:ph type="title"/>
          </p:nvPr>
        </p:nvSpPr>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SOC Role by Compliance Framework</a:t>
            </a:r>
          </a:p>
        </p:txBody>
      </p:sp>
      <p:sp>
        <p:nvSpPr>
          <p:cNvPr id="3" name="Content Placeholder 2">
            <a:extLst>
              <a:ext uri="{FF2B5EF4-FFF2-40B4-BE49-F238E27FC236}">
                <a16:creationId xmlns:a16="http://schemas.microsoft.com/office/drawing/2014/main" id="{E46B6E0B-E49D-41A6-B8FB-55077FE101B4}"/>
              </a:ext>
            </a:extLst>
          </p:cNvPr>
          <p:cNvSpPr>
            <a:spLocks noGrp="1"/>
          </p:cNvSpPr>
          <p:nvPr>
            <p:ph idx="1"/>
          </p:nvPr>
        </p:nvSpPr>
        <p:spPr>
          <a:xfrm>
            <a:off x="838200" y="1495314"/>
            <a:ext cx="10515600" cy="4997560"/>
          </a:xfrm>
        </p:spPr>
        <p:txBody>
          <a:bodyPr>
            <a:normAutofit/>
          </a:bodyPr>
          <a:lstStyle/>
          <a:p>
            <a:pPr marL="0" indent="0" algn="just">
              <a:buNone/>
            </a:pPr>
            <a:r>
              <a:rPr lang="en-US" sz="2000" b="1" dirty="0">
                <a:solidFill>
                  <a:srgbClr val="0070C0"/>
                </a:solidFill>
                <a:latin typeface="Times New Roman" panose="02020603050405020304" pitchFamily="18" charset="0"/>
                <a:cs typeface="Times New Roman" panose="02020603050405020304" pitchFamily="18" charset="0"/>
              </a:rPr>
              <a:t>ISO 27001: </a:t>
            </a:r>
            <a:r>
              <a:rPr lang="en-US" sz="2000" dirty="0">
                <a:latin typeface="Times New Roman" panose="02020603050405020304" pitchFamily="18" charset="0"/>
                <a:cs typeface="Times New Roman" panose="02020603050405020304" pitchFamily="18" charset="0"/>
              </a:rPr>
              <a:t>Supports Annex A controls, especially A.16 – Information Security Incident Management.Provides evidence for internal and certification audits through incident logs, detection times, and response records</a:t>
            </a:r>
          </a:p>
          <a:p>
            <a:pPr marL="0" indent="0" algn="just">
              <a:buNone/>
            </a:pPr>
            <a:r>
              <a:rPr lang="en-US" sz="2000" dirty="0">
                <a:latin typeface="Times New Roman" panose="02020603050405020304" pitchFamily="18" charset="0"/>
                <a:cs typeface="Times New Roman" panose="02020603050405020304" pitchFamily="18" charset="0"/>
              </a:rPr>
              <a:t>Example:SOC logs demonstrate that a malware incident was detected and contained per the ISO 27001 incident management policy.</a:t>
            </a:r>
          </a:p>
          <a:p>
            <a:pPr marL="0" indent="0" algn="just">
              <a:buNone/>
            </a:pPr>
            <a:r>
              <a:rPr lang="en-US" sz="2000" b="1" dirty="0">
                <a:solidFill>
                  <a:srgbClr val="0070C0"/>
                </a:solidFill>
                <a:latin typeface="Times New Roman" panose="02020603050405020304" pitchFamily="18" charset="0"/>
                <a:cs typeface="Times New Roman" panose="02020603050405020304" pitchFamily="18" charset="0"/>
              </a:rPr>
              <a:t>SOC 2: </a:t>
            </a:r>
            <a:r>
              <a:rPr lang="en-US" sz="2000" dirty="0">
                <a:latin typeface="Times New Roman" panose="02020603050405020304" pitchFamily="18" charset="0"/>
                <a:cs typeface="Times New Roman" panose="02020603050405020304" pitchFamily="18" charset="0"/>
              </a:rPr>
              <a:t>Ensures security, availability, and confidentiality controls are operational.Provides audit evidence via monitoring logs, incident reports, and response timelines.</a:t>
            </a:r>
          </a:p>
          <a:p>
            <a:pPr marL="0" indent="0" algn="just">
              <a:buNone/>
            </a:pPr>
            <a:r>
              <a:rPr lang="en-US" sz="2000" dirty="0">
                <a:latin typeface="Times New Roman" panose="02020603050405020304" pitchFamily="18" charset="0"/>
                <a:cs typeface="Times New Roman" panose="02020603050405020304" pitchFamily="18" charset="0"/>
              </a:rPr>
              <a:t>Example:During SOC 2 audit, SOC provides six months of SIEM logs and incident response documentation to prove effective security operations.</a:t>
            </a:r>
          </a:p>
          <a:p>
            <a:pPr marL="0" indent="0" algn="just">
              <a:buNone/>
            </a:pPr>
            <a:r>
              <a:rPr lang="en-US" sz="2000" b="1" dirty="0">
                <a:solidFill>
                  <a:srgbClr val="0070C0"/>
                </a:solidFill>
                <a:latin typeface="Times New Roman" panose="02020603050405020304" pitchFamily="18" charset="0"/>
                <a:cs typeface="Times New Roman" panose="02020603050405020304" pitchFamily="18" charset="0"/>
              </a:rPr>
              <a:t>GDPRD: </a:t>
            </a:r>
            <a:r>
              <a:rPr lang="en-US" sz="2000" dirty="0">
                <a:latin typeface="Times New Roman" panose="02020603050405020304" pitchFamily="18" charset="0"/>
                <a:cs typeface="Times New Roman" panose="02020603050405020304" pitchFamily="18" charset="0"/>
              </a:rPr>
              <a:t>Detects personal data breaches and supports timely notification (within 72 hours per Article 33).Monitors unauthorized access to personal data.Provides evidence for Data Protection Officer (DPO) reporting.</a:t>
            </a:r>
          </a:p>
          <a:p>
            <a:pPr marL="0" indent="0" algn="just">
              <a:buNone/>
            </a:pPr>
            <a:r>
              <a:rPr lang="en-US" sz="2000" dirty="0">
                <a:latin typeface="Times New Roman" panose="02020603050405020304" pitchFamily="18" charset="0"/>
                <a:cs typeface="Times New Roman" panose="02020603050405020304" pitchFamily="18" charset="0"/>
              </a:rPr>
              <a:t>Example:SOC detects an unauthorized access attempt on a database and reports it to the DPO within 1 hour, meeting GDPR requirements.</a:t>
            </a:r>
          </a:p>
        </p:txBody>
      </p:sp>
    </p:spTree>
    <p:extLst>
      <p:ext uri="{BB962C8B-B14F-4D97-AF65-F5344CB8AC3E}">
        <p14:creationId xmlns:p14="http://schemas.microsoft.com/office/powerpoint/2010/main" val="17152003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4DFF1-784F-4211-95F0-2CEE5456C9FE}"/>
              </a:ext>
            </a:extLst>
          </p:cNvPr>
          <p:cNvSpPr>
            <a:spLocks noGrp="1"/>
          </p:cNvSpPr>
          <p:nvPr>
            <p:ph type="title"/>
          </p:nvPr>
        </p:nvSpPr>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Benefits of SOC in Compliance</a:t>
            </a:r>
          </a:p>
        </p:txBody>
      </p:sp>
      <p:graphicFrame>
        <p:nvGraphicFramePr>
          <p:cNvPr id="4" name="Content Placeholder 3">
            <a:extLst>
              <a:ext uri="{FF2B5EF4-FFF2-40B4-BE49-F238E27FC236}">
                <a16:creationId xmlns:a16="http://schemas.microsoft.com/office/drawing/2014/main" id="{6EE2EEC3-6CDE-4683-A252-50617EE44C62}"/>
              </a:ext>
            </a:extLst>
          </p:cNvPr>
          <p:cNvGraphicFramePr>
            <a:graphicFrameLocks noGrp="1"/>
          </p:cNvGraphicFramePr>
          <p:nvPr>
            <p:ph idx="1"/>
            <p:extLst>
              <p:ext uri="{D42A27DB-BD31-4B8C-83A1-F6EECF244321}">
                <p14:modId xmlns:p14="http://schemas.microsoft.com/office/powerpoint/2010/main" val="3142630489"/>
              </p:ext>
            </p:extLst>
          </p:nvPr>
        </p:nvGraphicFramePr>
        <p:xfrm>
          <a:off x="838200" y="1486694"/>
          <a:ext cx="10515600" cy="3010001"/>
        </p:xfrm>
        <a:graphic>
          <a:graphicData uri="http://schemas.openxmlformats.org/drawingml/2006/table">
            <a:tbl>
              <a:tblPr/>
              <a:tblGrid>
                <a:gridCol w="3464859">
                  <a:extLst>
                    <a:ext uri="{9D8B030D-6E8A-4147-A177-3AD203B41FA5}">
                      <a16:colId xmlns:a16="http://schemas.microsoft.com/office/drawing/2014/main" val="759291595"/>
                    </a:ext>
                  </a:extLst>
                </a:gridCol>
                <a:gridCol w="7050741">
                  <a:extLst>
                    <a:ext uri="{9D8B030D-6E8A-4147-A177-3AD203B41FA5}">
                      <a16:colId xmlns:a16="http://schemas.microsoft.com/office/drawing/2014/main" val="589945922"/>
                    </a:ext>
                  </a:extLst>
                </a:gridCol>
              </a:tblGrid>
              <a:tr h="445926">
                <a:tc>
                  <a:txBody>
                    <a:bodyPr/>
                    <a:lstStyle/>
                    <a:p>
                      <a:r>
                        <a:rPr lang="en-US" b="1" dirty="0">
                          <a:solidFill>
                            <a:srgbClr val="0070C0"/>
                          </a:solidFill>
                          <a:latin typeface="Times New Roman" panose="02020603050405020304" pitchFamily="18" charset="0"/>
                          <a:cs typeface="Times New Roman" panose="02020603050405020304" pitchFamily="18" charset="0"/>
                        </a:rPr>
                        <a:t>Benefit</a:t>
                      </a:r>
                      <a:endParaRPr lang="en-US"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b="1" dirty="0">
                          <a:solidFill>
                            <a:srgbClr val="0070C0"/>
                          </a:solidFill>
                          <a:latin typeface="Times New Roman" panose="02020603050405020304" pitchFamily="18" charset="0"/>
                          <a:cs typeface="Times New Roman" panose="02020603050405020304" pitchFamily="18" charset="0"/>
                        </a:rPr>
                        <a:t>Explanation</a:t>
                      </a:r>
                      <a:endParaRPr lang="en-US" dirty="0">
                        <a:solidFill>
                          <a:srgbClr val="0070C0"/>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extLst>
                  <a:ext uri="{0D108BD9-81ED-4DB2-BD59-A6C34878D82A}">
                    <a16:rowId xmlns:a16="http://schemas.microsoft.com/office/drawing/2014/main" val="1493841505"/>
                  </a:ext>
                </a:extLst>
              </a:tr>
              <a:tr h="445926">
                <a:tc>
                  <a:txBody>
                    <a:bodyPr/>
                    <a:lstStyle/>
                    <a:p>
                      <a:r>
                        <a:rPr lang="en-US" b="1" dirty="0">
                          <a:latin typeface="Times New Roman" panose="02020603050405020304" pitchFamily="18" charset="0"/>
                          <a:cs typeface="Times New Roman" panose="02020603050405020304" pitchFamily="18" charset="0"/>
                        </a:rPr>
                        <a:t>Audit Readiness</a:t>
                      </a:r>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SOC reports serve as documented evidence of security operations.</a:t>
                      </a:r>
                    </a:p>
                  </a:txBody>
                  <a:tcPr anchor="ctr">
                    <a:lnL>
                      <a:noFill/>
                    </a:lnL>
                    <a:lnR>
                      <a:noFill/>
                    </a:lnR>
                    <a:lnT>
                      <a:noFill/>
                    </a:lnT>
                    <a:lnB>
                      <a:noFill/>
                    </a:lnB>
                  </a:tcPr>
                </a:tc>
                <a:extLst>
                  <a:ext uri="{0D108BD9-81ED-4DB2-BD59-A6C34878D82A}">
                    <a16:rowId xmlns:a16="http://schemas.microsoft.com/office/drawing/2014/main" val="3162304968"/>
                  </a:ext>
                </a:extLst>
              </a:tr>
              <a:tr h="445926">
                <a:tc>
                  <a:txBody>
                    <a:bodyPr/>
                    <a:lstStyle/>
                    <a:p>
                      <a:r>
                        <a:rPr lang="en-US" b="1" dirty="0">
                          <a:latin typeface="Times New Roman" panose="02020603050405020304" pitchFamily="18" charset="0"/>
                          <a:cs typeface="Times New Roman" panose="02020603050405020304" pitchFamily="18" charset="0"/>
                        </a:rPr>
                        <a:t>Timely Breach Notification</a:t>
                      </a:r>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a:latin typeface="Times New Roman" panose="02020603050405020304" pitchFamily="18" charset="0"/>
                          <a:cs typeface="Times New Roman" panose="02020603050405020304" pitchFamily="18" charset="0"/>
                        </a:rPr>
                        <a:t>Ensures regulatory obligations (e.g., GDPR) are met.</a:t>
                      </a:r>
                    </a:p>
                  </a:txBody>
                  <a:tcPr anchor="ctr">
                    <a:lnL>
                      <a:noFill/>
                    </a:lnL>
                    <a:lnR>
                      <a:noFill/>
                    </a:lnR>
                    <a:lnT>
                      <a:noFill/>
                    </a:lnT>
                    <a:lnB>
                      <a:noFill/>
                    </a:lnB>
                  </a:tcPr>
                </a:tc>
                <a:extLst>
                  <a:ext uri="{0D108BD9-81ED-4DB2-BD59-A6C34878D82A}">
                    <a16:rowId xmlns:a16="http://schemas.microsoft.com/office/drawing/2014/main" val="389910453"/>
                  </a:ext>
                </a:extLst>
              </a:tr>
              <a:tr h="780371">
                <a:tc>
                  <a:txBody>
                    <a:bodyPr/>
                    <a:lstStyle/>
                    <a:p>
                      <a:r>
                        <a:rPr lang="en-US" b="1" dirty="0">
                          <a:latin typeface="Times New Roman" panose="02020603050405020304" pitchFamily="18" charset="0"/>
                          <a:cs typeface="Times New Roman" panose="02020603050405020304" pitchFamily="18" charset="0"/>
                        </a:rPr>
                        <a:t>Risk Reduction</a:t>
                      </a:r>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Continuous monitoring identifies vulnerabilities before they lead to compliance violations.</a:t>
                      </a:r>
                    </a:p>
                  </a:txBody>
                  <a:tcPr anchor="ctr">
                    <a:lnL>
                      <a:noFill/>
                    </a:lnL>
                    <a:lnR>
                      <a:noFill/>
                    </a:lnR>
                    <a:lnT>
                      <a:noFill/>
                    </a:lnT>
                    <a:lnB>
                      <a:noFill/>
                    </a:lnB>
                  </a:tcPr>
                </a:tc>
                <a:extLst>
                  <a:ext uri="{0D108BD9-81ED-4DB2-BD59-A6C34878D82A}">
                    <a16:rowId xmlns:a16="http://schemas.microsoft.com/office/drawing/2014/main" val="2923561759"/>
                  </a:ext>
                </a:extLst>
              </a:tr>
              <a:tr h="445926">
                <a:tc>
                  <a:txBody>
                    <a:bodyPr/>
                    <a:lstStyle/>
                    <a:p>
                      <a:r>
                        <a:rPr lang="en-US" b="1">
                          <a:latin typeface="Times New Roman" panose="02020603050405020304" pitchFamily="18" charset="0"/>
                          <a:cs typeface="Times New Roman" panose="02020603050405020304" pitchFamily="18" charset="0"/>
                        </a:rPr>
                        <a:t>Operational Transparency</a:t>
                      </a:r>
                      <a:endParaRPr lang="en-US">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Dashboards and logs demonstrate control effectiveness.</a:t>
                      </a:r>
                    </a:p>
                  </a:txBody>
                  <a:tcPr anchor="ctr">
                    <a:lnL>
                      <a:noFill/>
                    </a:lnL>
                    <a:lnR>
                      <a:noFill/>
                    </a:lnR>
                    <a:lnT>
                      <a:noFill/>
                    </a:lnT>
                    <a:lnB>
                      <a:noFill/>
                    </a:lnB>
                  </a:tcPr>
                </a:tc>
                <a:extLst>
                  <a:ext uri="{0D108BD9-81ED-4DB2-BD59-A6C34878D82A}">
                    <a16:rowId xmlns:a16="http://schemas.microsoft.com/office/drawing/2014/main" val="2163651664"/>
                  </a:ext>
                </a:extLst>
              </a:tr>
              <a:tr h="445926">
                <a:tc>
                  <a:txBody>
                    <a:bodyPr/>
                    <a:lstStyle/>
                    <a:p>
                      <a:r>
                        <a:rPr lang="en-US" b="1" dirty="0">
                          <a:latin typeface="Times New Roman" panose="02020603050405020304" pitchFamily="18" charset="0"/>
                          <a:cs typeface="Times New Roman" panose="02020603050405020304" pitchFamily="18" charset="0"/>
                        </a:rPr>
                        <a:t>Continuous Improvement</a:t>
                      </a:r>
                      <a:endParaRPr lang="en-US"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r>
                        <a:rPr lang="en-US" dirty="0">
                          <a:latin typeface="Times New Roman" panose="02020603050405020304" pitchFamily="18" charset="0"/>
                          <a:cs typeface="Times New Roman" panose="02020603050405020304" pitchFamily="18" charset="0"/>
                        </a:rPr>
                        <a:t>Post-incident reviews enhance compliance maturity over time.</a:t>
                      </a:r>
                    </a:p>
                  </a:txBody>
                  <a:tcPr anchor="ctr">
                    <a:lnL>
                      <a:noFill/>
                    </a:lnL>
                    <a:lnR>
                      <a:noFill/>
                    </a:lnR>
                    <a:lnT>
                      <a:noFill/>
                    </a:lnT>
                    <a:lnB>
                      <a:noFill/>
                    </a:lnB>
                  </a:tcPr>
                </a:tc>
                <a:extLst>
                  <a:ext uri="{0D108BD9-81ED-4DB2-BD59-A6C34878D82A}">
                    <a16:rowId xmlns:a16="http://schemas.microsoft.com/office/drawing/2014/main" val="3257442709"/>
                  </a:ext>
                </a:extLst>
              </a:tr>
            </a:tbl>
          </a:graphicData>
        </a:graphic>
      </p:graphicFrame>
      <p:sp>
        <p:nvSpPr>
          <p:cNvPr id="5" name="Rectangle 1">
            <a:extLst>
              <a:ext uri="{FF2B5EF4-FFF2-40B4-BE49-F238E27FC236}">
                <a16:creationId xmlns:a16="http://schemas.microsoft.com/office/drawing/2014/main" id="{5C8AB068-7993-45B4-AC96-491654E678D1}"/>
              </a:ext>
            </a:extLst>
          </p:cNvPr>
          <p:cNvSpPr>
            <a:spLocks noChangeArrowheads="1"/>
          </p:cNvSpPr>
          <p:nvPr/>
        </p:nvSpPr>
        <p:spPr bwMode="auto">
          <a:xfrm flipH="1">
            <a:off x="838199" y="4709586"/>
            <a:ext cx="1072851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Real-World Scenario: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university SOC detects a phishing campaign. The team logs detection, response, and mitigation actions. These logs and reports are used as evidence for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ISO 27001 certification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SOC 2 audit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while also enabling GDPR-compliant notification to affected users if necessary.</a:t>
            </a:r>
          </a:p>
        </p:txBody>
      </p:sp>
    </p:spTree>
    <p:extLst>
      <p:ext uri="{BB962C8B-B14F-4D97-AF65-F5344CB8AC3E}">
        <p14:creationId xmlns:p14="http://schemas.microsoft.com/office/powerpoint/2010/main" val="14662659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0981"/>
            <a:ext cx="10515600" cy="1325563"/>
          </a:xfrm>
        </p:spPr>
        <p:txBody>
          <a:bodyPr>
            <a:normAutofit/>
          </a:bodyPr>
          <a:lstStyle/>
          <a:p>
            <a:r>
              <a:rPr lang="en-US" sz="3200" b="1" dirty="0">
                <a:solidFill>
                  <a:schemeClr val="accent3"/>
                </a:solidFill>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759759" y="548640"/>
            <a:ext cx="11081273" cy="4659319"/>
          </a:xfrm>
        </p:spPr>
        <p:txBody>
          <a:bodyPr vert="horz" lIns="91440" tIns="45720" rIns="91440" bIns="45720" rtlCol="0" anchor="t">
            <a:noAutofit/>
          </a:bodyPr>
          <a:lstStyle/>
          <a:p>
            <a:r>
              <a:rPr lang="en-US" sz="900" dirty="0">
                <a:latin typeface="Times New Roman" panose="02020603050405020304" pitchFamily="18" charset="0"/>
                <a:cs typeface="Times New Roman" panose="02020603050405020304" pitchFamily="18" charset="0"/>
              </a:rPr>
              <a:t>American Institute of Certified Public Accountants (AICPA). (2023). </a:t>
            </a:r>
            <a:r>
              <a:rPr lang="en-US" sz="900" i="1" dirty="0">
                <a:latin typeface="Times New Roman" panose="02020603050405020304" pitchFamily="18" charset="0"/>
                <a:cs typeface="Times New Roman" panose="02020603050405020304" pitchFamily="18" charset="0"/>
              </a:rPr>
              <a:t>SOC 2®—Trust Services Criteria.</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2"/>
              </a:rPr>
              <a:t>https://www.aicpa.org</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Blueteam Resources. (n.d.). </a:t>
            </a:r>
            <a:r>
              <a:rPr lang="en-US" sz="900" i="1" dirty="0">
                <a:latin typeface="Times New Roman" panose="02020603050405020304" pitchFamily="18" charset="0"/>
                <a:cs typeface="Times New Roman" panose="02020603050405020304" pitchFamily="18" charset="0"/>
              </a:rPr>
              <a:t>Discover effective Security Operations Center – SOC metrics and KPI with real-world examples.</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3"/>
              </a:rPr>
              <a:t>https://blueteamresources.in/soc-metrics-and-kpi/</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Comptia. (n.d.). </a:t>
            </a:r>
            <a:r>
              <a:rPr lang="en-US" sz="900" i="1" dirty="0">
                <a:latin typeface="Times New Roman" panose="02020603050405020304" pitchFamily="18" charset="0"/>
                <a:cs typeface="Times New Roman" panose="02020603050405020304" pitchFamily="18" charset="0"/>
              </a:rPr>
              <a:t>What is cybersecurity compliance?</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4"/>
              </a:rPr>
              <a:t>https://www.comptia.org/content/articles/what-is-cybersecurity-compliance</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CrowdStrike. (2023a). </a:t>
            </a:r>
            <a:r>
              <a:rPr lang="en-US" sz="900" i="1" dirty="0">
                <a:latin typeface="Times New Roman" panose="02020603050405020304" pitchFamily="18" charset="0"/>
                <a:cs typeface="Times New Roman" panose="02020603050405020304" pitchFamily="18" charset="0"/>
              </a:rPr>
              <a:t>SOC metrics and KPIs for modern security operations.</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5"/>
              </a:rPr>
              <a:t>https://www.crowdstrike.com</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CrowdStrike. (2023b). </a:t>
            </a:r>
            <a:r>
              <a:rPr lang="en-US" sz="900" i="1" dirty="0">
                <a:latin typeface="Times New Roman" panose="02020603050405020304" pitchFamily="18" charset="0"/>
                <a:cs typeface="Times New Roman" panose="02020603050405020304" pitchFamily="18" charset="0"/>
              </a:rPr>
              <a:t>Security Operations Center (SOC) metrics and KPIs.</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5"/>
              </a:rPr>
              <a:t>https://www.crowdstrike.com</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CrowdStrike. (2023c). </a:t>
            </a:r>
            <a:r>
              <a:rPr lang="en-US" sz="900" i="1" dirty="0">
                <a:latin typeface="Times New Roman" panose="02020603050405020304" pitchFamily="18" charset="0"/>
                <a:cs typeface="Times New Roman" panose="02020603050405020304" pitchFamily="18" charset="0"/>
              </a:rPr>
              <a:t>How to write a cybersecurity incident report.</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5"/>
              </a:rPr>
              <a:t>https://www.crowdstrike.com</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CrowdStrike. (2023d). </a:t>
            </a:r>
            <a:r>
              <a:rPr lang="en-US" sz="900" i="1" dirty="0">
                <a:latin typeface="Times New Roman" panose="02020603050405020304" pitchFamily="18" charset="0"/>
                <a:cs typeface="Times New Roman" panose="02020603050405020304" pitchFamily="18" charset="0"/>
              </a:rPr>
              <a:t>Compliance-driven SOC operations: aligning with ISO 27001, SOC 2, and GDPR.</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5"/>
              </a:rPr>
              <a:t>https://www.crowdstrike.com</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European Union. (2016). </a:t>
            </a:r>
            <a:r>
              <a:rPr lang="en-US" sz="900" i="1" dirty="0">
                <a:latin typeface="Times New Roman" panose="02020603050405020304" pitchFamily="18" charset="0"/>
                <a:cs typeface="Times New Roman" panose="02020603050405020304" pitchFamily="18" charset="0"/>
              </a:rPr>
              <a:t>General Data Protection Regulation (EU 2016/679).</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6"/>
              </a:rPr>
              <a:t>https://gdpr.eu</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IBM Security. (2022a). </a:t>
            </a:r>
            <a:r>
              <a:rPr lang="en-US" sz="900" i="1" dirty="0">
                <a:latin typeface="Times New Roman" panose="02020603050405020304" pitchFamily="18" charset="0"/>
                <a:cs typeface="Times New Roman" panose="02020603050405020304" pitchFamily="18" charset="0"/>
              </a:rPr>
              <a:t>Effective incident reporting in security operations.</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7"/>
              </a:rPr>
              <a:t>https://www.ibm.com/security</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IBM Security. (2022b). </a:t>
            </a:r>
            <a:r>
              <a:rPr lang="en-US" sz="900" i="1" dirty="0">
                <a:latin typeface="Times New Roman" panose="02020603050405020304" pitchFamily="18" charset="0"/>
                <a:cs typeface="Times New Roman" panose="02020603050405020304" pitchFamily="18" charset="0"/>
              </a:rPr>
              <a:t>The role of SOCs in compliance and risk governance.</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7"/>
              </a:rPr>
              <a:t>https://www.ibm.com/security</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IBM Security. (2023a). </a:t>
            </a:r>
            <a:r>
              <a:rPr lang="en-US" sz="900" i="1" dirty="0">
                <a:latin typeface="Times New Roman" panose="02020603050405020304" pitchFamily="18" charset="0"/>
                <a:cs typeface="Times New Roman" panose="02020603050405020304" pitchFamily="18" charset="0"/>
              </a:rPr>
              <a:t>Building an effective SOC: Metrics and reporting.</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7"/>
              </a:rPr>
              <a:t>https://www.ibm.com/security</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IBM Security. (2023b). </a:t>
            </a:r>
            <a:r>
              <a:rPr lang="en-US" sz="900" i="1" dirty="0">
                <a:latin typeface="Times New Roman" panose="02020603050405020304" pitchFamily="18" charset="0"/>
                <a:cs typeface="Times New Roman" panose="02020603050405020304" pitchFamily="18" charset="0"/>
              </a:rPr>
              <a:t>Measuring SOC performance using key metrics.</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7"/>
              </a:rPr>
              <a:t>https://www.ibm.com/security</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ManagedMethods. (n.d.). </a:t>
            </a:r>
            <a:r>
              <a:rPr lang="en-US" sz="900" i="1" dirty="0">
                <a:latin typeface="Times New Roman" panose="02020603050405020304" pitchFamily="18" charset="0"/>
                <a:cs typeface="Times New Roman" panose="02020603050405020304" pitchFamily="18" charset="0"/>
              </a:rPr>
              <a:t>A K-12 guide to post-incident analysis.</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8"/>
              </a:rPr>
              <a:t>https://managedmethods.com/blog/post-incident-analysis/</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National Institute of Standards and Technology (NIST). (2020). </a:t>
            </a:r>
            <a:r>
              <a:rPr lang="en-US" sz="900" i="1" dirty="0">
                <a:latin typeface="Times New Roman" panose="02020603050405020304" pitchFamily="18" charset="0"/>
                <a:cs typeface="Times New Roman" panose="02020603050405020304" pitchFamily="18" charset="0"/>
              </a:rPr>
              <a:t>Computer Security Incident Handling Guide (SP 800-61r2).</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Splunk. (2022a). </a:t>
            </a:r>
            <a:r>
              <a:rPr lang="en-US" sz="900" i="1" dirty="0">
                <a:latin typeface="Times New Roman" panose="02020603050405020304" pitchFamily="18" charset="0"/>
                <a:cs typeface="Times New Roman" panose="02020603050405020304" pitchFamily="18" charset="0"/>
              </a:rPr>
              <a:t>Key SOC metrics and reporting for modern enterprises.</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9"/>
              </a:rPr>
              <a:t>https://www.splunk.com</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Splunk. (2022b). </a:t>
            </a:r>
            <a:r>
              <a:rPr lang="en-US" sz="900" i="1" dirty="0">
                <a:latin typeface="Times New Roman" panose="02020603050405020304" pitchFamily="18" charset="0"/>
                <a:cs typeface="Times New Roman" panose="02020603050405020304" pitchFamily="18" charset="0"/>
              </a:rPr>
              <a:t>Key SOC metrics for effective security monitoring.</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9"/>
              </a:rPr>
              <a:t>https://www.splunk.com</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Splunk. (n.d.). </a:t>
            </a:r>
            <a:r>
              <a:rPr lang="en-US" sz="900" i="1" dirty="0">
                <a:latin typeface="Times New Roman" panose="02020603050405020304" pitchFamily="18" charset="0"/>
                <a:cs typeface="Times New Roman" panose="02020603050405020304" pitchFamily="18" charset="0"/>
              </a:rPr>
              <a:t>CSOC metrics: Security metrics &amp; KPIs for measuring SOC success.</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10"/>
              </a:rPr>
              <a:t>https://www.splunk.com/en_us/blog/learn/security-operations-metrics.html</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SANS Institute. (2023a). </a:t>
            </a:r>
            <a:r>
              <a:rPr lang="en-US" sz="900" i="1" dirty="0">
                <a:latin typeface="Times New Roman" panose="02020603050405020304" pitchFamily="18" charset="0"/>
                <a:cs typeface="Times New Roman" panose="02020603050405020304" pitchFamily="18" charset="0"/>
              </a:rPr>
              <a:t>SOC effectiveness, metrics, and operational reporting.</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11"/>
              </a:rPr>
              <a:t>https://www.sans.org</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SANS Institute. (2023b). </a:t>
            </a:r>
            <a:r>
              <a:rPr lang="en-US" sz="900" i="1" dirty="0">
                <a:latin typeface="Times New Roman" panose="02020603050405020304" pitchFamily="18" charset="0"/>
                <a:cs typeface="Times New Roman" panose="02020603050405020304" pitchFamily="18" charset="0"/>
              </a:rPr>
              <a:t>SOC operations, RSOC integration, and key performance indicators.</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11"/>
              </a:rPr>
              <a:t>https://www.sans.org</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SANS Institute. (2023c). </a:t>
            </a:r>
            <a:r>
              <a:rPr lang="en-US" sz="900" i="1" dirty="0">
                <a:latin typeface="Times New Roman" panose="02020603050405020304" pitchFamily="18" charset="0"/>
                <a:cs typeface="Times New Roman" panose="02020603050405020304" pitchFamily="18" charset="0"/>
              </a:rPr>
              <a:t>SOC effectiveness and metrics best practices.</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11"/>
              </a:rPr>
              <a:t>https://www.sans.org</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SANS Institute. (2023d). </a:t>
            </a:r>
            <a:r>
              <a:rPr lang="en-US" sz="900" i="1" dirty="0">
                <a:latin typeface="Times New Roman" panose="02020603050405020304" pitchFamily="18" charset="0"/>
                <a:cs typeface="Times New Roman" panose="02020603050405020304" pitchFamily="18" charset="0"/>
              </a:rPr>
              <a:t>Incident handling and response process.</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11"/>
              </a:rPr>
              <a:t>https://www.sans.org</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VictorOps. (n.d.). </a:t>
            </a:r>
            <a:r>
              <a:rPr lang="en-US" sz="900" i="1" dirty="0">
                <a:latin typeface="Times New Roman" panose="02020603050405020304" pitchFamily="18" charset="0"/>
                <a:cs typeface="Times New Roman" panose="02020603050405020304" pitchFamily="18" charset="0"/>
              </a:rPr>
              <a:t>Create a post-incident review report.</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12"/>
              </a:rPr>
              <a:t>https://help.victorops.com/knowledge-base/post-incident-review/</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Vendict. (n.d.). </a:t>
            </a:r>
            <a:r>
              <a:rPr lang="en-US" sz="900" i="1" dirty="0">
                <a:latin typeface="Times New Roman" panose="02020603050405020304" pitchFamily="18" charset="0"/>
                <a:cs typeface="Times New Roman" panose="02020603050405020304" pitchFamily="18" charset="0"/>
              </a:rPr>
              <a:t>What is SOC compliance? Main criteria and requirements.</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13"/>
              </a:rPr>
              <a:t>https://vendict.com/blog/what-is-soc-compliance-main-criteria-and-requirements</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ManageEngine. (n.d.). </a:t>
            </a:r>
            <a:r>
              <a:rPr lang="en-US" sz="900" i="1" dirty="0">
                <a:latin typeface="Times New Roman" panose="02020603050405020304" pitchFamily="18" charset="0"/>
                <a:cs typeface="Times New Roman" panose="02020603050405020304" pitchFamily="18" charset="0"/>
              </a:rPr>
              <a:t>M365 Manager Plus: A Microsoft 365 management and reporting tool.</a:t>
            </a:r>
            <a:r>
              <a:rPr lang="en-US" sz="900" dirty="0">
                <a:latin typeface="Times New Roman" panose="02020603050405020304" pitchFamily="18" charset="0"/>
                <a:cs typeface="Times New Roman" panose="02020603050405020304" pitchFamily="18" charset="0"/>
              </a:rPr>
              <a:t> Retrieved from </a:t>
            </a:r>
            <a:r>
              <a:rPr lang="en-US" sz="900" dirty="0">
                <a:latin typeface="Times New Roman" panose="02020603050405020304" pitchFamily="18" charset="0"/>
                <a:cs typeface="Times New Roman" panose="02020603050405020304" pitchFamily="18" charset="0"/>
                <a:hlinkClick r:id="rId14"/>
              </a:rPr>
              <a:t>https://demo.servicedeskplus.com/</a:t>
            </a:r>
            <a:endParaRPr lang="en-US" sz="900" dirty="0">
              <a:latin typeface="Times New Roman" panose="02020603050405020304" pitchFamily="18" charset="0"/>
              <a:cs typeface="Times New Roman" panose="02020603050405020304" pitchFamily="18" charset="0"/>
            </a:endParaRPr>
          </a:p>
          <a:p>
            <a:r>
              <a:rPr lang="en-US" sz="900" dirty="0">
                <a:latin typeface="Times New Roman" panose="02020603050405020304" pitchFamily="18" charset="0"/>
                <a:cs typeface="Times New Roman" panose="02020603050405020304" pitchFamily="18" charset="0"/>
              </a:rPr>
              <a:t>International Organization for Standardization. (2022). </a:t>
            </a:r>
            <a:r>
              <a:rPr lang="en-US" sz="900" i="1" dirty="0">
                <a:latin typeface="Times New Roman" panose="02020603050405020304" pitchFamily="18" charset="0"/>
                <a:cs typeface="Times New Roman" panose="02020603050405020304" pitchFamily="18" charset="0"/>
              </a:rPr>
              <a:t>ISO/IEC 27001:2022 – Information security management systems.</a:t>
            </a:r>
            <a:endParaRPr lang="en-US" sz="900" dirty="0">
              <a:latin typeface="Times New Roman" panose="02020603050405020304" pitchFamily="18" charset="0"/>
              <a:cs typeface="Times New Roman" panose="02020603050405020304" pitchFamily="18" charset="0"/>
            </a:endParaRPr>
          </a:p>
          <a:p>
            <a:endParaRPr lang="en-US" sz="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511934"/>
      </p:ext>
    </p:extLst>
  </p:cSld>
  <p:clrMapOvr>
    <a:masterClrMapping/>
  </p:clrMapOvr>
</p:sld>
</file>

<file path=ppt/theme/theme1.xml><?xml version="1.0" encoding="utf-8"?>
<a:theme xmlns:a="http://schemas.openxmlformats.org/drawingml/2006/main" name="Office Theme">
  <a:themeElements>
    <a:clrScheme name="UTAS">
      <a:dk1>
        <a:sysClr val="windowText" lastClr="000000"/>
      </a:dk1>
      <a:lt1>
        <a:sysClr val="window" lastClr="FFFFFF"/>
      </a:lt1>
      <a:dk2>
        <a:srgbClr val="7F7F7F"/>
      </a:dk2>
      <a:lt2>
        <a:srgbClr val="E7E6E6"/>
      </a:lt2>
      <a:accent1>
        <a:srgbClr val="2B328C"/>
      </a:accent1>
      <a:accent2>
        <a:srgbClr val="415CAD"/>
      </a:accent2>
      <a:accent3>
        <a:srgbClr val="E46825"/>
      </a:accent3>
      <a:accent4>
        <a:srgbClr val="F88D2A"/>
      </a:accent4>
      <a:accent5>
        <a:srgbClr val="F1B721"/>
      </a:accent5>
      <a:accent6>
        <a:srgbClr val="70479C"/>
      </a:accent6>
      <a:hlink>
        <a:srgbClr val="3C9FC0"/>
      </a:hlink>
      <a:folHlink>
        <a:srgbClr val="948D2A"/>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5B96C54-0A27-4F08-9C0C-1866F81CC976}" vid="{FD9DF39B-C2CC-4318-B2DC-E4DB3D62B6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7F44AC08C22843AA6B00621437D67C" ma:contentTypeVersion="8" ma:contentTypeDescription="Create a new document." ma:contentTypeScope="" ma:versionID="85accf2fcf5ab104785b9850b78f1698">
  <xsd:schema xmlns:xsd="http://www.w3.org/2001/XMLSchema" xmlns:xs="http://www.w3.org/2001/XMLSchema" xmlns:p="http://schemas.microsoft.com/office/2006/metadata/properties" xmlns:ns2="084f926a-dc4b-4f8e-a8dc-31dc72d5aeff" targetNamespace="http://schemas.microsoft.com/office/2006/metadata/properties" ma:root="true" ma:fieldsID="106e0b6b8c56e2a4021e0f03184b8b62" ns2:_="">
    <xsd:import namespace="084f926a-dc4b-4f8e-a8dc-31dc72d5aef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4f926a-dc4b-4f8e-a8dc-31dc72d5ae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95DB046-3E97-4D2D-9416-DEF666AD12ED}"/>
</file>

<file path=customXml/itemProps2.xml><?xml version="1.0" encoding="utf-8"?>
<ds:datastoreItem xmlns:ds="http://schemas.openxmlformats.org/officeDocument/2006/customXml" ds:itemID="{CDA47E50-EBFC-49D9-88D9-28D39D1367E6}">
  <ds:schemaRefs>
    <ds:schemaRef ds:uri="http://schemas.microsoft.com/sharepoint/v3/contenttype/forms"/>
  </ds:schemaRefs>
</ds:datastoreItem>
</file>

<file path=customXml/itemProps3.xml><?xml version="1.0" encoding="utf-8"?>
<ds:datastoreItem xmlns:ds="http://schemas.openxmlformats.org/officeDocument/2006/customXml" ds:itemID="{2FDB442C-F009-4CCD-94F8-CB3BFFE66B01}">
  <ds:schemaRefs>
    <ds:schemaRef ds:uri="http://schemas.microsoft.com/office/2006/documentManagement/types"/>
    <ds:schemaRef ds:uri="http://www.w3.org/XML/1998/namespace"/>
    <ds:schemaRef ds:uri="084f926a-dc4b-4f8e-a8dc-31dc72d5aeff"/>
    <ds:schemaRef ds:uri="http://purl.org/dc/elements/1.1/"/>
    <ds:schemaRef ds:uri="http://schemas.microsoft.com/office/2006/metadata/properties"/>
    <ds:schemaRef ds:uri="http://schemas.openxmlformats.org/package/2006/metadata/core-properties"/>
    <ds:schemaRef ds:uri="http://schemas.microsoft.com/office/infopath/2007/PartnerControl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Primary Colors-UTAS</Template>
  <TotalTime>2146</TotalTime>
  <Words>3997</Words>
  <Application>Microsoft Office PowerPoint</Application>
  <PresentationFormat>Widescreen</PresentationFormat>
  <Paragraphs>407</Paragraphs>
  <Slides>41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Calibri</vt:lpstr>
      <vt:lpstr>Times New Roman</vt:lpstr>
      <vt:lpstr>Trebuchet MS</vt:lpstr>
      <vt:lpstr>Wingdings</vt:lpstr>
      <vt:lpstr>Office Theme</vt:lpstr>
      <vt:lpstr>Lecture 8</vt:lpstr>
      <vt:lpstr>Objectives</vt:lpstr>
      <vt:lpstr>SOC Metrics :</vt:lpstr>
      <vt:lpstr>Examples of Common SOC Metrics</vt:lpstr>
      <vt:lpstr>What is SOC Reporting? </vt:lpstr>
      <vt:lpstr>Types of SOC Reports</vt:lpstr>
      <vt:lpstr>SOC KPIs  (MTTD, MTTR, number of incidents handled, false positives rate) </vt:lpstr>
      <vt:lpstr>MTTD (Mean Time To Detect) </vt:lpstr>
      <vt:lpstr>MTTR (Mean Time To Respond/Remediate) </vt:lpstr>
      <vt:lpstr>Number of Incidents Handled</vt:lpstr>
      <vt:lpstr>False Positive Rate</vt:lpstr>
      <vt:lpstr>PowerPoint Presentation</vt:lpstr>
      <vt:lpstr>Writing Incident Reports </vt:lpstr>
      <vt:lpstr>What Is an Incident Report? </vt:lpstr>
      <vt:lpstr>Number of Security Incidents</vt:lpstr>
      <vt:lpstr>Cost of an Incident</vt:lpstr>
      <vt:lpstr>Purpose of an Incident Report </vt:lpstr>
      <vt:lpstr>Document the Timeline and Impact of the Incident</vt:lpstr>
      <vt:lpstr>Support Investigation and Forensic Analysis</vt:lpstr>
      <vt:lpstr>Show Response Actions and Containment Efforts </vt:lpstr>
      <vt:lpstr>Provide Evidence for Compliance or Legal Review </vt:lpstr>
      <vt:lpstr>Help Prevent Similar Incidents in the Future </vt:lpstr>
      <vt:lpstr>Structure of an Incident Report</vt:lpstr>
      <vt:lpstr>Executive Summary &amp; Impact Assessment </vt:lpstr>
      <vt:lpstr>Incident Details </vt:lpstr>
      <vt:lpstr>Timeline of Events &amp; Root Cause Analysis</vt:lpstr>
      <vt:lpstr>Containment, Eradication &amp; Recovery Actions</vt:lpstr>
      <vt:lpstr>Lessons Learned &amp; Recommendations - Attachments / Evidence</vt:lpstr>
      <vt:lpstr>Incident Report Example (Short Sample) </vt:lpstr>
      <vt:lpstr>Post-Incident Reporting</vt:lpstr>
      <vt:lpstr>Post-Incident Reporting</vt:lpstr>
      <vt:lpstr>Purpose of Post-Incident Reporting</vt:lpstr>
      <vt:lpstr>Purpose of Post-Incident Reporting</vt:lpstr>
      <vt:lpstr>Typical Structure of a Post-Incident Report</vt:lpstr>
      <vt:lpstr>Example: Post-Incident Summary (Phishing Case)</vt:lpstr>
      <vt:lpstr>SOC role in compliance (ISO 27001, SOC 2, GDPR) </vt:lpstr>
      <vt:lpstr>SOC Role in Compliance</vt:lpstr>
      <vt:lpstr>Key SOC Responsibilities for Compliance</vt:lpstr>
      <vt:lpstr>SOC Role by Compliance Framework</vt:lpstr>
      <vt:lpstr>Benefits of SOC in Compliance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Karthikeyan Subramanian</dc:creator>
  <cp:lastModifiedBy>RAMESH</cp:lastModifiedBy>
  <cp:revision>154</cp:revision>
  <dcterms:created xsi:type="dcterms:W3CDTF">2024-01-08T13:56:07Z</dcterms:created>
  <dcterms:modified xsi:type="dcterms:W3CDTF">2025-11-13T06:26:47Z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2024-03-15T13:43:55Z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dc2b733b-a224-4576-9839-d0ca720b0032</vt:lpwstr>
  </property>
  <property fmtid="{D5CDD505-2E9C-101B-9397-08002B2CF9AE}" pid="7" name="MSIP_Label_defa4170-0d19-0005-0004-bc88714345d2_ActionId">
    <vt:lpwstr>9cfd7dfd-0260-44b6-8540-22ebc4005b21</vt:lpwstr>
  </property>
  <property fmtid="{D5CDD505-2E9C-101B-9397-08002B2CF9AE}" pid="8" name="MSIP_Label_defa4170-0d19-0005-0004-bc88714345d2_ContentBits">
    <vt:lpwstr>0</vt:lpwstr>
  </property>
  <property fmtid="{D5CDD505-2E9C-101B-9397-08002B2CF9AE}" pid="9" name="ContentTypeId">
    <vt:lpwstr>0x010100247F44AC08C22843AA6B00621437D67C</vt:lpwstr>
  </property>
  <property fmtid="{D5CDD505-2E9C-101B-9397-08002B2CF9AE}" pid="10" name="MediaServiceImageTags">
    <vt:lpwstr/>
  </property>
</Properties>
</file>