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83" r:id="rId7"/>
    <p:sldId id="279" r:id="rId8"/>
    <p:sldId id="282" r:id="rId9"/>
    <p:sldId id="284" r:id="rId10"/>
    <p:sldId id="280" r:id="rId11"/>
    <p:sldId id="285" r:id="rId12"/>
    <p:sldId id="281" r:id="rId13"/>
    <p:sldId id="287" r:id="rId14"/>
    <p:sldId id="288" r:id="rId15"/>
    <p:sldId id="289" r:id="rId16"/>
    <p:sldId id="306" r:id="rId17"/>
    <p:sldId id="286" r:id="rId18"/>
    <p:sldId id="291" r:id="rId19"/>
    <p:sldId id="344" r:id="rId20"/>
    <p:sldId id="292" r:id="rId21"/>
    <p:sldId id="293" r:id="rId22"/>
    <p:sldId id="345" r:id="rId23"/>
    <p:sldId id="347" r:id="rId24"/>
    <p:sldId id="349" r:id="rId25"/>
    <p:sldId id="304" r:id="rId26"/>
    <p:sldId id="350" r:id="rId27"/>
    <p:sldId id="321" r:id="rId28"/>
    <p:sldId id="322" r:id="rId29"/>
    <p:sldId id="305" r:id="rId30"/>
    <p:sldId id="336" r:id="rId31"/>
    <p:sldId id="337" r:id="rId32"/>
    <p:sldId id="338" r:id="rId33"/>
    <p:sldId id="339" r:id="rId34"/>
    <p:sldId id="340" r:id="rId35"/>
    <p:sldId id="341" r:id="rId36"/>
    <p:sldId id="342" r:id="rId37"/>
    <p:sldId id="35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9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766-3367-E7D6-00EF-A53508A3A12A}"/>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67FF1BC-220C-D827-CD59-950320E5C2E8}"/>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375687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275191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C730-2526-2436-83B9-31B1FB54BD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0D509B-F558-8250-026B-44BDE5F1F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3FAB82C7-3A7F-3400-8C0C-C6807996BDD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617537" y="815975"/>
            <a:ext cx="219075" cy="365125"/>
          </a:xfrm>
          <a:prstGeom prst="rect">
            <a:avLst/>
          </a:prstGeom>
        </p:spPr>
      </p:pic>
      <p:pic>
        <p:nvPicPr>
          <p:cNvPr id="8" name="Picture 7">
            <a:extLst>
              <a:ext uri="{FF2B5EF4-FFF2-40B4-BE49-F238E27FC236}">
                <a16:creationId xmlns:a16="http://schemas.microsoft.com/office/drawing/2014/main" id="{BBAF4668-7EA5-DF62-F5E8-E5536325755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66917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4336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7501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0038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70739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86BD-C77C-2D23-CF7B-C8D2E30F0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76FD6-BC76-C316-FEC2-1B2CAD115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4B0F8-D10E-C846-C7C8-F2B35F2178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2EB146C-E069-79DF-03A0-3EF507DB1F2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617537" y="854075"/>
            <a:ext cx="219075" cy="365125"/>
          </a:xfrm>
          <a:prstGeom prst="rect">
            <a:avLst/>
          </a:prstGeom>
        </p:spPr>
      </p:pic>
      <p:pic>
        <p:nvPicPr>
          <p:cNvPr id="10" name="Picture 9">
            <a:extLst>
              <a:ext uri="{FF2B5EF4-FFF2-40B4-BE49-F238E27FC236}">
                <a16:creationId xmlns:a16="http://schemas.microsoft.com/office/drawing/2014/main" id="{D0D7F560-006E-C92C-CAE6-655946296A8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4288450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CDCB-0722-1FF7-967A-4C2B8AA78748}"/>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9240F6-D089-115A-F484-55B95FE6EB86}"/>
              </a:ext>
            </a:extLst>
          </p:cNvPr>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62AEC2-681B-D1B2-EB84-84968D66C9AE}"/>
              </a:ext>
            </a:extLst>
          </p:cNvPr>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EC8B4E-4F3D-8952-2B49-981561BBF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FCC89-9EDF-D5CF-08A1-5E55519C00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287A60A5-2807-0E92-F4E2-9BE5550A1FB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617537" y="835025"/>
            <a:ext cx="219075" cy="365125"/>
          </a:xfrm>
          <a:prstGeom prst="rect">
            <a:avLst/>
          </a:prstGeom>
        </p:spPr>
      </p:pic>
      <p:pic>
        <p:nvPicPr>
          <p:cNvPr id="11" name="Picture 10">
            <a:extLst>
              <a:ext uri="{FF2B5EF4-FFF2-40B4-BE49-F238E27FC236}">
                <a16:creationId xmlns:a16="http://schemas.microsoft.com/office/drawing/2014/main" id="{97F05A89-2C90-505C-30DC-7C2B9A91F6E1}"/>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832807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4D33-0BE4-90FC-4AE5-0A4A211D1803}"/>
              </a:ext>
            </a:extLst>
          </p:cNvPr>
          <p:cNvSpPr>
            <a:spLocks noGrp="1"/>
          </p:cNvSpPr>
          <p:nvPr>
            <p:ph type="title"/>
          </p:nvPr>
        </p:nvSpPr>
        <p:spPr/>
        <p:txBody>
          <a:bodyPr/>
          <a:lstStyle/>
          <a:p>
            <a:r>
              <a:rPr lang="en-US"/>
              <a:t>Click to edit Master title style</a:t>
            </a:r>
          </a:p>
        </p:txBody>
      </p:sp>
      <p:pic>
        <p:nvPicPr>
          <p:cNvPr id="7" name="Graphic 6">
            <a:extLst>
              <a:ext uri="{FF2B5EF4-FFF2-40B4-BE49-F238E27FC236}">
                <a16:creationId xmlns:a16="http://schemas.microsoft.com/office/drawing/2014/main" id="{5DF5F826-F6F1-CFCA-D42B-E759F28DD1F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1DDF20CF-E57F-42E5-6EFD-7AD8EB6F06F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460322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D930E-17D8-84EC-D92C-061363439E3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831208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9ED7-E623-FCE4-FB92-360B98ADBBF1}"/>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D58EE0-622A-334F-1443-5A4528051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AE8A4-A68D-5A4A-A023-8C2D5F871D0F}"/>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785CBBC2-61B8-7F43-0B0A-9D30B71ECCF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617537" y="1168400"/>
            <a:ext cx="219075" cy="365125"/>
          </a:xfrm>
          <a:prstGeom prst="rect">
            <a:avLst/>
          </a:prstGeom>
        </p:spPr>
      </p:pic>
      <p:pic>
        <p:nvPicPr>
          <p:cNvPr id="10" name="Picture 9">
            <a:extLst>
              <a:ext uri="{FF2B5EF4-FFF2-40B4-BE49-F238E27FC236}">
                <a16:creationId xmlns:a16="http://schemas.microsoft.com/office/drawing/2014/main" id="{37A3BA6B-E9E4-F0D0-8FB5-E35191C1669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284449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D87-5687-C9B5-AE49-A83726D9BC05}"/>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FA632-D2F7-E2BA-A935-20B1A394F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5BA056-00E2-82F6-5FA4-32B76E5B3E0B}"/>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55E1618B-D136-C5BB-2E38-B80F9B3CF5B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91475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CBA-3B8B-9D62-253A-5E58F2AA6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F39B-5912-FF25-7793-DBF778576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27A3DEB6-94B4-A533-8E42-30DCFEB3B6F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740991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CA9A-730D-7BDC-4EB3-94B6B2FA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87C848-B2DE-F9EC-9D0C-9077EB2B7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16726B3-A797-03A8-1C35-BD44D85A187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841173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2112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8513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7EBF4-2CD4-F34B-E5E2-783C7FC9078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302689-B02C-F697-CBBE-D4B715CAE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D59A43A-2FDE-9674-4AB5-0E6557C388F6}"/>
              </a:ext>
            </a:extLst>
          </p:cNvPr>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extLst>
      <p:ext uri="{BB962C8B-B14F-4D97-AF65-F5344CB8AC3E}">
        <p14:creationId xmlns:p14="http://schemas.microsoft.com/office/powerpoint/2010/main" val="2974472356"/>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61" r:id="rId4"/>
    <p:sldLayoutId id="2147483651" r:id="rId5"/>
    <p:sldLayoutId id="2147483662" r:id="rId6"/>
    <p:sldLayoutId id="2147483663"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cybersecurity.att.com/resource-center/ebook/insider-guide-to-incident-response/types-of-security-incidents" TargetMode="External"/><Relationship Id="rId2" Type="http://schemas.openxmlformats.org/officeDocument/2006/relationships/hyperlink" Target="https://www.lockheedmartin.com/en-us/capabilities/cyber/cyber-kill-chain.html" TargetMode="External"/><Relationship Id="rId1" Type="http://schemas.openxmlformats.org/officeDocument/2006/relationships/slideLayout" Target="../slideLayouts/slideLayout3.xml"/><Relationship Id="rId4" Type="http://schemas.openxmlformats.org/officeDocument/2006/relationships/hyperlink" Target="https://www.ccslearningacademy.com/what-is-triage-in-cyber-secur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5BB2-0847-90FD-A4B9-58B4E1F0AEA3}"/>
              </a:ext>
            </a:extLst>
          </p:cNvPr>
          <p:cNvSpPr>
            <a:spLocks noGrp="1"/>
          </p:cNvSpPr>
          <p:nvPr>
            <p:ph type="ctrTitle"/>
          </p:nvPr>
        </p:nvSpPr>
        <p:spPr/>
        <p:txBody>
          <a:bodyPr>
            <a:normAutofit/>
          </a:bodyPr>
          <a:lstStyle/>
          <a:p>
            <a:r>
              <a:rPr lang="en-US" sz="6600" b="1" dirty="0">
                <a:solidFill>
                  <a:schemeClr val="accent3"/>
                </a:solidFill>
              </a:rPr>
              <a:t>Lecture 4</a:t>
            </a:r>
          </a:p>
        </p:txBody>
      </p:sp>
      <p:sp>
        <p:nvSpPr>
          <p:cNvPr id="3" name="Subtitle 2">
            <a:extLst>
              <a:ext uri="{FF2B5EF4-FFF2-40B4-BE49-F238E27FC236}">
                <a16:creationId xmlns:a16="http://schemas.microsoft.com/office/drawing/2014/main" id="{88893B68-7396-A123-DEDF-BCF392D104FF}"/>
              </a:ext>
            </a:extLst>
          </p:cNvPr>
          <p:cNvSpPr>
            <a:spLocks noGrp="1"/>
          </p:cNvSpPr>
          <p:nvPr>
            <p:ph type="subTitle" idx="1"/>
          </p:nvPr>
        </p:nvSpPr>
        <p:spPr/>
        <p:txBody>
          <a:bodyPr>
            <a:normAutofit/>
          </a:bodyPr>
          <a:lstStyle/>
          <a:p>
            <a:r>
              <a:rPr lang="en-GB" sz="3600" b="1" dirty="0">
                <a:effectLst/>
                <a:latin typeface="Times New Roman" panose="02020603050405020304" pitchFamily="18" charset="0"/>
                <a:ea typeface="Times New Roman" panose="02020603050405020304" pitchFamily="18" charset="0"/>
              </a:rPr>
              <a:t>Incident Classification and Triage</a:t>
            </a:r>
            <a:endParaRPr lang="en-US" sz="4400" dirty="0"/>
          </a:p>
        </p:txBody>
      </p:sp>
    </p:spTree>
    <p:extLst>
      <p:ext uri="{BB962C8B-B14F-4D97-AF65-F5344CB8AC3E}">
        <p14:creationId xmlns:p14="http://schemas.microsoft.com/office/powerpoint/2010/main" val="4193284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p:txBody>
          <a:bodyPr>
            <a:normAutofit/>
          </a:bodyPr>
          <a:lstStyle/>
          <a:p>
            <a:r>
              <a:rPr lang="en-US" sz="3600" b="1" dirty="0">
                <a:solidFill>
                  <a:srgbClr val="00B0F0"/>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a:xfrm>
            <a:off x="838200" y="1428461"/>
            <a:ext cx="10515600" cy="4351338"/>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After studying this chapter, you should be able to:</a:t>
            </a:r>
          </a:p>
          <a:p>
            <a:pPr algn="l">
              <a:lnSpc>
                <a:spcPct val="115000"/>
              </a:lnSpc>
              <a:spcAft>
                <a:spcPts val="1000"/>
              </a:spcAf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Understand the meaning of </a:t>
            </a:r>
            <a:r>
              <a:rPr lang="en-GB" sz="2200" dirty="0">
                <a:effectLst/>
                <a:latin typeface="Times New Roman" panose="02020603050405020304" pitchFamily="18" charset="0"/>
                <a:cs typeface="Times New Roman" panose="02020603050405020304" pitchFamily="18" charset="0"/>
              </a:rPr>
              <a:t>Incident Classification and Triage</a:t>
            </a:r>
            <a:endParaRPr lang="en-US" sz="2200" dirty="0">
              <a:effectLst/>
              <a:latin typeface="Times New Roman" panose="02020603050405020304" pitchFamily="18" charset="0"/>
              <a:cs typeface="Times New Roman" panose="02020603050405020304" pitchFamily="18" charset="0"/>
            </a:endParaRPr>
          </a:p>
          <a:p>
            <a:pPr algn="l">
              <a:lnSpc>
                <a:spcPct val="115000"/>
              </a:lnSpc>
              <a:spcAft>
                <a:spcPts val="1000"/>
              </a:spcAft>
              <a:buFont typeface="Wingdings" panose="05000000000000000000" pitchFamily="2" charset="2"/>
              <a:buChar char="Ø"/>
            </a:pPr>
            <a:r>
              <a:rPr lang="en-GB" sz="2200" dirty="0">
                <a:latin typeface="Times New Roman" panose="02020603050405020304" pitchFamily="18" charset="0"/>
                <a:cs typeface="Times New Roman" panose="02020603050405020304" pitchFamily="18" charset="0"/>
              </a:rPr>
              <a:t>Understand </a:t>
            </a:r>
            <a:r>
              <a:rPr lang="en-GB" sz="2200" dirty="0">
                <a:effectLst/>
                <a:latin typeface="Times New Roman" panose="02020603050405020304" pitchFamily="18" charset="0"/>
                <a:cs typeface="Times New Roman" panose="02020603050405020304" pitchFamily="18" charset="0"/>
              </a:rPr>
              <a:t>Incident categorization and prioritization</a:t>
            </a:r>
          </a:p>
          <a:p>
            <a:pPr algn="l">
              <a:lnSpc>
                <a:spcPct val="115000"/>
              </a:lnSpc>
              <a:spcAft>
                <a:spcPts val="1000"/>
              </a:spcAf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Understanding Triage Analysis Process</a:t>
            </a:r>
            <a:endParaRPr lang="en-US" sz="2200" dirty="0">
              <a:effectLst/>
              <a:latin typeface="Times New Roman" panose="02020603050405020304" pitchFamily="18" charset="0"/>
              <a:cs typeface="Times New Roman" panose="02020603050405020304" pitchFamily="18" charset="0"/>
            </a:endParaRPr>
          </a:p>
          <a:p>
            <a:pPr algn="l">
              <a:lnSpc>
                <a:spcPct val="115000"/>
              </a:lnSpc>
              <a:spcAft>
                <a:spcPts val="1000"/>
              </a:spcAft>
              <a:buFont typeface="Wingdings" panose="05000000000000000000" pitchFamily="2" charset="2"/>
              <a:buChar char="Ø"/>
            </a:pPr>
            <a:r>
              <a:rPr lang="en-GB" sz="2200" dirty="0">
                <a:latin typeface="Times New Roman" panose="02020603050405020304" pitchFamily="18" charset="0"/>
                <a:cs typeface="Times New Roman" panose="02020603050405020304" pitchFamily="18" charset="0"/>
              </a:rPr>
              <a:t>Understand </a:t>
            </a:r>
            <a:r>
              <a:rPr lang="en-GB" sz="2200" dirty="0">
                <a:effectLst/>
                <a:latin typeface="Times New Roman" panose="02020603050405020304" pitchFamily="18" charset="0"/>
                <a:cs typeface="Times New Roman" panose="02020603050405020304" pitchFamily="18" charset="0"/>
              </a:rPr>
              <a:t>Incident response workflows and procedures</a:t>
            </a:r>
            <a:endParaRPr lang="en-US" sz="2200" dirty="0">
              <a:effectLst/>
              <a:latin typeface="Times New Roman" panose="02020603050405020304" pitchFamily="18" charset="0"/>
              <a:cs typeface="Times New Roman" panose="02020603050405020304" pitchFamily="18" charset="0"/>
            </a:endParaRPr>
          </a:p>
          <a:p>
            <a:pPr algn="l">
              <a:lnSpc>
                <a:spcPct val="115000"/>
              </a:lnSpc>
              <a:spcAft>
                <a:spcPts val="1000"/>
              </a:spcAft>
              <a:buFont typeface="Wingdings" panose="05000000000000000000" pitchFamily="2" charset="2"/>
              <a:buChar char="Ø"/>
            </a:pPr>
            <a:r>
              <a:rPr lang="en-GB" sz="2200" dirty="0">
                <a:latin typeface="Times New Roman" panose="02020603050405020304" pitchFamily="18" charset="0"/>
                <a:cs typeface="Times New Roman" panose="02020603050405020304" pitchFamily="18" charset="0"/>
              </a:rPr>
              <a:t>Understand </a:t>
            </a:r>
            <a:r>
              <a:rPr lang="en-GB" sz="2200" dirty="0">
                <a:effectLst/>
                <a:latin typeface="Times New Roman" panose="02020603050405020304" pitchFamily="18" charset="0"/>
                <a:cs typeface="Times New Roman" panose="02020603050405020304" pitchFamily="18" charset="0"/>
              </a:rPr>
              <a:t>Escalation processes and communication protocols</a:t>
            </a:r>
            <a:endParaRPr lang="en-US" sz="2200" dirty="0">
              <a:effectLst/>
              <a:latin typeface="Times New Roman" panose="02020603050405020304" pitchFamily="18" charset="0"/>
              <a:cs typeface="Times New Roman" panose="02020603050405020304" pitchFamily="18" charset="0"/>
            </a:endParaRPr>
          </a:p>
          <a:p>
            <a:pPr algn="l">
              <a:lnSpc>
                <a:spcPct val="115000"/>
              </a:lnSpc>
              <a:spcAft>
                <a:spcPts val="1000"/>
              </a:spcAft>
              <a:buFont typeface="Wingdings" panose="05000000000000000000" pitchFamily="2" charset="2"/>
              <a:buChar char="Ø"/>
            </a:pPr>
            <a:r>
              <a:rPr lang="en-GB" sz="2200" dirty="0">
                <a:latin typeface="Times New Roman" panose="02020603050405020304" pitchFamily="18" charset="0"/>
                <a:cs typeface="Times New Roman" panose="02020603050405020304" pitchFamily="18" charset="0"/>
              </a:rPr>
              <a:t>Understand </a:t>
            </a:r>
            <a:r>
              <a:rPr lang="en-GB" sz="2200" dirty="0">
                <a:effectLst/>
                <a:latin typeface="Times New Roman" panose="02020603050405020304" pitchFamily="18" charset="0"/>
                <a:cs typeface="Times New Roman" panose="02020603050405020304" pitchFamily="18" charset="0"/>
              </a:rPr>
              <a:t>Handling false positives and false negatives</a:t>
            </a:r>
          </a:p>
          <a:p>
            <a:pPr marL="0" indent="0">
              <a:lnSpc>
                <a:spcPct val="115000"/>
              </a:lnSpc>
              <a:spcAft>
                <a:spcPts val="1000"/>
              </a:spcAft>
              <a:buNone/>
            </a:pPr>
            <a:endParaRPr lang="en-GB" sz="2800" dirty="0">
              <a:effectLst/>
            </a:endParaRPr>
          </a:p>
          <a:p>
            <a:pPr algn="l">
              <a:lnSpc>
                <a:spcPct val="115000"/>
              </a:lnSpc>
              <a:spcAft>
                <a:spcPts val="1000"/>
              </a:spcAft>
              <a:buFont typeface="Wingdings" panose="05000000000000000000" pitchFamily="2" charset="2"/>
              <a:buChar char="Ø"/>
            </a:pP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85000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9EC1-09AD-C891-CFAD-CC8B94D574B0}"/>
              </a:ext>
            </a:extLst>
          </p:cNvPr>
          <p:cNvSpPr>
            <a:spLocks noGrp="1"/>
          </p:cNvSpPr>
          <p:nvPr>
            <p:ph type="title"/>
          </p:nvPr>
        </p:nvSpPr>
        <p:spPr/>
        <p:txBody>
          <a:bodyPr>
            <a:normAutofit/>
          </a:bodyPr>
          <a:lstStyle/>
          <a:p>
            <a:r>
              <a:rPr lang="en-GB" sz="3600" b="1" dirty="0">
                <a:solidFill>
                  <a:srgbClr val="00B0F0"/>
                </a:solidFill>
                <a:effectLst/>
              </a:rPr>
              <a:t>Incident Classification and Triage</a:t>
            </a:r>
            <a:endParaRPr lang="en-US" sz="3600" b="1" dirty="0">
              <a:solidFill>
                <a:srgbClr val="00B0F0"/>
              </a:solidFill>
            </a:endParaRPr>
          </a:p>
        </p:txBody>
      </p:sp>
      <p:sp>
        <p:nvSpPr>
          <p:cNvPr id="3" name="Content Placeholder 2">
            <a:extLst>
              <a:ext uri="{FF2B5EF4-FFF2-40B4-BE49-F238E27FC236}">
                <a16:creationId xmlns:a16="http://schemas.microsoft.com/office/drawing/2014/main" id="{F545D08B-A159-A0D8-C0CB-8689F9FDC2E9}"/>
              </a:ext>
            </a:extLst>
          </p:cNvPr>
          <p:cNvSpPr>
            <a:spLocks noGrp="1"/>
          </p:cNvSpPr>
          <p:nvPr>
            <p:ph idx="1"/>
          </p:nvPr>
        </p:nvSpPr>
        <p:spPr>
          <a:xfrm>
            <a:off x="722243" y="1789043"/>
            <a:ext cx="10979427" cy="4320210"/>
          </a:xfrm>
        </p:spPr>
        <p:txBody>
          <a:bodyPr>
            <a:normAutofit/>
          </a:bodyPr>
          <a:lstStyle/>
          <a:p>
            <a:pPr marL="0" indent="0" algn="just">
              <a:lnSpc>
                <a:spcPct val="170000"/>
              </a:lnSpc>
              <a:buNone/>
            </a:pPr>
            <a:r>
              <a:rPr lang="en-US" sz="2000" dirty="0"/>
              <a:t>Triage helps organizations handle cybersecurity threats and system issues more effectively by using resources wisely, reducing downtime, lowering risks, improving teamwork and communication, and following rules and standards.</a:t>
            </a: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6405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9EC1-09AD-C891-CFAD-CC8B94D574B0}"/>
              </a:ext>
            </a:extLst>
          </p:cNvPr>
          <p:cNvSpPr>
            <a:spLocks noGrp="1"/>
          </p:cNvSpPr>
          <p:nvPr>
            <p:ph type="title"/>
          </p:nvPr>
        </p:nvSpPr>
        <p:spPr>
          <a:xfrm>
            <a:off x="838200" y="293408"/>
            <a:ext cx="10515600" cy="1325563"/>
          </a:xfrm>
        </p:spPr>
        <p:txBody>
          <a:bodyPr>
            <a:normAutofit/>
          </a:bodyPr>
          <a:lstStyle/>
          <a:p>
            <a:r>
              <a:rPr lang="en-GB" sz="3200" b="1" dirty="0">
                <a:solidFill>
                  <a:srgbClr val="00B0F0"/>
                </a:solidFill>
                <a:effectLst/>
                <a:latin typeface="Times New Roman" panose="02020603050405020304" pitchFamily="18" charset="0"/>
                <a:cs typeface="Times New Roman" panose="02020603050405020304" pitchFamily="18" charset="0"/>
              </a:rPr>
              <a:t>Incident Classification and Triage</a:t>
            </a:r>
            <a:endParaRPr lang="en-US" sz="3200" b="1"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45D08B-A159-A0D8-C0CB-8689F9FDC2E9}"/>
              </a:ext>
            </a:extLst>
          </p:cNvPr>
          <p:cNvSpPr>
            <a:spLocks noGrp="1"/>
          </p:cNvSpPr>
          <p:nvPr>
            <p:ph idx="1"/>
          </p:nvPr>
        </p:nvSpPr>
        <p:spPr>
          <a:xfrm>
            <a:off x="703730" y="1404283"/>
            <a:ext cx="10515600" cy="4351338"/>
          </a:xfrm>
        </p:spPr>
        <p:txBody>
          <a:bodyPr vert="horz" lIns="91440" tIns="45720" rIns="91440" bIns="45720" rtlCol="0" anchor="t">
            <a:noAutofit/>
          </a:bodyPr>
          <a:lstStyle/>
          <a:p>
            <a:pPr marL="0" indent="0">
              <a:lnSpc>
                <a:spcPct val="150000"/>
              </a:lnSpc>
              <a:buNone/>
            </a:pPr>
            <a:r>
              <a:rPr lang="en-US" sz="2000" b="1" dirty="0">
                <a:solidFill>
                  <a:schemeClr val="accent3"/>
                </a:solidFill>
                <a:latin typeface="Times New Roman" panose="02020603050405020304" pitchFamily="18" charset="0"/>
                <a:cs typeface="Times New Roman" panose="02020603050405020304" pitchFamily="18" charset="0"/>
              </a:rPr>
              <a:t>Incident Classification :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Incident classification is the systematic categorization of incidents based on attributes such as severity, impact, nature, and resources affected. This process enables organizations to understand the nature of an incident and allocate appropriate resources for its resolution.</a:t>
            </a:r>
          </a:p>
          <a:p>
            <a:pPr marL="0" indent="0">
              <a:lnSpc>
                <a:spcPct val="150000"/>
              </a:lnSpc>
              <a:buNone/>
            </a:pPr>
            <a:r>
              <a:rPr lang="en-US" sz="2000" b="1" dirty="0">
                <a:solidFill>
                  <a:schemeClr val="accent3"/>
                </a:solidFill>
                <a:latin typeface="Times New Roman" panose="02020603050405020304" pitchFamily="18" charset="0"/>
                <a:cs typeface="Times New Roman" panose="02020603050405020304" pitchFamily="18" charset="0"/>
              </a:rPr>
              <a:t>Incident Triage: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A critical incident response process that allows security teams to sort through a flood of alerts and potential threats to identify the most pressing issues. It involves immediately analyzing and prioritizing security events based on severity so that resources can be allocated accordingly. Incident Triage is a systematic method for prioritizing incidents based on their impact and urgency, thereby enabling a more effective and timely response</a:t>
            </a:r>
          </a:p>
        </p:txBody>
      </p:sp>
    </p:spTree>
    <p:extLst>
      <p:ext uri="{BB962C8B-B14F-4D97-AF65-F5344CB8AC3E}">
        <p14:creationId xmlns:p14="http://schemas.microsoft.com/office/powerpoint/2010/main" val="1686009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9EC1-09AD-C891-CFAD-CC8B94D574B0}"/>
              </a:ext>
            </a:extLst>
          </p:cNvPr>
          <p:cNvSpPr>
            <a:spLocks noGrp="1"/>
          </p:cNvSpPr>
          <p:nvPr>
            <p:ph type="title"/>
          </p:nvPr>
        </p:nvSpPr>
        <p:spPr>
          <a:xfrm>
            <a:off x="838200" y="212726"/>
            <a:ext cx="10515600" cy="1325563"/>
          </a:xfrm>
        </p:spPr>
        <p:txBody>
          <a:bodyPr>
            <a:normAutofit/>
          </a:bodyPr>
          <a:lstStyle/>
          <a:p>
            <a:r>
              <a:rPr lang="en-GB" sz="3600" b="1" dirty="0">
                <a:solidFill>
                  <a:srgbClr val="00B0F0"/>
                </a:solidFill>
                <a:effectLst/>
                <a:latin typeface="Times New Roman" panose="02020603050405020304" pitchFamily="18" charset="0"/>
                <a:cs typeface="Times New Roman" panose="02020603050405020304" pitchFamily="18" charset="0"/>
              </a:rPr>
              <a:t>Incident Classification and Triage</a:t>
            </a:r>
            <a:endParaRPr lang="en-US" sz="3600" b="1"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45D08B-A159-A0D8-C0CB-8689F9FDC2E9}"/>
              </a:ext>
            </a:extLst>
          </p:cNvPr>
          <p:cNvSpPr>
            <a:spLocks noGrp="1"/>
          </p:cNvSpPr>
          <p:nvPr>
            <p:ph idx="1"/>
          </p:nvPr>
        </p:nvSpPr>
        <p:spPr>
          <a:xfrm>
            <a:off x="731208" y="1295986"/>
            <a:ext cx="10979427" cy="4856230"/>
          </a:xfrm>
        </p:spPr>
        <p:txBody>
          <a:bodyPr>
            <a:noAutofit/>
          </a:bodyPr>
          <a:lstStyle/>
          <a:p>
            <a:pPr marL="0" indent="0" algn="just">
              <a:lnSpc>
                <a:spcPct val="100000"/>
              </a:lnSpc>
              <a:buNone/>
            </a:pPr>
            <a:r>
              <a:rPr lang="en-US" sz="2000" b="1" dirty="0">
                <a:solidFill>
                  <a:schemeClr val="accent3"/>
                </a:solidFill>
                <a:latin typeface="Times New Roman" panose="02020603050405020304" pitchFamily="18" charset="0"/>
                <a:cs typeface="Times New Roman" panose="02020603050405020304" pitchFamily="18" charset="0"/>
              </a:rPr>
              <a:t>The importance of triage in incident response cannot be overstated. It serves several crucial functions:</a:t>
            </a:r>
          </a:p>
          <a:p>
            <a:pPr marL="342900" indent="-342900" algn="just">
              <a:lnSpc>
                <a:spcPct val="100000"/>
              </a:lnSpc>
              <a:buAutoNum type="arabicPeriod"/>
            </a:pPr>
            <a:r>
              <a:rPr lang="en-US" sz="2000" dirty="0">
                <a:solidFill>
                  <a:srgbClr val="FF0000"/>
                </a:solidFill>
                <a:latin typeface="Times New Roman" panose="02020603050405020304" pitchFamily="18" charset="0"/>
                <a:cs typeface="Times New Roman" panose="02020603050405020304" pitchFamily="18" charset="0"/>
              </a:rPr>
              <a:t>Efficient Resource Allocation: </a:t>
            </a:r>
            <a:r>
              <a:rPr lang="en-US" sz="2000" dirty="0">
                <a:latin typeface="Times New Roman" panose="02020603050405020304" pitchFamily="18" charset="0"/>
                <a:cs typeface="Times New Roman" panose="02020603050405020304" pitchFamily="18" charset="0"/>
              </a:rPr>
              <a:t>Prioritizes incidents based on urgency and impact, optimizing the use of resources.</a:t>
            </a:r>
          </a:p>
          <a:p>
            <a:pPr marL="342900" indent="-342900" algn="just">
              <a:lnSpc>
                <a:spcPct val="100000"/>
              </a:lnSpc>
              <a:buAutoNum type="arabicPeriod"/>
            </a:pPr>
            <a:r>
              <a:rPr lang="en-US" sz="2000" dirty="0">
                <a:solidFill>
                  <a:srgbClr val="FF0000"/>
                </a:solidFill>
                <a:latin typeface="Times New Roman" panose="02020603050405020304" pitchFamily="18" charset="0"/>
                <a:cs typeface="Times New Roman" panose="02020603050405020304" pitchFamily="18" charset="0"/>
              </a:rPr>
              <a:t>Minimized Downtime: </a:t>
            </a:r>
            <a:r>
              <a:rPr lang="en-US" sz="2000" dirty="0">
                <a:latin typeface="Times New Roman" panose="02020603050405020304" pitchFamily="18" charset="0"/>
                <a:cs typeface="Times New Roman" panose="02020603050405020304" pitchFamily="18" charset="0"/>
              </a:rPr>
              <a:t>Swiftly addresses high-priority incidents, reducing disruption to business operations.</a:t>
            </a:r>
          </a:p>
          <a:p>
            <a:pPr marL="342900" indent="-342900" algn="just">
              <a:lnSpc>
                <a:spcPct val="100000"/>
              </a:lnSpc>
              <a:buAutoNum type="arabicPeriod"/>
            </a:pPr>
            <a:r>
              <a:rPr lang="en-US" sz="2000" dirty="0">
                <a:solidFill>
                  <a:srgbClr val="FF0000"/>
                </a:solidFill>
                <a:latin typeface="Times New Roman" panose="02020603050405020304" pitchFamily="18" charset="0"/>
                <a:cs typeface="Times New Roman" panose="02020603050405020304" pitchFamily="18" charset="0"/>
              </a:rPr>
              <a:t>Risk Mitigation: </a:t>
            </a:r>
            <a:r>
              <a:rPr lang="en-US" sz="2000" dirty="0">
                <a:latin typeface="Times New Roman" panose="02020603050405020304" pitchFamily="18" charset="0"/>
                <a:cs typeface="Times New Roman" panose="02020603050405020304" pitchFamily="18" charset="0"/>
              </a:rPr>
              <a:t>Focuses on addressing threats with the greatest potential impact, preventing further escalation.</a:t>
            </a:r>
          </a:p>
          <a:p>
            <a:pPr marL="342900" indent="-342900" algn="just">
              <a:lnSpc>
                <a:spcPct val="100000"/>
              </a:lnSpc>
              <a:buAutoNum type="arabicPeriod"/>
            </a:pPr>
            <a:r>
              <a:rPr lang="en-US" sz="2000" dirty="0">
                <a:solidFill>
                  <a:srgbClr val="FF0000"/>
                </a:solidFill>
                <a:latin typeface="Times New Roman" panose="02020603050405020304" pitchFamily="18" charset="0"/>
                <a:cs typeface="Times New Roman" panose="02020603050405020304" pitchFamily="18" charset="0"/>
              </a:rPr>
              <a:t>Enhanced Coordination: </a:t>
            </a:r>
            <a:r>
              <a:rPr lang="en-US" sz="2000" dirty="0">
                <a:latin typeface="Times New Roman" panose="02020603050405020304" pitchFamily="18" charset="0"/>
                <a:cs typeface="Times New Roman" panose="02020603050405020304" pitchFamily="18" charset="0"/>
              </a:rPr>
              <a:t>Establishes clear communication channels and decision-making processes among response teams.</a:t>
            </a:r>
          </a:p>
          <a:p>
            <a:pPr marL="342900" indent="-342900" algn="just">
              <a:lnSpc>
                <a:spcPct val="100000"/>
              </a:lnSpc>
              <a:buAutoNum type="arabicPeriod"/>
            </a:pPr>
            <a:r>
              <a:rPr lang="en-US" sz="2000" dirty="0">
                <a:solidFill>
                  <a:srgbClr val="FF0000"/>
                </a:solidFill>
                <a:latin typeface="Times New Roman" panose="02020603050405020304" pitchFamily="18" charset="0"/>
                <a:cs typeface="Times New Roman" panose="02020603050405020304" pitchFamily="18" charset="0"/>
              </a:rPr>
              <a:t>Improved Stakeholder Communication: </a:t>
            </a:r>
            <a:r>
              <a:rPr lang="en-US" sz="2000" dirty="0">
                <a:latin typeface="Times New Roman" panose="02020603050405020304" pitchFamily="18" charset="0"/>
                <a:cs typeface="Times New Roman" panose="02020603050405020304" pitchFamily="18" charset="0"/>
              </a:rPr>
              <a:t>Enables transparent communication with stakeholders about incident severity and response timelines.</a:t>
            </a:r>
          </a:p>
          <a:p>
            <a:pPr marL="342900" indent="-342900" algn="just">
              <a:lnSpc>
                <a:spcPct val="100000"/>
              </a:lnSpc>
              <a:buAutoNum type="arabicPeriod"/>
            </a:pPr>
            <a:r>
              <a:rPr lang="en-US" sz="2000" dirty="0">
                <a:solidFill>
                  <a:srgbClr val="FF0000"/>
                </a:solidFill>
                <a:latin typeface="Times New Roman" panose="02020603050405020304" pitchFamily="18" charset="0"/>
                <a:cs typeface="Times New Roman" panose="02020603050405020304" pitchFamily="18" charset="0"/>
              </a:rPr>
              <a:t>Compliance and Reporting: </a:t>
            </a:r>
            <a:r>
              <a:rPr lang="en-US" sz="2000" dirty="0">
                <a:latin typeface="Times New Roman" panose="02020603050405020304" pitchFamily="18" charset="0"/>
                <a:cs typeface="Times New Roman" panose="02020603050405020304" pitchFamily="18" charset="0"/>
              </a:rPr>
              <a:t>Helps demonstrate compliance with regulatory requirements through timely incident response and accurate reporting. </a:t>
            </a:r>
          </a:p>
        </p:txBody>
      </p:sp>
    </p:spTree>
    <p:extLst>
      <p:ext uri="{BB962C8B-B14F-4D97-AF65-F5344CB8AC3E}">
        <p14:creationId xmlns:p14="http://schemas.microsoft.com/office/powerpoint/2010/main" val="1817415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A22E7-F6E0-1813-8358-4D95EF8AA82F}"/>
              </a:ext>
            </a:extLst>
          </p:cNvPr>
          <p:cNvSpPr>
            <a:spLocks noGrp="1"/>
          </p:cNvSpPr>
          <p:nvPr>
            <p:ph type="ctrTitle"/>
          </p:nvPr>
        </p:nvSpPr>
        <p:spPr/>
        <p:txBody>
          <a:bodyPr/>
          <a:lstStyle/>
          <a:p>
            <a:r>
              <a:rPr lang="en-GB" sz="3600">
                <a:effectLst/>
              </a:rPr>
              <a:t>Incident categorization and prioritization</a:t>
            </a:r>
            <a:endParaRPr lang="en-US"/>
          </a:p>
        </p:txBody>
      </p:sp>
    </p:spTree>
    <p:extLst>
      <p:ext uri="{BB962C8B-B14F-4D97-AF65-F5344CB8AC3E}">
        <p14:creationId xmlns:p14="http://schemas.microsoft.com/office/powerpoint/2010/main" val="3552051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1FC7-CB21-D2A4-3819-FFB23D0FBC05}"/>
              </a:ext>
            </a:extLst>
          </p:cNvPr>
          <p:cNvSpPr>
            <a:spLocks noGrp="1"/>
          </p:cNvSpPr>
          <p:nvPr>
            <p:ph type="title"/>
          </p:nvPr>
        </p:nvSpPr>
        <p:spPr>
          <a:xfrm>
            <a:off x="838200" y="580280"/>
            <a:ext cx="10515600" cy="682439"/>
          </a:xfrm>
        </p:spPr>
        <p:txBody>
          <a:bodyPr>
            <a:normAutofit/>
          </a:bodyPr>
          <a:lstStyle/>
          <a:p>
            <a:r>
              <a:rPr lang="en-GB" sz="3200" b="1" dirty="0">
                <a:solidFill>
                  <a:srgbClr val="00B0F0"/>
                </a:solidFill>
                <a:effectLst/>
                <a:latin typeface="Times New Roman" panose="02020603050405020304" pitchFamily="18" charset="0"/>
                <a:cs typeface="Times New Roman" panose="02020603050405020304" pitchFamily="18" charset="0"/>
              </a:rPr>
              <a:t>Incident categorization and prioritization</a:t>
            </a:r>
            <a:endParaRPr lang="en-US" sz="3200" b="1"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E7E9D8-127C-18BC-B6B5-8164FD16CF4C}"/>
              </a:ext>
            </a:extLst>
          </p:cNvPr>
          <p:cNvSpPr>
            <a:spLocks noGrp="1"/>
          </p:cNvSpPr>
          <p:nvPr>
            <p:ph idx="1"/>
          </p:nvPr>
        </p:nvSpPr>
        <p:spPr>
          <a:xfrm>
            <a:off x="466167" y="1262719"/>
            <a:ext cx="11582399" cy="5107957"/>
          </a:xfrm>
        </p:spPr>
        <p:txBody>
          <a:bodyPr vert="horz" lIns="91440" tIns="45720" rIns="91440" bIns="45720" rtlCol="0" anchor="t">
            <a:noAutofit/>
          </a:bodyPr>
          <a:lstStyle/>
          <a:p>
            <a:pPr marL="0" indent="0" algn="just">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Incident categorization and prioritization can be achieved through structured methodologies and frameworks. </a:t>
            </a:r>
          </a:p>
          <a:p>
            <a:pPr algn="just">
              <a:lnSpc>
                <a:spcPct val="115000"/>
              </a:lnSpc>
              <a:spcAft>
                <a:spcPts val="800"/>
              </a:spcAft>
              <a:buFont typeface="Wingdings" panose="05000000000000000000" pitchFamily="2" charset="2"/>
              <a:buChar char="v"/>
            </a:pPr>
            <a:r>
              <a:rPr lang="en-US" sz="1800" b="1"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Incident Categorization Methodology:</a:t>
            </a:r>
          </a:p>
          <a:p>
            <a:pPr algn="just">
              <a:lnSpc>
                <a:spcPct val="115000"/>
              </a:lnSpc>
              <a:spcAft>
                <a:spcPts val="800"/>
              </a:spcAft>
            </a:pPr>
            <a:r>
              <a:rPr lang="en-US" sz="1800" b="1"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Taxonomy Creation</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Develop a taxonomy or classification scheme that defines categories and subcategories based on incident attributes such as nature, severity, impact, and affected resources. This taxonomy should be tailored to the specific needs and context of the organization.</a:t>
            </a:r>
          </a:p>
          <a:p>
            <a:pPr algn="just">
              <a:lnSpc>
                <a:spcPct val="115000"/>
              </a:lnSpc>
              <a:spcAft>
                <a:spcPts val="800"/>
              </a:spcAft>
            </a:pPr>
            <a:r>
              <a:rPr lang="en-US" sz="1800" b="1"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Incident Identification: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When an incident occurs, assess its characteristics and attributes to determine the appropriate category within the established taxonomy.</a:t>
            </a:r>
          </a:p>
          <a:p>
            <a:pPr algn="just">
              <a:lnSpc>
                <a:spcPct val="115000"/>
              </a:lnSpc>
              <a:spcAft>
                <a:spcPts val="800"/>
              </a:spcAft>
            </a:pPr>
            <a:r>
              <a:rPr lang="en-US" sz="1800" b="1"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Categorization Criteria: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Define clear criteria for assigning incidents to specific categories, ensuring consistency and accuracy in classification. Consider factors such as the type of incident, the systems or data affected, and the potential impact on operations.</a:t>
            </a:r>
          </a:p>
          <a:p>
            <a:pPr algn="just">
              <a:lnSpc>
                <a:spcPct val="115000"/>
              </a:lnSpc>
              <a:spcAft>
                <a:spcPts val="800"/>
              </a:spcAft>
            </a:pPr>
            <a:r>
              <a:rPr lang="en-US" sz="1800" b="1"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Documentation: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Document the categorization process, including the rationale behind assigning incidents to specific categories. This documentation serves as a reference for incident responders and helps maintain consistency across incidents.</a:t>
            </a:r>
          </a:p>
        </p:txBody>
      </p:sp>
    </p:spTree>
    <p:extLst>
      <p:ext uri="{BB962C8B-B14F-4D97-AF65-F5344CB8AC3E}">
        <p14:creationId xmlns:p14="http://schemas.microsoft.com/office/powerpoint/2010/main" val="1059080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1FC7-CB21-D2A4-3819-FFB23D0FBC05}"/>
              </a:ext>
            </a:extLst>
          </p:cNvPr>
          <p:cNvSpPr>
            <a:spLocks noGrp="1"/>
          </p:cNvSpPr>
          <p:nvPr>
            <p:ph type="title"/>
          </p:nvPr>
        </p:nvSpPr>
        <p:spPr>
          <a:xfrm>
            <a:off x="838200" y="365126"/>
            <a:ext cx="10515600" cy="744583"/>
          </a:xfrm>
        </p:spPr>
        <p:txBody>
          <a:bodyPr>
            <a:normAutofit/>
          </a:bodyPr>
          <a:lstStyle/>
          <a:p>
            <a:r>
              <a:rPr lang="en-GB" sz="3200" b="1" dirty="0">
                <a:solidFill>
                  <a:srgbClr val="00B0F0"/>
                </a:solidFill>
                <a:effectLst/>
                <a:latin typeface="Times New Roman" panose="02020603050405020304" pitchFamily="18" charset="0"/>
                <a:cs typeface="Times New Roman" panose="02020603050405020304" pitchFamily="18" charset="0"/>
              </a:rPr>
              <a:t>Incident categorization and prioritization</a:t>
            </a:r>
            <a:endParaRPr lang="en-US" sz="3200" b="1"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E7E9D8-127C-18BC-B6B5-8164FD16CF4C}"/>
              </a:ext>
            </a:extLst>
          </p:cNvPr>
          <p:cNvSpPr>
            <a:spLocks noGrp="1"/>
          </p:cNvSpPr>
          <p:nvPr>
            <p:ph idx="1"/>
          </p:nvPr>
        </p:nvSpPr>
        <p:spPr>
          <a:xfrm>
            <a:off x="639970" y="1224161"/>
            <a:ext cx="11321143" cy="5006961"/>
          </a:xfrm>
        </p:spPr>
        <p:txBody>
          <a:bodyPr vert="horz" lIns="91440" tIns="45720" rIns="91440" bIns="45720" rtlCol="0" anchor="t">
            <a:noAutofit/>
          </a:bodyPr>
          <a:lstStyle/>
          <a:p>
            <a:pPr>
              <a:lnSpc>
                <a:spcPct val="115000"/>
              </a:lnSpc>
              <a:spcAft>
                <a:spcPts val="800"/>
              </a:spcAft>
              <a:buFont typeface="Wingdings" panose="05000000000000000000" pitchFamily="2" charset="2"/>
              <a:buChar char="v"/>
            </a:pPr>
            <a:r>
              <a:rPr lang="en-US" sz="1800" b="1"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Incident Prioritization Methodology:</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Priority Criteria Definition: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Define criteria for prioritizing incidents based on factors such as urgency, criticality, potential impact on operations, and regulatory requirements. These criteria should align with the organization's objectives and risk tolerance.</a:t>
            </a:r>
          </a:p>
          <a:p>
            <a:pPr algn="just">
              <a:lnSpc>
                <a:spcPct val="115000"/>
              </a:lnSpc>
              <a:spcAft>
                <a:spcPts val="800"/>
              </a:spcAft>
            </a:pPr>
            <a:r>
              <a:rPr lang="en-US" sz="1800" b="1"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Scoring or Ranking: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Develop a scoring or ranking system to assess incidents against the defined priority criteria. This may involve assigning numerical scores or using qualitative assessments to determine the priority level of each incident.</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Thresholds or Thresholds: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Establish thresholds or thresholds for each priority level to guide decision-making and resource allocation. For example, high-priority incidents may require immediate action, while lower-priority incidents can be addressed within predefined time frames.</a:t>
            </a:r>
          </a:p>
          <a:p>
            <a:pPr algn="just">
              <a:lnSpc>
                <a:spcPct val="115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b="1"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Review and Adjustment: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Regularly review and refine the prioritization methodology based on feedback, lessons learned from previous incidents, and changes in the organization's risk landscape. Continuously improving the prioritization process ensures its effectiveness in guiding incident response efforts.</a:t>
            </a:r>
          </a:p>
        </p:txBody>
      </p:sp>
    </p:spTree>
    <p:extLst>
      <p:ext uri="{BB962C8B-B14F-4D97-AF65-F5344CB8AC3E}">
        <p14:creationId xmlns:p14="http://schemas.microsoft.com/office/powerpoint/2010/main" val="1004789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0873-6193-E300-1835-BA545D87D6A3}"/>
              </a:ext>
            </a:extLst>
          </p:cNvPr>
          <p:cNvSpPr>
            <a:spLocks noGrp="1"/>
          </p:cNvSpPr>
          <p:nvPr>
            <p:ph type="title"/>
          </p:nvPr>
        </p:nvSpPr>
        <p:spPr/>
        <p:txBody>
          <a:bodyPr>
            <a:normAutofit/>
          </a:bodyPr>
          <a:lstStyle/>
          <a:p>
            <a:r>
              <a:rPr lang="en-US" sz="3600" b="1" dirty="0">
                <a:solidFill>
                  <a:srgbClr val="00B0F0"/>
                </a:solidFill>
              </a:rPr>
              <a:t>Understanding Triage Analysis Process</a:t>
            </a:r>
          </a:p>
        </p:txBody>
      </p:sp>
      <p:sp>
        <p:nvSpPr>
          <p:cNvPr id="3" name="Content Placeholder 2">
            <a:extLst>
              <a:ext uri="{FF2B5EF4-FFF2-40B4-BE49-F238E27FC236}">
                <a16:creationId xmlns:a16="http://schemas.microsoft.com/office/drawing/2014/main" id="{259B1428-DDA8-D943-9169-05F05AE3F859}"/>
              </a:ext>
            </a:extLst>
          </p:cNvPr>
          <p:cNvSpPr>
            <a:spLocks noGrp="1"/>
          </p:cNvSpPr>
          <p:nvPr>
            <p:ph idx="1"/>
          </p:nvPr>
        </p:nvSpPr>
        <p:spPr/>
        <p:txBody>
          <a:bodyPr vert="horz" lIns="91440" tIns="45720" rIns="91440" bIns="45720" rtlCol="0" anchor="t">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When a security alert or event comes in, the triage process kicks off with some initial detection and validation steps. Analysts will look to confirm whether a real incident has taken place or if an alert is just a false positive.</a:t>
            </a:r>
          </a:p>
        </p:txBody>
      </p:sp>
    </p:spTree>
    <p:extLst>
      <p:ext uri="{BB962C8B-B14F-4D97-AF65-F5344CB8AC3E}">
        <p14:creationId xmlns:p14="http://schemas.microsoft.com/office/powerpoint/2010/main" val="2623726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0873-6193-E300-1835-BA545D87D6A3}"/>
              </a:ext>
            </a:extLst>
          </p:cNvPr>
          <p:cNvSpPr>
            <a:spLocks noGrp="1"/>
          </p:cNvSpPr>
          <p:nvPr>
            <p:ph type="title"/>
          </p:nvPr>
        </p:nvSpPr>
        <p:spPr/>
        <p:txBody>
          <a:bodyPr>
            <a:normAutofit/>
          </a:bodyPr>
          <a:lstStyle/>
          <a:p>
            <a:r>
              <a:rPr lang="en-US" sz="3600" b="1" dirty="0">
                <a:solidFill>
                  <a:srgbClr val="00B0F0"/>
                </a:solidFill>
                <a:latin typeface="Times New Roman" panose="02020603050405020304" pitchFamily="18" charset="0"/>
                <a:cs typeface="Times New Roman" panose="02020603050405020304" pitchFamily="18" charset="0"/>
              </a:rPr>
              <a:t>Understanding Triage Analysis Process</a:t>
            </a:r>
          </a:p>
        </p:txBody>
      </p:sp>
      <p:sp>
        <p:nvSpPr>
          <p:cNvPr id="3" name="Content Placeholder 2">
            <a:extLst>
              <a:ext uri="{FF2B5EF4-FFF2-40B4-BE49-F238E27FC236}">
                <a16:creationId xmlns:a16="http://schemas.microsoft.com/office/drawing/2014/main" id="{259B1428-DDA8-D943-9169-05F05AE3F859}"/>
              </a:ext>
            </a:extLst>
          </p:cNvPr>
          <p:cNvSpPr>
            <a:spLocks noGrp="1"/>
          </p:cNvSpPr>
          <p:nvPr>
            <p:ph idx="1"/>
          </p:nvPr>
        </p:nvSpPr>
        <p:spPr>
          <a:xfrm>
            <a:off x="838200" y="1475536"/>
            <a:ext cx="10768781" cy="4916588"/>
          </a:xfrm>
        </p:spPr>
        <p:txBody>
          <a:bodyPr vert="horz" lIns="91440" tIns="45720" rIns="91440" bIns="45720" rtlCol="0" anchor="t">
            <a:normAutofit/>
          </a:bodyPr>
          <a:lstStyle/>
          <a:p>
            <a:pPr marL="0" indent="0" algn="just">
              <a:lnSpc>
                <a:spcPct val="110000"/>
              </a:lnSpc>
              <a:buNone/>
            </a:pPr>
            <a:r>
              <a:rPr lang="en-US" sz="2000" b="1" dirty="0">
                <a:solidFill>
                  <a:srgbClr val="FF0000"/>
                </a:solidFill>
                <a:latin typeface="Times New Roman" panose="02020603050405020304" pitchFamily="18" charset="0"/>
                <a:cs typeface="Times New Roman" panose="02020603050405020304" pitchFamily="18" charset="0"/>
              </a:rPr>
              <a:t>Triage analysis process steps:</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Detection</a:t>
            </a:r>
            <a:r>
              <a:rPr lang="en-US" sz="1800" b="0" dirty="0">
                <a:effectLst/>
                <a:latin typeface="Times New Roman" panose="02020603050405020304" pitchFamily="18" charset="0"/>
                <a:cs typeface="Times New Roman" panose="02020603050405020304" pitchFamily="18" charset="0"/>
              </a:rPr>
              <a:t> – Validate security alert or event as a real incident vs. false positive</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Scoping</a:t>
            </a:r>
            <a:r>
              <a:rPr lang="en-US" sz="1800" b="1" dirty="0">
                <a:effectLst/>
                <a:latin typeface="Times New Roman" panose="02020603050405020304" pitchFamily="18" charset="0"/>
                <a:cs typeface="Times New Roman" panose="02020603050405020304" pitchFamily="18" charset="0"/>
              </a:rPr>
              <a:t> </a:t>
            </a:r>
            <a:r>
              <a:rPr lang="en-US" sz="1800" b="0" dirty="0">
                <a:effectLst/>
                <a:latin typeface="Times New Roman" panose="02020603050405020304" pitchFamily="18" charset="0"/>
                <a:cs typeface="Times New Roman" panose="02020603050405020304" pitchFamily="18" charset="0"/>
              </a:rPr>
              <a:t>– Quickly investigate incident to surface attack details, affected assets, related indicators, etc.</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Severity Classification </a:t>
            </a:r>
            <a:r>
              <a:rPr lang="en-US" sz="1800" b="0" dirty="0">
                <a:effectLst/>
                <a:latin typeface="Times New Roman" panose="02020603050405020304" pitchFamily="18" charset="0"/>
                <a:cs typeface="Times New Roman" panose="02020603050405020304" pitchFamily="18" charset="0"/>
              </a:rPr>
              <a:t>– Assign severity level (low/medium/high) based on potential impact and damage</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Escalation</a:t>
            </a:r>
            <a:r>
              <a:rPr lang="en-US" sz="1800" b="1" dirty="0">
                <a:effectLst/>
                <a:latin typeface="Times New Roman" panose="02020603050405020304" pitchFamily="18" charset="0"/>
                <a:cs typeface="Times New Roman" panose="02020603050405020304" pitchFamily="18" charset="0"/>
              </a:rPr>
              <a:t> </a:t>
            </a:r>
            <a:r>
              <a:rPr lang="en-US" sz="1800" b="0" dirty="0">
                <a:effectLst/>
                <a:latin typeface="Times New Roman" panose="02020603050405020304" pitchFamily="18" charset="0"/>
                <a:cs typeface="Times New Roman" panose="02020603050405020304" pitchFamily="18" charset="0"/>
              </a:rPr>
              <a:t>– Report the incident to appropriate parties based on the severity threshold</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Containment</a:t>
            </a:r>
            <a:r>
              <a:rPr lang="en-US" sz="1800" b="0" dirty="0">
                <a:effectLst/>
                <a:latin typeface="Times New Roman" panose="02020603050405020304" pitchFamily="18" charset="0"/>
                <a:cs typeface="Times New Roman" panose="02020603050405020304" pitchFamily="18" charset="0"/>
              </a:rPr>
              <a:t> – Initiate containment of high/critical incidents to isolate and limit damage</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Queuing</a:t>
            </a:r>
            <a:r>
              <a:rPr lang="en-US" sz="1800" b="1" dirty="0">
                <a:effectLst/>
                <a:latin typeface="Times New Roman" panose="02020603050405020304" pitchFamily="18" charset="0"/>
                <a:cs typeface="Times New Roman" panose="02020603050405020304" pitchFamily="18" charset="0"/>
              </a:rPr>
              <a:t> </a:t>
            </a:r>
            <a:r>
              <a:rPr lang="en-US" sz="1800" b="0" dirty="0">
                <a:effectLst/>
                <a:latin typeface="Times New Roman" panose="02020603050405020304" pitchFamily="18" charset="0"/>
                <a:cs typeface="Times New Roman" panose="02020603050405020304" pitchFamily="18" charset="0"/>
              </a:rPr>
              <a:t>– Add lower severity incidents to the queue for future response based on resources</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Eradication</a:t>
            </a:r>
            <a:r>
              <a:rPr lang="en-US" sz="1800" b="0" dirty="0">
                <a:effectLst/>
                <a:latin typeface="Times New Roman" panose="02020603050405020304" pitchFamily="18" charset="0"/>
                <a:cs typeface="Times New Roman" panose="02020603050405020304" pitchFamily="18" charset="0"/>
              </a:rPr>
              <a:t> – For severe events, execute steps to eliminate threats from the environment</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Recovery </a:t>
            </a:r>
            <a:r>
              <a:rPr lang="en-US" sz="1800" b="0" dirty="0">
                <a:effectLst/>
                <a:latin typeface="Times New Roman" panose="02020603050405020304" pitchFamily="18" charset="0"/>
                <a:cs typeface="Times New Roman" panose="02020603050405020304" pitchFamily="18" charset="0"/>
              </a:rPr>
              <a:t>– For severe events, start restoration of impacted systems and data</a:t>
            </a:r>
          </a:p>
          <a:p>
            <a:pPr algn="just">
              <a:lnSpc>
                <a:spcPct val="110000"/>
              </a:lnSpc>
              <a:buFont typeface="+mj-lt"/>
              <a:buAutoNum type="arabicPeriod"/>
            </a:pPr>
            <a:r>
              <a:rPr lang="en-US" sz="1800" b="1" dirty="0">
                <a:solidFill>
                  <a:schemeClr val="accent3"/>
                </a:solidFill>
                <a:effectLst/>
                <a:latin typeface="Times New Roman" panose="02020603050405020304" pitchFamily="18" charset="0"/>
                <a:cs typeface="Times New Roman" panose="02020603050405020304" pitchFamily="18" charset="0"/>
              </a:rPr>
              <a:t>Circle Back </a:t>
            </a:r>
            <a:r>
              <a:rPr lang="en-US" sz="1800" b="0" dirty="0">
                <a:effectLst/>
                <a:latin typeface="Times New Roman" panose="02020603050405020304" pitchFamily="18" charset="0"/>
                <a:cs typeface="Times New Roman" panose="02020603050405020304" pitchFamily="18" charset="0"/>
              </a:rPr>
              <a:t>– Continuously analyze and Triage new security alerts as they come in</a:t>
            </a:r>
          </a:p>
        </p:txBody>
      </p:sp>
    </p:spTree>
    <p:extLst>
      <p:ext uri="{BB962C8B-B14F-4D97-AF65-F5344CB8AC3E}">
        <p14:creationId xmlns:p14="http://schemas.microsoft.com/office/powerpoint/2010/main" val="4045939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0873-6193-E300-1835-BA545D87D6A3}"/>
              </a:ext>
            </a:extLst>
          </p:cNvPr>
          <p:cNvSpPr>
            <a:spLocks noGrp="1"/>
          </p:cNvSpPr>
          <p:nvPr>
            <p:ph type="title"/>
          </p:nvPr>
        </p:nvSpPr>
        <p:spPr/>
        <p:txBody>
          <a:bodyPr>
            <a:normAutofit/>
          </a:bodyPr>
          <a:lstStyle/>
          <a:p>
            <a:r>
              <a:rPr lang="en-US" sz="3600" b="1" dirty="0">
                <a:solidFill>
                  <a:srgbClr val="00B0F0"/>
                </a:solidFill>
                <a:latin typeface="Times New Roman" panose="02020603050405020304" pitchFamily="18" charset="0"/>
                <a:cs typeface="Times New Roman" panose="02020603050405020304" pitchFamily="18" charset="0"/>
              </a:rPr>
              <a:t>Understanding the Triage Analysis Process</a:t>
            </a:r>
          </a:p>
        </p:txBody>
      </p:sp>
      <p:sp>
        <p:nvSpPr>
          <p:cNvPr id="3" name="Content Placeholder 2">
            <a:extLst>
              <a:ext uri="{FF2B5EF4-FFF2-40B4-BE49-F238E27FC236}">
                <a16:creationId xmlns:a16="http://schemas.microsoft.com/office/drawing/2014/main" id="{259B1428-DDA8-D943-9169-05F05AE3F859}"/>
              </a:ext>
            </a:extLst>
          </p:cNvPr>
          <p:cNvSpPr>
            <a:spLocks noGrp="1"/>
          </p:cNvSpPr>
          <p:nvPr>
            <p:ph idx="1"/>
          </p:nvPr>
        </p:nvSpPr>
        <p:spPr>
          <a:xfrm>
            <a:off x="838200" y="1484500"/>
            <a:ext cx="10768781" cy="4916588"/>
          </a:xfrm>
        </p:spPr>
        <p:txBody>
          <a:bodyPr>
            <a:normAutofit/>
          </a:bodyPr>
          <a:lstStyle/>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accomplish this objective, it’s useful to </a:t>
            </a:r>
            <a:r>
              <a:rPr lang="en-US" sz="2000" b="1" dirty="0">
                <a:latin typeface="Times New Roman" panose="02020603050405020304" pitchFamily="18" charset="0"/>
                <a:cs typeface="Times New Roman" panose="02020603050405020304" pitchFamily="18" charset="0"/>
              </a:rPr>
              <a:t>separate alerts </a:t>
            </a:r>
            <a:r>
              <a:rPr lang="en-US" sz="2000" dirty="0">
                <a:latin typeface="Times New Roman" panose="02020603050405020304" pitchFamily="18" charset="0"/>
                <a:cs typeface="Times New Roman" panose="02020603050405020304" pitchFamily="18" charset="0"/>
              </a:rPr>
              <a:t>into the following three categories:  </a:t>
            </a:r>
          </a:p>
          <a:p>
            <a:pPr>
              <a:lnSpc>
                <a:spcPct val="150000"/>
              </a:lnSpc>
              <a:buFont typeface="Arial" panose="020B0604020202020204" pitchFamily="34" charset="0"/>
              <a:buChar char="•"/>
            </a:pPr>
            <a:r>
              <a:rPr lang="en-US" sz="2000" b="1" dirty="0">
                <a:solidFill>
                  <a:schemeClr val="accent3"/>
                </a:solidFill>
                <a:latin typeface="Times New Roman" panose="02020603050405020304" pitchFamily="18" charset="0"/>
                <a:cs typeface="Times New Roman" panose="02020603050405020304" pitchFamily="18" charset="0"/>
              </a:rPr>
              <a:t>Low-priority: </a:t>
            </a:r>
            <a:r>
              <a:rPr lang="en-US" sz="2000" dirty="0">
                <a:latin typeface="Times New Roman" panose="02020603050405020304" pitchFamily="18" charset="0"/>
                <a:cs typeface="Times New Roman" panose="02020603050405020304" pitchFamily="18" charset="0"/>
              </a:rPr>
              <a:t>Alerts that are unlikely to have any significant impact on business performance or customer satisfaction. </a:t>
            </a:r>
          </a:p>
          <a:p>
            <a:pPr>
              <a:lnSpc>
                <a:spcPct val="150000"/>
              </a:lnSpc>
              <a:buFont typeface="Arial" panose="020B0604020202020204" pitchFamily="34" charset="0"/>
              <a:buChar char="•"/>
            </a:pPr>
            <a:r>
              <a:rPr lang="en-US" sz="2000" b="1" dirty="0">
                <a:solidFill>
                  <a:schemeClr val="accent3"/>
                </a:solidFill>
                <a:latin typeface="Times New Roman" panose="02020603050405020304" pitchFamily="18" charset="0"/>
                <a:cs typeface="Times New Roman" panose="02020603050405020304" pitchFamily="18" charset="0"/>
              </a:rPr>
              <a:t>Medium-priority</a:t>
            </a:r>
            <a:r>
              <a:rPr lang="en-US" sz="2000" dirty="0">
                <a:solidFill>
                  <a:schemeClr val="accent3"/>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Alerts that may have some impact on business performance or customer satisfaction, but their resolution can be delayed.  </a:t>
            </a:r>
          </a:p>
          <a:p>
            <a:pPr>
              <a:lnSpc>
                <a:spcPct val="150000"/>
              </a:lnSpc>
              <a:buFont typeface="Arial" panose="020B0604020202020204" pitchFamily="34" charset="0"/>
              <a:buChar char="•"/>
            </a:pPr>
            <a:r>
              <a:rPr lang="en-US" sz="2000" b="1" dirty="0">
                <a:solidFill>
                  <a:schemeClr val="accent3"/>
                </a:solidFill>
                <a:latin typeface="Times New Roman" panose="02020603050405020304" pitchFamily="18" charset="0"/>
                <a:cs typeface="Times New Roman" panose="02020603050405020304" pitchFamily="18" charset="0"/>
              </a:rPr>
              <a:t>High-priority</a:t>
            </a:r>
            <a:r>
              <a:rPr lang="en-US" sz="2000" dirty="0">
                <a:solidFill>
                  <a:schemeClr val="accent3"/>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Alerts that are likely to have a serious impact on business performance or customer satisfaction unless resolved immediately.</a:t>
            </a:r>
          </a:p>
          <a:p>
            <a:pPr marL="0" indent="0" algn="just">
              <a:lnSpc>
                <a:spcPct val="110000"/>
              </a:lnSpc>
              <a:buNone/>
            </a:pPr>
            <a:endParaRPr lang="en-US" sz="2000" u="sng" dirty="0"/>
          </a:p>
        </p:txBody>
      </p:sp>
    </p:spTree>
    <p:extLst>
      <p:ext uri="{BB962C8B-B14F-4D97-AF65-F5344CB8AC3E}">
        <p14:creationId xmlns:p14="http://schemas.microsoft.com/office/powerpoint/2010/main" val="2232241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0873-6193-E300-1835-BA545D87D6A3}"/>
              </a:ext>
            </a:extLst>
          </p:cNvPr>
          <p:cNvSpPr>
            <a:spLocks noGrp="1"/>
          </p:cNvSpPr>
          <p:nvPr>
            <p:ph type="title"/>
          </p:nvPr>
        </p:nvSpPr>
        <p:spPr/>
        <p:txBody>
          <a:bodyPr>
            <a:normAutofit/>
          </a:bodyPr>
          <a:lstStyle/>
          <a:p>
            <a:r>
              <a:rPr lang="en-US" sz="3600" b="1" dirty="0">
                <a:solidFill>
                  <a:srgbClr val="00B0F0"/>
                </a:solidFill>
                <a:latin typeface="Times New Roman" panose="02020603050405020304" pitchFamily="18" charset="0"/>
                <a:cs typeface="Times New Roman" panose="02020603050405020304" pitchFamily="18" charset="0"/>
              </a:rPr>
              <a:t>Understanding the Triage Analysis Process</a:t>
            </a:r>
          </a:p>
        </p:txBody>
      </p:sp>
      <p:sp>
        <p:nvSpPr>
          <p:cNvPr id="3" name="Content Placeholder 2">
            <a:extLst>
              <a:ext uri="{FF2B5EF4-FFF2-40B4-BE49-F238E27FC236}">
                <a16:creationId xmlns:a16="http://schemas.microsoft.com/office/drawing/2014/main" id="{259B1428-DDA8-D943-9169-05F05AE3F859}"/>
              </a:ext>
            </a:extLst>
          </p:cNvPr>
          <p:cNvSpPr>
            <a:spLocks noGrp="1"/>
          </p:cNvSpPr>
          <p:nvPr>
            <p:ph idx="1"/>
          </p:nvPr>
        </p:nvSpPr>
        <p:spPr>
          <a:xfrm>
            <a:off x="838200" y="1350030"/>
            <a:ext cx="10768781" cy="491658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So, what kind of criteria should you take into consideration when categorizing your alerts? That’s where the IT Infrastructure Library (ITIL) series of best practices for managing information systems can help.  </a:t>
            </a:r>
          </a:p>
          <a:p>
            <a:pPr algn="just">
              <a:lnSpc>
                <a:spcPct val="150000"/>
              </a:lnSpc>
            </a:pPr>
            <a:r>
              <a:rPr lang="en-US" sz="2000" dirty="0">
                <a:latin typeface="Times New Roman" panose="02020603050405020304" pitchFamily="18" charset="0"/>
                <a:cs typeface="Times New Roman" panose="02020603050405020304" pitchFamily="18" charset="0"/>
              </a:rPr>
              <a:t>According to ITIL</a:t>
            </a:r>
            <a:r>
              <a:rPr lang="en-US" sz="2000" b="1" dirty="0">
                <a:latin typeface="Times New Roman" panose="02020603050405020304" pitchFamily="18" charset="0"/>
                <a:cs typeface="Times New Roman" panose="02020603050405020304" pitchFamily="18" charset="0"/>
              </a:rPr>
              <a:t>, </a:t>
            </a:r>
            <a:r>
              <a:rPr lang="en-US" sz="2000" b="1" dirty="0">
                <a:solidFill>
                  <a:schemeClr val="accent3"/>
                </a:solidFill>
                <a:latin typeface="Times New Roman" panose="02020603050405020304" pitchFamily="18" charset="0"/>
                <a:cs typeface="Times New Roman" panose="02020603050405020304" pitchFamily="18" charset="0"/>
              </a:rPr>
              <a:t>alerts can be prioritized </a:t>
            </a:r>
            <a:r>
              <a:rPr lang="en-US" sz="2000" dirty="0">
                <a:latin typeface="Times New Roman" panose="02020603050405020304" pitchFamily="18" charset="0"/>
                <a:cs typeface="Times New Roman" panose="02020603050405020304" pitchFamily="18" charset="0"/>
              </a:rPr>
              <a:t>based on the following criteria:   </a:t>
            </a:r>
          </a:p>
          <a:p>
            <a:pPr algn="just">
              <a:lnSpc>
                <a:spcPct val="150000"/>
              </a:lnSpc>
              <a:buFont typeface="Arial" panose="020B0604020202020204" pitchFamily="34" charset="0"/>
              <a:buChar char="•"/>
            </a:pPr>
            <a:r>
              <a:rPr lang="en-US" sz="2000" b="1" dirty="0">
                <a:solidFill>
                  <a:srgbClr val="FF0000"/>
                </a:solidFill>
                <a:latin typeface="Times New Roman" panose="02020603050405020304" pitchFamily="18" charset="0"/>
                <a:cs typeface="Times New Roman" panose="02020603050405020304" pitchFamily="18" charset="0"/>
              </a:rPr>
              <a:t>Impact</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How severely will the business be affected.   </a:t>
            </a:r>
          </a:p>
          <a:p>
            <a:pPr algn="just">
              <a:lnSpc>
                <a:spcPct val="150000"/>
              </a:lnSpc>
              <a:buFont typeface="Arial" panose="020B0604020202020204" pitchFamily="34" charset="0"/>
              <a:buChar char="•"/>
            </a:pPr>
            <a:r>
              <a:rPr lang="en-US" sz="2000" b="1" dirty="0">
                <a:solidFill>
                  <a:srgbClr val="FF0000"/>
                </a:solidFill>
                <a:latin typeface="Times New Roman" panose="02020603050405020304" pitchFamily="18" charset="0"/>
                <a:cs typeface="Times New Roman" panose="02020603050405020304" pitchFamily="18" charset="0"/>
              </a:rPr>
              <a:t>Urgency</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How long can the resolution be delayed.</a:t>
            </a:r>
          </a:p>
          <a:p>
            <a:pPr algn="just">
              <a:lnSpc>
                <a:spcPct val="150000"/>
              </a:lnSpc>
            </a:pPr>
            <a:r>
              <a:rPr lang="en-US" sz="2000" dirty="0">
                <a:latin typeface="Times New Roman" panose="02020603050405020304" pitchFamily="18" charset="0"/>
                <a:cs typeface="Times New Roman" panose="02020603050405020304" pitchFamily="18" charset="0"/>
              </a:rPr>
              <a:t>An alert’s priority is the combination of its impact and urgency. The incident triage matrix below can help you correctly prioritize your alerts.</a:t>
            </a:r>
          </a:p>
        </p:txBody>
      </p:sp>
    </p:spTree>
    <p:extLst>
      <p:ext uri="{BB962C8B-B14F-4D97-AF65-F5344CB8AC3E}">
        <p14:creationId xmlns:p14="http://schemas.microsoft.com/office/powerpoint/2010/main" val="402604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hart of impact and impact&#10;&#10;Description automatically generated">
            <a:extLst>
              <a:ext uri="{FF2B5EF4-FFF2-40B4-BE49-F238E27FC236}">
                <a16:creationId xmlns:a16="http://schemas.microsoft.com/office/drawing/2014/main" id="{9BF2CF3C-7993-5F02-F488-FD8B877EC5A6}"/>
              </a:ext>
            </a:extLst>
          </p:cNvPr>
          <p:cNvPicPr>
            <a:picLocks noGrp="1" noChangeAspect="1"/>
          </p:cNvPicPr>
          <p:nvPr>
            <p:ph idx="1"/>
          </p:nvPr>
        </p:nvPicPr>
        <p:blipFill>
          <a:blip r:embed="rId2"/>
          <a:stretch>
            <a:fillRect/>
          </a:stretch>
        </p:blipFill>
        <p:spPr>
          <a:xfrm>
            <a:off x="1586018" y="247197"/>
            <a:ext cx="9019963" cy="6082166"/>
          </a:xfrm>
        </p:spPr>
      </p:pic>
    </p:spTree>
    <p:extLst>
      <p:ext uri="{BB962C8B-B14F-4D97-AF65-F5344CB8AC3E}">
        <p14:creationId xmlns:p14="http://schemas.microsoft.com/office/powerpoint/2010/main" val="781779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6DC2-937D-F681-BAA8-7E82995B7A01}"/>
              </a:ext>
            </a:extLst>
          </p:cNvPr>
          <p:cNvSpPr>
            <a:spLocks noGrp="1"/>
          </p:cNvSpPr>
          <p:nvPr>
            <p:ph type="title"/>
          </p:nvPr>
        </p:nvSpPr>
        <p:spPr>
          <a:xfrm>
            <a:off x="838200" y="365126"/>
            <a:ext cx="11075894" cy="1325563"/>
          </a:xfrm>
        </p:spPr>
        <p:txBody>
          <a:bodyPr>
            <a:normAutofit fontScale="90000"/>
          </a:bodyPr>
          <a:lstStyle/>
          <a:p>
            <a:r>
              <a:rPr lang="en-US" sz="3600" b="1" dirty="0">
                <a:solidFill>
                  <a:srgbClr val="00B0F0"/>
                </a:solidFill>
                <a:latin typeface="Times New Roman" panose="02020603050405020304" pitchFamily="18" charset="0"/>
                <a:cs typeface="Times New Roman" panose="02020603050405020304" pitchFamily="18" charset="0"/>
              </a:rPr>
              <a:t>Examples of Triage Cybersecurity Incidents (1)</a:t>
            </a:r>
            <a:r>
              <a:rPr lang="en-US" sz="3600" b="1" dirty="0">
                <a:solidFill>
                  <a:schemeClr val="accent3"/>
                </a:solidFill>
                <a:latin typeface="Times New Roman" panose="02020603050405020304" pitchFamily="18" charset="0"/>
                <a:cs typeface="Times New Roman" panose="02020603050405020304" pitchFamily="18" charset="0"/>
              </a:rPr>
              <a:t> (Low-Priority)</a:t>
            </a:r>
            <a:br>
              <a:rPr lang="en-US" sz="3600" b="1" dirty="0">
                <a:solidFill>
                  <a:schemeClr val="accent3"/>
                </a:solidFill>
                <a:latin typeface="Times New Roman" panose="02020603050405020304" pitchFamily="18" charset="0"/>
                <a:cs typeface="Times New Roman" panose="02020603050405020304" pitchFamily="18" charset="0"/>
              </a:rPr>
            </a:br>
            <a:endParaRPr lang="en-US" sz="3600"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17863E-247E-93FB-BFD9-3324A4AB0112}"/>
              </a:ext>
            </a:extLst>
          </p:cNvPr>
          <p:cNvSpPr>
            <a:spLocks noGrp="1"/>
          </p:cNvSpPr>
          <p:nvPr>
            <p:ph idx="1"/>
          </p:nvPr>
        </p:nvSpPr>
        <p:spPr>
          <a:xfrm>
            <a:off x="662709" y="1446935"/>
            <a:ext cx="10515600" cy="4351338"/>
          </a:xfrm>
        </p:spPr>
        <p:txBody>
          <a:bodyPr/>
          <a:lstStyle/>
          <a:p>
            <a:pPr marL="0" indent="0">
              <a:buNone/>
            </a:pPr>
            <a:r>
              <a:rPr lang="en-US" sz="2000" b="1" dirty="0">
                <a:solidFill>
                  <a:schemeClr val="accent3"/>
                </a:solidFill>
                <a:latin typeface="Times New Roman" panose="02020603050405020304" pitchFamily="18" charset="0"/>
                <a:cs typeface="Times New Roman" panose="02020603050405020304" pitchFamily="18" charset="0"/>
              </a:rPr>
              <a:t>Heavy Traffic on Port 80 (Low-Priority)</a:t>
            </a:r>
          </a:p>
          <a:p>
            <a:pPr algn="just">
              <a:lnSpc>
                <a:spcPct val="150000"/>
              </a:lnSpc>
            </a:pPr>
            <a:r>
              <a:rPr lang="en-US" sz="2000" dirty="0">
                <a:latin typeface="Times New Roman" panose="02020603050405020304" pitchFamily="18" charset="0"/>
                <a:cs typeface="Times New Roman" panose="02020603050405020304" pitchFamily="18" charset="0"/>
              </a:rPr>
              <a:t>Heavy Traffic on Port 80 (Low Priority)Port 80 is used for HTTP, which handles normal web browsing (unencrypted web pages).When there is heavy traffic on this port, it usually means employees are downloading or viewing a lot of web content.</a:t>
            </a:r>
          </a:p>
          <a:p>
            <a:pPr algn="just">
              <a:lnSpc>
                <a:spcPct val="150000"/>
              </a:lnSpc>
            </a:pPr>
            <a:r>
              <a:rPr lang="en-US" sz="2000" dirty="0">
                <a:solidFill>
                  <a:schemeClr val="accent3"/>
                </a:solidFill>
                <a:latin typeface="Times New Roman" panose="02020603050405020304" pitchFamily="18" charset="0"/>
                <a:cs typeface="Times New Roman" panose="02020603050405020304" pitchFamily="18" charset="0"/>
              </a:rPr>
              <a:t>Possible Cause</a:t>
            </a:r>
            <a:r>
              <a:rPr lang="en-US" sz="2000" dirty="0">
                <a:latin typeface="Times New Roman" panose="02020603050405020304" pitchFamily="18" charset="0"/>
                <a:cs typeface="Times New Roman" panose="02020603050405020304" pitchFamily="18" charset="0"/>
              </a:rPr>
              <a:t>: Normal work activity, such as accessing websites or downloading reports.</a:t>
            </a:r>
          </a:p>
          <a:p>
            <a:pPr algn="just">
              <a:lnSpc>
                <a:spcPct val="150000"/>
              </a:lnSpc>
            </a:pPr>
            <a:r>
              <a:rPr lang="en-US" sz="2000" dirty="0">
                <a:solidFill>
                  <a:schemeClr val="accent3"/>
                </a:solidFill>
                <a:latin typeface="Times New Roman" panose="02020603050405020304" pitchFamily="18" charset="0"/>
                <a:cs typeface="Times New Roman" panose="02020603050405020304" pitchFamily="18" charset="0"/>
              </a:rPr>
              <a:t>Potential Risk</a:t>
            </a:r>
            <a:r>
              <a:rPr lang="en-US" sz="2000" dirty="0">
                <a:latin typeface="Times New Roman" panose="02020603050405020304" pitchFamily="18" charset="0"/>
                <a:cs typeface="Times New Roman" panose="02020603050405020304" pitchFamily="18" charset="0"/>
              </a:rPr>
              <a:t>: Some users might visit unsafe or illegal websites that could contain malware.</a:t>
            </a:r>
          </a:p>
          <a:p>
            <a:pPr algn="just">
              <a:lnSpc>
                <a:spcPct val="150000"/>
              </a:lnSpc>
            </a:pPr>
            <a:r>
              <a:rPr lang="en-US" sz="2000" dirty="0">
                <a:solidFill>
                  <a:schemeClr val="accent3"/>
                </a:solidFill>
                <a:latin typeface="Times New Roman" panose="02020603050405020304" pitchFamily="18" charset="0"/>
                <a:cs typeface="Times New Roman" panose="02020603050405020304" pitchFamily="18" charset="0"/>
              </a:rPr>
              <a:t>Action</a:t>
            </a:r>
            <a:r>
              <a:rPr lang="en-US" sz="2000" dirty="0">
                <a:latin typeface="Times New Roman" panose="02020603050405020304" pitchFamily="18" charset="0"/>
                <a:cs typeface="Times New Roman" panose="02020603050405020304" pitchFamily="18" charset="0"/>
              </a:rPr>
              <a:t>: Monitor the traffic and check for unusual spikes, especially after business hours, to ensure there’s no suspicious activity.</a:t>
            </a:r>
          </a:p>
        </p:txBody>
      </p:sp>
    </p:spTree>
    <p:extLst>
      <p:ext uri="{BB962C8B-B14F-4D97-AF65-F5344CB8AC3E}">
        <p14:creationId xmlns:p14="http://schemas.microsoft.com/office/powerpoint/2010/main" val="2889165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6DC2-937D-F681-BAA8-7E82995B7A01}"/>
              </a:ext>
            </a:extLst>
          </p:cNvPr>
          <p:cNvSpPr>
            <a:spLocks noGrp="1"/>
          </p:cNvSpPr>
          <p:nvPr>
            <p:ph type="title"/>
          </p:nvPr>
        </p:nvSpPr>
        <p:spPr>
          <a:xfrm>
            <a:off x="838200" y="365126"/>
            <a:ext cx="11353800" cy="1325563"/>
          </a:xfrm>
        </p:spPr>
        <p:txBody>
          <a:bodyPr>
            <a:noAutofit/>
          </a:bodyPr>
          <a:lstStyle/>
          <a:p>
            <a:r>
              <a:rPr lang="en-US" sz="3000" b="1" dirty="0">
                <a:solidFill>
                  <a:srgbClr val="00B0F0"/>
                </a:solidFill>
                <a:latin typeface="Times New Roman" panose="02020603050405020304" pitchFamily="18" charset="0"/>
                <a:cs typeface="Times New Roman" panose="02020603050405020304" pitchFamily="18" charset="0"/>
              </a:rPr>
              <a:t>Examples of Triage Cybersecurity Incidents (2)</a:t>
            </a:r>
            <a:r>
              <a:rPr lang="en-US" sz="3000" b="1" dirty="0">
                <a:solidFill>
                  <a:schemeClr val="accent3"/>
                </a:solidFill>
                <a:latin typeface="Times New Roman" panose="02020603050405020304" pitchFamily="18" charset="0"/>
                <a:cs typeface="Times New Roman" panose="02020603050405020304" pitchFamily="18" charset="0"/>
              </a:rPr>
              <a:t> (Medium Priority)</a:t>
            </a:r>
            <a:r>
              <a:rPr lang="en-US" sz="3200" b="1" dirty="0">
                <a:solidFill>
                  <a:schemeClr val="accent3"/>
                </a:solidFill>
                <a:latin typeface="Times New Roman" panose="02020603050405020304" pitchFamily="18" charset="0"/>
                <a:cs typeface="Times New Roman" panose="02020603050405020304" pitchFamily="18" charset="0"/>
              </a:rPr>
              <a:t/>
            </a:r>
            <a:br>
              <a:rPr lang="en-US" sz="3200" b="1" dirty="0">
                <a:solidFill>
                  <a:schemeClr val="accent3"/>
                </a:solidFill>
                <a:latin typeface="Times New Roman" panose="02020603050405020304" pitchFamily="18" charset="0"/>
                <a:cs typeface="Times New Roman" panose="02020603050405020304" pitchFamily="18" charset="0"/>
              </a:rPr>
            </a:br>
            <a:endParaRPr lang="en-US" sz="3200"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17863E-247E-93FB-BFD9-3324A4AB0112}"/>
              </a:ext>
            </a:extLst>
          </p:cNvPr>
          <p:cNvSpPr>
            <a:spLocks noGrp="1"/>
          </p:cNvSpPr>
          <p:nvPr>
            <p:ph idx="1"/>
          </p:nvPr>
        </p:nvSpPr>
        <p:spPr>
          <a:xfrm>
            <a:off x="838200" y="1237129"/>
            <a:ext cx="10515600" cy="4706752"/>
          </a:xfrm>
        </p:spPr>
        <p:txBody>
          <a:bodyPr>
            <a:normAutofit fontScale="92500"/>
          </a:bodyPr>
          <a:lstStyle/>
          <a:p>
            <a:pPr marL="0" indent="0" algn="just">
              <a:lnSpc>
                <a:spcPct val="150000"/>
              </a:lnSpc>
              <a:buNone/>
            </a:pPr>
            <a:r>
              <a:rPr lang="en-US" sz="1800" b="1" dirty="0">
                <a:solidFill>
                  <a:schemeClr val="accent3"/>
                </a:solidFill>
                <a:latin typeface="Times New Roman" panose="02020603050405020304" pitchFamily="18" charset="0"/>
                <a:cs typeface="Times New Roman" panose="02020603050405020304" pitchFamily="18" charset="0"/>
              </a:rPr>
              <a:t>Phishing Attempt (Medium Priority)</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Phishing attacks make up </a:t>
            </a:r>
            <a:r>
              <a:rPr lang="en-US" sz="1800" b="1" dirty="0">
                <a:latin typeface="Times New Roman" panose="02020603050405020304" pitchFamily="18" charset="0"/>
                <a:cs typeface="Times New Roman" panose="02020603050405020304" pitchFamily="18" charset="0"/>
              </a:rPr>
              <a:t>over 80% of security incidents</a:t>
            </a:r>
            <a:r>
              <a:rPr lang="en-US" sz="1800" dirty="0">
                <a:latin typeface="Times New Roman" panose="02020603050405020304" pitchFamily="18" charset="0"/>
                <a:cs typeface="Times New Roman" panose="02020603050405020304" pitchFamily="18" charset="0"/>
              </a:rPr>
              <a:t>. They usually aren’t urgent but can still cause serious problems if someone falls for them.</a:t>
            </a:r>
          </a:p>
          <a:p>
            <a:pPr marL="0" indent="0" algn="just">
              <a:lnSpc>
                <a:spcPct val="150000"/>
              </a:lnSpc>
              <a:buNone/>
            </a:pPr>
            <a:r>
              <a:rPr lang="en-US" sz="1800" b="1" dirty="0">
                <a:solidFill>
                  <a:schemeClr val="accent3"/>
                </a:solidFill>
                <a:latin typeface="Times New Roman" panose="02020603050405020304" pitchFamily="18" charset="0"/>
                <a:cs typeface="Times New Roman" panose="02020603050405020304" pitchFamily="18" charset="0"/>
              </a:rPr>
              <a:t>Description:</a:t>
            </a:r>
            <a:r>
              <a:rPr lang="en-US" sz="1800" dirty="0">
                <a:solidFill>
                  <a:schemeClr val="accent3"/>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 phishing email tries to trick users into sharing sensitive information like passwords or clicking malicious links.</a:t>
            </a:r>
          </a:p>
          <a:p>
            <a:pPr marL="0" indent="0" algn="just">
              <a:lnSpc>
                <a:spcPct val="150000"/>
              </a:lnSpc>
              <a:buNone/>
            </a:pPr>
            <a:r>
              <a:rPr lang="en-US" sz="1800" b="1" dirty="0">
                <a:solidFill>
                  <a:schemeClr val="accent3"/>
                </a:solidFill>
                <a:latin typeface="Times New Roman" panose="02020603050405020304" pitchFamily="18" charset="0"/>
                <a:cs typeface="Times New Roman" panose="02020603050405020304" pitchFamily="18" charset="0"/>
              </a:rPr>
              <a:t>Why Medium Priority:</a:t>
            </a:r>
            <a:r>
              <a:rPr lang="en-US" sz="1800" dirty="0">
                <a:solidFill>
                  <a:schemeClr val="accent3"/>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It’s not an active attack yet, but it can lead to data theft or malware infections if ignored.</a:t>
            </a:r>
          </a:p>
          <a:p>
            <a:pPr marL="0" indent="0" algn="just">
              <a:lnSpc>
                <a:spcPct val="150000"/>
              </a:lnSpc>
              <a:buNone/>
            </a:pPr>
            <a:r>
              <a:rPr lang="en-US" sz="1800" b="1" dirty="0">
                <a:solidFill>
                  <a:schemeClr val="accent3"/>
                </a:solidFill>
                <a:latin typeface="Times New Roman" panose="02020603050405020304" pitchFamily="18" charset="0"/>
                <a:cs typeface="Times New Roman" panose="02020603050405020304" pitchFamily="18" charset="0"/>
              </a:rPr>
              <a:t>Action:</a:t>
            </a:r>
            <a:endParaRPr lang="en-US" sz="1800" dirty="0">
              <a:solidFill>
                <a:schemeClr val="accent3"/>
              </a:solidFill>
              <a:latin typeface="Times New Roman" panose="02020603050405020304" pitchFamily="18" charset="0"/>
              <a:cs typeface="Times New Roman" panose="02020603050405020304" pitchFamily="18" charset="0"/>
            </a:endParaRPr>
          </a:p>
          <a:p>
            <a:pPr lvl="1" algn="just">
              <a:lnSpc>
                <a:spcPct val="150000"/>
              </a:lnSpc>
            </a:pPr>
            <a:r>
              <a:rPr lang="en-US" sz="1800" dirty="0">
                <a:latin typeface="Times New Roman" panose="02020603050405020304" pitchFamily="18" charset="0"/>
                <a:cs typeface="Times New Roman" panose="02020603050405020304" pitchFamily="18" charset="0"/>
              </a:rPr>
              <a:t>Block the sender’s email address.</a:t>
            </a:r>
          </a:p>
          <a:p>
            <a:pPr lvl="1" algn="just">
              <a:lnSpc>
                <a:spcPct val="150000"/>
              </a:lnSpc>
            </a:pPr>
            <a:r>
              <a:rPr lang="en-US" sz="1800" dirty="0">
                <a:latin typeface="Times New Roman" panose="02020603050405020304" pitchFamily="18" charset="0"/>
                <a:cs typeface="Times New Roman" panose="02020603050405020304" pitchFamily="18" charset="0"/>
              </a:rPr>
              <a:t>Warn and train employees to recognize and report similar emails.</a:t>
            </a:r>
          </a:p>
          <a:p>
            <a:pPr lvl="1" algn="just">
              <a:lnSpc>
                <a:spcPct val="150000"/>
              </a:lnSpc>
            </a:pPr>
            <a:r>
              <a:rPr lang="en-US" sz="1800" dirty="0">
                <a:latin typeface="Times New Roman" panose="02020603050405020304" pitchFamily="18" charset="0"/>
                <a:cs typeface="Times New Roman" panose="02020603050405020304" pitchFamily="18" charset="0"/>
              </a:rPr>
              <a:t>Monitor for repeated or new phishing attempts from different addresses.</a:t>
            </a:r>
          </a:p>
        </p:txBody>
      </p:sp>
    </p:spTree>
    <p:extLst>
      <p:ext uri="{BB962C8B-B14F-4D97-AF65-F5344CB8AC3E}">
        <p14:creationId xmlns:p14="http://schemas.microsoft.com/office/powerpoint/2010/main" val="282998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1B48-3221-409B-B89C-A3C36819E0CA}"/>
              </a:ext>
            </a:extLst>
          </p:cNvPr>
          <p:cNvSpPr>
            <a:spLocks noGrp="1"/>
          </p:cNvSpPr>
          <p:nvPr>
            <p:ph type="title"/>
          </p:nvPr>
        </p:nvSpPr>
        <p:spPr>
          <a:xfrm>
            <a:off x="865094" y="553385"/>
            <a:ext cx="10896600" cy="1325563"/>
          </a:xfrm>
        </p:spPr>
        <p:txBody>
          <a:bodyPr>
            <a:normAutofit fontScale="90000"/>
          </a:bodyPr>
          <a:lstStyle/>
          <a:p>
            <a:r>
              <a:rPr lang="en-US" sz="3400" b="1" dirty="0">
                <a:solidFill>
                  <a:srgbClr val="00B0F0"/>
                </a:solidFill>
                <a:latin typeface="Times New Roman" panose="02020603050405020304" pitchFamily="18" charset="0"/>
                <a:cs typeface="Times New Roman" panose="02020603050405020304" pitchFamily="18" charset="0"/>
              </a:rPr>
              <a:t>Examples of Triage Cybersecurity Incidents (2)</a:t>
            </a:r>
            <a:r>
              <a:rPr lang="en-US" sz="3400" b="1" dirty="0">
                <a:latin typeface="Times New Roman" panose="02020603050405020304" pitchFamily="18" charset="0"/>
                <a:cs typeface="Times New Roman" panose="02020603050405020304" pitchFamily="18" charset="0"/>
              </a:rPr>
              <a:t> </a:t>
            </a:r>
            <a:r>
              <a:rPr lang="en-US" sz="3400" b="1" dirty="0">
                <a:solidFill>
                  <a:schemeClr val="accent3"/>
                </a:solidFill>
                <a:latin typeface="Times New Roman" panose="02020603050405020304" pitchFamily="18" charset="0"/>
                <a:cs typeface="Times New Roman" panose="02020603050405020304" pitchFamily="18" charset="0"/>
              </a:rPr>
              <a:t>(High Priority)</a:t>
            </a:r>
            <a:r>
              <a:rPr lang="en-US" sz="3600" b="1" dirty="0">
                <a:latin typeface="Times New Roman" panose="02020603050405020304" pitchFamily="18" charset="0"/>
                <a:cs typeface="Times New Roman" panose="02020603050405020304" pitchFamily="18" charset="0"/>
              </a:rPr>
              <a:t/>
            </a:r>
            <a:br>
              <a:rPr lang="en-US" sz="3600" b="1" dirty="0">
                <a:latin typeface="Times New Roman" panose="02020603050405020304" pitchFamily="18" charset="0"/>
                <a:cs typeface="Times New Roman" panose="02020603050405020304" pitchFamily="18" charset="0"/>
              </a:rPr>
            </a:br>
            <a:endParaRPr lang="en-US" sz="3600" dirty="0"/>
          </a:p>
        </p:txBody>
      </p:sp>
      <p:sp>
        <p:nvSpPr>
          <p:cNvPr id="3" name="Content Placeholder 2">
            <a:extLst>
              <a:ext uri="{FF2B5EF4-FFF2-40B4-BE49-F238E27FC236}">
                <a16:creationId xmlns:a16="http://schemas.microsoft.com/office/drawing/2014/main" id="{A216E2AC-BDE5-4904-9B59-4E626E12ACFD}"/>
              </a:ext>
            </a:extLst>
          </p:cNvPr>
          <p:cNvSpPr>
            <a:spLocks noGrp="1"/>
          </p:cNvSpPr>
          <p:nvPr>
            <p:ph idx="1"/>
          </p:nvPr>
        </p:nvSpPr>
        <p:spPr>
          <a:xfrm>
            <a:off x="685799" y="1341530"/>
            <a:ext cx="10959354" cy="4611033"/>
          </a:xfrm>
        </p:spPr>
        <p:txBody>
          <a:bodyPr>
            <a:normAutofit fontScale="92500" lnSpcReduction="10000"/>
          </a:bodyPr>
          <a:lstStyle/>
          <a:p>
            <a:pPr marL="0" indent="0">
              <a:buNone/>
            </a:pPr>
            <a:r>
              <a:rPr lang="en-US" sz="2200" b="1" dirty="0">
                <a:solidFill>
                  <a:schemeClr val="accent3"/>
                </a:solidFill>
                <a:latin typeface="Times New Roman" panose="02020603050405020304" pitchFamily="18" charset="0"/>
                <a:cs typeface="Times New Roman" panose="02020603050405020304" pitchFamily="18" charset="0"/>
              </a:rPr>
              <a:t>Ransomware Attack (High Priority)</a:t>
            </a:r>
          </a:p>
          <a:p>
            <a:pPr marL="0" indent="0">
              <a:buNone/>
            </a:pPr>
            <a:r>
              <a:rPr lang="en-US" sz="2200" dirty="0">
                <a:latin typeface="Times New Roman" panose="02020603050405020304" pitchFamily="18" charset="0"/>
                <a:cs typeface="Times New Roman" panose="02020603050405020304" pitchFamily="18" charset="0"/>
              </a:rPr>
              <a:t>A ransomware attack encrypts files and demands payment (ransom) to unlock them. It can spread quickly and shut down critical business operations.</a:t>
            </a:r>
          </a:p>
          <a:p>
            <a:r>
              <a:rPr lang="en-US" sz="2200" b="1" dirty="0">
                <a:solidFill>
                  <a:schemeClr val="accent3"/>
                </a:solidFill>
                <a:latin typeface="Times New Roman" panose="02020603050405020304" pitchFamily="18" charset="0"/>
                <a:cs typeface="Times New Roman" panose="02020603050405020304" pitchFamily="18" charset="0"/>
              </a:rPr>
              <a:t>Why High Priority:</a:t>
            </a:r>
            <a:endParaRPr lang="en-US" sz="2200" dirty="0">
              <a:solidFill>
                <a:schemeClr val="accent3"/>
              </a:solidFill>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Causes </a:t>
            </a:r>
            <a:r>
              <a:rPr lang="en-US" sz="2200" b="1" dirty="0">
                <a:latin typeface="Times New Roman" panose="02020603050405020304" pitchFamily="18" charset="0"/>
                <a:cs typeface="Times New Roman" panose="02020603050405020304" pitchFamily="18" charset="0"/>
              </a:rPr>
              <a:t>immediate system downtime</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data loss</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Threatens </a:t>
            </a:r>
            <a:r>
              <a:rPr lang="en-US" sz="2200" b="1" dirty="0">
                <a:latin typeface="Times New Roman" panose="02020603050405020304" pitchFamily="18" charset="0"/>
                <a:cs typeface="Times New Roman" panose="02020603050405020304" pitchFamily="18" charset="0"/>
              </a:rPr>
              <a:t>business continuity</a:t>
            </a:r>
            <a:r>
              <a:rPr lang="en-US" sz="2200" dirty="0">
                <a:latin typeface="Times New Roman" panose="02020603050405020304" pitchFamily="18" charset="0"/>
                <a:cs typeface="Times New Roman" panose="02020603050405020304" pitchFamily="18" charset="0"/>
              </a:rPr>
              <a:t> and may lead to </a:t>
            </a:r>
            <a:r>
              <a:rPr lang="en-US" sz="2200" b="1" dirty="0">
                <a:latin typeface="Times New Roman" panose="02020603050405020304" pitchFamily="18" charset="0"/>
                <a:cs typeface="Times New Roman" panose="02020603050405020304" pitchFamily="18" charset="0"/>
              </a:rPr>
              <a:t>financial loss</a:t>
            </a:r>
            <a:r>
              <a:rPr lang="en-US" sz="2200" dirty="0">
                <a:latin typeface="Times New Roman" panose="02020603050405020304" pitchFamily="18" charset="0"/>
                <a:cs typeface="Times New Roman" panose="02020603050405020304" pitchFamily="18" charset="0"/>
              </a:rPr>
              <a:t> or </a:t>
            </a:r>
            <a:r>
              <a:rPr lang="en-US" sz="2200" b="1" dirty="0">
                <a:latin typeface="Times New Roman" panose="02020603050405020304" pitchFamily="18" charset="0"/>
                <a:cs typeface="Times New Roman" panose="02020603050405020304" pitchFamily="18" charset="0"/>
              </a:rPr>
              <a:t>data breaches</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Requires urgent containment to stop the spread.</a:t>
            </a:r>
          </a:p>
          <a:p>
            <a:r>
              <a:rPr lang="en-US" sz="2200" b="1" dirty="0">
                <a:solidFill>
                  <a:schemeClr val="accent3"/>
                </a:solidFill>
                <a:latin typeface="Times New Roman" panose="02020603050405020304" pitchFamily="18" charset="0"/>
                <a:cs typeface="Times New Roman" panose="02020603050405020304" pitchFamily="18" charset="0"/>
              </a:rPr>
              <a:t>Action:</a:t>
            </a:r>
            <a:endParaRPr lang="en-US" sz="2200" dirty="0">
              <a:solidFill>
                <a:schemeClr val="accent3"/>
              </a:solidFill>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Isolate</a:t>
            </a:r>
            <a:r>
              <a:rPr lang="en-US" sz="2200" dirty="0">
                <a:latin typeface="Times New Roman" panose="02020603050405020304" pitchFamily="18" charset="0"/>
                <a:cs typeface="Times New Roman" panose="02020603050405020304" pitchFamily="18" charset="0"/>
              </a:rPr>
              <a:t> the infected systems from the network immediately.</a:t>
            </a:r>
          </a:p>
          <a:p>
            <a:r>
              <a:rPr lang="en-US" sz="2200" b="1" dirty="0">
                <a:latin typeface="Times New Roman" panose="02020603050405020304" pitchFamily="18" charset="0"/>
                <a:cs typeface="Times New Roman" panose="02020603050405020304" pitchFamily="18" charset="0"/>
              </a:rPr>
              <a:t>Inform</a:t>
            </a:r>
            <a:r>
              <a:rPr lang="en-US" sz="2200" dirty="0">
                <a:latin typeface="Times New Roman" panose="02020603050405020304" pitchFamily="18" charset="0"/>
                <a:cs typeface="Times New Roman" panose="02020603050405020304" pitchFamily="18" charset="0"/>
              </a:rPr>
              <a:t> the cybersecurity team and management.</a:t>
            </a:r>
          </a:p>
          <a:p>
            <a:r>
              <a:rPr lang="en-US" sz="2200" b="1" dirty="0">
                <a:latin typeface="Times New Roman" panose="02020603050405020304" pitchFamily="18" charset="0"/>
                <a:cs typeface="Times New Roman" panose="02020603050405020304" pitchFamily="18" charset="0"/>
              </a:rPr>
              <a:t>Begin incident response</a:t>
            </a:r>
            <a:r>
              <a:rPr lang="en-US" sz="2200" dirty="0">
                <a:latin typeface="Times New Roman" panose="02020603050405020304" pitchFamily="18" charset="0"/>
                <a:cs typeface="Times New Roman" panose="02020603050405020304" pitchFamily="18" charset="0"/>
              </a:rPr>
              <a:t> — identify the ransomware type, restore data from backups, and remove the malware.</a:t>
            </a:r>
          </a:p>
          <a:p>
            <a:r>
              <a:rPr lang="en-US" sz="2200" b="1" dirty="0">
                <a:latin typeface="Times New Roman" panose="02020603050405020304" pitchFamily="18" charset="0"/>
                <a:cs typeface="Times New Roman" panose="02020603050405020304" pitchFamily="18" charset="0"/>
              </a:rPr>
              <a:t>Report</a:t>
            </a:r>
            <a:r>
              <a:rPr lang="en-US" sz="2200" dirty="0">
                <a:latin typeface="Times New Roman" panose="02020603050405020304" pitchFamily="18" charset="0"/>
                <a:cs typeface="Times New Roman" panose="02020603050405020304" pitchFamily="18" charset="0"/>
              </a:rPr>
              <a:t> the incident if required by law or policy.</a:t>
            </a:r>
          </a:p>
          <a:p>
            <a:endParaRPr lang="en-US" dirty="0"/>
          </a:p>
        </p:txBody>
      </p:sp>
    </p:spTree>
    <p:extLst>
      <p:ext uri="{BB962C8B-B14F-4D97-AF65-F5344CB8AC3E}">
        <p14:creationId xmlns:p14="http://schemas.microsoft.com/office/powerpoint/2010/main" val="39365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877C9-BF49-D1AE-737D-02E644A8CA64}"/>
              </a:ext>
            </a:extLst>
          </p:cNvPr>
          <p:cNvSpPr>
            <a:spLocks noGrp="1"/>
          </p:cNvSpPr>
          <p:nvPr>
            <p:ph type="ctrTitle"/>
          </p:nvPr>
        </p:nvSpPr>
        <p:spPr>
          <a:xfrm>
            <a:off x="5153024" y="3211455"/>
            <a:ext cx="6429375" cy="1266825"/>
          </a:xfrm>
        </p:spPr>
        <p:txBody>
          <a:bodyPr/>
          <a:lstStyle/>
          <a:p>
            <a:r>
              <a:rPr lang="en-GB" sz="3600" b="1" dirty="0">
                <a:effectLst/>
              </a:rPr>
              <a:t>Incident response workflows and procedures</a:t>
            </a:r>
            <a:endParaRPr lang="en-GB" b="1" dirty="0"/>
          </a:p>
        </p:txBody>
      </p:sp>
    </p:spTree>
    <p:extLst>
      <p:ext uri="{BB962C8B-B14F-4D97-AF65-F5344CB8AC3E}">
        <p14:creationId xmlns:p14="http://schemas.microsoft.com/office/powerpoint/2010/main" val="1355199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E8FBC-53B8-1177-651B-91C5E9EC96B5}"/>
              </a:ext>
            </a:extLst>
          </p:cNvPr>
          <p:cNvSpPr>
            <a:spLocks noGrp="1"/>
          </p:cNvSpPr>
          <p:nvPr>
            <p:ph type="title"/>
          </p:nvPr>
        </p:nvSpPr>
        <p:spPr>
          <a:xfrm>
            <a:off x="909221" y="311860"/>
            <a:ext cx="10515600" cy="1325563"/>
          </a:xfrm>
        </p:spPr>
        <p:txBody>
          <a:bodyPr>
            <a:normAutofit/>
          </a:bodyPr>
          <a:lstStyle/>
          <a:p>
            <a:r>
              <a:rPr lang="en-GB" sz="3200" b="1" dirty="0">
                <a:solidFill>
                  <a:srgbClr val="00B0F0"/>
                </a:solidFill>
                <a:effectLst/>
                <a:latin typeface="Times New Roman" panose="02020603050405020304" pitchFamily="18" charset="0"/>
                <a:cs typeface="Times New Roman" panose="02020603050405020304" pitchFamily="18" charset="0"/>
              </a:rPr>
              <a:t>Incident response workflows and procedures</a:t>
            </a:r>
            <a:endParaRPr lang="en-US" sz="3200" b="1"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C0CF5F-E422-C46E-6D32-192AB6C273E9}"/>
              </a:ext>
            </a:extLst>
          </p:cNvPr>
          <p:cNvSpPr>
            <a:spLocks noGrp="1"/>
          </p:cNvSpPr>
          <p:nvPr>
            <p:ph idx="1"/>
          </p:nvPr>
        </p:nvSpPr>
        <p:spPr>
          <a:xfrm>
            <a:off x="838200" y="1479665"/>
            <a:ext cx="10515600" cy="4351338"/>
          </a:xfrm>
        </p:spPr>
        <p:txBody>
          <a:bodyPr vert="horz" lIns="91440" tIns="45720" rIns="91440" bIns="45720" rtlCol="0" anchor="t">
            <a:no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NIST Incident Response Life Cycle is a step-by-step process created by the National Institute of Standards and Technology (NIST) to help organizations detect, respond to, and recover from cybersecurity incidents effectively. It provides a structured approach to handle security threats — minimizing damage, reducing recovery time, and improving future defences.</a:t>
            </a:r>
          </a:p>
          <a:p>
            <a:r>
              <a:rPr lang="en-US" sz="1800" b="1" dirty="0">
                <a:solidFill>
                  <a:schemeClr val="accent3"/>
                </a:solidFill>
                <a:latin typeface="Times New Roman" panose="02020603050405020304" pitchFamily="18" charset="0"/>
                <a:cs typeface="Times New Roman" panose="02020603050405020304" pitchFamily="18" charset="0"/>
              </a:rPr>
              <a:t>Preparation</a:t>
            </a:r>
            <a:r>
              <a:rPr lang="en-US" sz="1800" dirty="0">
                <a:latin typeface="Times New Roman" panose="02020603050405020304" pitchFamily="18" charset="0"/>
                <a:cs typeface="Times New Roman" panose="02020603050405020304" pitchFamily="18" charset="0"/>
              </a:rPr>
              <a:t> – Getting ready before an incident (plans, tools, training).</a:t>
            </a:r>
          </a:p>
          <a:p>
            <a:r>
              <a:rPr lang="en-US" sz="1800" b="1" dirty="0">
                <a:solidFill>
                  <a:schemeClr val="accent3"/>
                </a:solidFill>
                <a:latin typeface="Times New Roman" panose="02020603050405020304" pitchFamily="18" charset="0"/>
                <a:cs typeface="Times New Roman" panose="02020603050405020304" pitchFamily="18" charset="0"/>
              </a:rPr>
              <a:t>Detection &amp; Analysis</a:t>
            </a:r>
            <a:r>
              <a:rPr lang="en-US" sz="1800" dirty="0">
                <a:solidFill>
                  <a:schemeClr val="accent3"/>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Identifying and confirming that an incident has occurred.</a:t>
            </a:r>
          </a:p>
          <a:p>
            <a:r>
              <a:rPr lang="en-US" sz="1800" b="1" dirty="0">
                <a:solidFill>
                  <a:schemeClr val="accent3"/>
                </a:solidFill>
                <a:latin typeface="Times New Roman" panose="02020603050405020304" pitchFamily="18" charset="0"/>
                <a:cs typeface="Times New Roman" panose="02020603050405020304" pitchFamily="18" charset="0"/>
              </a:rPr>
              <a:t>Containment</a:t>
            </a:r>
            <a:r>
              <a:rPr lang="en-US" sz="1800" dirty="0">
                <a:latin typeface="Times New Roman" panose="02020603050405020304" pitchFamily="18" charset="0"/>
                <a:cs typeface="Times New Roman" panose="02020603050405020304" pitchFamily="18" charset="0"/>
              </a:rPr>
              <a:t> – Stopping the incident from spreading or causing more harm.</a:t>
            </a:r>
          </a:p>
          <a:p>
            <a:r>
              <a:rPr lang="en-US" sz="1800" b="1" dirty="0">
                <a:solidFill>
                  <a:schemeClr val="accent3"/>
                </a:solidFill>
                <a:latin typeface="Times New Roman" panose="02020603050405020304" pitchFamily="18" charset="0"/>
                <a:cs typeface="Times New Roman" panose="02020603050405020304" pitchFamily="18" charset="0"/>
              </a:rPr>
              <a:t>Eradication</a:t>
            </a:r>
            <a:r>
              <a:rPr lang="en-US" sz="1800" dirty="0">
                <a:solidFill>
                  <a:schemeClr val="accent3"/>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Removing the root cause of the attack.</a:t>
            </a:r>
          </a:p>
          <a:p>
            <a:r>
              <a:rPr lang="en-US" sz="1800" b="1" dirty="0">
                <a:solidFill>
                  <a:schemeClr val="accent3"/>
                </a:solidFill>
                <a:latin typeface="Times New Roman" panose="02020603050405020304" pitchFamily="18" charset="0"/>
                <a:cs typeface="Times New Roman" panose="02020603050405020304" pitchFamily="18" charset="0"/>
              </a:rPr>
              <a:t>Recovery</a:t>
            </a:r>
            <a:r>
              <a:rPr lang="en-US" sz="1800" dirty="0">
                <a:solidFill>
                  <a:schemeClr val="accent3"/>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Restoring systems and returning to normal operations.</a:t>
            </a:r>
          </a:p>
          <a:p>
            <a:r>
              <a:rPr lang="en-US" sz="1800" b="1" dirty="0">
                <a:solidFill>
                  <a:schemeClr val="accent3"/>
                </a:solidFill>
                <a:latin typeface="Times New Roman" panose="02020603050405020304" pitchFamily="18" charset="0"/>
                <a:cs typeface="Times New Roman" panose="02020603050405020304" pitchFamily="18" charset="0"/>
              </a:rPr>
              <a:t>Post-Incident Follow-Up (Lessons Learned)</a:t>
            </a:r>
            <a:r>
              <a:rPr lang="en-US" sz="1800" dirty="0">
                <a:solidFill>
                  <a:schemeClr val="accent3"/>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Reviewing what happened and improving for the future.</a:t>
            </a:r>
          </a:p>
          <a:p>
            <a:pPr algn="just">
              <a:lnSpc>
                <a:spcPct val="150000"/>
              </a:lnSpc>
              <a:buFont typeface="Wingdings" panose="05000000000000000000" pitchFamily="2" charset="2"/>
              <a:buChar char="Ø"/>
            </a:pPr>
            <a:endParaRPr lang="en-US"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399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AB07-1B32-47EC-BCCB-E8D24E112F35}"/>
              </a:ext>
            </a:extLst>
          </p:cNvPr>
          <p:cNvSpPr>
            <a:spLocks noGrp="1"/>
          </p:cNvSpPr>
          <p:nvPr>
            <p:ph type="title"/>
          </p:nvPr>
        </p:nvSpPr>
        <p:spPr>
          <a:xfrm>
            <a:off x="838200" y="808472"/>
            <a:ext cx="10515600" cy="724765"/>
          </a:xfrm>
        </p:spPr>
        <p:txBody>
          <a:bodyPr>
            <a:normAutofit fontScale="90000"/>
          </a:bodyPr>
          <a:lstStyle/>
          <a:p>
            <a:r>
              <a:rPr lang="en-US" sz="3200" b="1" dirty="0">
                <a:solidFill>
                  <a:srgbClr val="00B0F0"/>
                </a:solidFill>
              </a:rPr>
              <a:t>Preparation, Detection &amp; Analysis</a:t>
            </a:r>
            <a:r>
              <a:rPr lang="en-US" b="1" dirty="0"/>
              <a:t/>
            </a:r>
            <a:br>
              <a:rPr lang="en-US" b="1" dirty="0"/>
            </a:br>
            <a:endParaRPr lang="en-US" dirty="0"/>
          </a:p>
        </p:txBody>
      </p:sp>
      <p:sp>
        <p:nvSpPr>
          <p:cNvPr id="3" name="Content Placeholder 2">
            <a:extLst>
              <a:ext uri="{FF2B5EF4-FFF2-40B4-BE49-F238E27FC236}">
                <a16:creationId xmlns:a16="http://schemas.microsoft.com/office/drawing/2014/main" id="{7F934948-13AF-4B42-BE5E-AB5136708DAA}"/>
              </a:ext>
            </a:extLst>
          </p:cNvPr>
          <p:cNvSpPr>
            <a:spLocks noGrp="1"/>
          </p:cNvSpPr>
          <p:nvPr>
            <p:ph idx="1"/>
          </p:nvPr>
        </p:nvSpPr>
        <p:spPr>
          <a:xfrm>
            <a:off x="838200" y="1394691"/>
            <a:ext cx="10744200" cy="4489884"/>
          </a:xfrm>
        </p:spPr>
        <p:txBody>
          <a:bodyPr>
            <a:normAutofit fontScale="92500" lnSpcReduction="20000"/>
          </a:bodyPr>
          <a:lstStyle/>
          <a:p>
            <a:pPr marL="0" indent="0">
              <a:lnSpc>
                <a:spcPct val="150000"/>
              </a:lnSpc>
              <a:buNone/>
            </a:pPr>
            <a:r>
              <a:rPr lang="en-US" sz="2000" b="1" dirty="0">
                <a:solidFill>
                  <a:schemeClr val="accent3"/>
                </a:solidFill>
                <a:latin typeface="Times New Roman" panose="02020603050405020304" pitchFamily="18" charset="0"/>
                <a:cs typeface="Times New Roman" panose="02020603050405020304" pitchFamily="18" charset="0"/>
              </a:rPr>
              <a:t>Preparation </a:t>
            </a:r>
          </a:p>
          <a:p>
            <a:pPr>
              <a:lnSpc>
                <a:spcPct val="150000"/>
              </a:lnSpc>
            </a:pPr>
            <a:r>
              <a:rPr lang="en-US" sz="2000" b="1" dirty="0">
                <a:latin typeface="Times New Roman" panose="02020603050405020304" pitchFamily="18" charset="0"/>
                <a:cs typeface="Times New Roman" panose="02020603050405020304" pitchFamily="18" charset="0"/>
              </a:rPr>
              <a:t>Meaning:</a:t>
            </a:r>
            <a:r>
              <a:rPr lang="en-US" sz="2000" dirty="0">
                <a:latin typeface="Times New Roman" panose="02020603050405020304" pitchFamily="18" charset="0"/>
                <a:cs typeface="Times New Roman" panose="02020603050405020304" pitchFamily="18" charset="0"/>
              </a:rPr>
              <a:t> Getting ready before a security incident happens.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What happens:</a:t>
            </a:r>
            <a:r>
              <a:rPr lang="en-US" sz="2000" dirty="0">
                <a:latin typeface="Times New Roman" panose="02020603050405020304" pitchFamily="18" charset="0"/>
                <a:cs typeface="Times New Roman" panose="02020603050405020304" pitchFamily="18" charset="0"/>
              </a:rPr>
              <a:t> The team creates rules, trains staff, and ensures all security tools are working.</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rPr>
              <a:t>Your company sets up firewalls, updates antivirus software, and trains employees to spot phishing emails.</a:t>
            </a:r>
          </a:p>
          <a:p>
            <a:pPr marL="0" indent="0">
              <a:lnSpc>
                <a:spcPct val="150000"/>
              </a:lnSpc>
              <a:buNone/>
            </a:pPr>
            <a:r>
              <a:rPr lang="en-US" sz="2000" b="1" dirty="0">
                <a:solidFill>
                  <a:schemeClr val="accent3"/>
                </a:solidFill>
                <a:latin typeface="Times New Roman" panose="02020603050405020304" pitchFamily="18" charset="0"/>
                <a:cs typeface="Times New Roman" panose="02020603050405020304" pitchFamily="18" charset="0"/>
              </a:rPr>
              <a:t>Detection &amp; Analysis</a:t>
            </a:r>
          </a:p>
          <a:p>
            <a:pPr>
              <a:lnSpc>
                <a:spcPct val="150000"/>
              </a:lnSpc>
            </a:pPr>
            <a:r>
              <a:rPr lang="en-US" sz="2000" b="1" dirty="0">
                <a:latin typeface="Times New Roman" panose="02020603050405020304" pitchFamily="18" charset="0"/>
                <a:cs typeface="Times New Roman" panose="02020603050405020304" pitchFamily="18" charset="0"/>
              </a:rPr>
              <a:t>Meaning:</a:t>
            </a:r>
            <a:r>
              <a:rPr lang="en-US" sz="2000" dirty="0">
                <a:latin typeface="Times New Roman" panose="02020603050405020304" pitchFamily="18" charset="0"/>
                <a:cs typeface="Times New Roman" panose="02020603050405020304" pitchFamily="18" charset="0"/>
              </a:rPr>
              <a:t> Finding out when something suspicious or wrong happens.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What happens:</a:t>
            </a:r>
            <a:r>
              <a:rPr lang="en-US" sz="2000" dirty="0">
                <a:latin typeface="Times New Roman" panose="02020603050405020304" pitchFamily="18" charset="0"/>
                <a:cs typeface="Times New Roman" panose="02020603050405020304" pitchFamily="18" charset="0"/>
              </a:rPr>
              <a:t> The team monitors systems and analyses alerts to confirm if it’s a real security issue.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rPr>
              <a:t>An employee reports a strange email asking for a password. The security team checks it and confirms it’s a </a:t>
            </a:r>
            <a:r>
              <a:rPr lang="en-US" sz="2000" b="1" dirty="0">
                <a:latin typeface="Times New Roman" panose="02020603050405020304" pitchFamily="18" charset="0"/>
                <a:cs typeface="Times New Roman" panose="02020603050405020304" pitchFamily="18" charset="0"/>
              </a:rPr>
              <a:t>phishing attempt</a:t>
            </a:r>
            <a:r>
              <a:rPr lang="en-US" sz="2000" dirty="0">
                <a:latin typeface="Times New Roman" panose="02020603050405020304" pitchFamily="18" charset="0"/>
                <a:cs typeface="Times New Roman" panose="02020603050405020304" pitchFamily="18" charset="0"/>
              </a:rPr>
              <a:t>.</a:t>
            </a:r>
          </a:p>
          <a:p>
            <a:endParaRPr lang="en-US" sz="2000" dirty="0"/>
          </a:p>
          <a:p>
            <a:endParaRPr lang="en-US" dirty="0"/>
          </a:p>
        </p:txBody>
      </p:sp>
    </p:spTree>
    <p:extLst>
      <p:ext uri="{BB962C8B-B14F-4D97-AF65-F5344CB8AC3E}">
        <p14:creationId xmlns:p14="http://schemas.microsoft.com/office/powerpoint/2010/main" val="88913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18AA4-F16A-4CF6-936F-3C2143BF9FF7}"/>
              </a:ext>
            </a:extLst>
          </p:cNvPr>
          <p:cNvSpPr>
            <a:spLocks noGrp="1"/>
          </p:cNvSpPr>
          <p:nvPr>
            <p:ph type="title"/>
          </p:nvPr>
        </p:nvSpPr>
        <p:spPr/>
        <p:txBody>
          <a:bodyPr>
            <a:normAutofit/>
          </a:bodyPr>
          <a:lstStyle/>
          <a:p>
            <a:r>
              <a:rPr lang="en-US" sz="3600" b="1" dirty="0">
                <a:solidFill>
                  <a:srgbClr val="00B0F0"/>
                </a:solidFill>
                <a:latin typeface="Times New Roman" panose="02020603050405020304" pitchFamily="18" charset="0"/>
                <a:cs typeface="Times New Roman" panose="02020603050405020304" pitchFamily="18" charset="0"/>
              </a:rPr>
              <a:t>Containment, Eradication</a:t>
            </a:r>
            <a:endParaRPr lang="en-US" sz="3600"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2F1D92E-5C97-41EB-9807-2C17609DFE61}"/>
              </a:ext>
            </a:extLst>
          </p:cNvPr>
          <p:cNvSpPr>
            <a:spLocks noGrp="1"/>
          </p:cNvSpPr>
          <p:nvPr>
            <p:ph idx="1"/>
          </p:nvPr>
        </p:nvSpPr>
        <p:spPr>
          <a:xfrm>
            <a:off x="838200" y="1459345"/>
            <a:ext cx="10734964" cy="4717618"/>
          </a:xfrm>
        </p:spPr>
        <p:txBody>
          <a:bodyPr>
            <a:normAutofit fontScale="92500" lnSpcReduction="20000"/>
          </a:bodyPr>
          <a:lstStyle/>
          <a:p>
            <a:pPr marL="0" indent="0">
              <a:lnSpc>
                <a:spcPct val="150000"/>
              </a:lnSpc>
              <a:buNone/>
            </a:pPr>
            <a:r>
              <a:rPr lang="en-US" sz="2200" b="1" dirty="0">
                <a:solidFill>
                  <a:schemeClr val="accent3"/>
                </a:solidFill>
                <a:latin typeface="Times New Roman" panose="02020603050405020304" pitchFamily="18" charset="0"/>
                <a:cs typeface="Times New Roman" panose="02020603050405020304" pitchFamily="18" charset="0"/>
              </a:rPr>
              <a:t>Containment</a:t>
            </a:r>
          </a:p>
          <a:p>
            <a:pPr>
              <a:lnSpc>
                <a:spcPct val="150000"/>
              </a:lnSpc>
            </a:pPr>
            <a:r>
              <a:rPr lang="en-US" sz="2200" b="1" dirty="0">
                <a:latin typeface="Times New Roman" panose="02020603050405020304" pitchFamily="18" charset="0"/>
                <a:cs typeface="Times New Roman" panose="02020603050405020304" pitchFamily="18" charset="0"/>
              </a:rPr>
              <a:t>Meaning:</a:t>
            </a:r>
            <a:r>
              <a:rPr lang="en-US" sz="2200" dirty="0">
                <a:latin typeface="Times New Roman" panose="02020603050405020304" pitchFamily="18" charset="0"/>
                <a:cs typeface="Times New Roman" panose="02020603050405020304" pitchFamily="18" charset="0"/>
              </a:rPr>
              <a:t> Stopping the attack from spreading or causing more harm.</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What happens:</a:t>
            </a:r>
            <a:r>
              <a:rPr lang="en-US" sz="2200" dirty="0">
                <a:latin typeface="Times New Roman" panose="02020603050405020304" pitchFamily="18" charset="0"/>
                <a:cs typeface="Times New Roman" panose="02020603050405020304" pitchFamily="18" charset="0"/>
              </a:rPr>
              <a:t> The affected systems are isolated or disconnected.</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Example: </a:t>
            </a:r>
            <a:r>
              <a:rPr lang="en-US" sz="2200" dirty="0">
                <a:latin typeface="Times New Roman" panose="02020603050405020304" pitchFamily="18" charset="0"/>
                <a:cs typeface="Times New Roman" panose="02020603050405020304" pitchFamily="18" charset="0"/>
              </a:rPr>
              <a:t>If one computer gets infected with ransomware, the team disconnects it from the network to protect other computers.</a:t>
            </a:r>
            <a:r>
              <a:rPr lang="en-US" sz="2200" b="1" dirty="0">
                <a:latin typeface="Times New Roman" panose="02020603050405020304" pitchFamily="18" charset="0"/>
                <a:cs typeface="Times New Roman" panose="02020603050405020304" pitchFamily="18" charset="0"/>
              </a:rPr>
              <a:t> </a:t>
            </a:r>
          </a:p>
          <a:p>
            <a:pPr marL="0" indent="0">
              <a:lnSpc>
                <a:spcPct val="150000"/>
              </a:lnSpc>
              <a:buNone/>
            </a:pPr>
            <a:r>
              <a:rPr lang="en-US" sz="2200" b="1" dirty="0">
                <a:latin typeface="Times New Roman" panose="02020603050405020304" pitchFamily="18" charset="0"/>
                <a:cs typeface="Times New Roman" panose="02020603050405020304" pitchFamily="18" charset="0"/>
              </a:rPr>
              <a:t> </a:t>
            </a:r>
            <a:r>
              <a:rPr lang="en-US" sz="2200" b="1" dirty="0">
                <a:solidFill>
                  <a:schemeClr val="accent3"/>
                </a:solidFill>
                <a:latin typeface="Times New Roman" panose="02020603050405020304" pitchFamily="18" charset="0"/>
                <a:cs typeface="Times New Roman" panose="02020603050405020304" pitchFamily="18" charset="0"/>
              </a:rPr>
              <a:t>Eradication</a:t>
            </a:r>
          </a:p>
          <a:p>
            <a:pPr>
              <a:lnSpc>
                <a:spcPct val="150000"/>
              </a:lnSpc>
            </a:pPr>
            <a:r>
              <a:rPr lang="en-US" sz="2200" b="1" dirty="0">
                <a:latin typeface="Times New Roman" panose="02020603050405020304" pitchFamily="18" charset="0"/>
                <a:cs typeface="Times New Roman" panose="02020603050405020304" pitchFamily="18" charset="0"/>
              </a:rPr>
              <a:t>Meaning:</a:t>
            </a:r>
            <a:r>
              <a:rPr lang="en-US" sz="2200" dirty="0">
                <a:latin typeface="Times New Roman" panose="02020603050405020304" pitchFamily="18" charset="0"/>
                <a:cs typeface="Times New Roman" panose="02020603050405020304" pitchFamily="18" charset="0"/>
              </a:rPr>
              <a:t> Removing the cause of the attack completely.</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What happens:</a:t>
            </a:r>
            <a:r>
              <a:rPr lang="en-US" sz="2200" dirty="0">
                <a:latin typeface="Times New Roman" panose="02020603050405020304" pitchFamily="18" charset="0"/>
                <a:cs typeface="Times New Roman" panose="02020603050405020304" pitchFamily="18" charset="0"/>
              </a:rPr>
              <a:t> The team deletes malware, closes security gaps, and updates systems.</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Example:</a:t>
            </a:r>
            <a:r>
              <a:rPr lang="en-US" sz="2200" dirty="0">
                <a:latin typeface="Times New Roman" panose="02020603050405020304" pitchFamily="18" charset="0"/>
                <a:cs typeface="Times New Roman" panose="02020603050405020304" pitchFamily="18" charset="0"/>
              </a:rPr>
              <a:t>The IT team removes the ransomware files and installs stronger security patches or password rules.</a:t>
            </a:r>
          </a:p>
          <a:p>
            <a:endParaRPr lang="en-US" dirty="0"/>
          </a:p>
          <a:p>
            <a:endParaRPr lang="en-US" dirty="0"/>
          </a:p>
        </p:txBody>
      </p:sp>
    </p:spTree>
    <p:extLst>
      <p:ext uri="{BB962C8B-B14F-4D97-AF65-F5344CB8AC3E}">
        <p14:creationId xmlns:p14="http://schemas.microsoft.com/office/powerpoint/2010/main" val="3529880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04797-1BDA-45F7-B639-2AD78B36135C}"/>
              </a:ext>
            </a:extLst>
          </p:cNvPr>
          <p:cNvSpPr>
            <a:spLocks noGrp="1"/>
          </p:cNvSpPr>
          <p:nvPr>
            <p:ph type="title"/>
          </p:nvPr>
        </p:nvSpPr>
        <p:spPr>
          <a:xfrm>
            <a:off x="912091" y="808471"/>
            <a:ext cx="10515600" cy="632401"/>
          </a:xfrm>
        </p:spPr>
        <p:txBody>
          <a:bodyPr>
            <a:normAutofit fontScale="90000"/>
          </a:bodyPr>
          <a:lstStyle/>
          <a:p>
            <a:r>
              <a:rPr lang="en-US" sz="3600" b="1" dirty="0">
                <a:solidFill>
                  <a:srgbClr val="00B0F0"/>
                </a:solidFill>
                <a:latin typeface="Times New Roman" panose="02020603050405020304" pitchFamily="18" charset="0"/>
                <a:cs typeface="Times New Roman" panose="02020603050405020304" pitchFamily="18" charset="0"/>
              </a:rPr>
              <a:t>Recovery,Post-Incident Follow-Up</a:t>
            </a:r>
            <a:r>
              <a:rPr lang="en-US" b="1" dirty="0"/>
              <a:t/>
            </a:r>
            <a:br>
              <a:rPr lang="en-US" b="1" dirty="0"/>
            </a:br>
            <a:endParaRPr lang="en-US" dirty="0"/>
          </a:p>
        </p:txBody>
      </p:sp>
      <p:sp>
        <p:nvSpPr>
          <p:cNvPr id="3" name="Content Placeholder 2">
            <a:extLst>
              <a:ext uri="{FF2B5EF4-FFF2-40B4-BE49-F238E27FC236}">
                <a16:creationId xmlns:a16="http://schemas.microsoft.com/office/drawing/2014/main" id="{ECB5B60B-5BEA-4C0D-925B-E2B15D4E490E}"/>
              </a:ext>
            </a:extLst>
          </p:cNvPr>
          <p:cNvSpPr>
            <a:spLocks noGrp="1"/>
          </p:cNvSpPr>
          <p:nvPr>
            <p:ph idx="1"/>
          </p:nvPr>
        </p:nvSpPr>
        <p:spPr>
          <a:xfrm>
            <a:off x="764309" y="1253331"/>
            <a:ext cx="10855036" cy="4351338"/>
          </a:xfrm>
        </p:spPr>
        <p:txBody>
          <a:bodyPr>
            <a:normAutofit fontScale="92500" lnSpcReduction="20000"/>
          </a:bodyPr>
          <a:lstStyle/>
          <a:p>
            <a:pPr marL="0" indent="0">
              <a:lnSpc>
                <a:spcPct val="150000"/>
              </a:lnSpc>
              <a:buNone/>
            </a:pPr>
            <a:r>
              <a:rPr lang="en-US" sz="2000" b="1" dirty="0">
                <a:solidFill>
                  <a:schemeClr val="accent3"/>
                </a:solidFill>
                <a:latin typeface="Times New Roman" panose="02020603050405020304" pitchFamily="18" charset="0"/>
                <a:cs typeface="Times New Roman" panose="02020603050405020304" pitchFamily="18" charset="0"/>
              </a:rPr>
              <a:t>Recovery</a:t>
            </a:r>
          </a:p>
          <a:p>
            <a:pPr>
              <a:lnSpc>
                <a:spcPct val="150000"/>
              </a:lnSpc>
            </a:pPr>
            <a:r>
              <a:rPr lang="en-US" sz="2000" b="1" dirty="0">
                <a:latin typeface="Times New Roman" panose="02020603050405020304" pitchFamily="18" charset="0"/>
                <a:cs typeface="Times New Roman" panose="02020603050405020304" pitchFamily="18" charset="0"/>
              </a:rPr>
              <a:t>Meaning:</a:t>
            </a:r>
            <a:r>
              <a:rPr lang="en-US" sz="2000" dirty="0">
                <a:latin typeface="Times New Roman" panose="02020603050405020304" pitchFamily="18" charset="0"/>
                <a:cs typeface="Times New Roman" panose="02020603050405020304" pitchFamily="18" charset="0"/>
              </a:rPr>
              <a:t> Bringing systems back to normal and making sure everything is safe.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What happens:</a:t>
            </a:r>
            <a:r>
              <a:rPr lang="en-US" sz="2000" dirty="0">
                <a:latin typeface="Times New Roman" panose="02020603050405020304" pitchFamily="18" charset="0"/>
                <a:cs typeface="Times New Roman" panose="02020603050405020304" pitchFamily="18" charset="0"/>
              </a:rPr>
              <a:t> Systems are restored from backups, and the team watches for any new signs of trouble.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rPr>
              <a:t>After cleaning up the ransomware, the team restores data from backups and monitors systems for a few days to ensure the attack is gone.</a:t>
            </a:r>
          </a:p>
          <a:p>
            <a:pPr marL="0" indent="0">
              <a:lnSpc>
                <a:spcPct val="150000"/>
              </a:lnSpc>
              <a:buNone/>
            </a:pPr>
            <a:r>
              <a:rPr lang="en-US" sz="2000" b="1" dirty="0">
                <a:solidFill>
                  <a:schemeClr val="accent3"/>
                </a:solidFill>
                <a:latin typeface="Times New Roman" panose="02020603050405020304" pitchFamily="18" charset="0"/>
                <a:cs typeface="Times New Roman" panose="02020603050405020304" pitchFamily="18" charset="0"/>
              </a:rPr>
              <a:t>Post-Incident Follow-Up</a:t>
            </a:r>
          </a:p>
          <a:p>
            <a:pPr>
              <a:lnSpc>
                <a:spcPct val="150000"/>
              </a:lnSpc>
            </a:pPr>
            <a:r>
              <a:rPr lang="en-US" sz="2000" b="1" dirty="0">
                <a:latin typeface="Times New Roman" panose="02020603050405020304" pitchFamily="18" charset="0"/>
                <a:cs typeface="Times New Roman" panose="02020603050405020304" pitchFamily="18" charset="0"/>
              </a:rPr>
              <a:t>Meaning:</a:t>
            </a:r>
            <a:r>
              <a:rPr lang="en-US" sz="2000" dirty="0">
                <a:latin typeface="Times New Roman" panose="02020603050405020304" pitchFamily="18" charset="0"/>
                <a:cs typeface="Times New Roman" panose="02020603050405020304" pitchFamily="18" charset="0"/>
              </a:rPr>
              <a:t> Learning from the incident to prevent it from happening again.</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What happens:</a:t>
            </a:r>
            <a:r>
              <a:rPr lang="en-US" sz="2000" dirty="0">
                <a:latin typeface="Times New Roman" panose="02020603050405020304" pitchFamily="18" charset="0"/>
                <a:cs typeface="Times New Roman" panose="02020603050405020304" pitchFamily="18" charset="0"/>
              </a:rPr>
              <a:t> The team reviews what went wrong, updates policies, and improves response plans.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rPr>
              <a:t>The company updates its phishing awareness training and adds stronger email filters based on lessons learned from the attack.</a:t>
            </a:r>
          </a:p>
          <a:p>
            <a:endParaRPr lang="en-US" sz="2000" dirty="0">
              <a:latin typeface="Times New Roman" panose="02020603050405020304" pitchFamily="18" charset="0"/>
              <a:cs typeface="Times New Roman" panose="02020603050405020304" pitchFamily="18" charset="0"/>
            </a:endParaRPr>
          </a:p>
          <a:p>
            <a:endParaRPr lang="en-US" dirty="0"/>
          </a:p>
          <a:p>
            <a:endParaRPr lang="en-US" dirty="0"/>
          </a:p>
        </p:txBody>
      </p:sp>
    </p:spTree>
    <p:extLst>
      <p:ext uri="{BB962C8B-B14F-4D97-AF65-F5344CB8AC3E}">
        <p14:creationId xmlns:p14="http://schemas.microsoft.com/office/powerpoint/2010/main" val="2102442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BCF17-FA44-06D8-32B5-95216FE4E347}"/>
              </a:ext>
            </a:extLst>
          </p:cNvPr>
          <p:cNvSpPr>
            <a:spLocks noGrp="1"/>
          </p:cNvSpPr>
          <p:nvPr>
            <p:ph type="ctrTitle"/>
          </p:nvPr>
        </p:nvSpPr>
        <p:spPr/>
        <p:txBody>
          <a:bodyPr/>
          <a:lstStyle/>
          <a:p>
            <a:r>
              <a:rPr lang="en-GB" sz="2800" dirty="0">
                <a:effectLst/>
                <a:latin typeface="Times New Roman" panose="02020603050405020304" pitchFamily="18" charset="0"/>
                <a:ea typeface="Times New Roman" panose="02020603050405020304" pitchFamily="18" charset="0"/>
              </a:rPr>
              <a:t>Escalation processes and communication protocols</a:t>
            </a:r>
            <a:endParaRPr lang="en-US" sz="2800" dirty="0"/>
          </a:p>
        </p:txBody>
      </p:sp>
    </p:spTree>
    <p:extLst>
      <p:ext uri="{BB962C8B-B14F-4D97-AF65-F5344CB8AC3E}">
        <p14:creationId xmlns:p14="http://schemas.microsoft.com/office/powerpoint/2010/main" val="1249633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85522-DC82-4583-AFC8-5FEA7BE6F279}"/>
              </a:ext>
            </a:extLst>
          </p:cNvPr>
          <p:cNvSpPr>
            <a:spLocks noGrp="1"/>
          </p:cNvSpPr>
          <p:nvPr>
            <p:ph type="title"/>
          </p:nvPr>
        </p:nvSpPr>
        <p:spPr/>
        <p:txBody>
          <a:bodyPr/>
          <a:lstStyle/>
          <a:p>
            <a:r>
              <a:rPr lang="en-GB" b="1" dirty="0">
                <a:solidFill>
                  <a:srgbClr val="00B0F0"/>
                </a:solidFill>
                <a:latin typeface="Times New Roman" panose="02020603050405020304" pitchFamily="18" charset="0"/>
                <a:ea typeface="Times New Roman" panose="02020603050405020304" pitchFamily="18" charset="0"/>
              </a:rPr>
              <a:t>Escalation processes</a:t>
            </a:r>
            <a:endParaRPr lang="en-US" dirty="0"/>
          </a:p>
        </p:txBody>
      </p:sp>
      <p:sp>
        <p:nvSpPr>
          <p:cNvPr id="3" name="Content Placeholder 2">
            <a:extLst>
              <a:ext uri="{FF2B5EF4-FFF2-40B4-BE49-F238E27FC236}">
                <a16:creationId xmlns:a16="http://schemas.microsoft.com/office/drawing/2014/main" id="{1CC811EA-183C-4BE6-A1E0-B84E5E34D079}"/>
              </a:ext>
            </a:extLst>
          </p:cNvPr>
          <p:cNvSpPr>
            <a:spLocks noGrp="1"/>
          </p:cNvSpPr>
          <p:nvPr>
            <p:ph idx="1"/>
          </p:nvPr>
        </p:nvSpPr>
        <p:spPr>
          <a:xfrm>
            <a:off x="729673" y="1440873"/>
            <a:ext cx="11148291" cy="4886036"/>
          </a:xfrm>
        </p:spPr>
        <p:txBody>
          <a:bodyPr>
            <a:normAutofit fontScale="70000" lnSpcReduction="20000"/>
          </a:bodyPr>
          <a:lstStyle/>
          <a:p>
            <a:pPr>
              <a:lnSpc>
                <a:spcPct val="120000"/>
              </a:lnSpc>
            </a:pPr>
            <a:r>
              <a:rPr lang="en-US" sz="2300" dirty="0">
                <a:latin typeface="Times New Roman" panose="02020603050405020304" pitchFamily="18" charset="0"/>
                <a:cs typeface="Times New Roman" panose="02020603050405020304" pitchFamily="18" charset="0"/>
              </a:rPr>
              <a:t>The </a:t>
            </a:r>
            <a:r>
              <a:rPr lang="en-US" sz="2300" b="1" dirty="0">
                <a:latin typeface="Times New Roman" panose="02020603050405020304" pitchFamily="18" charset="0"/>
                <a:cs typeface="Times New Roman" panose="02020603050405020304" pitchFamily="18" charset="0"/>
              </a:rPr>
              <a:t>escalation process</a:t>
            </a:r>
            <a:r>
              <a:rPr lang="en-US" sz="2300" dirty="0">
                <a:latin typeface="Times New Roman" panose="02020603050405020304" pitchFamily="18" charset="0"/>
                <a:cs typeface="Times New Roman" panose="02020603050405020304" pitchFamily="18" charset="0"/>
              </a:rPr>
              <a:t> is how an organization decides </a:t>
            </a:r>
            <a:r>
              <a:rPr lang="en-US" sz="2300" b="1" dirty="0">
                <a:latin typeface="Times New Roman" panose="02020603050405020304" pitchFamily="18" charset="0"/>
                <a:cs typeface="Times New Roman" panose="02020603050405020304" pitchFamily="18" charset="0"/>
              </a:rPr>
              <a:t>who to inform and involve</a:t>
            </a:r>
            <a:r>
              <a:rPr lang="en-US" sz="2300" dirty="0">
                <a:latin typeface="Times New Roman" panose="02020603050405020304" pitchFamily="18" charset="0"/>
                <a:cs typeface="Times New Roman" panose="02020603050405020304" pitchFamily="18" charset="0"/>
              </a:rPr>
              <a:t> when a cybersecurity incident happens — especially when it’s serious or beyond the first responder’s control.</a:t>
            </a:r>
          </a:p>
          <a:p>
            <a:pPr>
              <a:lnSpc>
                <a:spcPct val="120000"/>
              </a:lnSpc>
            </a:pPr>
            <a:r>
              <a:rPr lang="en-US" sz="2300" b="1" dirty="0">
                <a:latin typeface="Times New Roman" panose="02020603050405020304" pitchFamily="18" charset="0"/>
                <a:cs typeface="Times New Roman" panose="02020603050405020304" pitchFamily="18" charset="0"/>
              </a:rPr>
              <a:t>Purpose:</a:t>
            </a:r>
            <a:r>
              <a:rPr lang="en-US" sz="2300" dirty="0">
                <a:latin typeface="Times New Roman" panose="02020603050405020304" pitchFamily="18" charset="0"/>
                <a:cs typeface="Times New Roman" panose="02020603050405020304" pitchFamily="18" charset="0"/>
              </a:rPr>
              <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To make sure the </a:t>
            </a:r>
            <a:r>
              <a:rPr lang="en-US" sz="2300" b="1" dirty="0">
                <a:latin typeface="Times New Roman" panose="02020603050405020304" pitchFamily="18" charset="0"/>
                <a:cs typeface="Times New Roman" panose="02020603050405020304" pitchFamily="18" charset="0"/>
              </a:rPr>
              <a:t>right people act quickly</a:t>
            </a:r>
            <a:r>
              <a:rPr lang="en-US" sz="2300" dirty="0">
                <a:latin typeface="Times New Roman" panose="02020603050405020304" pitchFamily="18" charset="0"/>
                <a:cs typeface="Times New Roman" panose="02020603050405020304" pitchFamily="18" charset="0"/>
              </a:rPr>
              <a:t> to fix the problem and reduce damage.</a:t>
            </a:r>
          </a:p>
          <a:p>
            <a:pPr>
              <a:lnSpc>
                <a:spcPct val="120000"/>
              </a:lnSpc>
            </a:pPr>
            <a:r>
              <a:rPr lang="en-US" sz="2300" b="1" dirty="0">
                <a:latin typeface="Times New Roman" panose="02020603050405020304" pitchFamily="18" charset="0"/>
                <a:cs typeface="Times New Roman" panose="02020603050405020304" pitchFamily="18" charset="0"/>
              </a:rPr>
              <a:t>Steps (Simplified):</a:t>
            </a:r>
            <a:endParaRPr lang="en-US" sz="2300" dirty="0">
              <a:latin typeface="Times New Roman" panose="02020603050405020304" pitchFamily="18" charset="0"/>
              <a:cs typeface="Times New Roman" panose="02020603050405020304" pitchFamily="18" charset="0"/>
            </a:endParaRPr>
          </a:p>
          <a:p>
            <a:pPr>
              <a:lnSpc>
                <a:spcPct val="120000"/>
              </a:lnSpc>
            </a:pPr>
            <a:r>
              <a:rPr lang="en-US" sz="2300" b="1" dirty="0">
                <a:latin typeface="Times New Roman" panose="02020603050405020304" pitchFamily="18" charset="0"/>
                <a:cs typeface="Times New Roman" panose="02020603050405020304" pitchFamily="18" charset="0"/>
              </a:rPr>
              <a:t>Identify the incident:</a:t>
            </a:r>
            <a:r>
              <a:rPr lang="en-US" sz="2300" dirty="0">
                <a:latin typeface="Times New Roman" panose="02020603050405020304" pitchFamily="18" charset="0"/>
                <a:cs typeface="Times New Roman" panose="02020603050405020304" pitchFamily="18" charset="0"/>
              </a:rPr>
              <a:t> A security analyst or monitoring system detects something unusual.</a:t>
            </a:r>
          </a:p>
          <a:p>
            <a:pPr>
              <a:lnSpc>
                <a:spcPct val="120000"/>
              </a:lnSpc>
            </a:pPr>
            <a:r>
              <a:rPr lang="en-US" sz="2300" b="1" dirty="0">
                <a:latin typeface="Times New Roman" panose="02020603050405020304" pitchFamily="18" charset="0"/>
                <a:cs typeface="Times New Roman" panose="02020603050405020304" pitchFamily="18" charset="0"/>
              </a:rPr>
              <a:t>Classify the severity:</a:t>
            </a:r>
            <a:r>
              <a:rPr lang="en-US" sz="2300" dirty="0">
                <a:latin typeface="Times New Roman" panose="02020603050405020304" pitchFamily="18" charset="0"/>
                <a:cs typeface="Times New Roman" panose="02020603050405020304" pitchFamily="18" charset="0"/>
              </a:rPr>
              <a:t> Decide if it’s low, medium, or high priority.</a:t>
            </a:r>
          </a:p>
          <a:p>
            <a:pPr>
              <a:lnSpc>
                <a:spcPct val="120000"/>
              </a:lnSpc>
            </a:pPr>
            <a:r>
              <a:rPr lang="en-US" sz="2300" b="1" dirty="0">
                <a:latin typeface="Times New Roman" panose="02020603050405020304" pitchFamily="18" charset="0"/>
                <a:cs typeface="Times New Roman" panose="02020603050405020304" pitchFamily="18" charset="0"/>
              </a:rPr>
              <a:t>Notify higher levels:</a:t>
            </a:r>
            <a:endParaRPr lang="en-US" sz="2300" dirty="0">
              <a:latin typeface="Times New Roman" panose="02020603050405020304" pitchFamily="18" charset="0"/>
              <a:cs typeface="Times New Roman" panose="02020603050405020304" pitchFamily="18" charset="0"/>
            </a:endParaRPr>
          </a:p>
          <a:p>
            <a:pPr lvl="1">
              <a:lnSpc>
                <a:spcPct val="120000"/>
              </a:lnSpc>
            </a:pPr>
            <a:r>
              <a:rPr lang="en-US" sz="2300" b="1" dirty="0">
                <a:solidFill>
                  <a:schemeClr val="accent3"/>
                </a:solidFill>
                <a:latin typeface="Times New Roman" panose="02020603050405020304" pitchFamily="18" charset="0"/>
                <a:cs typeface="Times New Roman" panose="02020603050405020304" pitchFamily="18" charset="0"/>
              </a:rPr>
              <a:t>Low priority</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Handled by the IT/security team.</a:t>
            </a:r>
          </a:p>
          <a:p>
            <a:pPr lvl="1">
              <a:lnSpc>
                <a:spcPct val="120000"/>
              </a:lnSpc>
            </a:pPr>
            <a:r>
              <a:rPr lang="en-US" sz="2300" b="1" dirty="0">
                <a:solidFill>
                  <a:schemeClr val="accent3"/>
                </a:solidFill>
                <a:latin typeface="Times New Roman" panose="02020603050405020304" pitchFamily="18" charset="0"/>
                <a:cs typeface="Times New Roman" panose="02020603050405020304" pitchFamily="18" charset="0"/>
              </a:rPr>
              <a:t>Medium priority</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Escalate to the security manager.</a:t>
            </a:r>
          </a:p>
          <a:p>
            <a:pPr lvl="1">
              <a:lnSpc>
                <a:spcPct val="120000"/>
              </a:lnSpc>
            </a:pPr>
            <a:r>
              <a:rPr lang="en-US" sz="2300" b="1" dirty="0">
                <a:solidFill>
                  <a:schemeClr val="accent3"/>
                </a:solidFill>
                <a:latin typeface="Times New Roman" panose="02020603050405020304" pitchFamily="18" charset="0"/>
                <a:cs typeface="Times New Roman" panose="02020603050405020304" pitchFamily="18" charset="0"/>
              </a:rPr>
              <a:t>High priority:</a:t>
            </a:r>
            <a:r>
              <a:rPr lang="en-US" sz="2300" dirty="0">
                <a:solidFill>
                  <a:schemeClr val="accent3"/>
                </a:solidFill>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Escalate to senior management, legal, and public relations teams.</a:t>
            </a:r>
          </a:p>
          <a:p>
            <a:pPr>
              <a:lnSpc>
                <a:spcPct val="120000"/>
              </a:lnSpc>
            </a:pPr>
            <a:r>
              <a:rPr lang="en-US" sz="2300" b="1" dirty="0">
                <a:latin typeface="Times New Roman" panose="02020603050405020304" pitchFamily="18" charset="0"/>
                <a:cs typeface="Times New Roman" panose="02020603050405020304" pitchFamily="18" charset="0"/>
              </a:rPr>
              <a:t>Take action:</a:t>
            </a:r>
            <a:r>
              <a:rPr lang="en-US" sz="2300" dirty="0">
                <a:latin typeface="Times New Roman" panose="02020603050405020304" pitchFamily="18" charset="0"/>
                <a:cs typeface="Times New Roman" panose="02020603050405020304" pitchFamily="18" charset="0"/>
              </a:rPr>
              <a:t> The appropriate team responds based on escalation level.</a:t>
            </a:r>
          </a:p>
          <a:p>
            <a:pPr>
              <a:lnSpc>
                <a:spcPct val="120000"/>
              </a:lnSpc>
            </a:pPr>
            <a:r>
              <a:rPr lang="en-US" sz="2300" b="1" dirty="0">
                <a:latin typeface="Times New Roman" panose="02020603050405020304" pitchFamily="18" charset="0"/>
                <a:cs typeface="Times New Roman" panose="02020603050405020304" pitchFamily="18" charset="0"/>
              </a:rPr>
              <a:t>Example: </a:t>
            </a:r>
            <a:r>
              <a:rPr lang="en-US" sz="2300" dirty="0">
                <a:latin typeface="Times New Roman" panose="02020603050405020304" pitchFamily="18" charset="0"/>
                <a:cs typeface="Times New Roman" panose="02020603050405020304" pitchFamily="18" charset="0"/>
              </a:rPr>
              <a:t>If a normal phishing email is detected, IT handles it.</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If ransomware spreads across servers, it’s escalated to management and the incident response team immediately.</a:t>
            </a:r>
          </a:p>
          <a:p>
            <a:endParaRPr lang="en-US" dirty="0"/>
          </a:p>
        </p:txBody>
      </p:sp>
    </p:spTree>
    <p:extLst>
      <p:ext uri="{BB962C8B-B14F-4D97-AF65-F5344CB8AC3E}">
        <p14:creationId xmlns:p14="http://schemas.microsoft.com/office/powerpoint/2010/main" val="698938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6185" y="670263"/>
            <a:ext cx="10515600" cy="611418"/>
          </a:xfrm>
        </p:spPr>
        <p:txBody>
          <a:bodyPr>
            <a:normAutofit/>
          </a:bodyPr>
          <a:lstStyle/>
          <a:p>
            <a:r>
              <a:rPr lang="en-US" sz="3200" b="1" dirty="0">
                <a:solidFill>
                  <a:srgbClr val="00B0F0"/>
                </a:solidFill>
                <a:latin typeface="Times New Roman" panose="02020603050405020304" pitchFamily="18" charset="0"/>
                <a:cs typeface="Times New Roman" panose="02020603050405020304" pitchFamily="18" charset="0"/>
              </a:rPr>
              <a:t>Communication Protocols</a:t>
            </a:r>
          </a:p>
        </p:txBody>
      </p:sp>
      <p:sp>
        <p:nvSpPr>
          <p:cNvPr id="3" name="Content Placeholder 2"/>
          <p:cNvSpPr>
            <a:spLocks noGrp="1"/>
          </p:cNvSpPr>
          <p:nvPr>
            <p:ph idx="1"/>
          </p:nvPr>
        </p:nvSpPr>
        <p:spPr>
          <a:xfrm>
            <a:off x="877455" y="1207365"/>
            <a:ext cx="11162144" cy="4980372"/>
          </a:xfrm>
        </p:spPr>
        <p:txBody>
          <a:bodyPr vert="horz" lIns="91440" tIns="45720" rIns="91440" bIns="45720" rtlCol="0" anchor="t">
            <a:noAutofit/>
          </a:bodyPr>
          <a:lstStyle/>
          <a:p>
            <a:pPr marL="0" indent="0">
              <a:lnSpc>
                <a:spcPct val="100000"/>
              </a:lnSpc>
              <a:buNone/>
            </a:pPr>
            <a:r>
              <a:rPr lang="en-US" sz="1800" dirty="0">
                <a:latin typeface="Times New Roman" panose="02020603050405020304" pitchFamily="18" charset="0"/>
                <a:cs typeface="Times New Roman" panose="02020603050405020304" pitchFamily="18" charset="0"/>
              </a:rPr>
              <a:t>Communication protocols define </a:t>
            </a:r>
            <a:r>
              <a:rPr lang="en-US" sz="1800" b="1" dirty="0">
                <a:latin typeface="Times New Roman" panose="02020603050405020304" pitchFamily="18" charset="0"/>
                <a:cs typeface="Times New Roman" panose="02020603050405020304" pitchFamily="18" charset="0"/>
              </a:rPr>
              <a:t>how information is shared</a:t>
            </a:r>
            <a:r>
              <a:rPr lang="en-US" sz="1800" dirty="0">
                <a:latin typeface="Times New Roman" panose="02020603050405020304" pitchFamily="18" charset="0"/>
                <a:cs typeface="Times New Roman" panose="02020603050405020304" pitchFamily="18" charset="0"/>
              </a:rPr>
              <a:t> during a cybersecurity incident — </a:t>
            </a:r>
            <a:r>
              <a:rPr lang="en-US" sz="1800" b="1" dirty="0">
                <a:latin typeface="Times New Roman" panose="02020603050405020304" pitchFamily="18" charset="0"/>
                <a:cs typeface="Times New Roman" panose="02020603050405020304" pitchFamily="18" charset="0"/>
              </a:rPr>
              <a:t>who communicates, what they say, and how they say it</a:t>
            </a:r>
            <a:r>
              <a:rPr lang="en-US" sz="1800" dirty="0">
                <a:latin typeface="Times New Roman" panose="02020603050405020304" pitchFamily="18" charset="0"/>
                <a:cs typeface="Times New Roman" panose="02020603050405020304" pitchFamily="18" charset="0"/>
              </a:rPr>
              <a:t>.</a:t>
            </a:r>
          </a:p>
          <a:p>
            <a:pPr marL="0" indent="0">
              <a:lnSpc>
                <a:spcPct val="100000"/>
              </a:lnSpc>
              <a:buNone/>
            </a:pPr>
            <a:r>
              <a:rPr lang="en-US" sz="1800" b="1" dirty="0">
                <a:latin typeface="Times New Roman" panose="02020603050405020304" pitchFamily="18" charset="0"/>
                <a:cs typeface="Times New Roman" panose="02020603050405020304" pitchFamily="18" charset="0"/>
              </a:rPr>
              <a:t>Purpose: </a:t>
            </a:r>
            <a:r>
              <a:rPr lang="en-US" sz="1800" dirty="0">
                <a:latin typeface="Times New Roman" panose="02020603050405020304" pitchFamily="18" charset="0"/>
                <a:cs typeface="Times New Roman" panose="02020603050405020304" pitchFamily="18" charset="0"/>
              </a:rPr>
              <a:t>To ensure </a:t>
            </a:r>
            <a:r>
              <a:rPr lang="en-US" sz="1800" b="1" dirty="0">
                <a:latin typeface="Times New Roman" panose="02020603050405020304" pitchFamily="18" charset="0"/>
                <a:cs typeface="Times New Roman" panose="02020603050405020304" pitchFamily="18" charset="0"/>
              </a:rPr>
              <a:t>clear, quick, and accurate communication</a:t>
            </a:r>
            <a:r>
              <a:rPr lang="en-US" sz="1800" dirty="0">
                <a:latin typeface="Times New Roman" panose="02020603050405020304" pitchFamily="18" charset="0"/>
                <a:cs typeface="Times New Roman" panose="02020603050405020304" pitchFamily="18" charset="0"/>
              </a:rPr>
              <a:t> between all involved parties (internal teams, management, law enforcement, customers, etc.).</a:t>
            </a:r>
          </a:p>
          <a:p>
            <a:pPr marL="0" indent="0">
              <a:lnSpc>
                <a:spcPct val="100000"/>
              </a:lnSpc>
              <a:buNone/>
            </a:pPr>
            <a:r>
              <a:rPr lang="en-US" sz="1800" b="1" dirty="0">
                <a:solidFill>
                  <a:schemeClr val="accent3"/>
                </a:solidFill>
                <a:latin typeface="Times New Roman" panose="02020603050405020304" pitchFamily="18" charset="0"/>
                <a:cs typeface="Times New Roman" panose="02020603050405020304" pitchFamily="18" charset="0"/>
              </a:rPr>
              <a:t>Key Elements:</a:t>
            </a:r>
          </a:p>
          <a:p>
            <a:pPr>
              <a:lnSpc>
                <a:spcPct val="100000"/>
              </a:lnSpc>
            </a:pPr>
            <a:r>
              <a:rPr lang="en-US" sz="1800" b="1" dirty="0">
                <a:solidFill>
                  <a:srgbClr val="FF0000"/>
                </a:solidFill>
                <a:latin typeface="Times New Roman" panose="02020603050405020304" pitchFamily="18" charset="0"/>
                <a:cs typeface="Times New Roman" panose="02020603050405020304" pitchFamily="18" charset="0"/>
              </a:rPr>
              <a:t>Internal communication</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Between IT staff, security teams, and management.</a:t>
            </a:r>
          </a:p>
          <a:p>
            <a:pPr>
              <a:lnSpc>
                <a:spcPct val="100000"/>
              </a:lnSpc>
            </a:pPr>
            <a:r>
              <a:rPr lang="en-US" sz="1800" b="1" dirty="0">
                <a:solidFill>
                  <a:srgbClr val="FF0000"/>
                </a:solidFill>
                <a:latin typeface="Times New Roman" panose="02020603050405020304" pitchFamily="18" charset="0"/>
                <a:cs typeface="Times New Roman" panose="02020603050405020304" pitchFamily="18" charset="0"/>
              </a:rPr>
              <a:t>External communication</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With partners, vendors, customers, or media (if needed).</a:t>
            </a:r>
          </a:p>
          <a:p>
            <a:pPr>
              <a:lnSpc>
                <a:spcPct val="100000"/>
              </a:lnSpc>
            </a:pPr>
            <a:r>
              <a:rPr lang="en-US" sz="1800" b="1" dirty="0">
                <a:solidFill>
                  <a:srgbClr val="FF0000"/>
                </a:solidFill>
                <a:latin typeface="Times New Roman" panose="02020603050405020304" pitchFamily="18" charset="0"/>
                <a:cs typeface="Times New Roman" panose="02020603050405020304" pitchFamily="18" charset="0"/>
              </a:rPr>
              <a:t>Secure channels</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Use encrypted methods like secure email or incident management tools — avoid public chat or social media.</a:t>
            </a:r>
          </a:p>
          <a:p>
            <a:pPr>
              <a:lnSpc>
                <a:spcPct val="100000"/>
              </a:lnSpc>
            </a:pPr>
            <a:r>
              <a:rPr lang="en-US" sz="1800" b="1" dirty="0">
                <a:solidFill>
                  <a:srgbClr val="FF0000"/>
                </a:solidFill>
                <a:latin typeface="Times New Roman" panose="02020603050405020304" pitchFamily="18" charset="0"/>
                <a:cs typeface="Times New Roman" panose="02020603050405020304" pitchFamily="18" charset="0"/>
              </a:rPr>
              <a:t>Regular updates</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Keep all stakeholders informed about progress and next steps.</a:t>
            </a:r>
          </a:p>
          <a:p>
            <a:pPr>
              <a:lnSpc>
                <a:spcPct val="100000"/>
              </a:lnSpc>
            </a:pPr>
            <a:r>
              <a:rPr lang="en-US" sz="1800" b="1" dirty="0">
                <a:latin typeface="Times New Roman" panose="02020603050405020304" pitchFamily="18" charset="0"/>
                <a:cs typeface="Times New Roman" panose="02020603050405020304" pitchFamily="18" charset="0"/>
              </a:rPr>
              <a:t>Example: </a:t>
            </a:r>
            <a:r>
              <a:rPr lang="en-US" sz="1800" dirty="0">
                <a:latin typeface="Times New Roman" panose="02020603050405020304" pitchFamily="18" charset="0"/>
                <a:cs typeface="Times New Roman" panose="02020603050405020304" pitchFamily="18" charset="0"/>
              </a:rPr>
              <a:t>During a data breach, the security team reports to the incident commander, who then informs management and legal. A public statement is shared only after official approval through proper channels.</a:t>
            </a:r>
          </a:p>
          <a:p>
            <a:pPr>
              <a:lnSpc>
                <a:spcPct val="100000"/>
              </a:lnSpc>
            </a:pPr>
            <a:endParaRPr lang="en-US" sz="1800" dirty="0">
              <a:latin typeface="Times New Roman" panose="02020603050405020304" pitchFamily="18" charset="0"/>
              <a:cs typeface="Times New Roman" panose="02020603050405020304" pitchFamily="18" charset="0"/>
            </a:endParaRPr>
          </a:p>
        </p:txBody>
      </p:sp>
      <p:sp>
        <p:nvSpPr>
          <p:cNvPr id="4" name="AutoShape 2" descr="https://media.licdn.com/dms/image/v2/C4E12AQHXVKw_arS2eQ/article-cover_image-shrink_720_1280/article-cover_image-shrink_720_1280/0/1542994773017?e=1733356800&amp;v=beta&amp;t=3HTOgABOYp0_uDX2PufcPbMyUXWb8EVhNUUIvDOR8II"/>
          <p:cNvSpPr>
            <a:spLocks noChangeAspect="1" noChangeArrowheads="1"/>
          </p:cNvSpPr>
          <p:nvPr/>
        </p:nvSpPr>
        <p:spPr bwMode="auto">
          <a:xfrm>
            <a:off x="0" y="1122358"/>
            <a:ext cx="121055" cy="12105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63426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042236" cy="1325563"/>
          </a:xfrm>
        </p:spPr>
        <p:txBody>
          <a:bodyPr>
            <a:normAutofit/>
          </a:bodyPr>
          <a:lstStyle/>
          <a:p>
            <a:r>
              <a:rPr lang="en-US" sz="3600" b="1" dirty="0">
                <a:solidFill>
                  <a:srgbClr val="00B0F0"/>
                </a:solidFill>
                <a:latin typeface="Times New Roman" panose="02020603050405020304" pitchFamily="18" charset="0"/>
                <a:ea typeface="Times New Roman" panose="02020603050405020304" pitchFamily="18" charset="0"/>
              </a:rPr>
              <a:t>Importance of </a:t>
            </a:r>
            <a:r>
              <a:rPr lang="en-GB" sz="3600" b="1" dirty="0">
                <a:solidFill>
                  <a:srgbClr val="00B0F0"/>
                </a:solidFill>
                <a:latin typeface="Times New Roman" panose="02020603050405020304" pitchFamily="18" charset="0"/>
                <a:ea typeface="Times New Roman" panose="02020603050405020304" pitchFamily="18" charset="0"/>
              </a:rPr>
              <a:t>Escalation processes  </a:t>
            </a:r>
            <a:endParaRPr lang="en-US" sz="3600" b="1" dirty="0">
              <a:solidFill>
                <a:srgbClr val="00B0F0"/>
              </a:solidFill>
            </a:endParaRPr>
          </a:p>
        </p:txBody>
      </p:sp>
      <p:sp>
        <p:nvSpPr>
          <p:cNvPr id="7" name="Content Placeholder 6">
            <a:extLst>
              <a:ext uri="{FF2B5EF4-FFF2-40B4-BE49-F238E27FC236}">
                <a16:creationId xmlns:a16="http://schemas.microsoft.com/office/drawing/2014/main" id="{94A9501B-A1AF-435E-86BD-D0979CAC330A}"/>
              </a:ext>
            </a:extLst>
          </p:cNvPr>
          <p:cNvSpPr>
            <a:spLocks noGrp="1"/>
          </p:cNvSpPr>
          <p:nvPr>
            <p:ph idx="1"/>
          </p:nvPr>
        </p:nvSpPr>
        <p:spPr>
          <a:xfrm>
            <a:off x="601518" y="1478253"/>
            <a:ext cx="10515600" cy="4351338"/>
          </a:xfrm>
        </p:spPr>
        <p:txBody>
          <a:bodyPr>
            <a:normAutofit/>
          </a:bodyPr>
          <a:lstStyle/>
          <a:p>
            <a:pPr>
              <a:lnSpc>
                <a:spcPct val="150000"/>
              </a:lnSpc>
            </a:pPr>
            <a:r>
              <a:rPr lang="en-US" sz="1900" dirty="0">
                <a:latin typeface="Times New Roman" panose="02020603050405020304" pitchFamily="18" charset="0"/>
                <a:cs typeface="Times New Roman" panose="02020603050405020304" pitchFamily="18" charset="0"/>
              </a:rPr>
              <a:t>The </a:t>
            </a:r>
            <a:r>
              <a:rPr lang="en-US" sz="1900" b="1" dirty="0">
                <a:solidFill>
                  <a:schemeClr val="accent3"/>
                </a:solidFill>
                <a:latin typeface="Times New Roman" panose="02020603050405020304" pitchFamily="18" charset="0"/>
                <a:cs typeface="Times New Roman" panose="02020603050405020304" pitchFamily="18" charset="0"/>
              </a:rPr>
              <a:t>escalation process</a:t>
            </a:r>
            <a:r>
              <a:rPr lang="en-US" sz="1900" dirty="0">
                <a:solidFill>
                  <a:schemeClr val="accent3"/>
                </a:solidFill>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is crucial in cybersecurity incident response as it ensures that incidents are addressed promptly by the appropriate personnel. It enables </a:t>
            </a:r>
            <a:r>
              <a:rPr lang="en-US" sz="1900" b="1" dirty="0">
                <a:latin typeface="Times New Roman" panose="02020603050405020304" pitchFamily="18" charset="0"/>
                <a:cs typeface="Times New Roman" panose="02020603050405020304" pitchFamily="18" charset="0"/>
              </a:rPr>
              <a:t>quick decision-making</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assigns clear responsibilities</a:t>
            </a:r>
            <a:r>
              <a:rPr lang="en-US" sz="1900" dirty="0">
                <a:latin typeface="Times New Roman" panose="02020603050405020304" pitchFamily="18" charset="0"/>
                <a:cs typeface="Times New Roman" panose="02020603050405020304" pitchFamily="18" charset="0"/>
              </a:rPr>
              <a:t>, and ensures </a:t>
            </a:r>
            <a:r>
              <a:rPr lang="en-US" sz="1900" b="1" dirty="0">
                <a:latin typeface="Times New Roman" panose="02020603050405020304" pitchFamily="18" charset="0"/>
                <a:cs typeface="Times New Roman" panose="02020603050405020304" pitchFamily="18" charset="0"/>
              </a:rPr>
              <a:t>effective coordination</a:t>
            </a:r>
            <a:r>
              <a:rPr lang="en-US" sz="1900" dirty="0">
                <a:latin typeface="Times New Roman" panose="02020603050405020304" pitchFamily="18" charset="0"/>
                <a:cs typeface="Times New Roman" panose="02020603050405020304" pitchFamily="18" charset="0"/>
              </a:rPr>
              <a:t> among teams.</a:t>
            </a:r>
          </a:p>
          <a:p>
            <a:pPr>
              <a:lnSpc>
                <a:spcPct val="150000"/>
              </a:lnSpc>
            </a:pPr>
            <a:r>
              <a:rPr lang="en-US" sz="1900" dirty="0">
                <a:latin typeface="Times New Roman" panose="02020603050405020304" pitchFamily="18" charset="0"/>
                <a:cs typeface="Times New Roman" panose="02020603050405020304" pitchFamily="18" charset="0"/>
              </a:rPr>
              <a:t>By escalating incidents based on their severity, organizations can match the right expertise to each situation, </a:t>
            </a:r>
            <a:r>
              <a:rPr lang="en-US" sz="1900" b="1" dirty="0">
                <a:latin typeface="Times New Roman" panose="02020603050405020304" pitchFamily="18" charset="0"/>
                <a:cs typeface="Times New Roman" panose="02020603050405020304" pitchFamily="18" charset="0"/>
              </a:rPr>
              <a:t>reduce response time</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minimize business disruption</a:t>
            </a:r>
            <a:r>
              <a:rPr lang="en-US" sz="1900" dirty="0">
                <a:latin typeface="Times New Roman" panose="02020603050405020304" pitchFamily="18" charset="0"/>
                <a:cs typeface="Times New Roman" panose="02020603050405020304" pitchFamily="18" charset="0"/>
              </a:rPr>
              <a:t>. Moreover, a structured escalation process supports </a:t>
            </a:r>
            <a:r>
              <a:rPr lang="en-US" sz="1900" b="1" dirty="0">
                <a:latin typeface="Times New Roman" panose="02020603050405020304" pitchFamily="18" charset="0"/>
                <a:cs typeface="Times New Roman" panose="02020603050405020304" pitchFamily="18" charset="0"/>
              </a:rPr>
              <a:t>regulatory compliance</a:t>
            </a:r>
            <a:r>
              <a:rPr lang="en-US" sz="1900" dirty="0">
                <a:latin typeface="Times New Roman" panose="02020603050405020304" pitchFamily="18" charset="0"/>
                <a:cs typeface="Times New Roman" panose="02020603050405020304" pitchFamily="18" charset="0"/>
              </a:rPr>
              <a:t> and maintains accountability throughout the incident management process.</a:t>
            </a:r>
          </a:p>
          <a:p>
            <a:pPr>
              <a:lnSpc>
                <a:spcPct val="150000"/>
              </a:lnSpc>
            </a:pPr>
            <a:r>
              <a:rPr lang="en-US" sz="1900" b="1" dirty="0">
                <a:latin typeface="Times New Roman" panose="02020603050405020304" pitchFamily="18" charset="0"/>
                <a:cs typeface="Times New Roman" panose="02020603050405020304" pitchFamily="18" charset="0"/>
              </a:rPr>
              <a:t>In summary</a:t>
            </a:r>
            <a:r>
              <a:rPr lang="en-US" sz="1900" dirty="0">
                <a:latin typeface="Times New Roman" panose="02020603050405020304" pitchFamily="18" charset="0"/>
                <a:cs typeface="Times New Roman" panose="02020603050405020304" pitchFamily="18" charset="0"/>
              </a:rPr>
              <a:t>, escalation processes help organizations respond efficiently, limit damage, and maintain operational continuity during cybersecurity incidents.</a:t>
            </a:r>
          </a:p>
          <a:p>
            <a:endParaRPr lang="en-US" dirty="0"/>
          </a:p>
        </p:txBody>
      </p:sp>
    </p:spTree>
    <p:extLst>
      <p:ext uri="{BB962C8B-B14F-4D97-AF65-F5344CB8AC3E}">
        <p14:creationId xmlns:p14="http://schemas.microsoft.com/office/powerpoint/2010/main" val="3803399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F022B-486A-2A7A-53C0-5FC68ADABA87}"/>
              </a:ext>
            </a:extLst>
          </p:cNvPr>
          <p:cNvSpPr>
            <a:spLocks noGrp="1"/>
          </p:cNvSpPr>
          <p:nvPr>
            <p:ph type="ctrTitle"/>
          </p:nvPr>
        </p:nvSpPr>
        <p:spPr>
          <a:xfrm>
            <a:off x="3205018" y="3505200"/>
            <a:ext cx="8377382" cy="1266825"/>
          </a:xfrm>
        </p:spPr>
        <p:txBody>
          <a:bodyPr/>
          <a:lstStyle/>
          <a:p>
            <a:r>
              <a:rPr lang="en-GB" sz="3200" b="1" dirty="0">
                <a:effectLst/>
                <a:latin typeface="Times New Roman" panose="02020603050405020304" pitchFamily="18" charset="0"/>
                <a:ea typeface="Times New Roman" panose="02020603050405020304" pitchFamily="18" charset="0"/>
              </a:rPr>
              <a:t>Handling false positives and false negatives</a:t>
            </a:r>
            <a:endParaRPr lang="en-US" sz="5400" b="1" dirty="0"/>
          </a:p>
        </p:txBody>
      </p:sp>
    </p:spTree>
    <p:extLst>
      <p:ext uri="{BB962C8B-B14F-4D97-AF65-F5344CB8AC3E}">
        <p14:creationId xmlns:p14="http://schemas.microsoft.com/office/powerpoint/2010/main" val="2497663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BDF21-BC29-47F5-B9F1-C311CFA21E38}"/>
              </a:ext>
            </a:extLst>
          </p:cNvPr>
          <p:cNvSpPr>
            <a:spLocks noGrp="1"/>
          </p:cNvSpPr>
          <p:nvPr>
            <p:ph type="title"/>
          </p:nvPr>
        </p:nvSpPr>
        <p:spPr/>
        <p:txBody>
          <a:bodyPr>
            <a:normAutofit/>
          </a:bodyPr>
          <a:lstStyle/>
          <a:p>
            <a:r>
              <a:rPr lang="en-US" sz="3200" b="1" dirty="0">
                <a:solidFill>
                  <a:srgbClr val="00B0F0"/>
                </a:solidFill>
                <a:latin typeface="Times New Roman" panose="02020603050405020304" pitchFamily="18" charset="0"/>
                <a:cs typeface="Times New Roman" panose="02020603050405020304" pitchFamily="18" charset="0"/>
              </a:rPr>
              <a:t>Handling False Positives and False Negatives in a SOC</a:t>
            </a:r>
          </a:p>
        </p:txBody>
      </p:sp>
      <p:sp>
        <p:nvSpPr>
          <p:cNvPr id="3" name="Content Placeholder 2">
            <a:extLst>
              <a:ext uri="{FF2B5EF4-FFF2-40B4-BE49-F238E27FC236}">
                <a16:creationId xmlns:a16="http://schemas.microsoft.com/office/drawing/2014/main" id="{F558E312-AA44-4A30-AB0D-C6EAF66B05AC}"/>
              </a:ext>
            </a:extLst>
          </p:cNvPr>
          <p:cNvSpPr>
            <a:spLocks noGrp="1"/>
          </p:cNvSpPr>
          <p:nvPr>
            <p:ph idx="1"/>
          </p:nvPr>
        </p:nvSpPr>
        <p:spPr>
          <a:xfrm>
            <a:off x="838200" y="1825625"/>
            <a:ext cx="11033760" cy="4351338"/>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In a </a:t>
            </a:r>
            <a:r>
              <a:rPr lang="en-US" sz="2000" b="1" dirty="0">
                <a:latin typeface="Times New Roman" panose="02020603050405020304" pitchFamily="18" charset="0"/>
                <a:cs typeface="Times New Roman" panose="02020603050405020304" pitchFamily="18" charset="0"/>
              </a:rPr>
              <a:t>Security Operations Centre (SOC)</a:t>
            </a:r>
            <a:r>
              <a:rPr lang="en-US" sz="2000" dirty="0">
                <a:latin typeface="Times New Roman" panose="02020603050405020304" pitchFamily="18" charset="0"/>
                <a:cs typeface="Times New Roman" panose="02020603050405020304" pitchFamily="18" charset="0"/>
              </a:rPr>
              <a:t>, analysts monitor alerts generated by systems like </a:t>
            </a:r>
            <a:r>
              <a:rPr lang="en-US" sz="2000" b="1" dirty="0">
                <a:latin typeface="Times New Roman" panose="02020603050405020304" pitchFamily="18" charset="0"/>
                <a:cs typeface="Times New Roman" panose="02020603050405020304" pitchFamily="18" charset="0"/>
              </a:rPr>
              <a:t>SIEM, IDS/IPS, firewalls, antivirus, and EDR</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However, these tools sometimes generate inaccurate alerts:</a:t>
            </a:r>
          </a:p>
          <a:p>
            <a:pPr>
              <a:lnSpc>
                <a:spcPct val="150000"/>
              </a:lnSpc>
              <a:buFont typeface="Arial" panose="020B0604020202020204" pitchFamily="34" charset="0"/>
              <a:buChar char="•"/>
            </a:pPr>
            <a:r>
              <a:rPr lang="en-US" sz="2000" b="1" dirty="0">
                <a:solidFill>
                  <a:schemeClr val="accent3"/>
                </a:solidFill>
                <a:latin typeface="Times New Roman" panose="02020603050405020304" pitchFamily="18" charset="0"/>
                <a:cs typeface="Times New Roman" panose="02020603050405020304" pitchFamily="18" charset="0"/>
              </a:rPr>
              <a:t>False Positive (FP):</a:t>
            </a:r>
            <a:r>
              <a:rPr lang="en-US" sz="2000" dirty="0">
                <a:solidFill>
                  <a:schemeClr val="accent3"/>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Normal activity wrongly flagged as malicious.</a:t>
            </a:r>
          </a:p>
          <a:p>
            <a:pPr>
              <a:lnSpc>
                <a:spcPct val="150000"/>
              </a:lnSpc>
              <a:buFont typeface="Arial" panose="020B0604020202020204" pitchFamily="34" charset="0"/>
              <a:buChar char="•"/>
            </a:pPr>
            <a:r>
              <a:rPr lang="en-US" sz="2000" b="1" dirty="0">
                <a:solidFill>
                  <a:schemeClr val="accent3"/>
                </a:solidFill>
                <a:latin typeface="Times New Roman" panose="02020603050405020304" pitchFamily="18" charset="0"/>
                <a:cs typeface="Times New Roman" panose="02020603050405020304" pitchFamily="18" charset="0"/>
              </a:rPr>
              <a:t>False Negative (FN):</a:t>
            </a:r>
            <a:r>
              <a:rPr lang="en-US" sz="2000" dirty="0">
                <a:solidFill>
                  <a:schemeClr val="accent3"/>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Real threat that the system fails to detect.</a:t>
            </a:r>
          </a:p>
          <a:p>
            <a:pPr>
              <a:lnSpc>
                <a:spcPct val="150000"/>
              </a:lnSpc>
            </a:pPr>
            <a:r>
              <a:rPr lang="en-US" sz="2000" dirty="0">
                <a:latin typeface="Times New Roman" panose="02020603050405020304" pitchFamily="18" charset="0"/>
                <a:cs typeface="Times New Roman" panose="02020603050405020304" pitchFamily="18" charset="0"/>
              </a:rPr>
              <a:t>Both affect SOC efficiency and overall security.</a:t>
            </a:r>
          </a:p>
          <a:p>
            <a:endParaRPr lang="en-US" dirty="0"/>
          </a:p>
        </p:txBody>
      </p:sp>
    </p:spTree>
    <p:extLst>
      <p:ext uri="{BB962C8B-B14F-4D97-AF65-F5344CB8AC3E}">
        <p14:creationId xmlns:p14="http://schemas.microsoft.com/office/powerpoint/2010/main" val="1696967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76538-A7FA-430B-824B-1D8CD028EDB0}"/>
              </a:ext>
            </a:extLst>
          </p:cNvPr>
          <p:cNvSpPr>
            <a:spLocks noGrp="1"/>
          </p:cNvSpPr>
          <p:nvPr>
            <p:ph type="title"/>
          </p:nvPr>
        </p:nvSpPr>
        <p:spPr>
          <a:xfrm>
            <a:off x="930563" y="822036"/>
            <a:ext cx="10515600" cy="1034907"/>
          </a:xfrm>
        </p:spPr>
        <p:txBody>
          <a:bodyPr>
            <a:normAutofit fontScale="90000"/>
          </a:bodyPr>
          <a:lstStyle/>
          <a:p>
            <a:r>
              <a:rPr lang="en-US" sz="4000" b="1" dirty="0">
                <a:solidFill>
                  <a:srgbClr val="00B0F0"/>
                </a:solidFill>
                <a:latin typeface="Times New Roman" panose="02020603050405020304" pitchFamily="18" charset="0"/>
                <a:cs typeface="Times New Roman" panose="02020603050405020304" pitchFamily="18" charset="0"/>
              </a:rPr>
              <a:t>False Positives</a:t>
            </a:r>
            <a:r>
              <a:rPr lang="en-US" b="1" dirty="0"/>
              <a:t/>
            </a:r>
            <a:br>
              <a:rPr lang="en-US" b="1" dirty="0"/>
            </a:br>
            <a:endParaRPr lang="en-US" dirty="0"/>
          </a:p>
        </p:txBody>
      </p:sp>
      <p:sp>
        <p:nvSpPr>
          <p:cNvPr id="3" name="Content Placeholder 2">
            <a:extLst>
              <a:ext uri="{FF2B5EF4-FFF2-40B4-BE49-F238E27FC236}">
                <a16:creationId xmlns:a16="http://schemas.microsoft.com/office/drawing/2014/main" id="{36679CA2-27FD-444D-A0B2-DEBC1DAEE867}"/>
              </a:ext>
            </a:extLst>
          </p:cNvPr>
          <p:cNvSpPr>
            <a:spLocks noGrp="1"/>
          </p:cNvSpPr>
          <p:nvPr>
            <p:ph idx="1"/>
          </p:nvPr>
        </p:nvSpPr>
        <p:spPr>
          <a:xfrm>
            <a:off x="609600" y="1417320"/>
            <a:ext cx="10972800" cy="4759643"/>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 </a:t>
            </a:r>
            <a:r>
              <a:rPr lang="en-US" b="1" dirty="0">
                <a:solidFill>
                  <a:schemeClr val="accent3"/>
                </a:solidFill>
                <a:latin typeface="Times New Roman" panose="02020603050405020304" pitchFamily="18" charset="0"/>
                <a:cs typeface="Times New Roman" panose="02020603050405020304" pitchFamily="18" charset="0"/>
              </a:rPr>
              <a:t>false positive</a:t>
            </a:r>
            <a:r>
              <a:rPr lang="en-US" dirty="0">
                <a:solidFill>
                  <a:schemeClr val="accent3"/>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occurs when an alert is triggered for legitimate activity that is not actually a threat.</a:t>
            </a:r>
          </a:p>
          <a:p>
            <a:pPr marL="0" indent="0">
              <a:buNone/>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security scanner (like Nessus)</a:t>
            </a:r>
            <a:r>
              <a:rPr lang="en-US" dirty="0">
                <a:latin typeface="Times New Roman" panose="02020603050405020304" pitchFamily="18" charset="0"/>
                <a:cs typeface="Times New Roman" panose="02020603050405020304" pitchFamily="18" charset="0"/>
              </a:rPr>
              <a:t> scans your internal servers for vulnerabilities.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Intrusion Detection System (IDS)</a:t>
            </a:r>
            <a:r>
              <a:rPr lang="en-US" dirty="0">
                <a:latin typeface="Times New Roman" panose="02020603050405020304" pitchFamily="18" charset="0"/>
                <a:cs typeface="Times New Roman" panose="02020603050405020304" pitchFamily="18" charset="0"/>
              </a:rPr>
              <a:t> sees the scan traffic and raises an alert, “Possible port scanning attack.”</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reality, it’s a </a:t>
            </a:r>
            <a:r>
              <a:rPr lang="en-US" i="1" dirty="0">
                <a:latin typeface="Times New Roman" panose="02020603050405020304" pitchFamily="18" charset="0"/>
                <a:cs typeface="Times New Roman" panose="02020603050405020304" pitchFamily="18" charset="0"/>
              </a:rPr>
              <a:t>scheduled internal security scan</a:t>
            </a:r>
            <a:r>
              <a:rPr lang="en-US" dirty="0">
                <a:latin typeface="Times New Roman" panose="02020603050405020304" pitchFamily="18" charset="0"/>
                <a:cs typeface="Times New Roman" panose="02020603050405020304" pitchFamily="18" charset="0"/>
              </a:rPr>
              <a:t>, not an attack.</a:t>
            </a:r>
          </a:p>
          <a:p>
            <a:r>
              <a:rPr lang="en-US" b="1" dirty="0">
                <a:latin typeface="Times New Roman" panose="02020603050405020304" pitchFamily="18" charset="0"/>
                <a:cs typeface="Times New Roman" panose="02020603050405020304" pitchFamily="18" charset="0"/>
              </a:rPr>
              <a:t>Impact:</a:t>
            </a:r>
            <a:r>
              <a:rPr lang="en-US" dirty="0">
                <a:latin typeface="Times New Roman" panose="02020603050405020304" pitchFamily="18" charset="0"/>
                <a:cs typeface="Times New Roman" panose="02020603050405020304" pitchFamily="18" charset="0"/>
              </a:rPr>
              <a:t>Analysts waste time investigating harmless activities.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Alert fatigue leads to slower response to genuine threats.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Too many false alarms reduce trust in the alerting system.</a:t>
            </a:r>
          </a:p>
          <a:p>
            <a:endParaRPr lang="en-US" dirty="0"/>
          </a:p>
        </p:txBody>
      </p:sp>
    </p:spTree>
    <p:extLst>
      <p:ext uri="{BB962C8B-B14F-4D97-AF65-F5344CB8AC3E}">
        <p14:creationId xmlns:p14="http://schemas.microsoft.com/office/powerpoint/2010/main" val="3927403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5DB72-0648-40DE-A2B3-CB4C483F0B23}"/>
              </a:ext>
            </a:extLst>
          </p:cNvPr>
          <p:cNvSpPr>
            <a:spLocks noGrp="1"/>
          </p:cNvSpPr>
          <p:nvPr>
            <p:ph type="title"/>
          </p:nvPr>
        </p:nvSpPr>
        <p:spPr>
          <a:xfrm>
            <a:off x="939800" y="500062"/>
            <a:ext cx="10515600" cy="1325563"/>
          </a:xfrm>
        </p:spPr>
        <p:txBody>
          <a:bodyPr/>
          <a:lstStyle/>
          <a:p>
            <a:r>
              <a:rPr lang="en-US" sz="3600" b="1" dirty="0">
                <a:solidFill>
                  <a:srgbClr val="00B0F0"/>
                </a:solidFill>
                <a:latin typeface="Times New Roman" panose="02020603050405020304" pitchFamily="18" charset="0"/>
                <a:cs typeface="Times New Roman" panose="02020603050405020304" pitchFamily="18" charset="0"/>
              </a:rPr>
              <a:t>How to </a:t>
            </a:r>
            <a:r>
              <a:rPr lang="en-US" sz="3600" b="1" dirty="0" err="1">
                <a:solidFill>
                  <a:srgbClr val="00B0F0"/>
                </a:solidFill>
                <a:latin typeface="Times New Roman" panose="02020603050405020304" pitchFamily="18" charset="0"/>
                <a:cs typeface="Times New Roman" panose="02020603050405020304" pitchFamily="18" charset="0"/>
              </a:rPr>
              <a:t>Handle:False</a:t>
            </a:r>
            <a:r>
              <a:rPr lang="en-US" sz="3600" b="1" dirty="0">
                <a:solidFill>
                  <a:srgbClr val="00B0F0"/>
                </a:solidFill>
                <a:latin typeface="Times New Roman" panose="02020603050405020304" pitchFamily="18" charset="0"/>
                <a:cs typeface="Times New Roman" panose="02020603050405020304" pitchFamily="18" charset="0"/>
              </a:rPr>
              <a:t> Positives</a:t>
            </a:r>
            <a:r>
              <a:rPr lang="en-US" b="1" dirty="0"/>
              <a:t/>
            </a:r>
            <a:br>
              <a:rPr lang="en-US" b="1" dirty="0"/>
            </a:br>
            <a:endParaRPr lang="en-US" dirty="0"/>
          </a:p>
        </p:txBody>
      </p:sp>
      <p:sp>
        <p:nvSpPr>
          <p:cNvPr id="3" name="Content Placeholder 2">
            <a:extLst>
              <a:ext uri="{FF2B5EF4-FFF2-40B4-BE49-F238E27FC236}">
                <a16:creationId xmlns:a16="http://schemas.microsoft.com/office/drawing/2014/main" id="{D9C55FFF-B348-4BD2-A41E-E205F5DF86BA}"/>
              </a:ext>
            </a:extLst>
          </p:cNvPr>
          <p:cNvSpPr>
            <a:spLocks noGrp="1"/>
          </p:cNvSpPr>
          <p:nvPr>
            <p:ph idx="1"/>
          </p:nvPr>
        </p:nvSpPr>
        <p:spPr>
          <a:xfrm>
            <a:off x="838200" y="1825625"/>
            <a:ext cx="10993582" cy="4351338"/>
          </a:xfrm>
        </p:spPr>
        <p:txBody>
          <a:bodyPr>
            <a:normAutofit/>
          </a:bodyPr>
          <a:lstStyle/>
          <a:p>
            <a:pPr>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Tune rules and thresholds</a:t>
            </a:r>
            <a:r>
              <a:rPr lang="en-US" sz="2000" dirty="0">
                <a:latin typeface="Times New Roman" panose="02020603050405020304" pitchFamily="18" charset="0"/>
                <a:cs typeface="Times New Roman" panose="02020603050405020304" pitchFamily="18" charset="0"/>
              </a:rPr>
              <a:t> – Adjust IDS/SIEM rules to reduce unnecessary alerts.</a:t>
            </a:r>
          </a:p>
          <a:p>
            <a:pPr>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Whitelist known safe sources</a:t>
            </a:r>
            <a:r>
              <a:rPr lang="en-US" sz="2000" dirty="0">
                <a:latin typeface="Times New Roman" panose="02020603050405020304" pitchFamily="18" charset="0"/>
                <a:cs typeface="Times New Roman" panose="02020603050405020304" pitchFamily="18" charset="0"/>
              </a:rPr>
              <a:t> – Add internal scanners or management systems to a trusted list.</a:t>
            </a:r>
          </a:p>
          <a:p>
            <a:pPr>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Use context-based correlation</a:t>
            </a:r>
            <a:r>
              <a:rPr lang="en-US" sz="2000" dirty="0">
                <a:latin typeface="Times New Roman" panose="02020603050405020304" pitchFamily="18" charset="0"/>
                <a:cs typeface="Times New Roman" panose="02020603050405020304" pitchFamily="18" charset="0"/>
              </a:rPr>
              <a:t> – Combine multiple signals (e.g., user identity, time, and network location) before raising alerts.</a:t>
            </a:r>
          </a:p>
          <a:p>
            <a:pPr>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Implement feedback loops</a:t>
            </a:r>
            <a:r>
              <a:rPr lang="en-US" sz="2000" dirty="0">
                <a:latin typeface="Times New Roman" panose="02020603050405020304" pitchFamily="18" charset="0"/>
                <a:cs typeface="Times New Roman" panose="02020603050405020304" pitchFamily="18" charset="0"/>
              </a:rPr>
              <a:t> – Analysts mark false positives to help improve detection rules.</a:t>
            </a:r>
          </a:p>
          <a:p>
            <a:pPr>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Automate repetitive checks</a:t>
            </a:r>
            <a:r>
              <a:rPr lang="en-US" sz="2000" dirty="0">
                <a:latin typeface="Times New Roman" panose="02020603050405020304" pitchFamily="18" charset="0"/>
                <a:cs typeface="Times New Roman" panose="02020603050405020304" pitchFamily="18" charset="0"/>
              </a:rPr>
              <a:t> – Use SOAR tools to suppress repeated benign alerts automatically.</a:t>
            </a:r>
          </a:p>
          <a:p>
            <a:endParaRPr lang="en-US" dirty="0"/>
          </a:p>
        </p:txBody>
      </p:sp>
    </p:spTree>
    <p:extLst>
      <p:ext uri="{BB962C8B-B14F-4D97-AF65-F5344CB8AC3E}">
        <p14:creationId xmlns:p14="http://schemas.microsoft.com/office/powerpoint/2010/main" val="3552271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7B87D-AE43-458F-9029-23014B5319B5}"/>
              </a:ext>
            </a:extLst>
          </p:cNvPr>
          <p:cNvSpPr>
            <a:spLocks noGrp="1"/>
          </p:cNvSpPr>
          <p:nvPr>
            <p:ph type="title"/>
          </p:nvPr>
        </p:nvSpPr>
        <p:spPr>
          <a:xfrm>
            <a:off x="838200" y="651453"/>
            <a:ext cx="10515600" cy="1325563"/>
          </a:xfrm>
        </p:spPr>
        <p:txBody>
          <a:bodyPr/>
          <a:lstStyle/>
          <a:p>
            <a:r>
              <a:rPr lang="en-US" sz="3600" b="1" dirty="0">
                <a:solidFill>
                  <a:srgbClr val="00B0F0"/>
                </a:solidFill>
                <a:latin typeface="Times New Roman" panose="02020603050405020304" pitchFamily="18" charset="0"/>
                <a:cs typeface="Times New Roman" panose="02020603050405020304" pitchFamily="18" charset="0"/>
              </a:rPr>
              <a:t>False Negatives</a:t>
            </a:r>
            <a:r>
              <a:rPr lang="en-US" b="1" dirty="0"/>
              <a:t/>
            </a:r>
            <a:br>
              <a:rPr lang="en-US" b="1" dirty="0"/>
            </a:br>
            <a:endParaRPr lang="en-US" dirty="0"/>
          </a:p>
        </p:txBody>
      </p:sp>
      <p:sp>
        <p:nvSpPr>
          <p:cNvPr id="3" name="Content Placeholder 2">
            <a:extLst>
              <a:ext uri="{FF2B5EF4-FFF2-40B4-BE49-F238E27FC236}">
                <a16:creationId xmlns:a16="http://schemas.microsoft.com/office/drawing/2014/main" id="{1B088F46-A3C4-49DD-8392-9BF84A3A8EB6}"/>
              </a:ext>
            </a:extLst>
          </p:cNvPr>
          <p:cNvSpPr>
            <a:spLocks noGrp="1"/>
          </p:cNvSpPr>
          <p:nvPr>
            <p:ph idx="1"/>
          </p:nvPr>
        </p:nvSpPr>
        <p:spPr>
          <a:xfrm>
            <a:off x="838200" y="1203960"/>
            <a:ext cx="11140440" cy="5410200"/>
          </a:xfrm>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a:t>
            </a:r>
            <a:r>
              <a:rPr lang="en-US" sz="2200" b="1" dirty="0">
                <a:solidFill>
                  <a:schemeClr val="accent3"/>
                </a:solidFill>
                <a:latin typeface="Times New Roman" panose="02020603050405020304" pitchFamily="18" charset="0"/>
                <a:cs typeface="Times New Roman" panose="02020603050405020304" pitchFamily="18" charset="0"/>
              </a:rPr>
              <a:t>false negative</a:t>
            </a:r>
            <a:r>
              <a:rPr lang="en-US" sz="2200" dirty="0">
                <a:solidFill>
                  <a:schemeClr val="accent3"/>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occurs when a real malicious activity happens but no alert is generated the system </a:t>
            </a:r>
            <a:r>
              <a:rPr lang="en-US" sz="2200" i="1" dirty="0">
                <a:latin typeface="Times New Roman" panose="02020603050405020304" pitchFamily="18" charset="0"/>
                <a:cs typeface="Times New Roman" panose="02020603050405020304" pitchFamily="18" charset="0"/>
              </a:rPr>
              <a:t>misses</a:t>
            </a:r>
            <a:r>
              <a:rPr lang="en-US" sz="2200" dirty="0">
                <a:latin typeface="Times New Roman" panose="02020603050405020304" pitchFamily="18" charset="0"/>
                <a:cs typeface="Times New Roman" panose="02020603050405020304" pitchFamily="18" charset="0"/>
              </a:rPr>
              <a:t> it.</a:t>
            </a:r>
          </a:p>
          <a:p>
            <a:pPr algn="just"/>
            <a:r>
              <a:rPr lang="en-US" sz="2200" b="1" dirty="0">
                <a:latin typeface="Times New Roman" panose="02020603050405020304" pitchFamily="18" charset="0"/>
                <a:cs typeface="Times New Roman" panose="02020603050405020304" pitchFamily="18" charset="0"/>
              </a:rPr>
              <a:t>Example:</a:t>
            </a: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user opens an email attachment containing </a:t>
            </a:r>
            <a:r>
              <a:rPr lang="en-US" sz="2200" b="1" dirty="0">
                <a:latin typeface="Times New Roman" panose="02020603050405020304" pitchFamily="18" charset="0"/>
                <a:cs typeface="Times New Roman" panose="02020603050405020304" pitchFamily="18" charset="0"/>
              </a:rPr>
              <a:t>a new type of ransomware</a:t>
            </a:r>
            <a:r>
              <a:rPr lang="en-US" sz="2200" dirty="0">
                <a:latin typeface="Times New Roman" panose="02020603050405020304" pitchFamily="18" charset="0"/>
                <a:cs typeface="Times New Roman" panose="02020603050405020304" pitchFamily="18" charset="0"/>
              </a:rPr>
              <a:t> that isn’t yet known to antivirus signatures.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antivirus fails to detect it because the malware uses new, obfuscated code.</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ransomware encrypts files before any alert is triggered this is a </a:t>
            </a:r>
            <a:r>
              <a:rPr lang="en-US" sz="2200" i="1" dirty="0">
                <a:latin typeface="Times New Roman" panose="02020603050405020304" pitchFamily="18" charset="0"/>
                <a:cs typeface="Times New Roman" panose="02020603050405020304" pitchFamily="18" charset="0"/>
              </a:rPr>
              <a:t>false negative.</a:t>
            </a:r>
            <a:endParaRPr lang="en-US" sz="2200"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Impact:</a:t>
            </a: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Undetected attacks can spread within the network.</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Leads to data breaches or system compromise.</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Delays incident response and damages organizational reputation.</a:t>
            </a:r>
          </a:p>
          <a:p>
            <a:endParaRPr lang="en-US" dirty="0"/>
          </a:p>
        </p:txBody>
      </p:sp>
    </p:spTree>
    <p:extLst>
      <p:ext uri="{BB962C8B-B14F-4D97-AF65-F5344CB8AC3E}">
        <p14:creationId xmlns:p14="http://schemas.microsoft.com/office/powerpoint/2010/main" val="381707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88FD-65CB-43A0-9C25-9CA04E032616}"/>
              </a:ext>
            </a:extLst>
          </p:cNvPr>
          <p:cNvSpPr>
            <a:spLocks noGrp="1"/>
          </p:cNvSpPr>
          <p:nvPr>
            <p:ph type="title"/>
          </p:nvPr>
        </p:nvSpPr>
        <p:spPr>
          <a:xfrm>
            <a:off x="1005840" y="681037"/>
            <a:ext cx="10515600" cy="899794"/>
          </a:xfrm>
        </p:spPr>
        <p:txBody>
          <a:bodyPr>
            <a:normAutofit fontScale="90000"/>
          </a:bodyPr>
          <a:lstStyle/>
          <a:p>
            <a:r>
              <a:rPr lang="en-US" sz="4000" b="1" dirty="0">
                <a:solidFill>
                  <a:srgbClr val="00B0F0"/>
                </a:solidFill>
              </a:rPr>
              <a:t>How to Handle: False</a:t>
            </a:r>
            <a:r>
              <a:rPr lang="en-US" sz="4000" dirty="0">
                <a:solidFill>
                  <a:srgbClr val="00B0F0"/>
                </a:solidFill>
              </a:rPr>
              <a:t> Negatives</a:t>
            </a:r>
            <a:r>
              <a:rPr lang="en-US" dirty="0"/>
              <a:t/>
            </a:r>
            <a:br>
              <a:rPr lang="en-US" dirty="0"/>
            </a:br>
            <a:endParaRPr lang="en-US" dirty="0"/>
          </a:p>
        </p:txBody>
      </p:sp>
      <p:sp>
        <p:nvSpPr>
          <p:cNvPr id="3" name="Content Placeholder 2">
            <a:extLst>
              <a:ext uri="{FF2B5EF4-FFF2-40B4-BE49-F238E27FC236}">
                <a16:creationId xmlns:a16="http://schemas.microsoft.com/office/drawing/2014/main" id="{B15E8F30-465F-4CB9-9752-64209553793B}"/>
              </a:ext>
            </a:extLst>
          </p:cNvPr>
          <p:cNvSpPr>
            <a:spLocks noGrp="1"/>
          </p:cNvSpPr>
          <p:nvPr>
            <p:ph idx="1"/>
          </p:nvPr>
        </p:nvSpPr>
        <p:spPr>
          <a:xfrm>
            <a:off x="838199" y="1253331"/>
            <a:ext cx="11113655" cy="4351338"/>
          </a:xfrm>
        </p:spPr>
        <p:txBody>
          <a:bodyPr>
            <a:normAutofit/>
          </a:bodyPr>
          <a:lstStyle/>
          <a:p>
            <a:pPr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Threat Hunting:</a:t>
            </a:r>
            <a:r>
              <a:rPr lang="en-US" sz="2000" dirty="0">
                <a:latin typeface="Times New Roman" panose="02020603050405020304" pitchFamily="18" charset="0"/>
                <a:cs typeface="Times New Roman" panose="02020603050405020304" pitchFamily="18" charset="0"/>
              </a:rPr>
              <a:t> Proactively search logs and network data for suspicious patterns that might have been missed.</a:t>
            </a:r>
          </a:p>
          <a:p>
            <a:pPr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Update threat intelligence:</a:t>
            </a:r>
            <a:r>
              <a:rPr lang="en-US" sz="2000" dirty="0">
                <a:latin typeface="Times New Roman" panose="02020603050405020304" pitchFamily="18" charset="0"/>
                <a:cs typeface="Times New Roman" panose="02020603050405020304" pitchFamily="18" charset="0"/>
              </a:rPr>
              <a:t> Regularly refresh signatures and indicators of compromise (IOCs).</a:t>
            </a:r>
          </a:p>
          <a:p>
            <a:pPr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Behavioral analytics:</a:t>
            </a:r>
            <a:r>
              <a:rPr lang="en-US" sz="2000" dirty="0">
                <a:latin typeface="Times New Roman" panose="02020603050405020304" pitchFamily="18" charset="0"/>
                <a:cs typeface="Times New Roman" panose="02020603050405020304" pitchFamily="18" charset="0"/>
              </a:rPr>
              <a:t> Use UEBA (User and Entity Behavior Analytics) to detect unusual behavior instead of relying only on known signatures.</a:t>
            </a:r>
          </a:p>
          <a:p>
            <a:pPr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Red Team exercises:</a:t>
            </a:r>
            <a:r>
              <a:rPr lang="en-US" sz="2000" dirty="0">
                <a:latin typeface="Times New Roman" panose="02020603050405020304" pitchFamily="18" charset="0"/>
                <a:cs typeface="Times New Roman" panose="02020603050405020304" pitchFamily="18" charset="0"/>
              </a:rPr>
              <a:t> Simulate attacks to identify what current tools fail to detect.</a:t>
            </a:r>
          </a:p>
          <a:p>
            <a:pPr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Machine learning models:</a:t>
            </a:r>
            <a:r>
              <a:rPr lang="en-US" sz="2000" dirty="0">
                <a:latin typeface="Times New Roman" panose="02020603050405020304" pitchFamily="18" charset="0"/>
                <a:cs typeface="Times New Roman" panose="02020603050405020304" pitchFamily="18" charset="0"/>
              </a:rPr>
              <a:t> Continuously train detection systems with new data.</a:t>
            </a:r>
          </a:p>
          <a:p>
            <a:endParaRPr lang="en-US" dirty="0"/>
          </a:p>
        </p:txBody>
      </p:sp>
    </p:spTree>
    <p:extLst>
      <p:ext uri="{BB962C8B-B14F-4D97-AF65-F5344CB8AC3E}">
        <p14:creationId xmlns:p14="http://schemas.microsoft.com/office/powerpoint/2010/main" val="17664944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D3495-0A56-4BDE-B1DA-8B5F16985F07}"/>
              </a:ext>
            </a:extLst>
          </p:cNvPr>
          <p:cNvSpPr>
            <a:spLocks noGrp="1"/>
          </p:cNvSpPr>
          <p:nvPr>
            <p:ph type="title"/>
          </p:nvPr>
        </p:nvSpPr>
        <p:spPr>
          <a:xfrm>
            <a:off x="838200" y="500062"/>
            <a:ext cx="11049000" cy="1325563"/>
          </a:xfrm>
        </p:spPr>
        <p:txBody>
          <a:bodyPr>
            <a:normAutofit/>
          </a:bodyPr>
          <a:lstStyle/>
          <a:p>
            <a:r>
              <a:rPr lang="en-US" sz="3600" b="1" dirty="0">
                <a:solidFill>
                  <a:srgbClr val="00B0F0"/>
                </a:solidFill>
                <a:latin typeface="Times New Roman" panose="02020603050405020304" pitchFamily="18" charset="0"/>
                <a:cs typeface="Times New Roman" panose="02020603050405020304" pitchFamily="18" charset="0"/>
              </a:rPr>
              <a:t>Balancing Sensitivity: SOC teams must balance</a:t>
            </a:r>
            <a:r>
              <a:rPr lang="en-US" dirty="0"/>
              <a:t/>
            </a:r>
            <a:br>
              <a:rPr lang="en-US" dirty="0"/>
            </a:br>
            <a:endParaRPr lang="en-US" dirty="0"/>
          </a:p>
        </p:txBody>
      </p:sp>
      <p:sp>
        <p:nvSpPr>
          <p:cNvPr id="3" name="Content Placeholder 2">
            <a:extLst>
              <a:ext uri="{FF2B5EF4-FFF2-40B4-BE49-F238E27FC236}">
                <a16:creationId xmlns:a16="http://schemas.microsoft.com/office/drawing/2014/main" id="{9FA08FEC-30EC-4964-AC4D-9F22F9B95ABC}"/>
              </a:ext>
            </a:extLst>
          </p:cNvPr>
          <p:cNvSpPr>
            <a:spLocks noGrp="1"/>
          </p:cNvSpPr>
          <p:nvPr>
            <p:ph idx="1"/>
          </p:nvPr>
        </p:nvSpPr>
        <p:spPr>
          <a:xfrm>
            <a:off x="838200" y="1253331"/>
            <a:ext cx="10515600" cy="4351338"/>
          </a:xfrm>
        </p:spPr>
        <p:txBody>
          <a:bodyPr>
            <a:normAutofit/>
          </a:bodyPr>
          <a:lstStyle/>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Too </a:t>
            </a:r>
            <a:r>
              <a:rPr lang="en-US" sz="2000" i="1" dirty="0">
                <a:latin typeface="Times New Roman" panose="02020603050405020304" pitchFamily="18" charset="0"/>
                <a:cs typeface="Times New Roman" panose="02020603050405020304" pitchFamily="18" charset="0"/>
              </a:rPr>
              <a:t>sensitive</a:t>
            </a:r>
            <a:r>
              <a:rPr lang="en-US" sz="2000" dirty="0">
                <a:latin typeface="Times New Roman" panose="02020603050405020304" pitchFamily="18" charset="0"/>
                <a:cs typeface="Times New Roman" panose="02020603050405020304" pitchFamily="18" charset="0"/>
              </a:rPr>
              <a:t> → Too many </a:t>
            </a:r>
            <a:r>
              <a:rPr lang="en-US" sz="2000" b="1" dirty="0">
                <a:latin typeface="Times New Roman" panose="02020603050405020304" pitchFamily="18" charset="0"/>
                <a:cs typeface="Times New Roman" panose="02020603050405020304" pitchFamily="18" charset="0"/>
              </a:rPr>
              <a:t>false positives</a:t>
            </a:r>
            <a:r>
              <a:rPr lang="en-US" sz="2000"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Too </a:t>
            </a:r>
            <a:r>
              <a:rPr lang="en-US" sz="2000" i="1" dirty="0">
                <a:latin typeface="Times New Roman" panose="02020603050405020304" pitchFamily="18" charset="0"/>
                <a:cs typeface="Times New Roman" panose="02020603050405020304" pitchFamily="18" charset="0"/>
              </a:rPr>
              <a:t>relaxed</a:t>
            </a:r>
            <a:r>
              <a:rPr lang="en-US" sz="2000" dirty="0">
                <a:latin typeface="Times New Roman" panose="02020603050405020304" pitchFamily="18" charset="0"/>
                <a:cs typeface="Times New Roman" panose="02020603050405020304" pitchFamily="18" charset="0"/>
              </a:rPr>
              <a:t> → Too many </a:t>
            </a:r>
            <a:r>
              <a:rPr lang="en-US" sz="2000" b="1" dirty="0">
                <a:latin typeface="Times New Roman" panose="02020603050405020304" pitchFamily="18" charset="0"/>
                <a:cs typeface="Times New Roman" panose="02020603050405020304" pitchFamily="18" charset="0"/>
              </a:rPr>
              <a:t>false negatives</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dirty="0">
                <a:latin typeface="Times New Roman" panose="02020603050405020304" pitchFamily="18" charset="0"/>
                <a:cs typeface="Times New Roman" panose="02020603050405020304" pitchFamily="18" charset="0"/>
              </a:rPr>
              <a:t>Example:</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your SIEM flags every login attempt as “suspicious,” you’ll drown in false positives.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it only flags after 10 failed logins, a real brute-force attack might be missed.</a:t>
            </a:r>
          </a:p>
          <a:p>
            <a:pPr>
              <a:lnSpc>
                <a:spcPct val="150000"/>
              </a:lnSpc>
            </a:pPr>
            <a:r>
              <a:rPr lang="en-US" sz="2000" dirty="0">
                <a:latin typeface="Times New Roman" panose="02020603050405020304" pitchFamily="18" charset="0"/>
                <a:cs typeface="Times New Roman" panose="02020603050405020304" pitchFamily="18" charset="0"/>
              </a:rPr>
              <a:t> The goal is to find a </a:t>
            </a:r>
            <a:r>
              <a:rPr lang="en-US" sz="2000" b="1" dirty="0">
                <a:latin typeface="Times New Roman" panose="02020603050405020304" pitchFamily="18" charset="0"/>
                <a:cs typeface="Times New Roman" panose="02020603050405020304" pitchFamily="18" charset="0"/>
              </a:rPr>
              <a:t>sweet spot</a:t>
            </a:r>
            <a:r>
              <a:rPr lang="en-US" sz="2000" dirty="0">
                <a:latin typeface="Times New Roman" panose="02020603050405020304" pitchFamily="18" charset="0"/>
                <a:cs typeface="Times New Roman" panose="02020603050405020304" pitchFamily="18" charset="0"/>
              </a:rPr>
              <a:t>: detect real threats early while minimizing noise.</a:t>
            </a:r>
          </a:p>
          <a:p>
            <a:endParaRPr lang="en-US" b="1" dirty="0"/>
          </a:p>
        </p:txBody>
      </p:sp>
    </p:spTree>
    <p:extLst>
      <p:ext uri="{BB962C8B-B14F-4D97-AF65-F5344CB8AC3E}">
        <p14:creationId xmlns:p14="http://schemas.microsoft.com/office/powerpoint/2010/main" val="3699847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9C9BE-A306-4867-BA48-157E60F785D0}"/>
              </a:ext>
            </a:extLst>
          </p:cNvPr>
          <p:cNvSpPr>
            <a:spLocks noGrp="1"/>
          </p:cNvSpPr>
          <p:nvPr>
            <p:ph type="title"/>
          </p:nvPr>
        </p:nvSpPr>
        <p:spPr/>
        <p:txBody>
          <a:bodyPr>
            <a:normAutofit/>
          </a:bodyPr>
          <a:lstStyle/>
          <a:p>
            <a:r>
              <a:rPr lang="en-US" sz="3600" b="1" dirty="0">
                <a:solidFill>
                  <a:srgbClr val="00B0F0"/>
                </a:solidFill>
              </a:rPr>
              <a:t>Continuous Improvement Cycle</a:t>
            </a:r>
          </a:p>
        </p:txBody>
      </p:sp>
      <p:sp>
        <p:nvSpPr>
          <p:cNvPr id="3" name="Content Placeholder 2">
            <a:extLst>
              <a:ext uri="{FF2B5EF4-FFF2-40B4-BE49-F238E27FC236}">
                <a16:creationId xmlns:a16="http://schemas.microsoft.com/office/drawing/2014/main" id="{300291F4-28BB-429D-BBE3-ADC2C01074C9}"/>
              </a:ext>
            </a:extLst>
          </p:cNvPr>
          <p:cNvSpPr>
            <a:spLocks noGrp="1"/>
          </p:cNvSpPr>
          <p:nvPr>
            <p:ph idx="1"/>
          </p:nvPr>
        </p:nvSpPr>
        <p:spPr/>
        <p:txBody>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SOC teams should follow a feedback loop:</a:t>
            </a:r>
          </a:p>
          <a:p>
            <a:pPr>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Detect</a:t>
            </a:r>
            <a:r>
              <a:rPr lang="en-US" sz="2000" dirty="0">
                <a:latin typeface="Times New Roman" panose="02020603050405020304" pitchFamily="18" charset="0"/>
                <a:cs typeface="Times New Roman" panose="02020603050405020304" pitchFamily="18" charset="0"/>
              </a:rPr>
              <a:t> → 2. </a:t>
            </a:r>
            <a:r>
              <a:rPr lang="en-US" sz="2000" b="1" dirty="0">
                <a:latin typeface="Times New Roman" panose="02020603050405020304" pitchFamily="18" charset="0"/>
                <a:cs typeface="Times New Roman" panose="02020603050405020304" pitchFamily="18" charset="0"/>
              </a:rPr>
              <a:t>Validate</a:t>
            </a:r>
            <a:r>
              <a:rPr lang="en-US" sz="2000" dirty="0">
                <a:latin typeface="Times New Roman" panose="02020603050405020304" pitchFamily="18" charset="0"/>
                <a:cs typeface="Times New Roman" panose="02020603050405020304" pitchFamily="18" charset="0"/>
              </a:rPr>
              <a:t> → 3. </a:t>
            </a:r>
            <a:r>
              <a:rPr lang="en-US" sz="2000" b="1" dirty="0">
                <a:latin typeface="Times New Roman" panose="02020603050405020304" pitchFamily="18" charset="0"/>
                <a:cs typeface="Times New Roman" panose="02020603050405020304" pitchFamily="18" charset="0"/>
              </a:rPr>
              <a:t>Tune rules</a:t>
            </a:r>
            <a:r>
              <a:rPr lang="en-US" sz="2000" dirty="0">
                <a:latin typeface="Times New Roman" panose="02020603050405020304" pitchFamily="18" charset="0"/>
                <a:cs typeface="Times New Roman" panose="02020603050405020304" pitchFamily="18" charset="0"/>
              </a:rPr>
              <a:t> → 4. </a:t>
            </a:r>
            <a:r>
              <a:rPr lang="en-US" sz="2000" b="1" dirty="0">
                <a:latin typeface="Times New Roman" panose="02020603050405020304" pitchFamily="18" charset="0"/>
                <a:cs typeface="Times New Roman" panose="02020603050405020304" pitchFamily="18" charset="0"/>
              </a:rPr>
              <a:t>Test</a:t>
            </a:r>
            <a:r>
              <a:rPr lang="en-US" sz="2000" dirty="0">
                <a:latin typeface="Times New Roman" panose="02020603050405020304" pitchFamily="18" charset="0"/>
                <a:cs typeface="Times New Roman" panose="02020603050405020304" pitchFamily="18" charset="0"/>
              </a:rPr>
              <a:t> → 5. </a:t>
            </a:r>
            <a:r>
              <a:rPr lang="en-US" sz="2000" b="1" dirty="0">
                <a:latin typeface="Times New Roman" panose="02020603050405020304" pitchFamily="18" charset="0"/>
                <a:cs typeface="Times New Roman" panose="02020603050405020304" pitchFamily="18" charset="0"/>
              </a:rPr>
              <a:t>Improve</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Example: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After a week of analysis, the SOC team notices 30% of IDS alerts are false positives from vulnerability scans.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They tune detection rules → false positives drop → real threat visibility improves</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31949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91F57-9707-4393-843D-BA30274CAA92}"/>
              </a:ext>
            </a:extLst>
          </p:cNvPr>
          <p:cNvSpPr>
            <a:spLocks noGrp="1"/>
          </p:cNvSpPr>
          <p:nvPr>
            <p:ph type="title"/>
          </p:nvPr>
        </p:nvSpPr>
        <p:spPr>
          <a:xfrm>
            <a:off x="838200" y="681037"/>
            <a:ext cx="10515600" cy="1325563"/>
          </a:xfrm>
        </p:spPr>
        <p:txBody>
          <a:bodyPr/>
          <a:lstStyle/>
          <a:p>
            <a:r>
              <a:rPr lang="en-US" sz="3600" b="1" dirty="0">
                <a:solidFill>
                  <a:srgbClr val="00B0F0"/>
                </a:solidFill>
                <a:latin typeface="Times New Roman" panose="02020603050405020304" pitchFamily="18" charset="0"/>
                <a:cs typeface="Times New Roman" panose="02020603050405020304" pitchFamily="18" charset="0"/>
              </a:rPr>
              <a:t>References</a:t>
            </a:r>
            <a:r>
              <a:rPr lang="en-US" b="1" dirty="0"/>
              <a:t/>
            </a:r>
            <a:br>
              <a:rPr lang="en-US" b="1" dirty="0"/>
            </a:br>
            <a:endParaRPr lang="en-US" dirty="0"/>
          </a:p>
        </p:txBody>
      </p:sp>
      <p:sp>
        <p:nvSpPr>
          <p:cNvPr id="3" name="Content Placeholder 2">
            <a:extLst>
              <a:ext uri="{FF2B5EF4-FFF2-40B4-BE49-F238E27FC236}">
                <a16:creationId xmlns:a16="http://schemas.microsoft.com/office/drawing/2014/main" id="{A5FCECE1-6A1E-4D0B-AD0D-DDF3211D7B6D}"/>
              </a:ext>
            </a:extLst>
          </p:cNvPr>
          <p:cNvSpPr>
            <a:spLocks noGrp="1"/>
          </p:cNvSpPr>
          <p:nvPr>
            <p:ph idx="1"/>
          </p:nvPr>
        </p:nvSpPr>
        <p:spPr>
          <a:xfrm>
            <a:off x="838200" y="1385454"/>
            <a:ext cx="11002818" cy="5116945"/>
          </a:xfrm>
        </p:spPr>
        <p:txBody>
          <a:bodyPr>
            <a:normAutofit fontScale="55000" lnSpcReduction="20000"/>
          </a:bodyPr>
          <a:lstStyle/>
          <a:p>
            <a:pPr marL="514350" indent="-514350">
              <a:buFont typeface="+mj-lt"/>
              <a:buAutoNum type="arabicPeriod"/>
            </a:pPr>
            <a:r>
              <a:rPr lang="en-US" sz="2900" dirty="0"/>
              <a:t>National Institute of Standards and Technology (NIST). (2012). </a:t>
            </a:r>
            <a:r>
              <a:rPr lang="en-US" sz="2900" i="1" dirty="0"/>
              <a:t>Computer Security Incident Handling Guide (Special Publication 800-61 Revision 2).</a:t>
            </a:r>
            <a:r>
              <a:rPr lang="en-US" sz="2900" dirty="0"/>
              <a:t> U.S. Department of Commerce. https://doi.org/10.6028/NIST.SP.800-61r2</a:t>
            </a:r>
          </a:p>
          <a:p>
            <a:pPr marL="514350" indent="-514350">
              <a:buFont typeface="+mj-lt"/>
              <a:buAutoNum type="arabicPeriod"/>
            </a:pPr>
            <a:r>
              <a:rPr lang="en-US" sz="2900" dirty="0"/>
              <a:t>International Organization for Standardization. (2013). </a:t>
            </a:r>
            <a:r>
              <a:rPr lang="en-US" sz="2900" i="1" dirty="0"/>
              <a:t>ISO/IEC 27035-1:2013 – Information technology — Security techniques — Information security incident management — Part 1: Principles of incident management.</a:t>
            </a:r>
            <a:r>
              <a:rPr lang="en-US" sz="2900" dirty="0"/>
              <a:t> ISO.</a:t>
            </a:r>
          </a:p>
          <a:p>
            <a:pPr marL="514350" indent="-514350">
              <a:buFont typeface="+mj-lt"/>
              <a:buAutoNum type="arabicPeriod"/>
            </a:pPr>
            <a:r>
              <a:rPr lang="en-US" sz="2900" dirty="0"/>
              <a:t>ENISA (European Union Agency for Cybersecurity). (2021). </a:t>
            </a:r>
            <a:r>
              <a:rPr lang="en-US" sz="2900" i="1" dirty="0"/>
              <a:t>Guidelines for incident response and management.</a:t>
            </a:r>
            <a:r>
              <a:rPr lang="en-US" sz="2900" dirty="0"/>
              <a:t> Retrieved from https://www.enisa.europa.eu/</a:t>
            </a:r>
          </a:p>
          <a:p>
            <a:pPr marL="514350" indent="-514350">
              <a:buFont typeface="+mj-lt"/>
              <a:buAutoNum type="arabicPeriod"/>
            </a:pPr>
            <a:r>
              <a:rPr lang="en-US" sz="2900" dirty="0"/>
              <a:t>SANS Institute. (2020). </a:t>
            </a:r>
            <a:r>
              <a:rPr lang="en-US" sz="2900" i="1" dirty="0"/>
              <a:t>Incident Handler’s Handbook.</a:t>
            </a:r>
            <a:r>
              <a:rPr lang="en-US" sz="2900" dirty="0"/>
              <a:t> Retrieved from https://www.sans.org/white-papers/</a:t>
            </a:r>
          </a:p>
          <a:p>
            <a:pPr marL="514350" indent="-514350">
              <a:buFont typeface="+mj-lt"/>
              <a:buAutoNum type="arabicPeriod"/>
            </a:pPr>
            <a:r>
              <a:rPr lang="en-US" sz="2900" dirty="0"/>
              <a:t>Whitman, M. E., &amp; Mattord, H. J. (2022). </a:t>
            </a:r>
            <a:r>
              <a:rPr lang="en-US" sz="2900" i="1" dirty="0"/>
              <a:t>Principles of Information Security</a:t>
            </a:r>
            <a:r>
              <a:rPr lang="en-US" sz="2900" dirty="0"/>
              <a:t> (7th ed.). Cengage Learning.</a:t>
            </a:r>
          </a:p>
          <a:p>
            <a:pPr marL="514350" indent="-514350">
              <a:buFont typeface="+mj-lt"/>
              <a:buAutoNum type="arabicPeriod"/>
            </a:pPr>
            <a:r>
              <a:rPr lang="en-US" sz="2900" i="1" dirty="0"/>
              <a:t>ITIL Incident Management Priority Matrix.</a:t>
            </a:r>
            <a:r>
              <a:rPr lang="en-US" sz="2900" dirty="0"/>
              <a:t> (n.d.). Retrieved from https://buildahelpdesk.com/itil-incident-management-priority-matrix</a:t>
            </a:r>
          </a:p>
          <a:p>
            <a:pPr marL="514350" indent="-514350">
              <a:buFont typeface="+mj-lt"/>
              <a:buAutoNum type="arabicPeriod"/>
            </a:pPr>
            <a:r>
              <a:rPr lang="en-US" sz="2900" dirty="0"/>
              <a:t>Lockheed Martin. (2022). </a:t>
            </a:r>
            <a:r>
              <a:rPr lang="en-US" sz="2900" i="1" dirty="0"/>
              <a:t>Cyber Kill Chain.</a:t>
            </a:r>
            <a:r>
              <a:rPr lang="en-US" sz="2900" dirty="0"/>
              <a:t> Retrieved from </a:t>
            </a:r>
            <a:r>
              <a:rPr lang="en-US" sz="2900" dirty="0">
                <a:hlinkClick r:id="rId2"/>
              </a:rPr>
              <a:t>https://www.lockheedmartin.com/en-us/capabilities/cyber/cyber-kill-chain.html</a:t>
            </a:r>
            <a:endParaRPr lang="en-US" sz="2900" dirty="0"/>
          </a:p>
          <a:p>
            <a:pPr marL="514350" indent="-514350">
              <a:buFont typeface="+mj-lt"/>
              <a:buAutoNum type="arabicPeriod"/>
            </a:pPr>
            <a:r>
              <a:rPr lang="en-US" sz="2900" dirty="0"/>
              <a:t>AT&amp;T Cybersecurity. (n.d.). </a:t>
            </a:r>
            <a:r>
              <a:rPr lang="en-US" sz="2900" i="1" dirty="0"/>
              <a:t>Categorize Information Security Incident Types by Getting Inside the Mind of the Attacker.</a:t>
            </a:r>
            <a:r>
              <a:rPr lang="en-US" sz="2900" dirty="0"/>
              <a:t> Retrieved from </a:t>
            </a:r>
            <a:r>
              <a:rPr lang="en-US" sz="2900" dirty="0">
                <a:hlinkClick r:id="rId3"/>
              </a:rPr>
              <a:t>https://cybersecurity.att.com/resource-center/ebook/insider-guide-to-incident-response/types-of-security-incidents</a:t>
            </a:r>
            <a:endParaRPr lang="en-US" sz="2900" dirty="0"/>
          </a:p>
          <a:p>
            <a:pPr marL="514350" indent="-514350">
              <a:buFont typeface="+mj-lt"/>
              <a:buAutoNum type="arabicPeriod"/>
            </a:pPr>
            <a:r>
              <a:rPr lang="en-US" sz="2900" dirty="0"/>
              <a:t>CCS Learning Academy. (2023). </a:t>
            </a:r>
            <a:r>
              <a:rPr lang="en-US" sz="2900" i="1" dirty="0"/>
              <a:t>Cyber Security Triage: Learn the Essentials.</a:t>
            </a:r>
            <a:r>
              <a:rPr lang="en-US" sz="2900" dirty="0"/>
              <a:t> Retrieved from https://ccslearningacademy.com</a:t>
            </a:r>
          </a:p>
          <a:p>
            <a:pPr marL="514350" indent="-514350">
              <a:buFont typeface="+mj-lt"/>
              <a:buAutoNum type="arabicPeriod"/>
            </a:pPr>
            <a:r>
              <a:rPr lang="en-US" sz="2900" dirty="0"/>
              <a:t>Jarpey, G., &amp; McCoy, R. S. (2021). </a:t>
            </a:r>
            <a:r>
              <a:rPr lang="en-US" sz="2900" i="1" dirty="0"/>
              <a:t>Security Operations Center Guidebook: A Practical Guide for a Successful SOC</a:t>
            </a:r>
            <a:r>
              <a:rPr lang="en-US" sz="2900" dirty="0"/>
              <a:t> (Chapters 5–6). CCS Learning Academy. Retrieved from </a:t>
            </a:r>
            <a:r>
              <a:rPr lang="en-US" sz="2900" dirty="0">
                <a:hlinkClick r:id="rId4"/>
              </a:rPr>
              <a:t>https://www.ccslearningacademy.com/what-is-triage-in-cyber-security/</a:t>
            </a:r>
            <a:endParaRPr lang="en-US" sz="2900" dirty="0"/>
          </a:p>
          <a:p>
            <a:endParaRPr lang="en-US" dirty="0"/>
          </a:p>
        </p:txBody>
      </p:sp>
    </p:spTree>
    <p:extLst>
      <p:ext uri="{BB962C8B-B14F-4D97-AF65-F5344CB8AC3E}">
        <p14:creationId xmlns:p14="http://schemas.microsoft.com/office/powerpoint/2010/main" val="33496085"/>
      </p:ext>
    </p:extLst>
  </p:cSld>
  <p:clrMapOvr>
    <a:masterClrMapping/>
  </p:clrMapOvr>
</p:sld>
</file>

<file path=ppt/theme/theme1.xml><?xml version="1.0" encoding="utf-8"?>
<a:theme xmlns:a="http://schemas.openxmlformats.org/drawingml/2006/main" name="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5B96C54-0A27-4F08-9C0C-1866F81CC976}" vid="{FD9DF39B-C2CC-4318-B2DC-E4DB3D62B6B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5D80FA-1FB8-4623-B315-C963F4D802A3}">
  <ds:schemaRefs>
    <ds:schemaRef ds:uri="http://schemas.microsoft.com/sharepoint/v3/contenttype/forms"/>
  </ds:schemaRefs>
</ds:datastoreItem>
</file>

<file path=customXml/itemProps2.xml><?xml version="1.0" encoding="utf-8"?>
<ds:datastoreItem xmlns:ds="http://schemas.openxmlformats.org/officeDocument/2006/customXml" ds:itemID="{480F9C29-1994-43A6-88F0-68941B1F845A}">
  <ds:schemaRefs>
    <ds:schemaRef ds:uri="http://schemas.microsoft.com/office/2006/metadata/properties"/>
    <ds:schemaRef ds:uri="http://schemas.microsoft.com/office/2006/documentManagement/types"/>
    <ds:schemaRef ds:uri="http://purl.org/dc/terms/"/>
    <ds:schemaRef ds:uri="http://www.w3.org/XML/1998/namespace"/>
    <ds:schemaRef ds:uri="http://schemas.openxmlformats.org/package/2006/metadata/core-properties"/>
    <ds:schemaRef ds:uri="084f926a-dc4b-4f8e-a8dc-31dc72d5aeff"/>
    <ds:schemaRef ds:uri="http://purl.org/dc/elements/1.1/"/>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E05CAEC6-FF2C-4DA0-9D5F-BAC321CCC8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4f926a-dc4b-4f8e-a8dc-31dc72d5ae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Primary Colors-UTAS</Template>
  <TotalTime>300</TotalTime>
  <Words>2449</Words>
  <Application>Microsoft Office PowerPoint</Application>
  <PresentationFormat>Widescreen</PresentationFormat>
  <Paragraphs>200</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Tahoma</vt:lpstr>
      <vt:lpstr>Times New Roman</vt:lpstr>
      <vt:lpstr>Trebuchet MS</vt:lpstr>
      <vt:lpstr>Wingdings</vt:lpstr>
      <vt:lpstr>Office Theme</vt:lpstr>
      <vt:lpstr>Lecture 4</vt:lpstr>
      <vt:lpstr>Objectives</vt:lpstr>
      <vt:lpstr>Incident Classification and Triage</vt:lpstr>
      <vt:lpstr>Incident Classification and Triage</vt:lpstr>
      <vt:lpstr>Incident Classification and Triage</vt:lpstr>
      <vt:lpstr>Incident categorization and prioritization</vt:lpstr>
      <vt:lpstr>Incident categorization and prioritization</vt:lpstr>
      <vt:lpstr>Incident categorization and prioritization</vt:lpstr>
      <vt:lpstr>Understanding Triage Analysis Process</vt:lpstr>
      <vt:lpstr>Understanding Triage Analysis Process</vt:lpstr>
      <vt:lpstr>Understanding the Triage Analysis Process</vt:lpstr>
      <vt:lpstr>Understanding the Triage Analysis Process</vt:lpstr>
      <vt:lpstr>PowerPoint Presentation</vt:lpstr>
      <vt:lpstr>Examples of Triage Cybersecurity Incidents (1) (Low-Priority) </vt:lpstr>
      <vt:lpstr>Examples of Triage Cybersecurity Incidents (2) (Medium Priority) </vt:lpstr>
      <vt:lpstr>Examples of Triage Cybersecurity Incidents (2) (High Priority) </vt:lpstr>
      <vt:lpstr>Incident response workflows and procedures</vt:lpstr>
      <vt:lpstr>Incident response workflows and procedures</vt:lpstr>
      <vt:lpstr>Preparation, Detection &amp; Analysis </vt:lpstr>
      <vt:lpstr>Containment, Eradication</vt:lpstr>
      <vt:lpstr>Recovery,Post-Incident Follow-Up </vt:lpstr>
      <vt:lpstr>Escalation processes and communication protocols</vt:lpstr>
      <vt:lpstr>Escalation processes</vt:lpstr>
      <vt:lpstr>Communication Protocols</vt:lpstr>
      <vt:lpstr>Importance of Escalation processes  </vt:lpstr>
      <vt:lpstr>Handling false positives and false negatives</vt:lpstr>
      <vt:lpstr>Handling False Positives and False Negatives in a SOC</vt:lpstr>
      <vt:lpstr>False Positives </vt:lpstr>
      <vt:lpstr>How to Handle:False Positives </vt:lpstr>
      <vt:lpstr>False Negatives </vt:lpstr>
      <vt:lpstr>How to Handle: False Negatives </vt:lpstr>
      <vt:lpstr>Balancing Sensitivity: SOC teams must balance </vt:lpstr>
      <vt:lpstr>Continuous Improvement Cycle</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Subramanian</dc:creator>
  <cp:lastModifiedBy>Arwa Said Salim Al Shanfari</cp:lastModifiedBy>
  <cp:revision>132</cp:revision>
  <dcterms:created xsi:type="dcterms:W3CDTF">2024-01-08T13:56:07Z</dcterms:created>
  <dcterms:modified xsi:type="dcterms:W3CDTF">2026-04-21T06:38:05Z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2024-03-13T17:44:05Z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d98f587a-05db-4670-ad71-e537b4351aee</vt:lpwstr>
  </property>
  <property fmtid="{D5CDD505-2E9C-101B-9397-08002B2CF9AE}" pid="8" name="MSIP_Label_defa4170-0d19-0005-0004-bc88714345d2_ContentBits">
    <vt:lpwstr>0</vt:lpwstr>
  </property>
  <property fmtid="{D5CDD505-2E9C-101B-9397-08002B2CF9AE}" pid="9" name="ContentTypeId">
    <vt:lpwstr>0x010100247F44AC08C22843AA6B00621437D67C</vt:lpwstr>
  </property>
  <property fmtid="{D5CDD505-2E9C-101B-9397-08002B2CF9AE}" pid="10" name="MediaServiceImageTags">
    <vt:lpwstr/>
  </property>
</Properties>
</file>