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83" r:id="rId7"/>
    <p:sldId id="300" r:id="rId8"/>
    <p:sldId id="301" r:id="rId9"/>
    <p:sldId id="302" r:id="rId10"/>
    <p:sldId id="303" r:id="rId11"/>
    <p:sldId id="306" r:id="rId12"/>
    <p:sldId id="262" r:id="rId13"/>
    <p:sldId id="285" r:id="rId14"/>
    <p:sldId id="284" r:id="rId15"/>
    <p:sldId id="324" r:id="rId16"/>
    <p:sldId id="325" r:id="rId17"/>
    <p:sldId id="326" r:id="rId18"/>
    <p:sldId id="309" r:id="rId19"/>
    <p:sldId id="287" r:id="rId20"/>
    <p:sldId id="288" r:id="rId21"/>
    <p:sldId id="318" r:id="rId22"/>
    <p:sldId id="310" r:id="rId23"/>
    <p:sldId id="291" r:id="rId24"/>
    <p:sldId id="293" r:id="rId25"/>
    <p:sldId id="316" r:id="rId26"/>
    <p:sldId id="294" r:id="rId27"/>
    <p:sldId id="313" r:id="rId28"/>
    <p:sldId id="319" r:id="rId29"/>
    <p:sldId id="328" r:id="rId30"/>
    <p:sldId id="329" r:id="rId31"/>
    <p:sldId id="330" r:id="rId32"/>
    <p:sldId id="331" r:id="rId33"/>
    <p:sldId id="33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Amirtha Sagayee" userId="S::mary.sagayee@utas.edu.om::b75c8abc-d205-4f1e-9a2a-a4bdcf66b55d" providerId="AD" clId="Web-{FAB51D9C-8972-6DE9-694E-7521FD1510FF}"/>
    <pc:docChg chg="addSld delSld sldOrd">
      <pc:chgData name="Mary Amirtha Sagayee" userId="S::mary.sagayee@utas.edu.om::b75c8abc-d205-4f1e-9a2a-a4bdcf66b55d" providerId="AD" clId="Web-{FAB51D9C-8972-6DE9-694E-7521FD1510FF}" dt="2025-09-22T20:44:42.415" v="9"/>
      <pc:docMkLst>
        <pc:docMk/>
      </pc:docMkLst>
      <pc:sldChg chg="add">
        <pc:chgData name="Mary Amirtha Sagayee" userId="S::mary.sagayee@utas.edu.om::b75c8abc-d205-4f1e-9a2a-a4bdcf66b55d" providerId="AD" clId="Web-{FAB51D9C-8972-6DE9-694E-7521FD1510FF}" dt="2025-09-22T20:44:28.899" v="3"/>
        <pc:sldMkLst>
          <pc:docMk/>
          <pc:sldMk cId="3144458527" sldId="328"/>
        </pc:sldMkLst>
      </pc:sldChg>
      <pc:sldChg chg="add">
        <pc:chgData name="Mary Amirtha Sagayee" userId="S::mary.sagayee@utas.edu.om::b75c8abc-d205-4f1e-9a2a-a4bdcf66b55d" providerId="AD" clId="Web-{FAB51D9C-8972-6DE9-694E-7521FD1510FF}" dt="2025-09-22T20:44:29.024" v="4"/>
        <pc:sldMkLst>
          <pc:docMk/>
          <pc:sldMk cId="1002413542" sldId="329"/>
        </pc:sldMkLst>
      </pc:sldChg>
      <pc:sldChg chg="add">
        <pc:chgData name="Mary Amirtha Sagayee" userId="S::mary.sagayee@utas.edu.om::b75c8abc-d205-4f1e-9a2a-a4bdcf66b55d" providerId="AD" clId="Web-{FAB51D9C-8972-6DE9-694E-7521FD1510FF}" dt="2025-09-22T20:44:29.118" v="5"/>
        <pc:sldMkLst>
          <pc:docMk/>
          <pc:sldMk cId="1969588230" sldId="330"/>
        </pc:sldMkLst>
      </pc:sldChg>
      <pc:sldChg chg="add">
        <pc:chgData name="Mary Amirtha Sagayee" userId="S::mary.sagayee@utas.edu.om::b75c8abc-d205-4f1e-9a2a-a4bdcf66b55d" providerId="AD" clId="Web-{FAB51D9C-8972-6DE9-694E-7521FD1510FF}" dt="2025-09-22T20:44:29.212" v="6"/>
        <pc:sldMkLst>
          <pc:docMk/>
          <pc:sldMk cId="2269995752" sldId="331"/>
        </pc:sldMkLst>
      </pc:sldChg>
      <pc:sldChg chg="add">
        <pc:chgData name="Mary Amirtha Sagayee" userId="S::mary.sagayee@utas.edu.om::b75c8abc-d205-4f1e-9a2a-a4bdcf66b55d" providerId="AD" clId="Web-{FAB51D9C-8972-6DE9-694E-7521FD1510FF}" dt="2025-09-22T20:44:29.305" v="7"/>
        <pc:sldMkLst>
          <pc:docMk/>
          <pc:sldMk cId="2734561724" sldId="332"/>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08017" y="3560763"/>
            <a:ext cx="2931583" cy="865187"/>
          </a:xfrm>
        </p:spPr>
        <p:txBody>
          <a:bodyPr>
            <a:normAutofit/>
          </a:bodyPr>
          <a:lstStyle/>
          <a:p>
            <a:r>
              <a:rPr lang="en-US" sz="4800" b="1">
                <a:solidFill>
                  <a:schemeClr val="accent3"/>
                </a:solidFill>
                <a:latin typeface="Times New Roman" panose="02020603050405020304" pitchFamily="18" charset="0"/>
                <a:cs typeface="Times New Roman" panose="02020603050405020304" pitchFamily="18" charset="0"/>
              </a:rPr>
              <a:t>Lecture 3:</a:t>
            </a:r>
          </a:p>
        </p:txBody>
      </p:sp>
      <p:sp>
        <p:nvSpPr>
          <p:cNvPr id="3" name="Subtitle 2"/>
          <p:cNvSpPr>
            <a:spLocks noGrp="1"/>
          </p:cNvSpPr>
          <p:nvPr>
            <p:ph type="subTitle" idx="1"/>
          </p:nvPr>
        </p:nvSpPr>
        <p:spPr>
          <a:xfrm>
            <a:off x="1943735" y="4497705"/>
            <a:ext cx="10172065" cy="864870"/>
          </a:xfrm>
        </p:spPr>
        <p:txBody>
          <a:bodyPr>
            <a:noAutofit/>
          </a:bodyPr>
          <a:lstStyle/>
          <a:p>
            <a:r>
              <a:rPr lang="en-GB" sz="4800" b="1">
                <a:effectLst/>
                <a:latin typeface="Times New Roman" panose="02020603050405020304" pitchFamily="18" charset="0"/>
                <a:ea typeface="Times New Roman" panose="02020603050405020304" pitchFamily="18" charset="0"/>
              </a:rPr>
              <a:t>Security Monitoring and</a:t>
            </a:r>
            <a:r>
              <a:rPr lang="en-US" altLang="en-GB" sz="4800" b="1">
                <a:effectLst/>
                <a:latin typeface="Times New Roman" panose="02020603050405020304" pitchFamily="18" charset="0"/>
                <a:ea typeface="Times New Roman" panose="02020603050405020304" pitchFamily="18" charset="0"/>
              </a:rPr>
              <a:t> </a:t>
            </a:r>
            <a:r>
              <a:rPr lang="en-GB" sz="4800" b="1">
                <a:effectLst/>
                <a:latin typeface="Times New Roman" panose="02020603050405020304" pitchFamily="18" charset="0"/>
                <a:ea typeface="Times New Roman" panose="02020603050405020304" pitchFamily="18" charset="0"/>
              </a:rPr>
              <a:t>Detection</a:t>
            </a:r>
            <a:endParaRPr lang="en-US" sz="4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a:solidFill>
                  <a:schemeClr val="accent3"/>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838199" y="1825625"/>
            <a:ext cx="10778067" cy="4351338"/>
          </a:xfrm>
        </p:spPr>
        <p:txBody>
          <a:bodyPr>
            <a:normAutofit/>
          </a:bodyPr>
          <a:lstStyle/>
          <a:p>
            <a:pPr marL="514350" indent="-514350" algn="l">
              <a:lnSpc>
                <a:spcPct val="115000"/>
              </a:lnSpc>
              <a:spcAft>
                <a:spcPts val="1000"/>
              </a:spcAft>
              <a:buFont typeface="+mj-lt"/>
              <a:buAutoNum type="arabicPeriod"/>
            </a:pPr>
            <a:r>
              <a:rPr lang="en-GB" sz="2400" b="1">
                <a:solidFill>
                  <a:srgbClr val="0070C0"/>
                </a:solidFill>
                <a:latin typeface="Times New Roman" panose="02020603050405020304" pitchFamily="18" charset="0"/>
                <a:cs typeface="Times New Roman" panose="02020603050405020304" pitchFamily="18" charset="0"/>
              </a:rPr>
              <a:t>Understand </a:t>
            </a:r>
            <a:r>
              <a:rPr lang="en-US" altLang="en-US" sz="2400" b="1">
                <a:solidFill>
                  <a:srgbClr val="0070C0"/>
                </a:solidFill>
                <a:effectLst/>
                <a:latin typeface="Times New Roman" panose="02020603050405020304" pitchFamily="18" charset="0"/>
                <a:cs typeface="Times New Roman" panose="02020603050405020304" pitchFamily="18" charset="0"/>
              </a:rPr>
              <a:t>Log and event collection: sources and formats</a:t>
            </a:r>
          </a:p>
          <a:p>
            <a:pPr marL="514350" indent="-514350" algn="l">
              <a:lnSpc>
                <a:spcPct val="115000"/>
              </a:lnSpc>
              <a:spcAft>
                <a:spcPts val="1000"/>
              </a:spcAft>
              <a:buFont typeface="+mj-lt"/>
              <a:buAutoNum type="arabicPeriod"/>
            </a:pPr>
            <a:r>
              <a:rPr lang="en-GB" sz="2400" b="1">
                <a:solidFill>
                  <a:srgbClr val="0070C0"/>
                </a:solidFill>
                <a:latin typeface="Times New Roman" panose="02020603050405020304" pitchFamily="18" charset="0"/>
                <a:cs typeface="Times New Roman" panose="02020603050405020304" pitchFamily="18" charset="0"/>
              </a:rPr>
              <a:t>Understand</a:t>
            </a:r>
            <a:r>
              <a:rPr lang="en-US" altLang="en-GB" sz="2400" b="1">
                <a:solidFill>
                  <a:srgbClr val="0070C0"/>
                </a:solidFill>
                <a:latin typeface="Times New Roman" panose="02020603050405020304" pitchFamily="18" charset="0"/>
                <a:cs typeface="Times New Roman" panose="02020603050405020304" pitchFamily="18" charset="0"/>
              </a:rPr>
              <a:t> </a:t>
            </a:r>
            <a:r>
              <a:rPr lang="en-US" altLang="en-US" sz="2400" b="1">
                <a:solidFill>
                  <a:srgbClr val="0070C0"/>
                </a:solidFill>
                <a:effectLst/>
                <a:latin typeface="Times New Roman" panose="02020603050405020304" pitchFamily="18" charset="0"/>
                <a:cs typeface="Times New Roman" panose="02020603050405020304" pitchFamily="18" charset="0"/>
              </a:rPr>
              <a:t>SIEM systems overview (Splunk, ELK, QRadar)</a:t>
            </a:r>
          </a:p>
          <a:p>
            <a:pPr marL="514350" indent="-514350" algn="l">
              <a:lnSpc>
                <a:spcPct val="115000"/>
              </a:lnSpc>
              <a:spcAft>
                <a:spcPts val="1000"/>
              </a:spcAft>
              <a:buFont typeface="+mj-lt"/>
              <a:buAutoNum type="arabicPeriod"/>
            </a:pPr>
            <a:r>
              <a:rPr lang="en-GB" sz="2400" b="1">
                <a:solidFill>
                  <a:srgbClr val="0070C0"/>
                </a:solidFill>
                <a:effectLst/>
                <a:latin typeface="Times New Roman" panose="02020603050405020304" pitchFamily="18" charset="0"/>
                <a:cs typeface="Times New Roman" panose="02020603050405020304" pitchFamily="18" charset="0"/>
              </a:rPr>
              <a:t>Understand Indicators of Compromise (IoC) and Tactics, Techniques, and Procedures (TTPs)</a:t>
            </a:r>
            <a:endParaRPr lang="en-US" sz="2400" b="1">
              <a:solidFill>
                <a:srgbClr val="0070C0"/>
              </a:solidFill>
              <a:effectLst/>
              <a:latin typeface="Times New Roman" panose="02020603050405020304" pitchFamily="18" charset="0"/>
              <a:cs typeface="Times New Roman" panose="02020603050405020304" pitchFamily="18" charset="0"/>
            </a:endParaRPr>
          </a:p>
          <a:p>
            <a:pPr marL="514350" indent="-514350" algn="l">
              <a:lnSpc>
                <a:spcPct val="115000"/>
              </a:lnSpc>
              <a:spcAft>
                <a:spcPts val="1000"/>
              </a:spcAft>
              <a:buFont typeface="+mj-lt"/>
              <a:buAutoNum type="arabicPeriod"/>
            </a:pPr>
            <a:r>
              <a:rPr lang="en-GB" sz="2400" b="1">
                <a:solidFill>
                  <a:srgbClr val="0070C0"/>
                </a:solidFill>
                <a:latin typeface="Times New Roman" panose="02020603050405020304" pitchFamily="18" charset="0"/>
                <a:cs typeface="Times New Roman" panose="02020603050405020304" pitchFamily="18" charset="0"/>
              </a:rPr>
              <a:t>Understand </a:t>
            </a:r>
            <a:r>
              <a:rPr lang="en-GB" sz="2400" b="1">
                <a:solidFill>
                  <a:srgbClr val="0070C0"/>
                </a:solidFill>
                <a:effectLst/>
                <a:latin typeface="Times New Roman" panose="02020603050405020304" pitchFamily="18" charset="0"/>
                <a:cs typeface="Times New Roman" panose="02020603050405020304" pitchFamily="18" charset="0"/>
              </a:rPr>
              <a:t>Real-time monitoring and anomaly detection</a:t>
            </a:r>
            <a:endParaRPr lang="en-US" sz="2400" b="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Introduction</a:t>
            </a:r>
            <a:endParaRPr lang="en-US" sz="36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3533" y="1512358"/>
            <a:ext cx="10845800" cy="4351338"/>
          </a:xfrm>
        </p:spPr>
        <p:txBody>
          <a:bodyPr>
            <a:normAutofit/>
          </a:bodyPr>
          <a:lstStyle/>
          <a:p>
            <a:pPr marL="0" indent="0" algn="just">
              <a:lnSpc>
                <a:spcPct val="170000"/>
              </a:lnSpc>
              <a:buNone/>
            </a:pPr>
            <a:r>
              <a:rPr lang="en-US"/>
              <a:t>	</a:t>
            </a:r>
            <a:r>
              <a:rPr lang="en-US" altLang="en-US" sz="2600">
                <a:latin typeface="Times New Roman" panose="02020603050405020304" pitchFamily="18" charset="0"/>
                <a:cs typeface="Times New Roman" panose="02020603050405020304" pitchFamily="18" charset="0"/>
              </a:rPr>
              <a:t>Security monitoring and incident detection enable SOC analysts to protect organizations from cyber threats. They provide real-time visibility into IT environments, allowing swift identification of anomalies. Analysts monitor network traffic, logs, and user activities to detect suspicious behavior early. Collecting, correlating, and analyzing logs and events are key SOC functions.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659592"/>
            <a:ext cx="11116733" cy="1325563"/>
          </a:xfrm>
        </p:spPr>
        <p:txBody>
          <a:bodyPr>
            <a:normAutofit/>
          </a:bodyPr>
          <a:lstStyle/>
          <a:p>
            <a:r>
              <a:rPr lang="en-US" sz="4000" b="1">
                <a:solidFill>
                  <a:schemeClr val="accent3"/>
                </a:solidFill>
                <a:latin typeface="Times New Roman" panose="02020603050405020304" pitchFamily="18" charset="0"/>
                <a:cs typeface="Times New Roman" panose="02020603050405020304" pitchFamily="18" charset="0"/>
              </a:rPr>
              <a:t>Log and event collection Sources and Format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856194"/>
            <a:ext cx="10515600" cy="701674"/>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Log and Event Collection</a:t>
            </a:r>
            <a:br>
              <a:rPr lang="en-US" b="1"/>
            </a:br>
            <a:endParaRPr lang="en-US"/>
          </a:p>
        </p:txBody>
      </p:sp>
      <p:sp>
        <p:nvSpPr>
          <p:cNvPr id="3" name="Content Placeholder 2"/>
          <p:cNvSpPr>
            <a:spLocks noGrp="1"/>
          </p:cNvSpPr>
          <p:nvPr>
            <p:ph idx="1"/>
          </p:nvPr>
        </p:nvSpPr>
        <p:spPr>
          <a:xfrm>
            <a:off x="939800" y="1497011"/>
            <a:ext cx="10720377" cy="4727144"/>
          </a:xfrm>
        </p:spPr>
        <p:txBody>
          <a:bodyPr>
            <a:normAutofit/>
          </a:bodyPr>
          <a:lstStyle/>
          <a:p>
            <a:pPr algn="just">
              <a:lnSpc>
                <a:spcPct val="150000"/>
              </a:lnSpc>
            </a:pPr>
            <a:r>
              <a:rPr lang="en-US" sz="2400" b="1">
                <a:solidFill>
                  <a:schemeClr val="accent3"/>
                </a:solidFill>
                <a:latin typeface="Times New Roman" panose="02020603050405020304" pitchFamily="18" charset="0"/>
                <a:cs typeface="Times New Roman" panose="02020603050405020304" pitchFamily="18" charset="0"/>
              </a:rPr>
              <a:t>Log and event collection involves gathering data from various sources within an organization's IT infrastructure. These sources include:</a:t>
            </a:r>
          </a:p>
          <a:p>
            <a:pPr lvl="1" algn="just">
              <a:lnSpc>
                <a:spcPct val="150000"/>
              </a:lnSpc>
            </a:pPr>
            <a:r>
              <a:rPr lang="en-US" sz="2000" b="1">
                <a:latin typeface="Times New Roman" panose="02020603050405020304" pitchFamily="18" charset="0"/>
                <a:cs typeface="Times New Roman" panose="02020603050405020304" pitchFamily="18" charset="0"/>
              </a:rPr>
              <a:t>Network Devices</a:t>
            </a:r>
            <a:r>
              <a:rPr lang="en-US" sz="2000">
                <a:latin typeface="Times New Roman" panose="02020603050405020304" pitchFamily="18" charset="0"/>
                <a:cs typeface="Times New Roman" panose="02020603050405020304" pitchFamily="18" charset="0"/>
              </a:rPr>
              <a:t>: Routers, switches, firewalls.</a:t>
            </a:r>
          </a:p>
          <a:p>
            <a:pPr lvl="1" algn="just">
              <a:lnSpc>
                <a:spcPct val="150000"/>
              </a:lnSpc>
            </a:pPr>
            <a:r>
              <a:rPr lang="en-US" sz="2000" b="1">
                <a:latin typeface="Times New Roman" panose="02020603050405020304" pitchFamily="18" charset="0"/>
                <a:cs typeface="Times New Roman" panose="02020603050405020304" pitchFamily="18" charset="0"/>
              </a:rPr>
              <a:t>Servers</a:t>
            </a:r>
            <a:r>
              <a:rPr lang="en-US" sz="2000">
                <a:latin typeface="Times New Roman" panose="02020603050405020304" pitchFamily="18" charset="0"/>
                <a:cs typeface="Times New Roman" panose="02020603050405020304" pitchFamily="18" charset="0"/>
              </a:rPr>
              <a:t>: Web servers, database servers, application servers.</a:t>
            </a:r>
          </a:p>
          <a:p>
            <a:pPr lvl="1" algn="just">
              <a:lnSpc>
                <a:spcPct val="150000"/>
              </a:lnSpc>
            </a:pPr>
            <a:r>
              <a:rPr lang="en-US" sz="2000" b="1">
                <a:latin typeface="Times New Roman" panose="02020603050405020304" pitchFamily="18" charset="0"/>
                <a:cs typeface="Times New Roman" panose="02020603050405020304" pitchFamily="18" charset="0"/>
              </a:rPr>
              <a:t>Endpoints</a:t>
            </a:r>
            <a:r>
              <a:rPr lang="en-US" sz="2000">
                <a:latin typeface="Times New Roman" panose="02020603050405020304" pitchFamily="18" charset="0"/>
                <a:cs typeface="Times New Roman" panose="02020603050405020304" pitchFamily="18" charset="0"/>
              </a:rPr>
              <a:t>: Workstations, laptops, mobile devices.</a:t>
            </a:r>
          </a:p>
          <a:p>
            <a:pPr lvl="1" algn="just">
              <a:lnSpc>
                <a:spcPct val="150000"/>
              </a:lnSpc>
            </a:pPr>
            <a:r>
              <a:rPr lang="en-US" sz="2000" b="1">
                <a:latin typeface="Times New Roman" panose="02020603050405020304" pitchFamily="18" charset="0"/>
                <a:cs typeface="Times New Roman" panose="02020603050405020304" pitchFamily="18" charset="0"/>
              </a:rPr>
              <a:t>Security Devices</a:t>
            </a:r>
            <a:r>
              <a:rPr lang="en-US" sz="2000">
                <a:latin typeface="Times New Roman" panose="02020603050405020304" pitchFamily="18" charset="0"/>
                <a:cs typeface="Times New Roman" panose="02020603050405020304" pitchFamily="18" charset="0"/>
              </a:rPr>
              <a:t>: Intrusion detection/prevention systems (IDS/IPS) and antivirus software.</a:t>
            </a:r>
          </a:p>
          <a:p>
            <a:pPr lvl="1" algn="just">
              <a:lnSpc>
                <a:spcPct val="150000"/>
              </a:lnSpc>
            </a:pPr>
            <a:r>
              <a:rPr lang="en-US" sz="2000" b="1">
                <a:latin typeface="Times New Roman" panose="02020603050405020304" pitchFamily="18" charset="0"/>
                <a:cs typeface="Times New Roman" panose="02020603050405020304" pitchFamily="18" charset="0"/>
              </a:rPr>
              <a:t>Applications</a:t>
            </a:r>
            <a:r>
              <a:rPr lang="en-US" sz="2000">
                <a:latin typeface="Times New Roman" panose="02020603050405020304" pitchFamily="18" charset="0"/>
                <a:cs typeface="Times New Roman" panose="02020603050405020304" pitchFamily="18" charset="0"/>
              </a:rPr>
              <a:t>: Custom applications, cloud services</a:t>
            </a:r>
          </a:p>
          <a:p>
            <a:pPr algn="just"/>
            <a:endParaRPr 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332" y="898527"/>
            <a:ext cx="10515600" cy="727074"/>
          </a:xfrm>
        </p:spPr>
        <p:txBody>
          <a:bodyPr>
            <a:normAutofit fontScale="90000"/>
          </a:bodyPr>
          <a:lstStyle/>
          <a:p>
            <a:r>
              <a:rPr lang="en-US" sz="4000" b="1">
                <a:solidFill>
                  <a:srgbClr val="0070C0"/>
                </a:solidFill>
              </a:rPr>
              <a:t>Log and Event Correlation</a:t>
            </a:r>
            <a:br>
              <a:rPr lang="en-US" b="1"/>
            </a:br>
            <a:endParaRPr lang="en-US"/>
          </a:p>
        </p:txBody>
      </p:sp>
      <p:sp>
        <p:nvSpPr>
          <p:cNvPr id="3" name="Content Placeholder 2"/>
          <p:cNvSpPr>
            <a:spLocks noGrp="1"/>
          </p:cNvSpPr>
          <p:nvPr>
            <p:ph idx="1"/>
          </p:nvPr>
        </p:nvSpPr>
        <p:spPr>
          <a:xfrm>
            <a:off x="838199" y="1495424"/>
            <a:ext cx="11004858" cy="4785557"/>
          </a:xfrm>
        </p:spPr>
        <p:txBody>
          <a:bodyPr>
            <a:normAutofit fontScale="42500" lnSpcReduction="20000"/>
          </a:bodyPr>
          <a:lstStyle/>
          <a:p>
            <a:pPr>
              <a:lnSpc>
                <a:spcPct val="150000"/>
              </a:lnSpc>
            </a:pPr>
            <a:r>
              <a:rPr lang="en-US" sz="6000" b="1">
                <a:solidFill>
                  <a:schemeClr val="accent3"/>
                </a:solidFill>
                <a:latin typeface="Times New Roman" panose="02020603050405020304" pitchFamily="18" charset="0"/>
                <a:cs typeface="Times New Roman" panose="02020603050405020304" pitchFamily="18" charset="0"/>
              </a:rPr>
              <a:t>Log correlation is the process of analyzing log data from different sources to identify patterns or sequences of events that may indicate a security threat. This involves:</a:t>
            </a:r>
          </a:p>
          <a:p>
            <a:pPr lvl="1">
              <a:lnSpc>
                <a:spcPct val="150000"/>
              </a:lnSpc>
            </a:pPr>
            <a:r>
              <a:rPr lang="en-US" sz="5600" b="1">
                <a:latin typeface="Times New Roman" panose="02020603050405020304" pitchFamily="18" charset="0"/>
                <a:cs typeface="Times New Roman" panose="02020603050405020304" pitchFamily="18" charset="0"/>
              </a:rPr>
              <a:t>Time-Based Correlation</a:t>
            </a:r>
            <a:r>
              <a:rPr lang="en-US" sz="5600">
                <a:latin typeface="Times New Roman" panose="02020603050405020304" pitchFamily="18" charset="0"/>
                <a:cs typeface="Times New Roman" panose="02020603050405020304" pitchFamily="18" charset="0"/>
              </a:rPr>
              <a:t>: Matching events that occur within a specific time frame.</a:t>
            </a:r>
          </a:p>
          <a:p>
            <a:pPr lvl="1">
              <a:lnSpc>
                <a:spcPct val="150000"/>
              </a:lnSpc>
            </a:pPr>
            <a:r>
              <a:rPr lang="en-US" sz="5600" b="1">
                <a:latin typeface="Times New Roman" panose="02020603050405020304" pitchFamily="18" charset="0"/>
                <a:cs typeface="Times New Roman" panose="02020603050405020304" pitchFamily="18" charset="0"/>
              </a:rPr>
              <a:t>Rule-Based Correlation</a:t>
            </a:r>
            <a:r>
              <a:rPr lang="en-US" sz="5600">
                <a:latin typeface="Times New Roman" panose="02020603050405020304" pitchFamily="18" charset="0"/>
                <a:cs typeface="Times New Roman" panose="02020603050405020304" pitchFamily="18" charset="0"/>
              </a:rPr>
              <a:t>: Using predefined rules to identify suspicious activities.</a:t>
            </a:r>
          </a:p>
          <a:p>
            <a:pPr lvl="1">
              <a:lnSpc>
                <a:spcPct val="150000"/>
              </a:lnSpc>
            </a:pPr>
            <a:r>
              <a:rPr lang="en-US" sz="5600" b="1">
                <a:latin typeface="Times New Roman" panose="02020603050405020304" pitchFamily="18" charset="0"/>
                <a:cs typeface="Times New Roman" panose="02020603050405020304" pitchFamily="18" charset="0"/>
              </a:rPr>
              <a:t>Pattern-Based Correlation</a:t>
            </a:r>
            <a:r>
              <a:rPr lang="en-US" sz="5600">
                <a:latin typeface="Times New Roman" panose="02020603050405020304" pitchFamily="18" charset="0"/>
                <a:cs typeface="Times New Roman" panose="02020603050405020304" pitchFamily="18" charset="0"/>
              </a:rPr>
              <a:t>: Detecting known attack patterns.</a:t>
            </a:r>
          </a:p>
          <a:p>
            <a:pPr lvl="1">
              <a:lnSpc>
                <a:spcPct val="150000"/>
              </a:lnSpc>
            </a:pPr>
            <a:r>
              <a:rPr lang="en-US" sz="5600" b="1">
                <a:latin typeface="Times New Roman" panose="02020603050405020304" pitchFamily="18" charset="0"/>
                <a:cs typeface="Times New Roman" panose="02020603050405020304" pitchFamily="18" charset="0"/>
              </a:rPr>
              <a:t>Topology-Based Correlation</a:t>
            </a:r>
            <a:r>
              <a:rPr lang="en-US" sz="5600">
                <a:latin typeface="Times New Roman" panose="02020603050405020304" pitchFamily="18" charset="0"/>
                <a:cs typeface="Times New Roman" panose="02020603050405020304" pitchFamily="18" charset="0"/>
              </a:rPr>
              <a:t>: Understanding the network topology to correlate events more effectively</a:t>
            </a:r>
          </a:p>
          <a:p>
            <a:pPr>
              <a:lnSpc>
                <a:spcPct val="150000"/>
              </a:lnSpc>
            </a:pPr>
            <a:endParaRPr lang="en-US" sz="240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267" y="881593"/>
            <a:ext cx="10515600" cy="523874"/>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Log and Event Analysis</a:t>
            </a:r>
            <a:br>
              <a:rPr lang="en-US" sz="3600" b="1">
                <a:solidFill>
                  <a:srgbClr val="0070C0"/>
                </a:solidFill>
                <a:latin typeface="Times New Roman" panose="02020603050405020304" pitchFamily="18" charset="0"/>
                <a:cs typeface="Times New Roman" panose="02020603050405020304" pitchFamily="18" charset="0"/>
              </a:rPr>
            </a:br>
            <a:endParaRPr lang="en-US" sz="360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05466"/>
            <a:ext cx="10872426" cy="4894435"/>
          </a:xfrm>
        </p:spPr>
        <p:txBody>
          <a:bodyPr>
            <a:normAutofit fontScale="75000" lnSpcReduction="20000"/>
          </a:bodyPr>
          <a:lstStyle/>
          <a:p>
            <a:pPr>
              <a:lnSpc>
                <a:spcPct val="170000"/>
              </a:lnSpc>
            </a:pPr>
            <a:r>
              <a:rPr lang="en-US" sz="3100" b="1">
                <a:solidFill>
                  <a:schemeClr val="accent3"/>
                </a:solidFill>
                <a:latin typeface="Times New Roman" panose="02020603050405020304" pitchFamily="18" charset="0"/>
                <a:cs typeface="Times New Roman" panose="02020603050405020304" pitchFamily="18" charset="0"/>
              </a:rPr>
              <a:t>Log analysis involves examining collected log data to detect and investigate security incidents. This process includes:</a:t>
            </a:r>
          </a:p>
          <a:p>
            <a:pPr lvl="1">
              <a:lnSpc>
                <a:spcPct val="170000"/>
              </a:lnSpc>
            </a:pPr>
            <a:r>
              <a:rPr lang="en-US" sz="3100" b="1">
                <a:latin typeface="Times New Roman" panose="02020603050405020304" pitchFamily="18" charset="0"/>
                <a:cs typeface="Times New Roman" panose="02020603050405020304" pitchFamily="18" charset="0"/>
              </a:rPr>
              <a:t>Normalization</a:t>
            </a:r>
            <a:r>
              <a:rPr lang="en-US" sz="3100">
                <a:latin typeface="Times New Roman" panose="02020603050405020304" pitchFamily="18" charset="0"/>
                <a:cs typeface="Times New Roman" panose="02020603050405020304" pitchFamily="18" charset="0"/>
              </a:rPr>
              <a:t>: Converting log data into a consistent format for easier analysis.</a:t>
            </a:r>
          </a:p>
          <a:p>
            <a:pPr lvl="1">
              <a:lnSpc>
                <a:spcPct val="170000"/>
              </a:lnSpc>
            </a:pPr>
            <a:r>
              <a:rPr lang="en-US" sz="3100" b="1">
                <a:latin typeface="Times New Roman" panose="02020603050405020304" pitchFamily="18" charset="0"/>
                <a:cs typeface="Times New Roman" panose="02020603050405020304" pitchFamily="18" charset="0"/>
              </a:rPr>
              <a:t>Aggregation</a:t>
            </a:r>
            <a:r>
              <a:rPr lang="en-US" sz="3100">
                <a:latin typeface="Times New Roman" panose="02020603050405020304" pitchFamily="18" charset="0"/>
                <a:cs typeface="Times New Roman" panose="02020603050405020304" pitchFamily="18" charset="0"/>
              </a:rPr>
              <a:t>: Combining similar events to reduce the volume of data.</a:t>
            </a:r>
          </a:p>
          <a:p>
            <a:pPr lvl="1">
              <a:lnSpc>
                <a:spcPct val="170000"/>
              </a:lnSpc>
            </a:pPr>
            <a:r>
              <a:rPr lang="en-US" sz="3100" b="1">
                <a:latin typeface="Times New Roman" panose="02020603050405020304" pitchFamily="18" charset="0"/>
                <a:cs typeface="Times New Roman" panose="02020603050405020304" pitchFamily="18" charset="0"/>
              </a:rPr>
              <a:t>Alerting</a:t>
            </a:r>
            <a:r>
              <a:rPr lang="en-US" sz="3100">
                <a:latin typeface="Times New Roman" panose="02020603050405020304" pitchFamily="18" charset="0"/>
                <a:cs typeface="Times New Roman" panose="02020603050405020304" pitchFamily="18" charset="0"/>
              </a:rPr>
              <a:t>: Generating alerts for suspicious activities based on predefined criteria.</a:t>
            </a:r>
          </a:p>
          <a:p>
            <a:pPr lvl="1">
              <a:lnSpc>
                <a:spcPct val="170000"/>
              </a:lnSpc>
            </a:pPr>
            <a:r>
              <a:rPr lang="en-US" sz="3100" b="1">
                <a:latin typeface="Times New Roman" panose="02020603050405020304" pitchFamily="18" charset="0"/>
                <a:cs typeface="Times New Roman" panose="02020603050405020304" pitchFamily="18" charset="0"/>
              </a:rPr>
              <a:t>Visualization</a:t>
            </a:r>
            <a:r>
              <a:rPr lang="en-US" sz="3100">
                <a:latin typeface="Times New Roman" panose="02020603050405020304" pitchFamily="18" charset="0"/>
                <a:cs typeface="Times New Roman" panose="02020603050405020304" pitchFamily="18" charset="0"/>
              </a:rPr>
              <a:t>: Using dashboards and reports to present log data in an understandable way.</a:t>
            </a:r>
          </a:p>
          <a:p>
            <a:pPr>
              <a:lnSpc>
                <a:spcPct val="150000"/>
              </a:lnSpc>
            </a:pPr>
            <a:endParaRPr lang="en-US" sz="2400">
              <a:latin typeface="Times New Roman" panose="02020603050405020304" pitchFamily="18" charset="0"/>
              <a:cs typeface="Times New Roman" panose="02020603050405020304" pitchFamily="18" charset="0"/>
            </a:endParaRPr>
          </a:p>
          <a:p>
            <a:endParaRPr lang="en-US"/>
          </a:p>
          <a:p>
            <a:endParaRPr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6" y="3125259"/>
            <a:ext cx="11074400" cy="1325563"/>
          </a:xfrm>
        </p:spPr>
        <p:txBody>
          <a:bodyPr>
            <a:normAutofit/>
          </a:bodyPr>
          <a:lstStyle/>
          <a:p>
            <a:pPr algn="ctr"/>
            <a:r>
              <a:rPr lang="en-GB" sz="3600" b="1">
                <a:solidFill>
                  <a:schemeClr val="accent3"/>
                </a:solidFill>
                <a:latin typeface="Times New Roman" panose="02020603050405020304" pitchFamily="18" charset="0"/>
                <a:ea typeface="Times New Roman" panose="02020603050405020304" pitchFamily="18" charset="0"/>
              </a:rPr>
              <a:t>Security Information and Event Management (SIEM) Systems</a:t>
            </a:r>
            <a:endParaRPr lang="en-US" sz="3600" b="1">
              <a:solidFill>
                <a:schemeClr val="accent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820400" cy="1325563"/>
          </a:xfrm>
        </p:spPr>
        <p:txBody>
          <a:bodyPr>
            <a:normAutofit/>
          </a:bodyPr>
          <a:lstStyle/>
          <a:p>
            <a:pPr>
              <a:lnSpc>
                <a:spcPct val="115000"/>
              </a:lnSpc>
              <a:spcAft>
                <a:spcPts val="1000"/>
              </a:spcAft>
            </a:pPr>
            <a:r>
              <a:rPr lang="en-GB" sz="3600" b="1">
                <a:solidFill>
                  <a:srgbClr val="0070C0"/>
                </a:solidFill>
                <a:latin typeface="Times New Roman" panose="02020603050405020304" pitchFamily="18" charset="0"/>
                <a:cs typeface="Times New Roman" panose="02020603050405020304" pitchFamily="18" charset="0"/>
              </a:rPr>
              <a:t>What is </a:t>
            </a:r>
            <a:r>
              <a:rPr lang="en-GB" sz="3600" b="1">
                <a:solidFill>
                  <a:schemeClr val="accent3"/>
                </a:solidFill>
                <a:latin typeface="Times New Roman" panose="02020603050405020304" pitchFamily="18" charset="0"/>
                <a:cs typeface="Times New Roman" panose="02020603050405020304" pitchFamily="18" charset="0"/>
              </a:rPr>
              <a:t>SIEM</a:t>
            </a:r>
            <a:r>
              <a:rPr lang="en-GB" sz="3600" b="1">
                <a:solidFill>
                  <a:srgbClr val="0070C0"/>
                </a:solidFill>
                <a:latin typeface="Times New Roman" panose="02020603050405020304" pitchFamily="18" charset="0"/>
                <a:cs typeface="Times New Roman" panose="02020603050405020304" pitchFamily="18" charset="0"/>
              </a:rPr>
              <a:t>?</a:t>
            </a:r>
            <a:endParaRPr lang="en-US" sz="36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825625"/>
            <a:ext cx="10888133" cy="4932014"/>
          </a:xfrm>
        </p:spPr>
        <p:txBody>
          <a:bodyPr>
            <a:noAutofit/>
          </a:bodyPr>
          <a:lstStyle/>
          <a:p>
            <a:pPr algn="just">
              <a:lnSpc>
                <a:spcPct val="150000"/>
              </a:lnSpc>
            </a:pPr>
            <a:r>
              <a:rPr lang="en-US" sz="2400">
                <a:latin typeface="Times New Roman" panose="02020603050405020304" pitchFamily="18" charset="0"/>
                <a:cs typeface="Times New Roman" panose="02020603050405020304" pitchFamily="18" charset="0"/>
              </a:rPr>
              <a:t>Security Information and Event Management (SIEM) systems are critical tools utilized within Security Operations Centers (SOCs) </a:t>
            </a:r>
          </a:p>
          <a:p>
            <a:pPr algn="just">
              <a:lnSpc>
                <a:spcPct val="150000"/>
              </a:lnSpc>
            </a:pPr>
            <a:r>
              <a:rPr lang="en-US" sz="2400">
                <a:latin typeface="Times New Roman" panose="02020603050405020304" pitchFamily="18" charset="0"/>
                <a:cs typeface="Times New Roman" panose="02020603050405020304" pitchFamily="18" charset="0"/>
              </a:rPr>
              <a:t>SIEM systems collect, aggregate, and analyze log and event data from various sources within an organization's IT infrastructure. This data is used to detect, investigate, and respond to security incidents in real-time.</a:t>
            </a:r>
          </a:p>
          <a:p>
            <a:pPr algn="just">
              <a:lnSpc>
                <a:spcPct val="150000"/>
              </a:lnSpc>
            </a:pPr>
            <a:r>
              <a:rPr lang="en-US" sz="2400">
                <a:latin typeface="Times New Roman" panose="02020603050405020304" pitchFamily="18" charset="0"/>
                <a:cs typeface="Times New Roman" panose="02020603050405020304" pitchFamily="18" charset="0"/>
              </a:rPr>
              <a:t>These systems play a central role in enhancing cybersecurity by providing comprehensive visibility into security events and facilitating timely incident detection and response.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795000" cy="1325563"/>
          </a:xfrm>
        </p:spPr>
        <p:txBody>
          <a:bodyPr>
            <a:normAutofit/>
          </a:bodyPr>
          <a:lstStyle/>
          <a:p>
            <a:pPr>
              <a:lnSpc>
                <a:spcPct val="115000"/>
              </a:lnSpc>
              <a:spcAft>
                <a:spcPts val="1000"/>
              </a:spcAft>
            </a:pPr>
            <a:r>
              <a:rPr lang="en-GB" sz="3600" b="1">
                <a:solidFill>
                  <a:srgbClr val="0070C0"/>
                </a:solidFill>
                <a:latin typeface="Times New Roman" panose="02020603050405020304" pitchFamily="18" charset="0"/>
                <a:cs typeface="Times New Roman" panose="02020603050405020304" pitchFamily="18" charset="0"/>
              </a:rPr>
              <a:t>Key Components of </a:t>
            </a:r>
            <a:r>
              <a:rPr lang="en-GB" sz="3600" b="1">
                <a:solidFill>
                  <a:schemeClr val="accent3"/>
                </a:solidFill>
                <a:latin typeface="Times New Roman" panose="02020603050405020304" pitchFamily="18" charset="0"/>
                <a:cs typeface="Times New Roman" panose="02020603050405020304" pitchFamily="18" charset="0"/>
              </a:rPr>
              <a:t>SIEM</a:t>
            </a:r>
            <a:endParaRPr lang="en-US" sz="3600">
              <a:solidFill>
                <a:schemeClr val="accent3"/>
              </a:solidFill>
            </a:endParaRPr>
          </a:p>
        </p:txBody>
      </p:sp>
      <p:sp>
        <p:nvSpPr>
          <p:cNvPr id="3" name="Content Placeholder 2"/>
          <p:cNvSpPr>
            <a:spLocks noGrp="1"/>
          </p:cNvSpPr>
          <p:nvPr>
            <p:ph idx="1"/>
          </p:nvPr>
        </p:nvSpPr>
        <p:spPr>
          <a:xfrm>
            <a:off x="838200" y="1470025"/>
            <a:ext cx="10854267" cy="4422046"/>
          </a:xfrm>
        </p:spPr>
        <p:txBody>
          <a:bodyPr>
            <a:normAutofit/>
          </a:bodyPr>
          <a:lstStyle/>
          <a:p>
            <a:pPr algn="just">
              <a:lnSpc>
                <a:spcPct val="150000"/>
              </a:lnSpc>
            </a:pPr>
            <a:r>
              <a:rPr lang="en-US" sz="2400" b="1">
                <a:latin typeface="Times New Roman" panose="02020603050405020304" pitchFamily="18" charset="0"/>
                <a:cs typeface="Times New Roman" panose="02020603050405020304" pitchFamily="18" charset="0"/>
              </a:rPr>
              <a:t>Log Management</a:t>
            </a:r>
            <a:r>
              <a:rPr lang="en-US" sz="2400">
                <a:latin typeface="Times New Roman" panose="02020603050405020304" pitchFamily="18" charset="0"/>
                <a:cs typeface="Times New Roman" panose="02020603050405020304" pitchFamily="18" charset="0"/>
              </a:rPr>
              <a:t> involves collecting and storing log data from various sources, such as network devices, servers, and applications.</a:t>
            </a:r>
          </a:p>
          <a:p>
            <a:pPr algn="just">
              <a:lnSpc>
                <a:spcPct val="150000"/>
              </a:lnSpc>
            </a:pPr>
            <a:r>
              <a:rPr lang="en-US" sz="2400" b="1">
                <a:latin typeface="Times New Roman" panose="02020603050405020304" pitchFamily="18" charset="0"/>
                <a:cs typeface="Times New Roman" panose="02020603050405020304" pitchFamily="18" charset="0"/>
              </a:rPr>
              <a:t>Event Correlation</a:t>
            </a:r>
            <a:r>
              <a:rPr lang="en-US" sz="2400">
                <a:latin typeface="Times New Roman" panose="02020603050405020304" pitchFamily="18" charset="0"/>
                <a:cs typeface="Times New Roman" panose="02020603050405020304" pitchFamily="18" charset="0"/>
              </a:rPr>
              <a:t>: Analyzing log data to identify patterns or sequences of events that may indicate a security threat.</a:t>
            </a:r>
          </a:p>
          <a:p>
            <a:pPr algn="just">
              <a:lnSpc>
                <a:spcPct val="150000"/>
              </a:lnSpc>
            </a:pPr>
            <a:r>
              <a:rPr lang="en-US" sz="2400" b="1">
                <a:latin typeface="Times New Roman" panose="02020603050405020304" pitchFamily="18" charset="0"/>
                <a:cs typeface="Times New Roman" panose="02020603050405020304" pitchFamily="18" charset="0"/>
              </a:rPr>
              <a:t>Continuous Monitoring</a:t>
            </a:r>
            <a:r>
              <a:rPr lang="en-US" sz="2400">
                <a:latin typeface="Times New Roman" panose="02020603050405020304" pitchFamily="18" charset="0"/>
                <a:cs typeface="Times New Roman" panose="02020603050405020304" pitchFamily="18" charset="0"/>
              </a:rPr>
              <a:t>: Providing real-time visibility into an organization's security posture.</a:t>
            </a:r>
          </a:p>
          <a:p>
            <a:pPr algn="just">
              <a:lnSpc>
                <a:spcPct val="150000"/>
              </a:lnSpc>
            </a:pPr>
            <a:r>
              <a:rPr lang="en-US" sz="2400" b="1">
                <a:latin typeface="Times New Roman" panose="02020603050405020304" pitchFamily="18" charset="0"/>
                <a:cs typeface="Times New Roman" panose="02020603050405020304" pitchFamily="18" charset="0"/>
              </a:rPr>
              <a:t>Incident Response</a:t>
            </a:r>
            <a:r>
              <a:rPr lang="en-US" sz="2400">
                <a:latin typeface="Times New Roman" panose="02020603050405020304" pitchFamily="18" charset="0"/>
                <a:cs typeface="Times New Roman" panose="02020603050405020304" pitchFamily="18" charset="0"/>
              </a:rPr>
              <a:t>: Enabling quick detection and response to security incidents</a:t>
            </a:r>
          </a:p>
          <a:p>
            <a:pPr marL="0" indent="0" algn="just">
              <a:buNone/>
            </a:pPr>
            <a:endParaRPr lang="en-US"/>
          </a:p>
          <a:p>
            <a:pPr marL="0" indent="0">
              <a:buNone/>
            </a:pP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GB" sz="3600" b="1">
                <a:solidFill>
                  <a:srgbClr val="0070C0"/>
                </a:solidFill>
                <a:latin typeface="Times New Roman" panose="02020603050405020304" pitchFamily="18" charset="0"/>
                <a:cs typeface="Times New Roman" panose="02020603050405020304" pitchFamily="18" charset="0"/>
              </a:rPr>
              <a:t>Benefits of </a:t>
            </a:r>
            <a:r>
              <a:rPr lang="en-GB" sz="3600" b="1">
                <a:solidFill>
                  <a:schemeClr val="accent3"/>
                </a:solidFill>
                <a:latin typeface="Times New Roman" panose="02020603050405020304" pitchFamily="18" charset="0"/>
                <a:cs typeface="Times New Roman" panose="02020603050405020304" pitchFamily="18" charset="0"/>
              </a:rPr>
              <a:t>SIEM</a:t>
            </a:r>
            <a:endParaRPr lang="en-US" sz="3600" b="1">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8492"/>
            <a:ext cx="11116732" cy="4351338"/>
          </a:xfrm>
        </p:spPr>
        <p:txBody>
          <a:bodyPr>
            <a:normAutofit/>
          </a:bodyPr>
          <a:lstStyle/>
          <a:p>
            <a:pPr algn="just">
              <a:lnSpc>
                <a:spcPct val="150000"/>
              </a:lnSpc>
            </a:pPr>
            <a:r>
              <a:rPr lang="en-US" sz="2400" b="1">
                <a:latin typeface="Times New Roman" panose="02020603050405020304" pitchFamily="18" charset="0"/>
                <a:cs typeface="Times New Roman" panose="02020603050405020304" pitchFamily="18" charset="0"/>
              </a:rPr>
              <a:t>Enhanced Threat Detection</a:t>
            </a:r>
            <a:r>
              <a:rPr lang="en-US" sz="2400">
                <a:latin typeface="Times New Roman" panose="02020603050405020304" pitchFamily="18" charset="0"/>
                <a:cs typeface="Times New Roman" panose="02020603050405020304" pitchFamily="18" charset="0"/>
              </a:rPr>
              <a:t>: By correlating data from multiple sources, SIEM systems can detect complex threats that might go unnoticed by individual security tools.</a:t>
            </a:r>
          </a:p>
          <a:p>
            <a:pPr algn="just">
              <a:lnSpc>
                <a:spcPct val="150000"/>
              </a:lnSpc>
            </a:pPr>
            <a:r>
              <a:rPr lang="en-US" sz="2400" b="1">
                <a:latin typeface="Times New Roman" panose="02020603050405020304" pitchFamily="18" charset="0"/>
                <a:cs typeface="Times New Roman" panose="02020603050405020304" pitchFamily="18" charset="0"/>
              </a:rPr>
              <a:t>Improved Incident Response</a:t>
            </a:r>
            <a:r>
              <a:rPr lang="en-US" sz="2400">
                <a:latin typeface="Times New Roman" panose="02020603050405020304" pitchFamily="18" charset="0"/>
                <a:cs typeface="Times New Roman" panose="02020603050405020304" pitchFamily="18" charset="0"/>
              </a:rPr>
              <a:t>: SIEM systems provide actionable insights that help security teams respond to incidents more effectively.</a:t>
            </a:r>
          </a:p>
          <a:p>
            <a:pPr algn="just">
              <a:lnSpc>
                <a:spcPct val="150000"/>
              </a:lnSpc>
            </a:pPr>
            <a:r>
              <a:rPr lang="en-US" sz="2400" b="1">
                <a:latin typeface="Times New Roman" panose="02020603050405020304" pitchFamily="18" charset="0"/>
                <a:cs typeface="Times New Roman" panose="02020603050405020304" pitchFamily="18" charset="0"/>
              </a:rPr>
              <a:t>Compliance</a:t>
            </a:r>
            <a:r>
              <a:rPr lang="en-US" sz="2400">
                <a:latin typeface="Times New Roman" panose="02020603050405020304" pitchFamily="18" charset="0"/>
                <a:cs typeface="Times New Roman" panose="02020603050405020304" pitchFamily="18" charset="0"/>
              </a:rPr>
              <a:t>: SIEM systems help organizations meet regulatory requirements by maintaining detailed logs and audit trails</a:t>
            </a:r>
          </a:p>
          <a:p>
            <a:pPr marL="0" indent="0" algn="just">
              <a:lnSpc>
                <a:spcPct val="150000"/>
              </a:lnSpc>
              <a:buNone/>
            </a:pPr>
            <a:endParaRPr lang="en-US"/>
          </a:p>
          <a:p>
            <a:pPr marL="0" indent="0" algn="just">
              <a:lnSpc>
                <a:spcPct val="150000"/>
              </a:lnSpc>
              <a:buNone/>
            </a:pP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6"/>
            <a:ext cx="10515600" cy="1325563"/>
          </a:xfrm>
        </p:spPr>
        <p:txBody>
          <a:bodyPr>
            <a:normAutofit/>
          </a:bodyPr>
          <a:lstStyle/>
          <a:p>
            <a:r>
              <a:rPr lang="en-US" sz="3600">
                <a:effectLst/>
              </a:rPr>
              <a:t>An overview </a:t>
            </a:r>
            <a:r>
              <a:rPr lang="en-GB" sz="3600">
                <a:effectLst/>
              </a:rPr>
              <a:t>of common SOC tools &amp; </a:t>
            </a:r>
            <a:r>
              <a:rPr lang="en-GB" sz="3600"/>
              <a:t>Technologies</a:t>
            </a:r>
            <a:endParaRPr lang="en-US" sz="3600"/>
          </a:p>
        </p:txBody>
      </p:sp>
      <p:sp>
        <p:nvSpPr>
          <p:cNvPr id="11" name="Content Placeholder 2"/>
          <p:cNvSpPr>
            <a:spLocks noGrp="1"/>
          </p:cNvSpPr>
          <p:nvPr>
            <p:ph sz="half" idx="1"/>
          </p:nvPr>
        </p:nvSpPr>
        <p:spPr>
          <a:xfrm>
            <a:off x="523240" y="1485265"/>
            <a:ext cx="4757420" cy="4897120"/>
          </a:xfrm>
        </p:spPr>
        <p:txBody>
          <a:bodyPr>
            <a:normAutofit/>
          </a:bodyPr>
          <a:lstStyle/>
          <a:p>
            <a:pPr>
              <a:lnSpc>
                <a:spcPct val="150000"/>
              </a:lnSpc>
              <a:buFont typeface="Wingdings" panose="05000000000000000000" pitchFamily="2" charset="2"/>
              <a:buChar char="q"/>
            </a:pPr>
            <a:r>
              <a:rPr lang="en-US"/>
              <a:t>Example: </a:t>
            </a:r>
            <a:r>
              <a:rPr lang="en-US" sz="2000">
                <a:solidFill>
                  <a:srgbClr val="FF0000"/>
                </a:solidFill>
                <a:highlight>
                  <a:srgbClr val="FFFF00"/>
                </a:highlight>
              </a:rPr>
              <a:t> Splunk Enterpris</a:t>
            </a:r>
            <a:r>
              <a:rPr lang="en-US" sz="2000"/>
              <a:t>e Security is a SIEM platform that provides </a:t>
            </a:r>
            <a:r>
              <a:rPr lang="en-US" sz="2000">
                <a:solidFill>
                  <a:srgbClr val="FF0000"/>
                </a:solidFill>
              </a:rPr>
              <a:t>real-time monitoring, advanced analytics, and incident response capabilities.</a:t>
            </a:r>
            <a:r>
              <a:rPr lang="en-US" sz="2000"/>
              <a:t> It collects and correlates </a:t>
            </a:r>
            <a:r>
              <a:rPr lang="en-US" sz="2000">
                <a:solidFill>
                  <a:srgbClr val="FF0000"/>
                </a:solidFill>
              </a:rPr>
              <a:t>security events from various sources,</a:t>
            </a:r>
            <a:r>
              <a:rPr lang="en-US" sz="2000"/>
              <a:t> enabling security </a:t>
            </a:r>
            <a:r>
              <a:rPr lang="en-US" sz="2000">
                <a:solidFill>
                  <a:srgbClr val="FF0000"/>
                </a:solidFill>
              </a:rPr>
              <a:t>analysts to detect and respond to threats more efficiently.</a:t>
            </a:r>
          </a:p>
        </p:txBody>
      </p:sp>
      <p:pic>
        <p:nvPicPr>
          <p:cNvPr id="6" name="Content Placeholder 5" descr="A screenshot of a computer&#10;&#10;Description automatically generated"/>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r="46737" b="58722"/>
          <a:stretch>
            <a:fillRect/>
          </a:stretch>
        </p:blipFill>
        <p:spPr>
          <a:xfrm>
            <a:off x="5487670" y="2306955"/>
            <a:ext cx="6498590" cy="3378835"/>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6"/>
            <a:ext cx="10515600" cy="1325563"/>
          </a:xfrm>
        </p:spPr>
        <p:txBody>
          <a:bodyPr>
            <a:normAutofit/>
          </a:bodyPr>
          <a:lstStyle/>
          <a:p>
            <a:r>
              <a:rPr lang="en-US" sz="3600">
                <a:effectLst/>
              </a:rPr>
              <a:t>An overview </a:t>
            </a:r>
            <a:r>
              <a:rPr lang="en-GB" sz="3600">
                <a:effectLst/>
              </a:rPr>
              <a:t>of common SOC tools &amp; </a:t>
            </a:r>
            <a:r>
              <a:rPr lang="en-GB" sz="3600"/>
              <a:t>Technologies</a:t>
            </a:r>
            <a:endParaRPr lang="en-US" sz="3600"/>
          </a:p>
        </p:txBody>
      </p:sp>
      <p:sp>
        <p:nvSpPr>
          <p:cNvPr id="11" name="Content Placeholder 2"/>
          <p:cNvSpPr>
            <a:spLocks noGrp="1"/>
          </p:cNvSpPr>
          <p:nvPr>
            <p:ph sz="half" idx="1"/>
          </p:nvPr>
        </p:nvSpPr>
        <p:spPr>
          <a:xfrm>
            <a:off x="523305" y="1825625"/>
            <a:ext cx="5181600" cy="4557008"/>
          </a:xfrm>
        </p:spPr>
        <p:txBody>
          <a:bodyPr>
            <a:normAutofit/>
          </a:bodyPr>
          <a:lstStyle/>
          <a:p>
            <a:pPr>
              <a:lnSpc>
                <a:spcPct val="150000"/>
              </a:lnSpc>
              <a:buFont typeface="Wingdings" panose="05000000000000000000" pitchFamily="2" charset="2"/>
              <a:buChar char="q"/>
            </a:pPr>
            <a:r>
              <a:rPr lang="en-US"/>
              <a:t>Example:</a:t>
            </a:r>
            <a:r>
              <a:rPr lang="en-US">
                <a:solidFill>
                  <a:srgbClr val="FF0000"/>
                </a:solidFill>
              </a:rPr>
              <a:t> </a:t>
            </a:r>
            <a:r>
              <a:rPr lang="en-US" sz="1900">
                <a:solidFill>
                  <a:srgbClr val="FF0000"/>
                </a:solidFill>
                <a:effectLst/>
                <a:ea typeface="Aptos" panose="020B0004020202020204" pitchFamily="34" charset="0"/>
                <a:cs typeface="Arial" panose="020B0604020202020204" pitchFamily="34" charset="0"/>
              </a:rPr>
              <a:t>IBM QRadar </a:t>
            </a:r>
            <a:r>
              <a:rPr lang="en-US" sz="1900">
                <a:solidFill>
                  <a:srgbClr val="FF0000"/>
                </a:solidFill>
              </a:rPr>
              <a:t>is a network security management platform </a:t>
            </a:r>
            <a:r>
              <a:rPr lang="en-US" sz="1900"/>
              <a:t>that provides situational awareness and compliance support. </a:t>
            </a:r>
            <a:r>
              <a:rPr lang="en-US" sz="1900">
                <a:solidFill>
                  <a:srgbClr val="FF0000"/>
                </a:solidFill>
              </a:rPr>
              <a:t>QRadar uses a combination of flow-based network knowledge, security event correlation, and asset-based vulnerability assessment</a:t>
            </a:r>
            <a:r>
              <a:rPr lang="en-US" sz="1900"/>
              <a:t>.</a:t>
            </a:r>
          </a:p>
          <a:p>
            <a:pPr marL="0" indent="0">
              <a:lnSpc>
                <a:spcPct val="150000"/>
              </a:lnSpc>
              <a:buFont typeface="Wingdings" panose="05000000000000000000" pitchFamily="2" charset="2"/>
              <a:buNone/>
            </a:pPr>
            <a:endParaRPr lang="en-US" sz="1900"/>
          </a:p>
        </p:txBody>
      </p:sp>
      <p:pic>
        <p:nvPicPr>
          <p:cNvPr id="5" name="Content Placeholder 4" descr="A screenshot of a computer&#10;&#10;Description automatically generated"/>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83290" y="2186082"/>
            <a:ext cx="6406351" cy="3627321"/>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6"/>
            <a:ext cx="10515600" cy="1325563"/>
          </a:xfrm>
        </p:spPr>
        <p:txBody>
          <a:bodyPr>
            <a:normAutofit/>
          </a:bodyPr>
          <a:lstStyle/>
          <a:p>
            <a:r>
              <a:rPr lang="en-US" sz="3600">
                <a:effectLst/>
              </a:rPr>
              <a:t>An overview </a:t>
            </a:r>
            <a:r>
              <a:rPr lang="en-GB" sz="3600">
                <a:effectLst/>
              </a:rPr>
              <a:t>of common SOC tools &amp; </a:t>
            </a:r>
            <a:r>
              <a:rPr lang="en-GB" sz="3600"/>
              <a:t>Technologies</a:t>
            </a:r>
            <a:endParaRPr lang="en-US" sz="3600"/>
          </a:p>
        </p:txBody>
      </p:sp>
      <p:sp>
        <p:nvSpPr>
          <p:cNvPr id="11" name="Content Placeholder 2"/>
          <p:cNvSpPr>
            <a:spLocks noGrp="1"/>
          </p:cNvSpPr>
          <p:nvPr>
            <p:ph sz="half" idx="1"/>
          </p:nvPr>
        </p:nvSpPr>
        <p:spPr>
          <a:xfrm>
            <a:off x="523304" y="1825624"/>
            <a:ext cx="5648895" cy="4816065"/>
          </a:xfrm>
        </p:spPr>
        <p:txBody>
          <a:bodyPr>
            <a:normAutofit fontScale="72500" lnSpcReduction="20000"/>
          </a:bodyPr>
          <a:lstStyle/>
          <a:p>
            <a:pPr algn="just">
              <a:lnSpc>
                <a:spcPct val="150000"/>
              </a:lnSpc>
              <a:buFont typeface="Wingdings" panose="05000000000000000000" pitchFamily="2" charset="2"/>
              <a:buChar char="q"/>
            </a:pPr>
            <a:r>
              <a:rPr lang="en-US"/>
              <a:t>Example: </a:t>
            </a:r>
            <a:r>
              <a:rPr lang="en-US" sz="2600">
                <a:solidFill>
                  <a:srgbClr val="FF0000"/>
                </a:solidFill>
                <a:cs typeface="Arial" panose="020B0604020202020204" pitchFamily="34" charset="0"/>
              </a:rPr>
              <a:t>Microsoft ArcSight </a:t>
            </a:r>
            <a:r>
              <a:rPr lang="en-US" sz="2600">
                <a:solidFill>
                  <a:srgbClr val="FF0000"/>
                </a:solidFill>
              </a:rPr>
              <a:t>Enterprise Security Manager (ESM) </a:t>
            </a:r>
            <a:r>
              <a:rPr lang="en-US" sz="2600"/>
              <a:t>is a great, adaptable SIEM that offers comprehensive d</a:t>
            </a:r>
            <a:r>
              <a:rPr lang="en-US" sz="2600">
                <a:solidFill>
                  <a:srgbClr val="FF0000"/>
                </a:solidFill>
              </a:rPr>
              <a:t>ata collection and real-time threat analysis, along with a native threat intelligence feed and native SOAR</a:t>
            </a:r>
            <a:r>
              <a:rPr lang="en-US" sz="2600"/>
              <a:t>.</a:t>
            </a:r>
          </a:p>
          <a:p>
            <a:pPr algn="just">
              <a:lnSpc>
                <a:spcPct val="150000"/>
              </a:lnSpc>
              <a:buFont typeface="Wingdings" panose="05000000000000000000" pitchFamily="2" charset="2"/>
              <a:buChar char="q"/>
            </a:pPr>
            <a:r>
              <a:rPr lang="en-US" sz="2600">
                <a:solidFill>
                  <a:srgbClr val="FF0000"/>
                </a:solidFill>
              </a:rPr>
              <a:t>Splunk has a 56.53% market share in the Security Information And Event Management (SIEM) category, while Micro Focus ArcSight ESM has a 1.17% market share in the same space.</a:t>
            </a:r>
          </a:p>
        </p:txBody>
      </p:sp>
      <p:pic>
        <p:nvPicPr>
          <p:cNvPr id="6" name="Content Placeholder 5" descr="A logo with red text&#10;&#10;Description automatically generated"/>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52420" y="1825624"/>
            <a:ext cx="5181600" cy="2974238"/>
          </a:xfrm>
        </p:spPr>
      </p:pic>
      <p:sp>
        <p:nvSpPr>
          <p:cNvPr id="7" name="TextBox 6"/>
          <p:cNvSpPr txBox="1"/>
          <p:nvPr/>
        </p:nvSpPr>
        <p:spPr>
          <a:xfrm>
            <a:off x="6824694" y="5236304"/>
            <a:ext cx="5001950" cy="646331"/>
          </a:xfrm>
          <a:prstGeom prst="rect">
            <a:avLst/>
          </a:prstGeom>
          <a:noFill/>
        </p:spPr>
        <p:txBody>
          <a:bodyPr wrap="square" rtlCol="0">
            <a:spAutoFit/>
          </a:bodyPr>
          <a:lstStyle/>
          <a:p>
            <a:r>
              <a:rPr lang="en-US"/>
              <a:t>https://www.opentext.com/products/arcsight-enterprise-security-manager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933" y="2766218"/>
            <a:ext cx="11413067" cy="1325563"/>
          </a:xfrm>
        </p:spPr>
        <p:txBody>
          <a:bodyPr>
            <a:normAutofit/>
          </a:bodyPr>
          <a:lstStyle/>
          <a:p>
            <a:pPr algn="ctr"/>
            <a:r>
              <a:rPr lang="en-GB" sz="3600" b="1">
                <a:solidFill>
                  <a:srgbClr val="0070C0"/>
                </a:solidFill>
                <a:latin typeface="Times New Roman" panose="02020603050405020304" pitchFamily="18" charset="0"/>
                <a:ea typeface="Times New Roman" panose="02020603050405020304" pitchFamily="18" charset="0"/>
              </a:rPr>
              <a:t>Indicators of Compromise (IoC) and Tactics, Techniques, and Procedures (TTPs)</a:t>
            </a:r>
            <a:endParaRPr lang="en-US" sz="3600" b="1">
              <a:solidFill>
                <a:srgbClr val="0070C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Indicators of Compromise (IoC)</a:t>
            </a:r>
          </a:p>
        </p:txBody>
      </p:sp>
      <p:sp>
        <p:nvSpPr>
          <p:cNvPr id="3" name="Content Placeholder 2"/>
          <p:cNvSpPr>
            <a:spLocks noGrp="1"/>
          </p:cNvSpPr>
          <p:nvPr>
            <p:ph idx="1"/>
          </p:nvPr>
        </p:nvSpPr>
        <p:spPr>
          <a:xfrm>
            <a:off x="838200" y="1478491"/>
            <a:ext cx="10515600" cy="4351338"/>
          </a:xfrm>
        </p:spPr>
        <p:txBody>
          <a:bodyPr>
            <a:normAutofit fontScale="92500"/>
          </a:bodyPr>
          <a:lstStyle/>
          <a:p>
            <a:pPr algn="just">
              <a:lnSpc>
                <a:spcPct val="150000"/>
              </a:lnSpc>
            </a:pPr>
            <a:r>
              <a:rPr lang="en-US" sz="2400">
                <a:latin typeface="Times New Roman" panose="02020603050405020304" pitchFamily="18" charset="0"/>
                <a:cs typeface="Times New Roman" panose="02020603050405020304" pitchFamily="18" charset="0"/>
              </a:rPr>
              <a:t>Indicators of Compromise (</a:t>
            </a:r>
            <a:r>
              <a:rPr lang="en-US" sz="2400" b="1">
                <a:solidFill>
                  <a:schemeClr val="accent3"/>
                </a:solidFill>
                <a:latin typeface="Times New Roman" panose="02020603050405020304" pitchFamily="18" charset="0"/>
                <a:cs typeface="Times New Roman" panose="02020603050405020304" pitchFamily="18" charset="0"/>
              </a:rPr>
              <a:t>IoCs</a:t>
            </a:r>
            <a:r>
              <a:rPr lang="en-US" sz="2400">
                <a:latin typeface="Times New Roman" panose="02020603050405020304" pitchFamily="18" charset="0"/>
                <a:cs typeface="Times New Roman" panose="02020603050405020304" pitchFamily="18" charset="0"/>
              </a:rPr>
              <a:t>) are pieces of forensic data that suggest a network or system has been breached. They help security professionals detect and respond to potential threats. Examples of IoCs include:</a:t>
            </a:r>
          </a:p>
          <a:p>
            <a:pPr algn="just">
              <a:lnSpc>
                <a:spcPct val="150000"/>
              </a:lnSpc>
            </a:pPr>
            <a:r>
              <a:rPr lang="en-US" sz="2400" b="1">
                <a:latin typeface="Times New Roman" panose="02020603050405020304" pitchFamily="18" charset="0"/>
                <a:cs typeface="Times New Roman" panose="02020603050405020304" pitchFamily="18" charset="0"/>
              </a:rPr>
              <a:t>Unusual Network Traffic</a:t>
            </a:r>
            <a:r>
              <a:rPr lang="en-US" sz="2400">
                <a:latin typeface="Times New Roman" panose="02020603050405020304" pitchFamily="18" charset="0"/>
                <a:cs typeface="Times New Roman" panose="02020603050405020304" pitchFamily="18" charset="0"/>
              </a:rPr>
              <a:t>: Unexpected spikes or patterns in network traffic.</a:t>
            </a:r>
          </a:p>
          <a:p>
            <a:pPr algn="just">
              <a:lnSpc>
                <a:spcPct val="150000"/>
              </a:lnSpc>
            </a:pPr>
            <a:r>
              <a:rPr lang="en-US" sz="2400" b="1">
                <a:latin typeface="Times New Roman" panose="02020603050405020304" pitchFamily="18" charset="0"/>
                <a:cs typeface="Times New Roman" panose="02020603050405020304" pitchFamily="18" charset="0"/>
              </a:rPr>
              <a:t>Unexpected Software Installations</a:t>
            </a:r>
            <a:r>
              <a:rPr lang="en-US" sz="2400">
                <a:latin typeface="Times New Roman" panose="02020603050405020304" pitchFamily="18" charset="0"/>
                <a:cs typeface="Times New Roman" panose="02020603050405020304" pitchFamily="18" charset="0"/>
              </a:rPr>
              <a:t>: Installation of software without user consent.</a:t>
            </a:r>
          </a:p>
          <a:p>
            <a:pPr algn="just">
              <a:lnSpc>
                <a:spcPct val="150000"/>
              </a:lnSpc>
            </a:pPr>
            <a:r>
              <a:rPr lang="en-US" sz="2400" b="1">
                <a:latin typeface="Times New Roman" panose="02020603050405020304" pitchFamily="18" charset="0"/>
                <a:cs typeface="Times New Roman" panose="02020603050405020304" pitchFamily="18" charset="0"/>
              </a:rPr>
              <a:t>Anomalous User Behavior</a:t>
            </a:r>
            <a:r>
              <a:rPr lang="en-US" sz="2400">
                <a:latin typeface="Times New Roman" panose="02020603050405020304" pitchFamily="18" charset="0"/>
                <a:cs typeface="Times New Roman" panose="02020603050405020304" pitchFamily="18" charset="0"/>
              </a:rPr>
              <a:t>: Sign-ins from unusual locations or at odd times.</a:t>
            </a:r>
          </a:p>
          <a:p>
            <a:pPr algn="just">
              <a:lnSpc>
                <a:spcPct val="150000"/>
              </a:lnSpc>
            </a:pPr>
            <a:r>
              <a:rPr lang="en-US" sz="2400" b="1">
                <a:latin typeface="Times New Roman" panose="02020603050405020304" pitchFamily="18" charset="0"/>
                <a:cs typeface="Times New Roman" panose="02020603050405020304" pitchFamily="18" charset="0"/>
              </a:rPr>
              <a:t>Changes to System Configurations</a:t>
            </a:r>
            <a:r>
              <a:rPr lang="en-US" sz="2400">
                <a:latin typeface="Times New Roman" panose="02020603050405020304" pitchFamily="18" charset="0"/>
                <a:cs typeface="Times New Roman" panose="02020603050405020304" pitchFamily="18" charset="0"/>
              </a:rPr>
              <a:t>: Unauthorized modifications to system settings</a:t>
            </a:r>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Tactics, Techniques, and Procedures (TTPs)</a:t>
            </a:r>
            <a:endParaRPr lang="en-US" sz="36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825625"/>
            <a:ext cx="10778067" cy="4351338"/>
          </a:xfrm>
        </p:spPr>
        <p:txBody>
          <a:bodyPr>
            <a:normAutofit/>
          </a:bodyPr>
          <a:lstStyle/>
          <a:p>
            <a:pPr algn="just">
              <a:lnSpc>
                <a:spcPct val="150000"/>
              </a:lnSpc>
            </a:pPr>
            <a:r>
              <a:rPr lang="en-US" sz="2400">
                <a:latin typeface="Times New Roman" panose="02020603050405020304" pitchFamily="18" charset="0"/>
                <a:cs typeface="Times New Roman" panose="02020603050405020304" pitchFamily="18" charset="0"/>
              </a:rPr>
              <a:t>Tactics, Techniques, and Procedures (</a:t>
            </a:r>
            <a:r>
              <a:rPr lang="en-US" sz="2400" b="1">
                <a:solidFill>
                  <a:schemeClr val="accent3"/>
                </a:solidFill>
                <a:latin typeface="Times New Roman" panose="02020603050405020304" pitchFamily="18" charset="0"/>
                <a:cs typeface="Times New Roman" panose="02020603050405020304" pitchFamily="18" charset="0"/>
              </a:rPr>
              <a:t>TTPs</a:t>
            </a:r>
            <a:r>
              <a:rPr lang="en-US" sz="2400">
                <a:latin typeface="Times New Roman" panose="02020603050405020304" pitchFamily="18" charset="0"/>
                <a:cs typeface="Times New Roman" panose="02020603050405020304" pitchFamily="18" charset="0"/>
              </a:rPr>
              <a:t>) describe the behaviour and methods used by threat actors to carry out cyberattacks. Understanding TTPs helps organizations anticipate and defend against potential threats. Here's a breakdown:</a:t>
            </a:r>
          </a:p>
          <a:p>
            <a:pPr algn="just">
              <a:lnSpc>
                <a:spcPct val="150000"/>
              </a:lnSpc>
            </a:pPr>
            <a:r>
              <a:rPr lang="en-US" sz="2400" b="1">
                <a:latin typeface="Times New Roman" panose="02020603050405020304" pitchFamily="18" charset="0"/>
                <a:cs typeface="Times New Roman" panose="02020603050405020304" pitchFamily="18" charset="0"/>
              </a:rPr>
              <a:t>Tactics</a:t>
            </a:r>
            <a:r>
              <a:rPr lang="en-US" sz="2400">
                <a:latin typeface="Times New Roman" panose="02020603050405020304" pitchFamily="18" charset="0"/>
                <a:cs typeface="Times New Roman" panose="02020603050405020304" pitchFamily="18" charset="0"/>
              </a:rPr>
              <a:t>: The overall strategy or goal of the threat actor (e.g., data exfiltration).</a:t>
            </a:r>
          </a:p>
          <a:p>
            <a:pPr algn="just">
              <a:lnSpc>
                <a:spcPct val="150000"/>
              </a:lnSpc>
            </a:pPr>
            <a:r>
              <a:rPr lang="en-US" sz="2400" b="1">
                <a:latin typeface="Times New Roman" panose="02020603050405020304" pitchFamily="18" charset="0"/>
                <a:cs typeface="Times New Roman" panose="02020603050405020304" pitchFamily="18" charset="0"/>
              </a:rPr>
              <a:t>Techniques</a:t>
            </a:r>
            <a:r>
              <a:rPr lang="en-US" sz="2400">
                <a:latin typeface="Times New Roman" panose="02020603050405020304" pitchFamily="18" charset="0"/>
                <a:cs typeface="Times New Roman" panose="02020603050405020304" pitchFamily="18" charset="0"/>
              </a:rPr>
              <a:t>: The general methods used to achieve the tactic (e.g., phishing).</a:t>
            </a:r>
          </a:p>
          <a:p>
            <a:pPr algn="just">
              <a:lnSpc>
                <a:spcPct val="150000"/>
              </a:lnSpc>
            </a:pPr>
            <a:r>
              <a:rPr lang="en-US" sz="2400" b="1">
                <a:latin typeface="Times New Roman" panose="02020603050405020304" pitchFamily="18" charset="0"/>
                <a:cs typeface="Times New Roman" panose="02020603050405020304" pitchFamily="18" charset="0"/>
              </a:rPr>
              <a:t>Procedures</a:t>
            </a:r>
            <a:r>
              <a:rPr lang="en-US" sz="2400">
                <a:latin typeface="Times New Roman" panose="02020603050405020304" pitchFamily="18" charset="0"/>
                <a:cs typeface="Times New Roman" panose="02020603050405020304" pitchFamily="18" charset="0"/>
              </a:rPr>
              <a:t>: The specific steps taken to execute the technique (e.g., crafting a phishing email with a malicious link)</a:t>
            </a:r>
          </a:p>
          <a:p>
            <a:pPr marL="0" indent="0">
              <a:buNone/>
            </a:pP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u="sng">
                <a:latin typeface="Times New Roman" panose="02020603050405020304" pitchFamily="18" charset="0"/>
                <a:cs typeface="Times New Roman" panose="02020603050405020304" pitchFamily="18" charset="0"/>
              </a:rPr>
              <a:t>Example of IoC and TTPs:</a:t>
            </a:r>
            <a:endParaRPr lang="en-US"/>
          </a:p>
        </p:txBody>
      </p:sp>
      <p:sp>
        <p:nvSpPr>
          <p:cNvPr id="3" name="Content Placeholder 2"/>
          <p:cNvSpPr>
            <a:spLocks noGrp="1"/>
          </p:cNvSpPr>
          <p:nvPr>
            <p:ph idx="1"/>
          </p:nvPr>
        </p:nvSpPr>
        <p:spPr>
          <a:xfrm>
            <a:off x="838199" y="1825625"/>
            <a:ext cx="10777833" cy="4351338"/>
          </a:xfrm>
        </p:spPr>
        <p:txBody>
          <a:bodyPr>
            <a:normAutofit fontScale="62500" lnSpcReduction="20000"/>
          </a:bodyPr>
          <a:lstStyle/>
          <a:p>
            <a:pPr>
              <a:lnSpc>
                <a:spcPct val="115000"/>
              </a:lnSpc>
              <a:spcAft>
                <a:spcPts val="800"/>
              </a:spcAft>
              <a:buFont typeface="Wingdings" panose="05000000000000000000" pitchFamily="2" charset="2"/>
              <a:buChar char="Ø"/>
            </a:pPr>
            <a:r>
              <a:rPr lang="en-US" sz="3800" kern="10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Indicator of Compromise (IoC) Example:</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Suspicious outbound network traffic to known malicious IP addresses.</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Unexpected modifications to critical system files.</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Anomalous login attempts from unfamiliar locations or devices.</a:t>
            </a:r>
          </a:p>
          <a:p>
            <a:pPr>
              <a:lnSpc>
                <a:spcPct val="115000"/>
              </a:lnSpc>
              <a:spcAft>
                <a:spcPts val="800"/>
              </a:spcAft>
              <a:buFont typeface="Wingdings" panose="05000000000000000000" pitchFamily="2" charset="2"/>
              <a:buChar char="Ø"/>
            </a:pPr>
            <a:r>
              <a:rPr lang="en-US" sz="3800" kern="10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Tactics, Techniques, and Procedures (TTPs) Example:</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Phishing emails containing malicious links or attachments to deliver malware.</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Exploiting software vulnerabilities to gain unauthorized access to systems.</a:t>
            </a:r>
          </a:p>
          <a:p>
            <a:pPr marL="800100" lvl="1" indent="-342900">
              <a:lnSpc>
                <a:spcPct val="115000"/>
              </a:lnSpc>
              <a:spcAft>
                <a:spcPts val="800"/>
              </a:spcAft>
              <a:buFont typeface="+mj-lt"/>
              <a:buAutoNum type="arabicPeriod"/>
            </a:pPr>
            <a:r>
              <a:rPr lang="en-US" sz="3400" kern="100">
                <a:effectLst/>
                <a:latin typeface="Times New Roman" panose="02020603050405020304" pitchFamily="18" charset="0"/>
                <a:ea typeface="Aptos" panose="020B0004020202020204" pitchFamily="34" charset="0"/>
                <a:cs typeface="Times New Roman" panose="02020603050405020304" pitchFamily="18" charset="0"/>
              </a:rPr>
              <a:t>Using stolen credentials to move laterally within a network and escalate privileges</a:t>
            </a:r>
            <a:r>
              <a:rPr lang="en-US" kern="100">
                <a:effectLst/>
                <a:latin typeface="Aptos" panose="020B0004020202020204" pitchFamily="34" charset="0"/>
                <a:ea typeface="Aptos" panose="020B0004020202020204" pitchFamily="34" charset="0"/>
                <a:cs typeface="Arial" panose="020B0604020202020204" pitchFamily="34" charset="0"/>
              </a:rPr>
              <a:t>.</a:t>
            </a: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0066" y="2981326"/>
            <a:ext cx="10515600" cy="1325563"/>
          </a:xfrm>
        </p:spPr>
        <p:txBody>
          <a:bodyPr>
            <a:normAutofit/>
          </a:bodyPr>
          <a:lstStyle/>
          <a:p>
            <a:r>
              <a:rPr lang="en-GB" sz="3600" b="1">
                <a:solidFill>
                  <a:schemeClr val="accent3"/>
                </a:solidFill>
                <a:latin typeface="Times New Roman" panose="02020603050405020304" pitchFamily="18" charset="0"/>
                <a:ea typeface="Times New Roman" panose="02020603050405020304" pitchFamily="18" charset="0"/>
              </a:rPr>
              <a:t>Real-time monitoring and anomaly detection</a:t>
            </a:r>
            <a:endParaRPr lang="en-US" sz="3600" b="1">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Real-Time Monitoring</a:t>
            </a:r>
          </a:p>
        </p:txBody>
      </p:sp>
      <p:sp>
        <p:nvSpPr>
          <p:cNvPr id="3" name="Content Placeholder 2"/>
          <p:cNvSpPr>
            <a:spLocks noGrp="1"/>
          </p:cNvSpPr>
          <p:nvPr>
            <p:ph idx="1"/>
          </p:nvPr>
        </p:nvSpPr>
        <p:spPr>
          <a:xfrm>
            <a:off x="838200" y="1597025"/>
            <a:ext cx="10515600" cy="4351338"/>
          </a:xfrm>
        </p:spPr>
        <p:txBody>
          <a:bodyPr>
            <a:normAutofit fontScale="92500"/>
          </a:bodyPr>
          <a:lstStyle/>
          <a:p>
            <a:pPr algn="just">
              <a:lnSpc>
                <a:spcPct val="150000"/>
              </a:lnSpc>
            </a:pPr>
            <a:r>
              <a:rPr lang="en-US" sz="2400">
                <a:latin typeface="Times New Roman" panose="02020603050405020304" pitchFamily="18" charset="0"/>
                <a:cs typeface="Times New Roman" panose="02020603050405020304" pitchFamily="18" charset="0"/>
              </a:rPr>
              <a:t>Real-time monitoring involves continuously observing an organization's IT infrastructure to detect and respond to security incidents as they happen. Key components include:</a:t>
            </a:r>
          </a:p>
          <a:p>
            <a:pPr algn="just">
              <a:lnSpc>
                <a:spcPct val="150000"/>
              </a:lnSpc>
            </a:pPr>
            <a:r>
              <a:rPr lang="en-US" sz="2400" b="1">
                <a:latin typeface="Times New Roman" panose="02020603050405020304" pitchFamily="18" charset="0"/>
                <a:cs typeface="Times New Roman" panose="02020603050405020304" pitchFamily="18" charset="0"/>
              </a:rPr>
              <a:t>Security Information and Event Management (SIEM)</a:t>
            </a:r>
            <a:r>
              <a:rPr lang="en-US" sz="2400">
                <a:latin typeface="Times New Roman" panose="02020603050405020304" pitchFamily="18" charset="0"/>
                <a:cs typeface="Times New Roman" panose="02020603050405020304" pitchFamily="18" charset="0"/>
              </a:rPr>
              <a:t>: Collects and analyzes log data from various sources to provide real-time alerts.</a:t>
            </a:r>
          </a:p>
          <a:p>
            <a:pPr algn="just">
              <a:lnSpc>
                <a:spcPct val="150000"/>
              </a:lnSpc>
            </a:pPr>
            <a:r>
              <a:rPr lang="en-US" sz="2400" b="1">
                <a:latin typeface="Times New Roman" panose="02020603050405020304" pitchFamily="18" charset="0"/>
                <a:cs typeface="Times New Roman" panose="02020603050405020304" pitchFamily="18" charset="0"/>
              </a:rPr>
              <a:t>Network Monitoring Tools</a:t>
            </a:r>
            <a:r>
              <a:rPr lang="en-US" sz="2400">
                <a:latin typeface="Times New Roman" panose="02020603050405020304" pitchFamily="18" charset="0"/>
                <a:cs typeface="Times New Roman" panose="02020603050405020304" pitchFamily="18" charset="0"/>
              </a:rPr>
              <a:t>: Track network traffic and identify unusual patterns.</a:t>
            </a:r>
          </a:p>
          <a:p>
            <a:pPr algn="just">
              <a:lnSpc>
                <a:spcPct val="150000"/>
              </a:lnSpc>
            </a:pPr>
            <a:r>
              <a:rPr lang="en-US" sz="2400" b="1">
                <a:latin typeface="Times New Roman" panose="02020603050405020304" pitchFamily="18" charset="0"/>
                <a:cs typeface="Times New Roman" panose="02020603050405020304" pitchFamily="18" charset="0"/>
              </a:rPr>
              <a:t>Endpoint Detection and Response (EDR)</a:t>
            </a:r>
            <a:r>
              <a:rPr lang="en-US" sz="2400">
                <a:latin typeface="Times New Roman" panose="02020603050405020304" pitchFamily="18" charset="0"/>
                <a:cs typeface="Times New Roman" panose="02020603050405020304" pitchFamily="18" charset="0"/>
              </a:rPr>
              <a:t>: Monitors endpoints like computers and mobile devices for suspicious activity.</a:t>
            </a:r>
          </a:p>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Anomaly Detection</a:t>
            </a:r>
          </a:p>
        </p:txBody>
      </p:sp>
      <p:sp>
        <p:nvSpPr>
          <p:cNvPr id="8" name="Rectangle 3"/>
          <p:cNvSpPr>
            <a:spLocks noGrp="1" noChangeArrowheads="1"/>
          </p:cNvSpPr>
          <p:nvPr>
            <p:ph idx="1"/>
          </p:nvPr>
        </p:nvSpPr>
        <p:spPr bwMode="auto">
          <a:xfrm>
            <a:off x="921328" y="1249716"/>
            <a:ext cx="11165958"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Rule-Based Detection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(Signature-Based)</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Uses predefined signatures of known attacks (e.g., malware hash, known bad IPs).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Effective for detecting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known threats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but fails against zero-day attacks.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Behavioral-Based Detection</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Establishes a baseline of normal behaviour and detects deviations.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Helps detect insider threats and zero-day attacks.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Machine Learning &amp; AI-Based Detection</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Uses algorithms to analyze large datasets and identify anomalies.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Can detect complex attacks like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fileless malware</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low-and-slow attacks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User and Entity Behavior Analytics (UEBA)</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Monitors user activities and detects deviations from usual patterns.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Example: If an employee logs in from two different countries within an hour, it's flagged as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impossible travel</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Key Anomalies to Detect in Cybersecurity</a:t>
            </a:r>
          </a:p>
        </p:txBody>
      </p:sp>
      <p:sp>
        <p:nvSpPr>
          <p:cNvPr id="4" name="Rectangle 1"/>
          <p:cNvSpPr>
            <a:spLocks noGrp="1" noChangeArrowheads="1"/>
          </p:cNvSpPr>
          <p:nvPr>
            <p:ph idx="1"/>
          </p:nvPr>
        </p:nvSpPr>
        <p:spPr bwMode="auto">
          <a:xfrm>
            <a:off x="1077190" y="1527901"/>
            <a:ext cx="1074766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Unusual Network Traffic</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Large data transfers outside normal business hours.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Traffic to or from known malicious IP addresses.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Unauthorized Access Attempts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Multiple failed login attempts (brute-force attacks).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Logins from unusual locations (e.g., foreign IPs).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Unusual File Modifications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Sudden encryption of multiple files (ransomware attack).</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Creation of new admin accounts.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Process and Service Anomalies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Unexpected execution of PowerShell or script files.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Malware or unauthorized software running in memory.</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Benefits</a:t>
            </a:r>
            <a:endParaRPr lang="en-US" sz="72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0758"/>
            <a:ext cx="10515600" cy="4351338"/>
          </a:xfrm>
        </p:spPr>
        <p:txBody>
          <a:bodyPr>
            <a:normAutofit/>
          </a:bodyPr>
          <a:lstStyle/>
          <a:p>
            <a:pPr algn="just">
              <a:lnSpc>
                <a:spcPct val="150000"/>
              </a:lnSpc>
            </a:pPr>
            <a:r>
              <a:rPr lang="en-US" sz="2400" b="1">
                <a:latin typeface="Times New Roman" panose="02020603050405020304" pitchFamily="18" charset="0"/>
                <a:cs typeface="Times New Roman" panose="02020603050405020304" pitchFamily="18" charset="0"/>
              </a:rPr>
              <a:t>Early Threat Detection</a:t>
            </a:r>
            <a:r>
              <a:rPr lang="en-US" sz="2400">
                <a:latin typeface="Times New Roman" panose="02020603050405020304" pitchFamily="18" charset="0"/>
                <a:cs typeface="Times New Roman" panose="02020603050405020304" pitchFamily="18" charset="0"/>
              </a:rPr>
              <a:t>: Identifies potential threats before they can cause significant damage.</a:t>
            </a:r>
          </a:p>
          <a:p>
            <a:pPr algn="just">
              <a:lnSpc>
                <a:spcPct val="150000"/>
              </a:lnSpc>
            </a:pPr>
            <a:r>
              <a:rPr lang="en-US" sz="2400" b="1">
                <a:latin typeface="Times New Roman" panose="02020603050405020304" pitchFamily="18" charset="0"/>
                <a:cs typeface="Times New Roman" panose="02020603050405020304" pitchFamily="18" charset="0"/>
              </a:rPr>
              <a:t>Improved Incident Response</a:t>
            </a:r>
            <a:r>
              <a:rPr lang="en-US" sz="2400">
                <a:latin typeface="Times New Roman" panose="02020603050405020304" pitchFamily="18" charset="0"/>
                <a:cs typeface="Times New Roman" panose="02020603050405020304" pitchFamily="18" charset="0"/>
              </a:rPr>
              <a:t>: Enables quicker and more effective responses to security incidents.</a:t>
            </a:r>
          </a:p>
          <a:p>
            <a:pPr algn="just">
              <a:lnSpc>
                <a:spcPct val="150000"/>
              </a:lnSpc>
            </a:pPr>
            <a:r>
              <a:rPr lang="en-US" sz="2400" b="1">
                <a:latin typeface="Times New Roman" panose="02020603050405020304" pitchFamily="18" charset="0"/>
                <a:cs typeface="Times New Roman" panose="02020603050405020304" pitchFamily="18" charset="0"/>
              </a:rPr>
              <a:t>Reduced False Positives</a:t>
            </a:r>
            <a:r>
              <a:rPr lang="en-US" sz="2400">
                <a:latin typeface="Times New Roman" panose="02020603050405020304" pitchFamily="18" charset="0"/>
                <a:cs typeface="Times New Roman" panose="02020603050405020304" pitchFamily="18" charset="0"/>
              </a:rPr>
              <a:t>: Advanced techniques help minimize false alarms, allowing analysts to focus on genuine threats.</a:t>
            </a:r>
          </a:p>
          <a:p>
            <a:pPr marL="0" indent="0">
              <a:lnSpc>
                <a:spcPct val="115000"/>
              </a:lnSpc>
              <a:spcAft>
                <a:spcPts val="800"/>
              </a:spcAft>
              <a:buNone/>
            </a:pPr>
            <a:endParaRPr lang="en-US" sz="1800" kern="100">
              <a:effectLst/>
              <a:latin typeface="Aptos" panose="020B0004020202020204" pitchFamily="34" charset="0"/>
              <a:ea typeface="Aptos" panose="020B0004020202020204" pitchFamily="34" charset="0"/>
              <a:cs typeface="Arial" panose="020B0604020202020204" pitchFamily="34" charset="0"/>
            </a:endParaRP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0955867" cy="1325563"/>
          </a:xfrm>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Tools for Real-Time Monitoring &amp; Anomaly Detection</a:t>
            </a:r>
          </a:p>
        </p:txBody>
      </p:sp>
      <p:sp>
        <p:nvSpPr>
          <p:cNvPr id="5" name="Rectangle 2"/>
          <p:cNvSpPr>
            <a:spLocks noGrp="1" noChangeArrowheads="1"/>
          </p:cNvSpPr>
          <p:nvPr>
            <p:ph idx="1"/>
          </p:nvPr>
        </p:nvSpPr>
        <p:spPr bwMode="auto">
          <a:xfrm>
            <a:off x="905933" y="1788114"/>
            <a:ext cx="9140707"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SIEM Solutions: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Splunk, ELK Stack, Microsoft Sentinel.</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EDR Solutions: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CrowdStrike Falcon, Carbon Black, SentinelOne.</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NTA Solutions: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Darktrace, ExtraHop, Corelight.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AI/ML-Based Solutions: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Palo Alto Cortex XDR, Vectra AI, Exabeam.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788" y="756745"/>
            <a:ext cx="10928656" cy="5562073"/>
          </a:xfrm>
        </p:spPr>
        <p:txBody>
          <a:bodyPr>
            <a:normAutofit fontScale="40000" lnSpcReduction="20000"/>
          </a:bodyPr>
          <a:lstStyle/>
          <a:p>
            <a:pPr algn="just">
              <a:lnSpc>
                <a:spcPct val="170000"/>
              </a:lnSpc>
              <a:spcAft>
                <a:spcPts val="800"/>
              </a:spcAft>
              <a:buFont typeface="Wingdings" panose="05000000000000000000" pitchFamily="2" charset="2"/>
              <a:buChar char="Ø"/>
            </a:pPr>
            <a:endParaRPr lang="en-US" sz="5100" kern="10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70000"/>
              </a:lnSpc>
              <a:spcAft>
                <a:spcPts val="800"/>
              </a:spcAft>
              <a:buFont typeface="Wingdings" panose="05000000000000000000" pitchFamily="2" charset="2"/>
              <a:buChar char="Ø"/>
            </a:pPr>
            <a:r>
              <a:rPr lang="en-US" sz="5100" kern="100">
                <a:effectLst/>
                <a:latin typeface="Times New Roman" panose="02020603050405020304" pitchFamily="18" charset="0"/>
                <a:ea typeface="Aptos" panose="020B0004020202020204" pitchFamily="34" charset="0"/>
                <a:cs typeface="Times New Roman" panose="02020603050405020304" pitchFamily="18" charset="0"/>
              </a:rPr>
              <a:t>In summary, real-time monitoring and anomaly detection are critical capabilities for SOC operations, enabling organizations to detect and respond to security threats effectively. </a:t>
            </a:r>
          </a:p>
          <a:p>
            <a:pPr algn="just">
              <a:lnSpc>
                <a:spcPct val="170000"/>
              </a:lnSpc>
              <a:spcAft>
                <a:spcPts val="800"/>
              </a:spcAft>
              <a:buFont typeface="Wingdings" panose="05000000000000000000" pitchFamily="2" charset="2"/>
              <a:buChar char="Ø"/>
            </a:pPr>
            <a:r>
              <a:rPr lang="en-US" sz="5100" kern="100">
                <a:effectLst/>
                <a:latin typeface="Times New Roman" panose="02020603050405020304" pitchFamily="18" charset="0"/>
                <a:ea typeface="Aptos" panose="020B0004020202020204" pitchFamily="34" charset="0"/>
                <a:cs typeface="Times New Roman" panose="02020603050405020304" pitchFamily="18" charset="0"/>
              </a:rPr>
              <a:t>Real-time monitoring provides continuous visibility into the organization's IT environment, while anomaly detection helps identify abnormal behaviors or activities that may indicate potential security incidents. Together, these capabilities empower organizations to detect and mitigate security threats promptly, enhancing their overall cybersecurity posture.</a:t>
            </a:r>
          </a:p>
          <a:p>
            <a:pPr algn="just">
              <a:lnSpc>
                <a:spcPct val="170000"/>
              </a:lnSpc>
              <a:spcAft>
                <a:spcPts val="800"/>
              </a:spcAft>
              <a:buFont typeface="Wingdings" panose="05000000000000000000" pitchFamily="2" charset="2"/>
              <a:buChar char="Ø"/>
            </a:pPr>
            <a:r>
              <a:rPr lang="en-US" sz="5100" kern="100">
                <a:latin typeface="Times New Roman" panose="02020603050405020304" pitchFamily="18" charset="0"/>
                <a:cs typeface="Times New Roman" panose="02020603050405020304" pitchFamily="18" charset="0"/>
              </a:rPr>
              <a:t>By combining real-time monitoring with anomaly detection methods, organizations can enhance their ability to detect and respond to security threats effectively, improving their overall cybersecurity posture</a:t>
            </a:r>
            <a:r>
              <a:rPr lang="en-US" sz="5100" kern="100">
                <a:effectLst/>
                <a:latin typeface="Times New Roman" panose="02020603050405020304" pitchFamily="18" charset="0"/>
                <a:ea typeface="Aptos" panose="020B0004020202020204" pitchFamily="34" charset="0"/>
                <a:cs typeface="Times New Roman" panose="02020603050405020304" pitchFamily="18" charset="0"/>
              </a:rPr>
              <a:t>.</a:t>
            </a:r>
          </a:p>
          <a:p>
            <a:endParaRPr lang="en-US"/>
          </a:p>
        </p:txBody>
      </p:sp>
      <p:sp>
        <p:nvSpPr>
          <p:cNvPr id="4" name="Title 3"/>
          <p:cNvSpPr>
            <a:spLocks noGrp="1"/>
          </p:cNvSpPr>
          <p:nvPr>
            <p:ph type="title"/>
          </p:nvPr>
        </p:nvSpPr>
        <p:spPr>
          <a:xfrm>
            <a:off x="838200" y="365125"/>
            <a:ext cx="11179810" cy="1325880"/>
          </a:xfrm>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Summary of  Real-Time Monitoring &amp; Anomaly Detection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08E0-E1EB-7461-A3BB-EADB192310C5}"/>
              </a:ext>
            </a:extLst>
          </p:cNvPr>
          <p:cNvSpPr>
            <a:spLocks noGrp="1"/>
          </p:cNvSpPr>
          <p:nvPr>
            <p:ph type="title"/>
          </p:nvPr>
        </p:nvSpPr>
        <p:spPr/>
        <p:txBody>
          <a:bodyPr/>
          <a:lstStyle/>
          <a:p>
            <a:r>
              <a:rPr lang="en-US"/>
              <a:t>Activities</a:t>
            </a:r>
          </a:p>
        </p:txBody>
      </p:sp>
      <p:sp>
        <p:nvSpPr>
          <p:cNvPr id="3" name="Content Placeholder 2">
            <a:extLst>
              <a:ext uri="{FF2B5EF4-FFF2-40B4-BE49-F238E27FC236}">
                <a16:creationId xmlns:a16="http://schemas.microsoft.com/office/drawing/2014/main" id="{3301B527-D55A-A856-FEA4-E6EB230D5127}"/>
              </a:ext>
            </a:extLst>
          </p:cNvPr>
          <p:cNvSpPr>
            <a:spLocks noGrp="1"/>
          </p:cNvSpPr>
          <p:nvPr>
            <p:ph idx="1"/>
          </p:nvPr>
        </p:nvSpPr>
        <p:spPr/>
        <p:txBody>
          <a:bodyPr/>
          <a:lstStyle/>
          <a:p>
            <a:r>
              <a:rPr lang="en-US"/>
              <a:t>Generate login events in Windows/Linux and view logs</a:t>
            </a:r>
          </a:p>
        </p:txBody>
      </p:sp>
    </p:spTree>
    <p:extLst>
      <p:ext uri="{BB962C8B-B14F-4D97-AF65-F5344CB8AC3E}">
        <p14:creationId xmlns:p14="http://schemas.microsoft.com/office/powerpoint/2010/main" val="3144458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3E93-B6C8-B056-026B-EC61F3AFF1B9}"/>
              </a:ext>
            </a:extLst>
          </p:cNvPr>
          <p:cNvSpPr>
            <a:spLocks noGrp="1"/>
          </p:cNvSpPr>
          <p:nvPr>
            <p:ph type="title"/>
          </p:nvPr>
        </p:nvSpPr>
        <p:spPr>
          <a:xfrm>
            <a:off x="3839954" y="134949"/>
            <a:ext cx="5341883" cy="505131"/>
          </a:xfrm>
        </p:spPr>
        <p:txBody>
          <a:bodyPr>
            <a:normAutofit fontScale="90000"/>
          </a:bodyPr>
          <a:lstStyle/>
          <a:p>
            <a:r>
              <a:rPr lang="en-US"/>
              <a:t>SOC tools(Reference)</a:t>
            </a:r>
          </a:p>
        </p:txBody>
      </p:sp>
      <p:sp>
        <p:nvSpPr>
          <p:cNvPr id="3" name="Content Placeholder 2">
            <a:extLst>
              <a:ext uri="{FF2B5EF4-FFF2-40B4-BE49-F238E27FC236}">
                <a16:creationId xmlns:a16="http://schemas.microsoft.com/office/drawing/2014/main" id="{87C8B051-7804-E44C-51E6-B4DDDDFEFC40}"/>
              </a:ext>
            </a:extLst>
          </p:cNvPr>
          <p:cNvSpPr>
            <a:spLocks noGrp="1"/>
          </p:cNvSpPr>
          <p:nvPr>
            <p:ph idx="1"/>
          </p:nvPr>
        </p:nvSpPr>
        <p:spPr>
          <a:xfrm>
            <a:off x="737300" y="876563"/>
            <a:ext cx="5720256" cy="6161163"/>
          </a:xfrm>
        </p:spPr>
        <p:txBody>
          <a:bodyPr>
            <a:normAutofit fontScale="40000" lnSpcReduction="20000"/>
          </a:bodyPr>
          <a:lstStyle/>
          <a:p>
            <a:pPr marL="0" indent="0">
              <a:lnSpc>
                <a:spcPct val="160000"/>
              </a:lnSpc>
              <a:buNone/>
            </a:pPr>
            <a:r>
              <a:rPr lang="en-US" sz="4000" b="1">
                <a:latin typeface="Calibri" panose="020F0502020204030204" pitchFamily="34" charset="0"/>
                <a:ea typeface="Calibri" panose="020F0502020204030204" pitchFamily="34" charset="0"/>
                <a:cs typeface="Calibri" panose="020F0502020204030204" pitchFamily="34" charset="0"/>
              </a:rPr>
              <a:t>1. Log Collection &amp; Centralization: </a:t>
            </a:r>
            <a:r>
              <a:rPr lang="en-US" sz="4000">
                <a:latin typeface="Calibri" panose="020F0502020204030204" pitchFamily="34" charset="0"/>
                <a:ea typeface="Calibri" panose="020F0502020204030204" pitchFamily="34" charset="0"/>
                <a:cs typeface="Calibri" panose="020F0502020204030204" pitchFamily="34" charset="0"/>
              </a:rPr>
              <a:t>SOC teams need to aggregate logs from endpoints, servers, network devices, and cloud services.</a:t>
            </a: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Syslog Servers</a:t>
            </a:r>
            <a:r>
              <a:rPr lang="en-US" sz="4000">
                <a:latin typeface="Calibri" panose="020F0502020204030204" pitchFamily="34" charset="0"/>
                <a:ea typeface="Calibri" panose="020F0502020204030204" pitchFamily="34" charset="0"/>
                <a:cs typeface="Calibri" panose="020F0502020204030204" pitchFamily="34" charset="0"/>
              </a:rPr>
              <a:t> – Collect logs from various sources (e.g., </a:t>
            </a:r>
            <a:r>
              <a:rPr lang="en-US" sz="4000" err="1">
                <a:latin typeface="Calibri" panose="020F0502020204030204" pitchFamily="34" charset="0"/>
                <a:ea typeface="Calibri" panose="020F0502020204030204" pitchFamily="34" charset="0"/>
                <a:cs typeface="Calibri" panose="020F0502020204030204" pitchFamily="34" charset="0"/>
              </a:rPr>
              <a:t>Rsyslog</a:t>
            </a:r>
            <a:r>
              <a:rPr lang="en-US" sz="4000">
                <a:latin typeface="Calibri" panose="020F0502020204030204" pitchFamily="34" charset="0"/>
                <a:ea typeface="Calibri" panose="020F0502020204030204" pitchFamily="34" charset="0"/>
                <a:cs typeface="Calibri" panose="020F0502020204030204" pitchFamily="34" charset="0"/>
              </a:rPr>
              <a:t>, Syslog-ng).</a:t>
            </a: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Log Management Solutions</a:t>
            </a:r>
            <a:r>
              <a:rPr lang="en-US" sz="4000">
                <a:latin typeface="Calibri" panose="020F0502020204030204" pitchFamily="34" charset="0"/>
                <a:ea typeface="Calibri" panose="020F0502020204030204" pitchFamily="34" charset="0"/>
                <a:cs typeface="Calibri" panose="020F0502020204030204" pitchFamily="34" charset="0"/>
              </a:rPr>
              <a:t> – Provide search and storage (e.g., </a:t>
            </a:r>
            <a:r>
              <a:rPr lang="en-US" sz="4000" err="1">
                <a:latin typeface="Calibri" panose="020F0502020204030204" pitchFamily="34" charset="0"/>
                <a:ea typeface="Calibri" panose="020F0502020204030204" pitchFamily="34" charset="0"/>
                <a:cs typeface="Calibri" panose="020F0502020204030204" pitchFamily="34" charset="0"/>
              </a:rPr>
              <a:t>Graylog</a:t>
            </a:r>
            <a:r>
              <a:rPr lang="en-US" sz="4000">
                <a:latin typeface="Calibri" panose="020F0502020204030204" pitchFamily="34" charset="0"/>
                <a:ea typeface="Calibri" panose="020F0502020204030204" pitchFamily="34" charset="0"/>
                <a:cs typeface="Calibri" panose="020F0502020204030204" pitchFamily="34" charset="0"/>
              </a:rPr>
              <a:t>, Logstash).</a:t>
            </a:r>
          </a:p>
          <a:p>
            <a:pPr marL="0" indent="0">
              <a:lnSpc>
                <a:spcPct val="160000"/>
              </a:lnSpc>
              <a:buNone/>
            </a:pPr>
            <a:r>
              <a:rPr lang="en-US" sz="4000" b="1">
                <a:latin typeface="Calibri" panose="020F0502020204030204" pitchFamily="34" charset="0"/>
                <a:ea typeface="Calibri" panose="020F0502020204030204" pitchFamily="34" charset="0"/>
                <a:cs typeface="Calibri" panose="020F0502020204030204" pitchFamily="34" charset="0"/>
              </a:rPr>
              <a:t>2. Security Information and Event Management (SIEM): </a:t>
            </a:r>
            <a:r>
              <a:rPr lang="en-US" sz="4000">
                <a:latin typeface="Calibri" panose="020F0502020204030204" pitchFamily="34" charset="0"/>
                <a:ea typeface="Calibri" panose="020F0502020204030204" pitchFamily="34" charset="0"/>
                <a:cs typeface="Calibri" panose="020F0502020204030204" pitchFamily="34" charset="0"/>
              </a:rPr>
              <a:t>SIEM platforms correlate, analyze, and visualize logs to detect threats.</a:t>
            </a: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Splunk Enterprise Security</a:t>
            </a:r>
            <a:endParaRPr lang="en-US" sz="4000">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IBM </a:t>
            </a:r>
            <a:r>
              <a:rPr lang="en-US" sz="4000" b="1" err="1">
                <a:latin typeface="Calibri" panose="020F0502020204030204" pitchFamily="34" charset="0"/>
                <a:ea typeface="Calibri" panose="020F0502020204030204" pitchFamily="34" charset="0"/>
                <a:cs typeface="Calibri" panose="020F0502020204030204" pitchFamily="34" charset="0"/>
              </a:rPr>
              <a:t>QRadar</a:t>
            </a:r>
            <a:endParaRPr lang="en-US" sz="4000">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Microsoft Sentinel</a:t>
            </a:r>
            <a:r>
              <a:rPr lang="en-US" sz="4000">
                <a:latin typeface="Calibri" panose="020F0502020204030204" pitchFamily="34" charset="0"/>
                <a:ea typeface="Calibri" panose="020F0502020204030204" pitchFamily="34" charset="0"/>
                <a:cs typeface="Calibri" panose="020F0502020204030204" pitchFamily="34" charset="0"/>
              </a:rPr>
              <a:t> (cloud-native SIEM)</a:t>
            </a:r>
          </a:p>
          <a:p>
            <a:pPr lvl="1">
              <a:lnSpc>
                <a:spcPct val="160000"/>
              </a:lnSpc>
            </a:pPr>
            <a:r>
              <a:rPr lang="en-US" sz="4000" b="1">
                <a:latin typeface="Calibri" panose="020F0502020204030204" pitchFamily="34" charset="0"/>
                <a:ea typeface="Calibri" panose="020F0502020204030204" pitchFamily="34" charset="0"/>
                <a:cs typeface="Calibri" panose="020F0502020204030204" pitchFamily="34" charset="0"/>
              </a:rPr>
              <a:t>Elastic Security (ELK Stack)</a:t>
            </a:r>
            <a:endParaRPr lang="en-US" sz="4000">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sz="4000" b="1" err="1">
                <a:latin typeface="Calibri" panose="020F0502020204030204" pitchFamily="34" charset="0"/>
                <a:ea typeface="Calibri" panose="020F0502020204030204" pitchFamily="34" charset="0"/>
                <a:cs typeface="Calibri" panose="020F0502020204030204" pitchFamily="34" charset="0"/>
              </a:rPr>
              <a:t>Wazuh</a:t>
            </a:r>
            <a:r>
              <a:rPr lang="en-US" sz="4000" b="1">
                <a:latin typeface="Calibri" panose="020F0502020204030204" pitchFamily="34" charset="0"/>
                <a:ea typeface="Calibri" panose="020F0502020204030204" pitchFamily="34" charset="0"/>
                <a:cs typeface="Calibri" panose="020F0502020204030204" pitchFamily="34" charset="0"/>
              </a:rPr>
              <a:t> (Open-source SIEM &amp; XDR)</a:t>
            </a:r>
            <a:endParaRPr lang="en-US" sz="4000">
              <a:latin typeface="Calibri" panose="020F0502020204030204" pitchFamily="34" charset="0"/>
              <a:ea typeface="Calibri" panose="020F0502020204030204" pitchFamily="34" charset="0"/>
              <a:cs typeface="Calibri" panose="020F0502020204030204" pitchFamily="34" charset="0"/>
            </a:endParaRPr>
          </a:p>
          <a:p>
            <a:endParaRPr lang="en-US"/>
          </a:p>
          <a:p>
            <a:endParaRPr lang="en-US"/>
          </a:p>
        </p:txBody>
      </p:sp>
      <p:sp>
        <p:nvSpPr>
          <p:cNvPr id="5" name="TextBox 4">
            <a:extLst>
              <a:ext uri="{FF2B5EF4-FFF2-40B4-BE49-F238E27FC236}">
                <a16:creationId xmlns:a16="http://schemas.microsoft.com/office/drawing/2014/main" id="{DCD53354-4F03-C743-5E24-5AB5FE143126}"/>
              </a:ext>
            </a:extLst>
          </p:cNvPr>
          <p:cNvSpPr txBox="1"/>
          <p:nvPr/>
        </p:nvSpPr>
        <p:spPr>
          <a:xfrm>
            <a:off x="6919485" y="848806"/>
            <a:ext cx="5134304" cy="5160387"/>
          </a:xfrm>
          <a:prstGeom prst="rect">
            <a:avLst/>
          </a:prstGeom>
          <a:noFill/>
        </p:spPr>
        <p:txBody>
          <a:bodyPr wrap="square">
            <a:spAutoFit/>
          </a:bodyPr>
          <a:lstStyle/>
          <a:p>
            <a:pPr marL="0" marR="0">
              <a:spcAft>
                <a:spcPts val="800"/>
              </a:spcAft>
              <a:buNone/>
            </a:pPr>
            <a:r>
              <a:rPr lang="en-US" sz="1600" b="1" kern="100">
                <a:effectLst/>
                <a:latin typeface="Calibri" panose="020F0502020204030204" pitchFamily="34" charset="0"/>
                <a:ea typeface="Calibri" panose="020F0502020204030204" pitchFamily="34" charset="0"/>
                <a:cs typeface="Calibri" panose="020F0502020204030204" pitchFamily="34" charset="0"/>
              </a:rPr>
              <a:t>3. Endpoint Detection &amp; Response (EDR): </a:t>
            </a:r>
            <a:r>
              <a:rPr lang="en-US" sz="1600" kern="100">
                <a:effectLst/>
                <a:latin typeface="Calibri" panose="020F0502020204030204" pitchFamily="34" charset="0"/>
                <a:ea typeface="Calibri" panose="020F0502020204030204" pitchFamily="34" charset="0"/>
                <a:cs typeface="Calibri" panose="020F0502020204030204" pitchFamily="34" charset="0"/>
              </a:rPr>
              <a:t>Monitors endpoint activity for suspicious behavior and supports incident response.</a:t>
            </a: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CrowdStrike Falcon</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800"/>
              </a:spcAft>
              <a:buSzPts val="1000"/>
              <a:buFont typeface="Symbol" panose="05050102010706020507" pitchFamily="18" charset="2"/>
              <a:buChar char=""/>
              <a:tabLst>
                <a:tab pos="457200" algn="l"/>
              </a:tabLst>
            </a:pPr>
            <a:r>
              <a:rPr lang="en-US" sz="1600" b="1" kern="100" err="1">
                <a:effectLst/>
                <a:latin typeface="Calibri" panose="020F0502020204030204" pitchFamily="34" charset="0"/>
                <a:ea typeface="Calibri" panose="020F0502020204030204" pitchFamily="34" charset="0"/>
                <a:cs typeface="Calibri" panose="020F0502020204030204" pitchFamily="34" charset="0"/>
              </a:rPr>
              <a:t>SentinelOne</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Microsoft Defender for Endpoint</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Sophos Intercept X</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OSSEC (open-source)</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0" marR="0">
              <a:spcAft>
                <a:spcPts val="800"/>
              </a:spcAft>
              <a:buNone/>
            </a:pPr>
            <a:r>
              <a:rPr lang="en-US" sz="1600" kern="100">
                <a:effectLst/>
                <a:latin typeface="Calibri" panose="020F0502020204030204" pitchFamily="34" charset="0"/>
                <a:ea typeface="Calibri" panose="020F0502020204030204" pitchFamily="34" charset="0"/>
                <a:cs typeface="Calibri" panose="020F0502020204030204" pitchFamily="34" charset="0"/>
              </a:rPr>
              <a:t> </a:t>
            </a:r>
          </a:p>
          <a:p>
            <a:pPr marL="0" marR="0">
              <a:spcAft>
                <a:spcPts val="800"/>
              </a:spcAft>
              <a:buNone/>
            </a:pPr>
            <a:r>
              <a:rPr lang="en-US" sz="1600" b="1" kern="100">
                <a:effectLst/>
                <a:latin typeface="Calibri" panose="020F0502020204030204" pitchFamily="34" charset="0"/>
                <a:ea typeface="Calibri" panose="020F0502020204030204" pitchFamily="34" charset="0"/>
                <a:cs typeface="Calibri" panose="020F0502020204030204" pitchFamily="34" charset="0"/>
              </a:rPr>
              <a:t>🔹 4. Network Security Monitoring (NSM): </a:t>
            </a:r>
            <a:r>
              <a:rPr lang="en-US" sz="1600" kern="100">
                <a:effectLst/>
                <a:latin typeface="Calibri" panose="020F0502020204030204" pitchFamily="34" charset="0"/>
                <a:ea typeface="Calibri" panose="020F0502020204030204" pitchFamily="34" charset="0"/>
                <a:cs typeface="Calibri" panose="020F0502020204030204" pitchFamily="34" charset="0"/>
              </a:rPr>
              <a:t>Captures and analyzes network traffic for signs of compromise.</a:t>
            </a: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Zeek (formerly Bro)</a:t>
            </a:r>
            <a:endParaRPr lang="en-US" sz="1600" kern="10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Suricata</a:t>
            </a:r>
            <a:r>
              <a:rPr lang="en-US" sz="1600" kern="100">
                <a:effectLst/>
                <a:latin typeface="Calibri" panose="020F0502020204030204" pitchFamily="34" charset="0"/>
                <a:ea typeface="Calibri" panose="020F0502020204030204" pitchFamily="34" charset="0"/>
                <a:cs typeface="Calibri" panose="020F0502020204030204" pitchFamily="34" charset="0"/>
              </a:rPr>
              <a:t> (IDS/IPS engine)</a:t>
            </a: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Snort</a:t>
            </a:r>
            <a:r>
              <a:rPr lang="en-US" sz="1600" kern="100">
                <a:effectLst/>
                <a:latin typeface="Calibri" panose="020F0502020204030204" pitchFamily="34" charset="0"/>
                <a:ea typeface="Calibri" panose="020F0502020204030204" pitchFamily="34" charset="0"/>
                <a:cs typeface="Calibri" panose="020F0502020204030204" pitchFamily="34" charset="0"/>
              </a:rPr>
              <a:t> (IDS/IPS)</a:t>
            </a:r>
          </a:p>
          <a:p>
            <a:pPr marL="800100" lvl="1" indent="-342900">
              <a:spcAft>
                <a:spcPts val="800"/>
              </a:spcAft>
              <a:buSzPts val="1000"/>
              <a:buFont typeface="Symbol" panose="05050102010706020507" pitchFamily="18" charset="2"/>
              <a:buChar char=""/>
              <a:tabLst>
                <a:tab pos="457200" algn="l"/>
              </a:tabLst>
            </a:pPr>
            <a:r>
              <a:rPr lang="en-US" sz="1600" b="1" kern="100">
                <a:effectLst/>
                <a:latin typeface="Calibri" panose="020F0502020204030204" pitchFamily="34" charset="0"/>
                <a:ea typeface="Calibri" panose="020F0502020204030204" pitchFamily="34" charset="0"/>
                <a:cs typeface="Calibri" panose="020F0502020204030204" pitchFamily="34" charset="0"/>
              </a:rPr>
              <a:t>Security Onion</a:t>
            </a:r>
            <a:r>
              <a:rPr lang="en-US" sz="1600" kern="100">
                <a:effectLst/>
                <a:latin typeface="Calibri" panose="020F0502020204030204" pitchFamily="34" charset="0"/>
                <a:ea typeface="Calibri" panose="020F0502020204030204" pitchFamily="34" charset="0"/>
                <a:cs typeface="Calibri" panose="020F0502020204030204" pitchFamily="34" charset="0"/>
              </a:rPr>
              <a:t> (NSM platform with Zeek, Suricata, ELK, </a:t>
            </a:r>
            <a:r>
              <a:rPr lang="en-US" sz="1600" kern="100" err="1">
                <a:effectLst/>
                <a:latin typeface="Calibri" panose="020F0502020204030204" pitchFamily="34" charset="0"/>
                <a:ea typeface="Calibri" panose="020F0502020204030204" pitchFamily="34" charset="0"/>
                <a:cs typeface="Calibri" panose="020F0502020204030204" pitchFamily="34" charset="0"/>
              </a:rPr>
              <a:t>Wazuh</a:t>
            </a:r>
            <a:r>
              <a:rPr lang="en-US" sz="1600" kern="100">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002413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33F3-F73B-5669-2C0A-20E1F9145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99C34-5B9D-7D89-D6E7-459AC0D98127}"/>
              </a:ext>
            </a:extLst>
          </p:cNvPr>
          <p:cNvSpPr>
            <a:spLocks noGrp="1"/>
          </p:cNvSpPr>
          <p:nvPr>
            <p:ph type="title"/>
          </p:nvPr>
        </p:nvSpPr>
        <p:spPr>
          <a:xfrm>
            <a:off x="3375660" y="103418"/>
            <a:ext cx="5440680" cy="505131"/>
          </a:xfrm>
        </p:spPr>
        <p:txBody>
          <a:bodyPr>
            <a:normAutofit fontScale="90000"/>
          </a:bodyPr>
          <a:lstStyle/>
          <a:p>
            <a:r>
              <a:rPr lang="en-US"/>
              <a:t>SOC tools(Reference)</a:t>
            </a:r>
          </a:p>
        </p:txBody>
      </p:sp>
      <p:sp>
        <p:nvSpPr>
          <p:cNvPr id="3" name="Content Placeholder 2">
            <a:extLst>
              <a:ext uri="{FF2B5EF4-FFF2-40B4-BE49-F238E27FC236}">
                <a16:creationId xmlns:a16="http://schemas.microsoft.com/office/drawing/2014/main" id="{30BEC047-059E-3DA8-8FCF-37B00D7989B4}"/>
              </a:ext>
            </a:extLst>
          </p:cNvPr>
          <p:cNvSpPr>
            <a:spLocks noGrp="1"/>
          </p:cNvSpPr>
          <p:nvPr>
            <p:ph idx="1"/>
          </p:nvPr>
        </p:nvSpPr>
        <p:spPr>
          <a:xfrm>
            <a:off x="737301" y="826112"/>
            <a:ext cx="5358700" cy="5625138"/>
          </a:xfrm>
        </p:spPr>
        <p:txBody>
          <a:bodyPr>
            <a:normAutofit fontScale="70000" lnSpcReduction="20000"/>
          </a:bodyPr>
          <a:lstStyle/>
          <a:p>
            <a:pPr marL="0" indent="0">
              <a:lnSpc>
                <a:spcPct val="120000"/>
              </a:lnSpc>
              <a:buNone/>
            </a:pPr>
            <a:r>
              <a:rPr lang="en-US" b="1">
                <a:latin typeface="Calibri" panose="020F0502020204030204" pitchFamily="34" charset="0"/>
                <a:ea typeface="Calibri" panose="020F0502020204030204" pitchFamily="34" charset="0"/>
                <a:cs typeface="Calibri" panose="020F0502020204030204" pitchFamily="34" charset="0"/>
              </a:rPr>
              <a:t>5. Threat Intelligence Platforms (TIPs): </a:t>
            </a:r>
            <a:r>
              <a:rPr lang="en-US">
                <a:latin typeface="Calibri" panose="020F0502020204030204" pitchFamily="34" charset="0"/>
                <a:ea typeface="Calibri" panose="020F0502020204030204" pitchFamily="34" charset="0"/>
                <a:cs typeface="Calibri" panose="020F0502020204030204" pitchFamily="34" charset="0"/>
              </a:rPr>
              <a:t>Provide </a:t>
            </a:r>
            <a:r>
              <a:rPr lang="en-US" err="1">
                <a:latin typeface="Calibri" panose="020F0502020204030204" pitchFamily="34" charset="0"/>
                <a:ea typeface="Calibri" panose="020F0502020204030204" pitchFamily="34" charset="0"/>
                <a:cs typeface="Calibri" panose="020F0502020204030204" pitchFamily="34" charset="0"/>
              </a:rPr>
              <a:t>IoCs</a:t>
            </a:r>
            <a:r>
              <a:rPr lang="en-US">
                <a:latin typeface="Calibri" panose="020F0502020204030204" pitchFamily="34" charset="0"/>
                <a:ea typeface="Calibri" panose="020F0502020204030204" pitchFamily="34" charset="0"/>
                <a:cs typeface="Calibri" panose="020F0502020204030204" pitchFamily="34" charset="0"/>
              </a:rPr>
              <a:t> (indicators of compromise) and threat actor behavior information.</a:t>
            </a: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MISP (Malware Information Sharing Platform – open-source)</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err="1">
                <a:latin typeface="Calibri" panose="020F0502020204030204" pitchFamily="34" charset="0"/>
                <a:ea typeface="Calibri" panose="020F0502020204030204" pitchFamily="34" charset="0"/>
                <a:cs typeface="Calibri" panose="020F0502020204030204" pitchFamily="34" charset="0"/>
              </a:rPr>
              <a:t>Anomali</a:t>
            </a:r>
            <a:r>
              <a:rPr lang="en-US" b="1">
                <a:latin typeface="Calibri" panose="020F0502020204030204" pitchFamily="34" charset="0"/>
                <a:ea typeface="Calibri" panose="020F0502020204030204" pitchFamily="34" charset="0"/>
                <a:cs typeface="Calibri" panose="020F0502020204030204" pitchFamily="34" charset="0"/>
              </a:rPr>
              <a:t> </a:t>
            </a:r>
            <a:r>
              <a:rPr lang="en-US" b="1" err="1">
                <a:latin typeface="Calibri" panose="020F0502020204030204" pitchFamily="34" charset="0"/>
                <a:ea typeface="Calibri" panose="020F0502020204030204" pitchFamily="34" charset="0"/>
                <a:cs typeface="Calibri" panose="020F0502020204030204" pitchFamily="34" charset="0"/>
              </a:rPr>
              <a:t>ThreatStream</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Recorded Future</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AlienVault OTX (Open Threat Exchange)</a:t>
            </a:r>
            <a:endParaRPr lang="en-US">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buNone/>
            </a:pPr>
            <a:r>
              <a:rPr lang="en-US" b="1">
                <a:latin typeface="Calibri" panose="020F0502020204030204" pitchFamily="34" charset="0"/>
                <a:ea typeface="Calibri" panose="020F0502020204030204" pitchFamily="34" charset="0"/>
                <a:cs typeface="Calibri" panose="020F0502020204030204" pitchFamily="34" charset="0"/>
              </a:rPr>
              <a:t>6. Security Orchestration, Automation, and Response (SOAR): </a:t>
            </a:r>
            <a:r>
              <a:rPr lang="en-US">
                <a:latin typeface="Calibri" panose="020F0502020204030204" pitchFamily="34" charset="0"/>
                <a:ea typeface="Calibri" panose="020F0502020204030204" pitchFamily="34" charset="0"/>
                <a:cs typeface="Calibri" panose="020F0502020204030204" pitchFamily="34" charset="0"/>
              </a:rPr>
              <a:t>Automates repetitive SOC workflows and incident response.</a:t>
            </a: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Splunk SOAR (formerly Phantom)</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Cortex XSOAR (Palo Alto Networks)</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Swimlane</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20000"/>
              </a:lnSpc>
            </a:pPr>
            <a:r>
              <a:rPr lang="en-US" b="1">
                <a:latin typeface="Calibri" panose="020F0502020204030204" pitchFamily="34" charset="0"/>
                <a:ea typeface="Calibri" panose="020F0502020204030204" pitchFamily="34" charset="0"/>
                <a:cs typeface="Calibri" panose="020F0502020204030204" pitchFamily="34" charset="0"/>
              </a:rPr>
              <a:t>Shuffle (open-source SOAR)</a:t>
            </a:r>
            <a:endParaRPr lang="en-US">
              <a:latin typeface="Calibri" panose="020F0502020204030204" pitchFamily="34" charset="0"/>
              <a:ea typeface="Calibri" panose="020F0502020204030204" pitchFamily="34" charset="0"/>
              <a:cs typeface="Calibri" panose="020F0502020204030204" pitchFamily="34" charset="0"/>
            </a:endParaRPr>
          </a:p>
          <a:p>
            <a:endParaRPr lang="en-US"/>
          </a:p>
          <a:p>
            <a:endParaRPr lang="en-US"/>
          </a:p>
        </p:txBody>
      </p:sp>
      <p:sp>
        <p:nvSpPr>
          <p:cNvPr id="5" name="TextBox 4">
            <a:extLst>
              <a:ext uri="{FF2B5EF4-FFF2-40B4-BE49-F238E27FC236}">
                <a16:creationId xmlns:a16="http://schemas.microsoft.com/office/drawing/2014/main" id="{60FFD988-F05A-8C3E-B10A-0C64A0C9AFAA}"/>
              </a:ext>
            </a:extLst>
          </p:cNvPr>
          <p:cNvSpPr txBox="1"/>
          <p:nvPr/>
        </p:nvSpPr>
        <p:spPr>
          <a:xfrm>
            <a:off x="6333008" y="1015299"/>
            <a:ext cx="5440680" cy="3970318"/>
          </a:xfrm>
          <a:prstGeom prst="rect">
            <a:avLst/>
          </a:prstGeom>
          <a:noFill/>
        </p:spPr>
        <p:txBody>
          <a:bodyPr wrap="square">
            <a:spAutoFit/>
          </a:bodyPr>
          <a:lstStyle/>
          <a:p>
            <a:r>
              <a:rPr lang="en-US" b="1"/>
              <a:t>7. </a:t>
            </a:r>
            <a:r>
              <a:rPr lang="en-US" b="1">
                <a:latin typeface="Calibri" panose="020F0502020204030204" pitchFamily="34" charset="0"/>
                <a:ea typeface="Calibri" panose="020F0502020204030204" pitchFamily="34" charset="0"/>
                <a:cs typeface="Calibri" panose="020F0502020204030204" pitchFamily="34" charset="0"/>
              </a:rPr>
              <a:t>Vulnerability Management &amp; Scanning: </a:t>
            </a:r>
            <a:r>
              <a:rPr lang="en-US">
                <a:latin typeface="Calibri" panose="020F0502020204030204" pitchFamily="34" charset="0"/>
                <a:ea typeface="Calibri" panose="020F0502020204030204" pitchFamily="34" charset="0"/>
                <a:cs typeface="Calibri" panose="020F0502020204030204" pitchFamily="34" charset="0"/>
              </a:rPr>
              <a:t>Identify weaknesses in endpoints, applications, and networks.</a:t>
            </a: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Nessus</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Qualys VMDR</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OpenVAS (open-source)</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Rapid7 </a:t>
            </a:r>
            <a:r>
              <a:rPr lang="en-US" b="1" err="1">
                <a:latin typeface="Calibri" panose="020F0502020204030204" pitchFamily="34" charset="0"/>
                <a:ea typeface="Calibri" panose="020F0502020204030204" pitchFamily="34" charset="0"/>
                <a:cs typeface="Calibri" panose="020F0502020204030204" pitchFamily="34" charset="0"/>
              </a:rPr>
              <a:t>InsightVM</a:t>
            </a:r>
            <a:endParaRPr lang="en-US">
              <a:latin typeface="Calibri" panose="020F0502020204030204" pitchFamily="34" charset="0"/>
              <a:ea typeface="Calibri" panose="020F0502020204030204" pitchFamily="34" charset="0"/>
              <a:cs typeface="Calibri" panose="020F0502020204030204" pitchFamily="34" charset="0"/>
            </a:endParaRPr>
          </a:p>
          <a:p>
            <a:br>
              <a:rPr lang="en-US">
                <a:latin typeface="Calibri" panose="020F0502020204030204" pitchFamily="34" charset="0"/>
                <a:ea typeface="Calibri" panose="020F0502020204030204" pitchFamily="34" charset="0"/>
                <a:cs typeface="Calibri" panose="020F0502020204030204" pitchFamily="34" charset="0"/>
              </a:rPr>
            </a:br>
            <a:endParaRPr lang="en-US">
              <a:latin typeface="Calibri" panose="020F0502020204030204" pitchFamily="34" charset="0"/>
              <a:ea typeface="Calibri" panose="020F0502020204030204" pitchFamily="34" charset="0"/>
              <a:cs typeface="Calibri" panose="020F0502020204030204" pitchFamily="34" charset="0"/>
            </a:endParaRPr>
          </a:p>
          <a:p>
            <a:r>
              <a:rPr lang="en-US" b="1">
                <a:latin typeface="Calibri" panose="020F0502020204030204" pitchFamily="34" charset="0"/>
                <a:ea typeface="Calibri" panose="020F0502020204030204" pitchFamily="34" charset="0"/>
                <a:cs typeface="Calibri" panose="020F0502020204030204" pitchFamily="34" charset="0"/>
              </a:rPr>
              <a:t>8. Incident Response &amp; Forensics Tools: </a:t>
            </a:r>
            <a:r>
              <a:rPr lang="en-US">
                <a:latin typeface="Calibri" panose="020F0502020204030204" pitchFamily="34" charset="0"/>
                <a:ea typeface="Calibri" panose="020F0502020204030204" pitchFamily="34" charset="0"/>
                <a:cs typeface="Calibri" panose="020F0502020204030204" pitchFamily="34" charset="0"/>
              </a:rPr>
              <a:t>Used to investigate and remediate security incidents.</a:t>
            </a: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FTK (Forensic Toolkit)</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Autopsy / Sleuth Kit</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Volatility (memory forensics)</a:t>
            </a: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Velociraptor (endpoint forensics &amp; IR)</a:t>
            </a: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9588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DB73A-5444-C4FA-9CD4-B3BA32BDC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9A3AE-5376-5237-27AA-2AD143EFA799}"/>
              </a:ext>
            </a:extLst>
          </p:cNvPr>
          <p:cNvSpPr>
            <a:spLocks noGrp="1"/>
          </p:cNvSpPr>
          <p:nvPr>
            <p:ph type="title"/>
          </p:nvPr>
        </p:nvSpPr>
        <p:spPr>
          <a:xfrm>
            <a:off x="3375660" y="103418"/>
            <a:ext cx="5440680" cy="505131"/>
          </a:xfrm>
        </p:spPr>
        <p:txBody>
          <a:bodyPr>
            <a:normAutofit fontScale="90000"/>
          </a:bodyPr>
          <a:lstStyle/>
          <a:p>
            <a:r>
              <a:rPr lang="en-US"/>
              <a:t>SOC tools(Reference)</a:t>
            </a:r>
          </a:p>
        </p:txBody>
      </p:sp>
      <p:sp>
        <p:nvSpPr>
          <p:cNvPr id="3" name="Content Placeholder 2">
            <a:extLst>
              <a:ext uri="{FF2B5EF4-FFF2-40B4-BE49-F238E27FC236}">
                <a16:creationId xmlns:a16="http://schemas.microsoft.com/office/drawing/2014/main" id="{9AA969E6-AEB8-79B0-30B6-6C617CA242EC}"/>
              </a:ext>
            </a:extLst>
          </p:cNvPr>
          <p:cNvSpPr>
            <a:spLocks noGrp="1"/>
          </p:cNvSpPr>
          <p:nvPr>
            <p:ph idx="1"/>
          </p:nvPr>
        </p:nvSpPr>
        <p:spPr>
          <a:xfrm>
            <a:off x="737301" y="1008993"/>
            <a:ext cx="11244492" cy="5442257"/>
          </a:xfrm>
        </p:spPr>
        <p:txBody>
          <a:bodyPr>
            <a:normAutofit fontScale="77500" lnSpcReduction="20000"/>
          </a:bodyPr>
          <a:lstStyle/>
          <a:p>
            <a:pPr marL="0" indent="0">
              <a:lnSpc>
                <a:spcPct val="160000"/>
              </a:lnSpc>
              <a:buNone/>
            </a:pPr>
            <a:r>
              <a:rPr lang="en-US" b="1">
                <a:latin typeface="Calibri" panose="020F0502020204030204" pitchFamily="34" charset="0"/>
                <a:ea typeface="Calibri" panose="020F0502020204030204" pitchFamily="34" charset="0"/>
                <a:cs typeface="Calibri" panose="020F0502020204030204" pitchFamily="34" charset="0"/>
              </a:rPr>
              <a:t>9. Case Management &amp; Ticketing: </a:t>
            </a:r>
            <a:r>
              <a:rPr lang="en-US">
                <a:latin typeface="Calibri" panose="020F0502020204030204" pitchFamily="34" charset="0"/>
                <a:ea typeface="Calibri" panose="020F0502020204030204" pitchFamily="34" charset="0"/>
                <a:cs typeface="Calibri" panose="020F0502020204030204" pitchFamily="34" charset="0"/>
              </a:rPr>
              <a:t>SOC analysts need workflow tools for triage and escalation.</a:t>
            </a:r>
          </a:p>
          <a:p>
            <a:pPr lvl="1">
              <a:lnSpc>
                <a:spcPct val="160000"/>
              </a:lnSpc>
            </a:pPr>
            <a:r>
              <a:rPr lang="en-US" b="1">
                <a:latin typeface="Calibri" panose="020F0502020204030204" pitchFamily="34" charset="0"/>
                <a:ea typeface="Calibri" panose="020F0502020204030204" pitchFamily="34" charset="0"/>
                <a:cs typeface="Calibri" panose="020F0502020204030204" pitchFamily="34" charset="0"/>
              </a:rPr>
              <a:t>ServiceNow Security Operations</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b="1">
                <a:latin typeface="Calibri" panose="020F0502020204030204" pitchFamily="34" charset="0"/>
                <a:ea typeface="Calibri" panose="020F0502020204030204" pitchFamily="34" charset="0"/>
                <a:cs typeface="Calibri" panose="020F0502020204030204" pitchFamily="34" charset="0"/>
              </a:rPr>
              <a:t>Jira (with security plugins)</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b="1" err="1">
                <a:latin typeface="Calibri" panose="020F0502020204030204" pitchFamily="34" charset="0"/>
                <a:ea typeface="Calibri" panose="020F0502020204030204" pitchFamily="34" charset="0"/>
                <a:cs typeface="Calibri" panose="020F0502020204030204" pitchFamily="34" charset="0"/>
              </a:rPr>
              <a:t>TheHive</a:t>
            </a:r>
            <a:r>
              <a:rPr lang="en-US" b="1">
                <a:latin typeface="Calibri" panose="020F0502020204030204" pitchFamily="34" charset="0"/>
                <a:ea typeface="Calibri" panose="020F0502020204030204" pitchFamily="34" charset="0"/>
                <a:cs typeface="Calibri" panose="020F0502020204030204" pitchFamily="34" charset="0"/>
              </a:rPr>
              <a:t> Project (open-source)</a:t>
            </a:r>
            <a:endParaRPr lang="en-US">
              <a:latin typeface="Calibri" panose="020F0502020204030204" pitchFamily="34" charset="0"/>
              <a:ea typeface="Calibri" panose="020F0502020204030204" pitchFamily="34" charset="0"/>
              <a:cs typeface="Calibri" panose="020F0502020204030204" pitchFamily="34" charset="0"/>
            </a:endParaRPr>
          </a:p>
          <a:p>
            <a:pPr marL="0" indent="0">
              <a:lnSpc>
                <a:spcPct val="160000"/>
              </a:lnSpc>
              <a:buNone/>
            </a:pPr>
            <a:br>
              <a:rPr lang="en-US">
                <a:latin typeface="Calibri" panose="020F0502020204030204" pitchFamily="34" charset="0"/>
                <a:ea typeface="Calibri" panose="020F0502020204030204" pitchFamily="34" charset="0"/>
                <a:cs typeface="Calibri" panose="020F0502020204030204" pitchFamily="34" charset="0"/>
              </a:rPr>
            </a:br>
            <a:r>
              <a:rPr lang="en-US" b="1">
                <a:latin typeface="Calibri" panose="020F0502020204030204" pitchFamily="34" charset="0"/>
                <a:ea typeface="Calibri" panose="020F0502020204030204" pitchFamily="34" charset="0"/>
                <a:cs typeface="Calibri" panose="020F0502020204030204" pitchFamily="34" charset="0"/>
              </a:rPr>
              <a:t>10. User and Entity Behavior Analytics (UEBA): </a:t>
            </a:r>
            <a:r>
              <a:rPr lang="en-US">
                <a:latin typeface="Calibri" panose="020F0502020204030204" pitchFamily="34" charset="0"/>
                <a:ea typeface="Calibri" panose="020F0502020204030204" pitchFamily="34" charset="0"/>
                <a:cs typeface="Calibri" panose="020F0502020204030204" pitchFamily="34" charset="0"/>
              </a:rPr>
              <a:t>Detects insider threats and compromised accounts by analyzing behavioral baselines.</a:t>
            </a:r>
          </a:p>
          <a:p>
            <a:pPr lvl="1">
              <a:lnSpc>
                <a:spcPct val="160000"/>
              </a:lnSpc>
            </a:pPr>
            <a:r>
              <a:rPr lang="en-US" b="1" err="1">
                <a:latin typeface="Calibri" panose="020F0502020204030204" pitchFamily="34" charset="0"/>
                <a:ea typeface="Calibri" panose="020F0502020204030204" pitchFamily="34" charset="0"/>
                <a:cs typeface="Calibri" panose="020F0502020204030204" pitchFamily="34" charset="0"/>
              </a:rPr>
              <a:t>Exabeam</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b="1">
                <a:latin typeface="Calibri" panose="020F0502020204030204" pitchFamily="34" charset="0"/>
                <a:ea typeface="Calibri" panose="020F0502020204030204" pitchFamily="34" charset="0"/>
                <a:cs typeface="Calibri" panose="020F0502020204030204" pitchFamily="34" charset="0"/>
              </a:rPr>
              <a:t>Splunk UEBA</a:t>
            </a:r>
            <a:endParaRPr lang="en-US">
              <a:latin typeface="Calibri" panose="020F0502020204030204" pitchFamily="34" charset="0"/>
              <a:ea typeface="Calibri" panose="020F0502020204030204" pitchFamily="34" charset="0"/>
              <a:cs typeface="Calibri" panose="020F0502020204030204" pitchFamily="34" charset="0"/>
            </a:endParaRPr>
          </a:p>
          <a:p>
            <a:pPr lvl="1">
              <a:lnSpc>
                <a:spcPct val="160000"/>
              </a:lnSpc>
            </a:pPr>
            <a:r>
              <a:rPr lang="en-US" b="1">
                <a:latin typeface="Calibri" panose="020F0502020204030204" pitchFamily="34" charset="0"/>
                <a:ea typeface="Calibri" panose="020F0502020204030204" pitchFamily="34" charset="0"/>
                <a:cs typeface="Calibri" panose="020F0502020204030204" pitchFamily="34" charset="0"/>
              </a:rPr>
              <a:t>Microsoft Sentinel UEBA</a:t>
            </a:r>
            <a:endParaRPr lang="en-US">
              <a:latin typeface="Calibri" panose="020F0502020204030204" pitchFamily="34" charset="0"/>
              <a:ea typeface="Calibri" panose="020F0502020204030204" pitchFamily="34" charset="0"/>
              <a:cs typeface="Calibri" panose="020F0502020204030204" pitchFamily="34" charset="0"/>
            </a:endParaRPr>
          </a:p>
          <a:p>
            <a:endParaRPr lang="en-US"/>
          </a:p>
          <a:p>
            <a:endParaRPr lang="en-US"/>
          </a:p>
        </p:txBody>
      </p:sp>
    </p:spTree>
    <p:extLst>
      <p:ext uri="{BB962C8B-B14F-4D97-AF65-F5344CB8AC3E}">
        <p14:creationId xmlns:p14="http://schemas.microsoft.com/office/powerpoint/2010/main" val="2269995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736"/>
            <a:ext cx="3695963" cy="893894"/>
          </a:xfrm>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REFERENCES</a:t>
            </a:r>
          </a:p>
        </p:txBody>
      </p:sp>
      <p:sp>
        <p:nvSpPr>
          <p:cNvPr id="4" name="Rectangle 1"/>
          <p:cNvSpPr>
            <a:spLocks noGrp="1" noChangeArrowheads="1"/>
          </p:cNvSpPr>
          <p:nvPr>
            <p:ph idx="1"/>
          </p:nvPr>
        </p:nvSpPr>
        <p:spPr bwMode="auto">
          <a:xfrm>
            <a:off x="456683" y="1570607"/>
            <a:ext cx="8308945"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Jarpey, G., &amp; McCoy, R. S. (Year). </a:t>
            </a: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Security Operations Center Guidebook: A Practical Guide for a Successful SOC</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(Chapters 3 &amp; 4). Publisher.</a:t>
            </a:r>
          </a:p>
          <a:p>
            <a:pPr marL="342900" lvl="0" indent="-342900" eaLnBrk="0" fontAlgn="base" hangingPunct="0">
              <a:lnSpc>
                <a:spcPct val="150000"/>
              </a:lnSpc>
              <a:spcBef>
                <a:spcPct val="0"/>
              </a:spcBef>
              <a:spcAft>
                <a:spcPct val="0"/>
              </a:spcAft>
              <a:buFont typeface="+mj-lt"/>
              <a:buAutoNum type="arabicPeriod"/>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ClearNetwork, Inc. SOC analysts: How they identify and respond to security incidents. Retrieved </a:t>
            </a:r>
            <a:r>
              <a:rPr lang="en-US" altLang="en-US" sz="1800">
                <a:latin typeface="Times New Roman" panose="02020603050405020304" pitchFamily="18" charset="0"/>
                <a:cs typeface="Times New Roman" panose="02020603050405020304" pitchFamily="18" charset="0"/>
              </a:rPr>
              <a:t>from [https://www.clearnetwork.com/]</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lnSpc>
                <a:spcPct val="150000"/>
              </a:lnSpc>
              <a:spcBef>
                <a:spcPct val="0"/>
              </a:spcBef>
              <a:spcAft>
                <a:spcPct val="0"/>
              </a:spcAft>
              <a:buFont typeface="+mj-lt"/>
              <a:buAutoNum type="arabicPeriod"/>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DarktraceReimagining your SOC: Overcoming alert fatigue with AI-led investigations. </a:t>
            </a: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Darktrace Blog</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Retrieved </a:t>
            </a:r>
            <a:r>
              <a:rPr lang="en-US" altLang="en-US" sz="1800">
                <a:latin typeface="Times New Roman" panose="02020603050405020304" pitchFamily="18" charset="0"/>
                <a:cs typeface="Times New Roman" panose="02020603050405020304" pitchFamily="18" charset="0"/>
              </a:rPr>
              <a:t>from [https://darktrace.com/]</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lnSpc>
                <a:spcPct val="150000"/>
              </a:lnSpc>
              <a:spcBef>
                <a:spcPct val="0"/>
              </a:spcBef>
              <a:spcAft>
                <a:spcPct val="0"/>
              </a:spcAft>
              <a:buFont typeface="+mj-lt"/>
              <a:buAutoNum type="arabicPeriod"/>
            </a:pPr>
            <a:r>
              <a:rPr lang="en-US" altLang="en-US" sz="1800">
                <a:latin typeface="Times New Roman" panose="02020603050405020304" pitchFamily="18" charset="0"/>
                <a:cs typeface="Times New Roman" panose="02020603050405020304" pitchFamily="18" charset="0"/>
              </a:rPr>
              <a:t>[MindPoint Group’s]. What types of logs or data can be sent to a SOC? Retrieved from [https://www.mindpointgroup.com/]</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lnSpc>
                <a:spcPct val="150000"/>
              </a:lnSpc>
              <a:spcBef>
                <a:spcPct val="0"/>
              </a:spcBef>
              <a:spcAft>
                <a:spcPct val="0"/>
              </a:spcAft>
              <a:buFont typeface="+mj-lt"/>
              <a:buAutoNum type="arabicPeriod"/>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Microsoft. What are indicators of compromise (IoC)? </a:t>
            </a:r>
            <a:r>
              <a:rPr kumimoji="0" lang="en-US" altLang="en-US" sz="18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Microsoft Security</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Retrieved </a:t>
            </a:r>
            <a:r>
              <a:rPr lang="en-US" altLang="en-US" sz="1800">
                <a:latin typeface="Times New Roman" panose="02020603050405020304" pitchFamily="18" charset="0"/>
                <a:cs typeface="Times New Roman" panose="02020603050405020304" pitchFamily="18" charset="0"/>
              </a:rPr>
              <a:t>from [https://learn.microsoft.com/]</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EFD94D-6C4C-C315-A9CB-3DEAFF6E7591}"/>
              </a:ext>
            </a:extLst>
          </p:cNvPr>
          <p:cNvPicPr>
            <a:picLocks noChangeAspect="1"/>
          </p:cNvPicPr>
          <p:nvPr/>
        </p:nvPicPr>
        <p:blipFill>
          <a:blip r:embed="rId2"/>
          <a:stretch>
            <a:fillRect/>
          </a:stretch>
        </p:blipFill>
        <p:spPr>
          <a:xfrm>
            <a:off x="9239534" y="477691"/>
            <a:ext cx="2436572" cy="2684358"/>
          </a:xfrm>
          <a:prstGeom prst="rect">
            <a:avLst/>
          </a:prstGeom>
          <a:noFill/>
        </p:spPr>
      </p:pic>
      <p:sp>
        <p:nvSpPr>
          <p:cNvPr id="6" name="TextBox 5">
            <a:extLst>
              <a:ext uri="{FF2B5EF4-FFF2-40B4-BE49-F238E27FC236}">
                <a16:creationId xmlns:a16="http://schemas.microsoft.com/office/drawing/2014/main" id="{3D8E589C-501C-E3E0-30F2-21A14A79DFC4}"/>
              </a:ext>
            </a:extLst>
          </p:cNvPr>
          <p:cNvSpPr txBox="1"/>
          <p:nvPr/>
        </p:nvSpPr>
        <p:spPr>
          <a:xfrm>
            <a:off x="8875505" y="3860448"/>
            <a:ext cx="3257638" cy="2031325"/>
          </a:xfrm>
          <a:prstGeom prst="rect">
            <a:avLst/>
          </a:prstGeom>
          <a:noFill/>
        </p:spPr>
        <p:txBody>
          <a:bodyPr wrap="square">
            <a:spAutoFit/>
          </a:bodyPr>
          <a:lstStyle/>
          <a:p>
            <a:pPr marL="0" indent="0">
              <a:buNone/>
            </a:pPr>
            <a:r>
              <a:rPr lang="en-US" b="1"/>
              <a:t>Security Operations Center Guidebook</a:t>
            </a:r>
          </a:p>
          <a:p>
            <a:pPr marL="0" indent="0">
              <a:buNone/>
            </a:pPr>
            <a:r>
              <a:rPr lang="en-US" b="0" i="0" u="none" strike="noStrike" baseline="0"/>
              <a:t>A Practical Guide for a Successful SOC</a:t>
            </a:r>
            <a:endParaRPr lang="en-US" b="1" i="1"/>
          </a:p>
          <a:p>
            <a:pPr marL="0" indent="0">
              <a:buNone/>
            </a:pPr>
            <a:r>
              <a:rPr lang="en-US"/>
              <a:t>Gregory </a:t>
            </a:r>
            <a:r>
              <a:rPr lang="en-US" err="1"/>
              <a:t>Jarpey</a:t>
            </a:r>
            <a:r>
              <a:rPr lang="en-US"/>
              <a:t> and R. Scott McCoy</a:t>
            </a:r>
          </a:p>
          <a:p>
            <a:pPr marL="0" indent="0">
              <a:buNone/>
            </a:pPr>
            <a:r>
              <a:rPr lang="en-US"/>
              <a:t>Chapter 3 and 4</a:t>
            </a:r>
          </a:p>
        </p:txBody>
      </p:sp>
    </p:spTree>
    <p:extLst>
      <p:ext uri="{BB962C8B-B14F-4D97-AF65-F5344CB8AC3E}">
        <p14:creationId xmlns:p14="http://schemas.microsoft.com/office/powerpoint/2010/main" val="2734561724"/>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77B718-A8D8-4B65-80A4-97227546ACDD}">
  <ds:schemaRefs/>
</ds:datastoreItem>
</file>

<file path=customXml/itemProps2.xml><?xml version="1.0" encoding="utf-8"?>
<ds:datastoreItem xmlns:ds="http://schemas.openxmlformats.org/officeDocument/2006/customXml" ds:itemID="{7B428985-1585-4530-B00D-29071E8FC4B1}">
  <ds:schemaRefs/>
</ds:datastoreItem>
</file>

<file path=customXml/itemProps3.xml><?xml version="1.0" encoding="utf-8"?>
<ds:datastoreItem xmlns:ds="http://schemas.openxmlformats.org/officeDocument/2006/customXml" ds:itemID="{70A3DFB1-7AAD-426D-962A-E18FAD0D18D4}"/>
</file>

<file path=docProps/app.xml><?xml version="1.0" encoding="utf-8"?>
<Properties xmlns="http://schemas.openxmlformats.org/officeDocument/2006/extended-properties" xmlns:vt="http://schemas.openxmlformats.org/officeDocument/2006/docPropsVTypes">
  <Template>Primary Colors-UTAS</Template>
  <Application>Microsoft Office PowerPoint</Application>
  <PresentationFormat>Widescreen</PresentationFormat>
  <Slides>30</Slides>
  <Notes>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Lecture 3:</vt:lpstr>
      <vt:lpstr>Objectives</vt:lpstr>
      <vt:lpstr>Introduction</vt:lpstr>
      <vt:lpstr>Log and event collection Sources and Format</vt:lpstr>
      <vt:lpstr>Log and Event Collection </vt:lpstr>
      <vt:lpstr>Log and Event Correlation </vt:lpstr>
      <vt:lpstr>Log and Event Analysis </vt:lpstr>
      <vt:lpstr>Security Information and Event Management (SIEM) Systems</vt:lpstr>
      <vt:lpstr>What is SIEM?</vt:lpstr>
      <vt:lpstr>Key Components of SIEM</vt:lpstr>
      <vt:lpstr>Benefits of SIEM</vt:lpstr>
      <vt:lpstr>An overview of common SOC tools &amp; Technologies</vt:lpstr>
      <vt:lpstr>An overview of common SOC tools &amp; Technologies</vt:lpstr>
      <vt:lpstr>An overview of common SOC tools &amp; Technologies</vt:lpstr>
      <vt:lpstr>Indicators of Compromise (IoC) and Tactics, Techniques, and Procedures (TTPs)</vt:lpstr>
      <vt:lpstr>Indicators of Compromise (IoC)</vt:lpstr>
      <vt:lpstr>Tactics, Techniques, and Procedures (TTPs)</vt:lpstr>
      <vt:lpstr>Example of IoC and TTPs:</vt:lpstr>
      <vt:lpstr>Real-time monitoring and anomaly detection</vt:lpstr>
      <vt:lpstr>Real-Time Monitoring</vt:lpstr>
      <vt:lpstr>Anomaly Detection</vt:lpstr>
      <vt:lpstr>Key Anomalies to Detect in Cybersecurity</vt:lpstr>
      <vt:lpstr>Benefits</vt:lpstr>
      <vt:lpstr>Tools for Real-Time Monitoring &amp; Anomaly Detection</vt:lpstr>
      <vt:lpstr>Summary of  Real-Time Monitoring &amp; Anomaly Detection</vt:lpstr>
      <vt:lpstr>Activities</vt:lpstr>
      <vt:lpstr>SOC tools(Reference)</vt:lpstr>
      <vt:lpstr>SOC tools(Reference)</vt:lpstr>
      <vt:lpstr>SOC tools(Reference)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revision>3</cp:revision>
  <dcterms:created xsi:type="dcterms:W3CDTF">2024-01-08T13:56:00Z</dcterms:created>
  <dcterms:modified xsi:type="dcterms:W3CDTF">2025-10-19T09:45:59Z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2024-02-26T14:20:38Z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57215cc4-e20a-4beb-9d0e-798567d1f2cc</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MediaServiceImageTags">
    <vt:lpwstr/>
  </property>
  <property fmtid="{D5CDD505-2E9C-101B-9397-08002B2CF9AE}" pid="11" name="ICV">
    <vt:lpwstr>07C27EBF774F477AB79C02AABF7C7CB3_13</vt:lpwstr>
  </property>
  <property fmtid="{D5CDD505-2E9C-101B-9397-08002B2CF9AE}" pid="12" name="KSOProductBuildVer">
    <vt:lpwstr>1033-12.2.0.22549</vt:lpwstr>
  </property>
</Properties>
</file>