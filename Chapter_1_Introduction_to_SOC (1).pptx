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6" r:id="rId5"/>
  </p:sldMasterIdLst>
  <p:sldIdLst>
    <p:sldId id="256" r:id="rId6"/>
    <p:sldId id="257" r:id="rId7"/>
    <p:sldId id="261" r:id="rId8"/>
    <p:sldId id="341" r:id="rId9"/>
    <p:sldId id="281" r:id="rId10"/>
    <p:sldId id="342" r:id="rId11"/>
    <p:sldId id="343" r:id="rId12"/>
    <p:sldId id="334" r:id="rId13"/>
    <p:sldId id="345" r:id="rId14"/>
    <p:sldId id="346" r:id="rId15"/>
    <p:sldId id="328" r:id="rId16"/>
    <p:sldId id="262" r:id="rId17"/>
    <p:sldId id="263" r:id="rId18"/>
    <p:sldId id="344" r:id="rId19"/>
    <p:sldId id="348" r:id="rId20"/>
    <p:sldId id="349" r:id="rId21"/>
    <p:sldId id="350" r:id="rId22"/>
    <p:sldId id="351" r:id="rId23"/>
    <p:sldId id="352" r:id="rId24"/>
    <p:sldId id="327" r:id="rId25"/>
    <p:sldId id="325" r:id="rId26"/>
    <p:sldId id="347" r:id="rId27"/>
    <p:sldId id="330" r:id="rId28"/>
    <p:sldId id="331" r:id="rId29"/>
    <p:sldId id="332" r:id="rId30"/>
    <p:sldId id="353" r:id="rId31"/>
    <p:sldId id="354" r:id="rId32"/>
    <p:sldId id="355" r:id="rId33"/>
    <p:sldId id="287" r:id="rId34"/>
    <p:sldId id="286" r:id="rId35"/>
    <p:sldId id="361" r:id="rId36"/>
    <p:sldId id="357" r:id="rId37"/>
    <p:sldId id="358" r:id="rId38"/>
    <p:sldId id="360" r:id="rId39"/>
    <p:sldId id="362" r:id="rId40"/>
    <p:sldId id="336" r:id="rId41"/>
    <p:sldId id="338" r:id="rId42"/>
    <p:sldId id="339" r:id="rId43"/>
    <p:sldId id="340" r:id="rId44"/>
    <p:sldId id="337" r:id="rId45"/>
    <p:sldId id="335" r:id="rId46"/>
  </p:sldIdLst>
  <p:sldSz cx="12192000" cy="6858000"/>
  <p:notesSz cx="9296400" cy="688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9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39" dt="2026-09-19T10:03:54.489"/>
    <p1510:client id="{3F392822-260C-5E84-5D12-41BA90D9800A}" v="15" dt="2026-09-19T08:52:26.599"/>
    <p1510:client id="{403B14EC-398F-93FA-186F-D6A436FF4F8C}" v="1121" dt="2026-09-19T09:49:33.581"/>
    <p1510:client id="{44ECA3AB-9EB6-55D6-2793-FF0DF27BA29D}" v="8" dt="2026-09-21T07:21:24.8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wa Said Salim Al Shanfari" userId="S::arwa.alshanfari@utas.edu.om::9c079c79-4ee4-4f20-bc65-49ce63929ea8" providerId="AD" clId="Web-{44ECA3AB-9EB6-55D6-2793-FF0DF27BA29D}"/>
    <pc:docChg chg="addSld delSld">
      <pc:chgData name="Arwa Said Salim Al Shanfari" userId="S::arwa.alshanfari@utas.edu.om::9c079c79-4ee4-4f20-bc65-49ce63929ea8" providerId="AD" clId="Web-{44ECA3AB-9EB6-55D6-2793-FF0DF27BA29D}" dt="2026-09-21T07:21:24.846" v="2"/>
      <pc:docMkLst>
        <pc:docMk/>
      </pc:docMkLst>
      <pc:sldChg chg="add del">
        <pc:chgData name="Arwa Said Salim Al Shanfari" userId="S::arwa.alshanfari@utas.edu.om::9c079c79-4ee4-4f20-bc65-49ce63929ea8" providerId="AD" clId="Web-{44ECA3AB-9EB6-55D6-2793-FF0DF27BA29D}" dt="2026-09-21T07:21:24.846" v="2"/>
        <pc:sldMkLst>
          <pc:docMk/>
          <pc:sldMk cId="2358448406" sldId="326"/>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766-3367-E7D6-00EF-A53508A3A12A}"/>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67FF1BC-220C-D827-CD59-950320E5C2E8}"/>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375687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857F2E-339D-E6C5-BCBC-2B077CAE8311}"/>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a:extLst>
              <a:ext uri="{FF2B5EF4-FFF2-40B4-BE49-F238E27FC236}">
                <a16:creationId xmlns:a16="http://schemas.microsoft.com/office/drawing/2014/main" id="{29156AB4-EC91-B384-E7B4-E95B4CBC35C4}"/>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275191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7C730-2526-2436-83B9-31B1FB54BD06}"/>
              </a:ext>
            </a:extLst>
          </p:cNvPr>
          <p:cNvSpPr>
            <a:spLocks noGrp="1"/>
          </p:cNvSpPr>
          <p:nvPr>
            <p:ph type="title"/>
          </p:nvPr>
        </p:nvSpPr>
        <p:spPr/>
        <p:txBody>
          <a:bodyPr/>
          <a:lstStyle>
            <a:lvl1pPr>
              <a:defRPr>
                <a:latin typeface="DIN Next LT Arabic" panose="020B0503020203050203" pitchFamily="34" charset="-78"/>
                <a:cs typeface="DIN Next LT Arabic" panose="020B0503020203050203" pitchFamily="34" charset="-78"/>
              </a:defRPr>
            </a:lvl1pPr>
          </a:lstStyle>
          <a:p>
            <a:r>
              <a:rPr lang="en-US"/>
              <a:t>Click to edit Master title style</a:t>
            </a:r>
          </a:p>
        </p:txBody>
      </p:sp>
      <p:sp>
        <p:nvSpPr>
          <p:cNvPr id="3" name="Content Placeholder 2">
            <a:extLst>
              <a:ext uri="{FF2B5EF4-FFF2-40B4-BE49-F238E27FC236}">
                <a16:creationId xmlns:a16="http://schemas.microsoft.com/office/drawing/2014/main" id="{FF0D509B-F558-8250-026B-44BDE5F1FDD9}"/>
              </a:ext>
            </a:extLst>
          </p:cNvPr>
          <p:cNvSpPr>
            <a:spLocks noGrp="1"/>
          </p:cNvSpPr>
          <p:nvPr>
            <p:ph idx="1"/>
          </p:nvPr>
        </p:nvSpPr>
        <p:spPr/>
        <p:txBody>
          <a:bodyPr/>
          <a:lstStyle>
            <a:lvl1pPr>
              <a:defRPr>
                <a:latin typeface="DIN Next LT Arabic" panose="020B0503020203050203" pitchFamily="34" charset="-78"/>
                <a:cs typeface="DIN Next LT Arabic" panose="020B0503020203050203" pitchFamily="34" charset="-78"/>
              </a:defRPr>
            </a:lvl1pPr>
            <a:lvl2pPr>
              <a:defRPr>
                <a:latin typeface="DIN Next LT Arabic" panose="020B0503020203050203" pitchFamily="34" charset="-78"/>
                <a:cs typeface="DIN Next LT Arabic" panose="020B0503020203050203" pitchFamily="34" charset="-78"/>
              </a:defRPr>
            </a:lvl2pPr>
            <a:lvl3pPr>
              <a:defRPr>
                <a:latin typeface="DIN Next LT Arabic" panose="020B0503020203050203" pitchFamily="34" charset="-78"/>
                <a:cs typeface="DIN Next LT Arabic" panose="020B0503020203050203" pitchFamily="34" charset="-78"/>
              </a:defRPr>
            </a:lvl3pPr>
            <a:lvl4pPr>
              <a:defRPr>
                <a:latin typeface="DIN Next LT Arabic" panose="020B0503020203050203" pitchFamily="34" charset="-78"/>
                <a:cs typeface="DIN Next LT Arabic" panose="020B0503020203050203" pitchFamily="34" charset="-78"/>
              </a:defRPr>
            </a:lvl4pPr>
            <a:lvl5pPr>
              <a:defRPr>
                <a:latin typeface="DIN Next LT Arabic" panose="020B0503020203050203" pitchFamily="34" charset="-78"/>
                <a:cs typeface="DIN Next LT Arabic" panose="020B0503020203050203" pitchFamily="34" charset="-7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3FAB82C7-3A7F-3400-8C0C-C6807996BD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7537" y="815975"/>
            <a:ext cx="219075" cy="365125"/>
          </a:xfrm>
          <a:prstGeom prst="rect">
            <a:avLst/>
          </a:prstGeom>
        </p:spPr>
      </p:pic>
      <p:pic>
        <p:nvPicPr>
          <p:cNvPr id="8" name="Picture 7">
            <a:extLst>
              <a:ext uri="{FF2B5EF4-FFF2-40B4-BE49-F238E27FC236}">
                <a16:creationId xmlns:a16="http://schemas.microsoft.com/office/drawing/2014/main" id="{BBAF4668-7EA5-DF62-F5E8-E553632575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66917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64336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87501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0038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70739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86BD-C77C-2D23-CF7B-C8D2E30F0B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076FD6-BC76-C316-FEC2-1B2CAD115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4B0F8-D10E-C846-C7C8-F2B35F2178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2EB146C-E069-79DF-03A0-3EF507DB1F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7537" y="854075"/>
            <a:ext cx="219075" cy="365125"/>
          </a:xfrm>
          <a:prstGeom prst="rect">
            <a:avLst/>
          </a:prstGeom>
        </p:spPr>
      </p:pic>
      <p:pic>
        <p:nvPicPr>
          <p:cNvPr id="10" name="Picture 9">
            <a:extLst>
              <a:ext uri="{FF2B5EF4-FFF2-40B4-BE49-F238E27FC236}">
                <a16:creationId xmlns:a16="http://schemas.microsoft.com/office/drawing/2014/main" id="{D0D7F560-006E-C92C-CAE6-655946296A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4288450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CDCB-0722-1FF7-967A-4C2B8AA78748}"/>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9240F6-D089-115A-F484-55B95FE6EB86}"/>
              </a:ext>
            </a:extLst>
          </p:cNvPr>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62AEC2-681B-D1B2-EB84-84968D66C9AE}"/>
              </a:ext>
            </a:extLst>
          </p:cNvPr>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EC8B4E-4F3D-8952-2B49-981561BBF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0FCC89-9EDF-D5CF-08A1-5E55519C00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287A60A5-2807-0E92-F4E2-9BE5550A1F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7537" y="835025"/>
            <a:ext cx="219075" cy="365125"/>
          </a:xfrm>
          <a:prstGeom prst="rect">
            <a:avLst/>
          </a:prstGeom>
        </p:spPr>
      </p:pic>
      <p:pic>
        <p:nvPicPr>
          <p:cNvPr id="11" name="Picture 10">
            <a:extLst>
              <a:ext uri="{FF2B5EF4-FFF2-40B4-BE49-F238E27FC236}">
                <a16:creationId xmlns:a16="http://schemas.microsoft.com/office/drawing/2014/main" id="{97F05A89-2C90-505C-30DC-7C2B9A91F6E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832807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14D33-0BE4-90FC-4AE5-0A4A211D1803}"/>
              </a:ext>
            </a:extLst>
          </p:cNvPr>
          <p:cNvSpPr>
            <a:spLocks noGrp="1"/>
          </p:cNvSpPr>
          <p:nvPr>
            <p:ph type="title"/>
          </p:nvPr>
        </p:nvSpPr>
        <p:spPr/>
        <p:txBody>
          <a:bodyPr/>
          <a:lstStyle/>
          <a:p>
            <a:r>
              <a:rPr lang="en-US"/>
              <a:t>Click to edit Master title style</a:t>
            </a:r>
          </a:p>
        </p:txBody>
      </p:sp>
      <p:pic>
        <p:nvPicPr>
          <p:cNvPr id="7" name="Graphic 6">
            <a:extLst>
              <a:ext uri="{FF2B5EF4-FFF2-40B4-BE49-F238E27FC236}">
                <a16:creationId xmlns:a16="http://schemas.microsoft.com/office/drawing/2014/main" id="{5DF5F826-F6F1-CFCA-D42B-E759F28DD1F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7537" y="835025"/>
            <a:ext cx="219075" cy="365125"/>
          </a:xfrm>
          <a:prstGeom prst="rect">
            <a:avLst/>
          </a:prstGeom>
        </p:spPr>
      </p:pic>
      <p:pic>
        <p:nvPicPr>
          <p:cNvPr id="8" name="Picture 7">
            <a:extLst>
              <a:ext uri="{FF2B5EF4-FFF2-40B4-BE49-F238E27FC236}">
                <a16:creationId xmlns:a16="http://schemas.microsoft.com/office/drawing/2014/main" id="{1DDF20CF-E57F-42E5-6EFD-7AD8EB6F06F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460322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D930E-17D8-84EC-D92C-061363439E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1831208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9ED7-E623-FCE4-FB92-360B98ADBBF1}"/>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D58EE0-622A-334F-1443-5A4528051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8AE8A4-A68D-5A4A-A023-8C2D5F871D0F}"/>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a:extLst>
              <a:ext uri="{FF2B5EF4-FFF2-40B4-BE49-F238E27FC236}">
                <a16:creationId xmlns:a16="http://schemas.microsoft.com/office/drawing/2014/main" id="{785CBBC2-61B8-7F43-0B0A-9D30B71ECCF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7537" y="1168400"/>
            <a:ext cx="219075" cy="365125"/>
          </a:xfrm>
          <a:prstGeom prst="rect">
            <a:avLst/>
          </a:prstGeom>
        </p:spPr>
      </p:pic>
      <p:pic>
        <p:nvPicPr>
          <p:cNvPr id="10" name="Picture 9">
            <a:extLst>
              <a:ext uri="{FF2B5EF4-FFF2-40B4-BE49-F238E27FC236}">
                <a16:creationId xmlns:a16="http://schemas.microsoft.com/office/drawing/2014/main" id="{37A3BA6B-E9E4-F0D0-8FB5-E35191C166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284449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1D87-5687-C9B5-AE49-A83726D9BC05}"/>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5FA632-D2F7-E2BA-A935-20B1A394FA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5BA056-00E2-82F6-5FA4-32B76E5B3E0B}"/>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55E1618B-D136-C5BB-2E38-B80F9B3CF5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91475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FCBA-3B8B-9D62-253A-5E58F2AA60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1F39B-5912-FF25-7793-DBF7785760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27A3DEB6-94B4-A533-8E42-30DCFEB3B6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7409918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3ECA9A-730D-7BDC-4EB3-94B6B2FA80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87C848-B2DE-F9EC-9D0C-9077EB2B77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16726B3-A797-03A8-1C35-BD44D85A18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841173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521126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585134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DB207-7053-EBE5-129C-87C2132544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E34E65-F823-6AC0-A8D0-63BC5E280B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F735D6-BAF0-4CFC-70F6-6578E9944DCB}"/>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5" name="Footer Placeholder 4">
            <a:extLst>
              <a:ext uri="{FF2B5EF4-FFF2-40B4-BE49-F238E27FC236}">
                <a16:creationId xmlns:a16="http://schemas.microsoft.com/office/drawing/2014/main" id="{157EE711-B1C0-2CE8-7D9F-4C457C02E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8FC7E5-7FB7-82F9-5CD6-39FF0A851E7B}"/>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5636605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7EF11-1A5E-CB06-4E9F-F97DD9938F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FE5E77-8154-13FC-4A4D-64EBCFCA3D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7B9921-2A1C-2FB3-9BC9-524C187DAE0E}"/>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5" name="Footer Placeholder 4">
            <a:extLst>
              <a:ext uri="{FF2B5EF4-FFF2-40B4-BE49-F238E27FC236}">
                <a16:creationId xmlns:a16="http://schemas.microsoft.com/office/drawing/2014/main" id="{6FDEDE3D-98A9-3328-CFCE-0BDF0B33EB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3A7850-16F6-1283-97A3-7A8AF292DEFB}"/>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35436700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6FA5A-7435-42CA-DC6D-643E88AC11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19186E-C6E9-9714-8ECE-CCA90F9BCE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167244-7304-D408-49EC-4F4839C96FD7}"/>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5" name="Footer Placeholder 4">
            <a:extLst>
              <a:ext uri="{FF2B5EF4-FFF2-40B4-BE49-F238E27FC236}">
                <a16:creationId xmlns:a16="http://schemas.microsoft.com/office/drawing/2014/main" id="{A051E45D-6A26-C3AE-AFEC-92A4A2AAE9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67F764-AD86-C5B7-AD13-B4D8DD227D72}"/>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3841746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BA977-129C-EFCC-9CEF-AE5E4C13FE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D1DFEA-2ABE-9B2A-82E5-B411AE3918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0EDDAE-73F5-1F05-B929-8A00B3A109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5F242F-EF07-E199-C3CE-C32158457E22}"/>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6" name="Footer Placeholder 5">
            <a:extLst>
              <a:ext uri="{FF2B5EF4-FFF2-40B4-BE49-F238E27FC236}">
                <a16:creationId xmlns:a16="http://schemas.microsoft.com/office/drawing/2014/main" id="{C1F947F9-F57E-718B-6C7D-C9A043E6FB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F3A1CB-9CDD-6E06-A4B7-997C2CC97E79}"/>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34834900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54C5D-D25C-CE0F-C6B8-31C12189F6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444445-9483-3EEF-9CD4-375E2F4F52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2B8499-ACB6-BE43-0DFD-90334C75D2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A61EE3-6167-E4D9-AEAC-6822D9DE5D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BA322A-006B-5ED5-89A6-473754BE7B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35DC1F-B8A1-7238-66E3-05149596EBEE}"/>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8" name="Footer Placeholder 7">
            <a:extLst>
              <a:ext uri="{FF2B5EF4-FFF2-40B4-BE49-F238E27FC236}">
                <a16:creationId xmlns:a16="http://schemas.microsoft.com/office/drawing/2014/main" id="{7F45D846-95E3-7D7A-CB92-4298DCA9DF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B4FF49-1FAF-59EC-A7ED-086549B0566B}"/>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9481606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E2103-6D52-6D74-01DD-A22BCD108A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C19F85-2D75-DB7F-9EF7-854B575C9909}"/>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4" name="Footer Placeholder 3">
            <a:extLst>
              <a:ext uri="{FF2B5EF4-FFF2-40B4-BE49-F238E27FC236}">
                <a16:creationId xmlns:a16="http://schemas.microsoft.com/office/drawing/2014/main" id="{1EC31BC4-6981-595D-FAF0-32597661FD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4427CC-B7E3-57F8-0098-264EBFB2EA9B}"/>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12622744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DBCE8F-075A-C96F-98E1-13DC33F10262}"/>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3" name="Footer Placeholder 2">
            <a:extLst>
              <a:ext uri="{FF2B5EF4-FFF2-40B4-BE49-F238E27FC236}">
                <a16:creationId xmlns:a16="http://schemas.microsoft.com/office/drawing/2014/main" id="{38610AAA-32BA-F399-F500-679D58AFCC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8B302B-314D-4487-03ED-9A32AD61DC14}"/>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37305376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DDF31-4966-BA8F-3581-E1DF950A99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E823C0-D6BB-212E-FD55-6DD4ABBBA1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8AF92F-8A60-98CB-3360-8E40DDFF2A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9C6F9-3055-4567-9A34-97D5493A3F38}"/>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6" name="Footer Placeholder 5">
            <a:extLst>
              <a:ext uri="{FF2B5EF4-FFF2-40B4-BE49-F238E27FC236}">
                <a16:creationId xmlns:a16="http://schemas.microsoft.com/office/drawing/2014/main" id="{0282C163-DBD5-7D87-96D8-778430DEA9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1B23B1-685B-A8B5-48D1-C6B5505CA6B7}"/>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12944492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8BDDE-EEB2-0070-5333-B94C97392A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6E9F9E-502A-05B4-C05B-ED7CA8008F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1DF908-E860-2F13-8BBB-645E686A72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92BAB4-7EAB-18A2-87DB-CB4B1D1A6AB8}"/>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6" name="Footer Placeholder 5">
            <a:extLst>
              <a:ext uri="{FF2B5EF4-FFF2-40B4-BE49-F238E27FC236}">
                <a16:creationId xmlns:a16="http://schemas.microsoft.com/office/drawing/2014/main" id="{288436EC-9AB4-02C0-3378-C3FB6C03F7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8A6AA1-7D56-F7CD-C1D4-95F99982100F}"/>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19863809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84FA-EBE2-CC27-E53D-3D0F9549AE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63CDA3-91EA-52F3-FB36-749CEB03E2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0E882-8264-3F6F-27D6-A7907342D531}"/>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5" name="Footer Placeholder 4">
            <a:extLst>
              <a:ext uri="{FF2B5EF4-FFF2-40B4-BE49-F238E27FC236}">
                <a16:creationId xmlns:a16="http://schemas.microsoft.com/office/drawing/2014/main" id="{138729BB-8255-FAFD-41AF-17AF0733B6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6E1ECC-75E6-CF54-E5CF-ED676AF8714F}"/>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14641613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0896C1-BCA3-8136-A122-857DFCCCBF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28F247-AC7B-9574-F73A-E653CB5C6F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2B9038-B45A-384D-6638-606CC95D2437}"/>
              </a:ext>
            </a:extLst>
          </p:cNvPr>
          <p:cNvSpPr>
            <a:spLocks noGrp="1"/>
          </p:cNvSpPr>
          <p:nvPr>
            <p:ph type="dt" sz="half" idx="10"/>
          </p:nvPr>
        </p:nvSpPr>
        <p:spPr/>
        <p:txBody>
          <a:bodyPr/>
          <a:lstStyle/>
          <a:p>
            <a:fld id="{2E4F7DE7-592A-4B7D-BFDD-594FAEDC718C}" type="datetimeFigureOut">
              <a:rPr lang="en-US" smtClean="0"/>
              <a:t>9/21/2026</a:t>
            </a:fld>
            <a:endParaRPr lang="en-US"/>
          </a:p>
        </p:txBody>
      </p:sp>
      <p:sp>
        <p:nvSpPr>
          <p:cNvPr id="5" name="Footer Placeholder 4">
            <a:extLst>
              <a:ext uri="{FF2B5EF4-FFF2-40B4-BE49-F238E27FC236}">
                <a16:creationId xmlns:a16="http://schemas.microsoft.com/office/drawing/2014/main" id="{D884FA49-8727-896D-CA5A-E382E6E72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EAC36-C0E1-E899-F81D-6B2832BDFD7D}"/>
              </a:ext>
            </a:extLst>
          </p:cNvPr>
          <p:cNvSpPr>
            <a:spLocks noGrp="1"/>
          </p:cNvSpPr>
          <p:nvPr>
            <p:ph type="sldNum" sz="quarter" idx="12"/>
          </p:nvPr>
        </p:nvSpPr>
        <p:spPr/>
        <p:txBody>
          <a:bodyPr/>
          <a:lstStyle/>
          <a:p>
            <a:fld id="{023402B7-2E01-4ACC-B095-13D165FCF885}" type="slidenum">
              <a:rPr lang="en-US" smtClean="0"/>
              <a:t>‹#›</a:t>
            </a:fld>
            <a:endParaRPr lang="en-US"/>
          </a:p>
        </p:txBody>
      </p:sp>
    </p:spTree>
    <p:extLst>
      <p:ext uri="{BB962C8B-B14F-4D97-AF65-F5344CB8AC3E}">
        <p14:creationId xmlns:p14="http://schemas.microsoft.com/office/powerpoint/2010/main" val="1104745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7EBF4-2CD4-F34B-E5E2-783C7FC90783}"/>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302689-B02C-F697-CBBE-D4B715CAE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D59A43A-2FDE-9674-4AB5-0E6557C388F6}"/>
              </a:ext>
            </a:extLst>
          </p:cNvPr>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latin typeface="DIN Next LT Arabic" panose="020B0503020203050203" pitchFamily="34" charset="-78"/>
                <a:cs typeface="DIN Next LT Arabic" panose="020B0503020203050203" pitchFamily="34" charset="-78"/>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extLst>
      <p:ext uri="{BB962C8B-B14F-4D97-AF65-F5344CB8AC3E}">
        <p14:creationId xmlns:p14="http://schemas.microsoft.com/office/powerpoint/2010/main" val="2974472356"/>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61" r:id="rId4"/>
    <p:sldLayoutId id="2147483651" r:id="rId5"/>
    <p:sldLayoutId id="2147483662" r:id="rId6"/>
    <p:sldLayoutId id="2147483663"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DIN Next LT Arabic" panose="020B0503020203050203" pitchFamily="34" charset="-78"/>
          <a:ea typeface="+mj-ea"/>
          <a:cs typeface="DIN Next LT Arabic" panose="020B0503020203050203" pitchFamily="34"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IN Next LT Arabic" panose="020B0503020203050203" pitchFamily="34" charset="-78"/>
          <a:ea typeface="+mn-ea"/>
          <a:cs typeface="DIN Next LT Arabic" panose="020B0503020203050203" pitchFamily="34"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IN Next LT Arabic" panose="020B0503020203050203" pitchFamily="34" charset="-78"/>
          <a:ea typeface="+mn-ea"/>
          <a:cs typeface="DIN Next LT Arabic" panose="020B0503020203050203" pitchFamily="34"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IN Next LT Arabic" panose="020B0503020203050203" pitchFamily="34" charset="-78"/>
          <a:ea typeface="+mn-ea"/>
          <a:cs typeface="DIN Next LT Arabic" panose="020B0503020203050203" pitchFamily="34"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IN Next LT Arabic" panose="020B0503020203050203" pitchFamily="34" charset="-78"/>
          <a:ea typeface="+mn-ea"/>
          <a:cs typeface="DIN Next LT Arabic" panose="020B0503020203050203" pitchFamily="34"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IN Next LT Arabic" panose="020B0503020203050203" pitchFamily="34" charset="-78"/>
          <a:ea typeface="+mn-ea"/>
          <a:cs typeface="DIN Next LT Arabic" panose="020B0503020203050203" pitchFamily="34"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B05D62-EBB5-67FD-3837-79EDF3719E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5041F6-E078-D49F-6DD8-E7E150F58D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8FEA0D-E568-339D-63AC-8059F81C7C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4F7DE7-592A-4B7D-BFDD-594FAEDC718C}" type="datetimeFigureOut">
              <a:rPr lang="en-US" smtClean="0"/>
              <a:t>9/21/2026</a:t>
            </a:fld>
            <a:endParaRPr lang="en-US"/>
          </a:p>
        </p:txBody>
      </p:sp>
      <p:sp>
        <p:nvSpPr>
          <p:cNvPr id="5" name="Footer Placeholder 4">
            <a:extLst>
              <a:ext uri="{FF2B5EF4-FFF2-40B4-BE49-F238E27FC236}">
                <a16:creationId xmlns:a16="http://schemas.microsoft.com/office/drawing/2014/main" id="{146A0D6C-936A-5E09-62BB-6D08A55A83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703333-1657-04D4-AE5B-2B2D39550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3402B7-2E01-4ACC-B095-13D165FCF885}" type="slidenum">
              <a:rPr lang="en-US" smtClean="0"/>
              <a:t>‹#›</a:t>
            </a:fld>
            <a:endParaRPr lang="en-US"/>
          </a:p>
        </p:txBody>
      </p:sp>
    </p:spTree>
    <p:extLst>
      <p:ext uri="{BB962C8B-B14F-4D97-AF65-F5344CB8AC3E}">
        <p14:creationId xmlns:p14="http://schemas.microsoft.com/office/powerpoint/2010/main" val="324835747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video" Target="https://www.youtube.com/embed/OHkWXFheSKM?feature=oembed"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hyperlink" Target="https://krebsonsecurity.com/2013/12/sources-target-investigating-data-breach/" TargetMode="External"/><Relationship Id="rId2" Type="http://schemas.openxmlformats.org/officeDocument/2006/relationships/hyperlink" Target="http://www.businessweek.com/articles/2014-03-13/target-missed-alarms-in-epic-hack-of-credit-card-data" TargetMode="External"/><Relationship Id="rId1" Type="http://schemas.openxmlformats.org/officeDocument/2006/relationships/slideLayout" Target="../slideLayouts/slideLayout3.xml"/><Relationship Id="rId5" Type="http://schemas.openxmlformats.org/officeDocument/2006/relationships/hyperlink" Target="https://www.bankinfosecurity.com/congressional-report-rips-equifax-for-weak-security-a-12355" TargetMode="External"/><Relationship Id="rId4" Type="http://schemas.openxmlformats.org/officeDocument/2006/relationships/hyperlink" Target="https://www.datacenterknowledge.com/data-breaches/equifax-says-unpatched-apache-struts-flaw-behind-massive-security-brea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5BB2-0847-90FD-A4B9-58B4E1F0AEA3}"/>
              </a:ext>
            </a:extLst>
          </p:cNvPr>
          <p:cNvSpPr>
            <a:spLocks noGrp="1"/>
          </p:cNvSpPr>
          <p:nvPr>
            <p:ph type="ctrTitle"/>
          </p:nvPr>
        </p:nvSpPr>
        <p:spPr>
          <a:xfrm>
            <a:off x="3943350" y="2609849"/>
            <a:ext cx="7639050" cy="1790701"/>
          </a:xfrm>
        </p:spPr>
        <p:txBody>
          <a:bodyPr/>
          <a:lstStyle/>
          <a:p>
            <a:r>
              <a:rPr lang="en-US">
                <a:cs typeface="DIN Next LT Arabic"/>
              </a:rPr>
              <a:t>Chapter 1:</a:t>
            </a:r>
          </a:p>
        </p:txBody>
      </p:sp>
      <p:sp>
        <p:nvSpPr>
          <p:cNvPr id="3" name="Subtitle 2">
            <a:extLst>
              <a:ext uri="{FF2B5EF4-FFF2-40B4-BE49-F238E27FC236}">
                <a16:creationId xmlns:a16="http://schemas.microsoft.com/office/drawing/2014/main" id="{88893B68-7396-A123-DEDF-BCF392D104FF}"/>
              </a:ext>
            </a:extLst>
          </p:cNvPr>
          <p:cNvSpPr>
            <a:spLocks noGrp="1"/>
          </p:cNvSpPr>
          <p:nvPr>
            <p:ph type="subTitle" idx="1"/>
          </p:nvPr>
        </p:nvSpPr>
        <p:spPr>
          <a:xfrm>
            <a:off x="3943350" y="4514849"/>
            <a:ext cx="7639050" cy="865187"/>
          </a:xfrm>
        </p:spPr>
        <p:txBody>
          <a:bodyPr>
            <a:normAutofit/>
          </a:bodyPr>
          <a:lstStyle/>
          <a:p>
            <a:r>
              <a:rPr lang="en-GB"/>
              <a:t>Introduction to Security Operations Centres</a:t>
            </a:r>
            <a:endParaRPr lang="en-US"/>
          </a:p>
        </p:txBody>
      </p:sp>
    </p:spTree>
    <p:extLst>
      <p:ext uri="{BB962C8B-B14F-4D97-AF65-F5344CB8AC3E}">
        <p14:creationId xmlns:p14="http://schemas.microsoft.com/office/powerpoint/2010/main" val="4193284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p:txBody>
          <a:bodyPr/>
          <a:lstStyle/>
          <a:p>
            <a:r>
              <a:rPr lang="en-US"/>
              <a:t>Objectives</a:t>
            </a:r>
          </a:p>
        </p:txBody>
      </p:sp>
      <p:sp>
        <p:nvSpPr>
          <p:cNvPr id="3" name="Content Placeholder 2">
            <a:extLst>
              <a:ext uri="{FF2B5EF4-FFF2-40B4-BE49-F238E27FC236}">
                <a16:creationId xmlns:a16="http://schemas.microsoft.com/office/drawing/2014/main" id="{84B4EC71-6F30-9AC0-70DF-60AB709659E6}"/>
              </a:ext>
            </a:extLst>
          </p:cNvPr>
          <p:cNvSpPr>
            <a:spLocks noGrp="1"/>
          </p:cNvSpPr>
          <p:nvPr>
            <p:ph idx="1"/>
          </p:nvPr>
        </p:nvSpPr>
        <p:spPr/>
        <p:txBody>
          <a:bodyPr>
            <a:normAutofit/>
          </a:bodyPr>
          <a:lstStyle/>
          <a:p>
            <a:pPr algn="just">
              <a:lnSpc>
                <a:spcPct val="150000"/>
              </a:lnSpc>
            </a:pPr>
            <a:r>
              <a:rPr lang="en-US" sz="2400"/>
              <a:t>After studying this chapter, you should be able to</a:t>
            </a:r>
          </a:p>
          <a:p>
            <a:pPr lvl="1" algn="just">
              <a:lnSpc>
                <a:spcPct val="150000"/>
              </a:lnSpc>
            </a:pPr>
            <a:r>
              <a:rPr lang="en-US" sz="2000"/>
              <a:t>Define SOC as a centralized entity for security management.</a:t>
            </a:r>
          </a:p>
          <a:p>
            <a:pPr lvl="1" algn="just">
              <a:lnSpc>
                <a:spcPct val="150000"/>
              </a:lnSpc>
            </a:pPr>
            <a:r>
              <a:rPr lang="en-US" sz="2000"/>
              <a:t>Emphasize the primary mission of safeguarding organizational assets.</a:t>
            </a:r>
          </a:p>
          <a:p>
            <a:pPr lvl="1" algn="just">
              <a:lnSpc>
                <a:spcPct val="150000"/>
              </a:lnSpc>
            </a:pPr>
            <a:r>
              <a:rPr lang="en-US" sz="2000"/>
              <a:t>Highlight the need for ongoing SOC evaluation in evolving business environments.</a:t>
            </a:r>
          </a:p>
          <a:p>
            <a:pPr lvl="1" algn="just">
              <a:lnSpc>
                <a:spcPct val="150000"/>
              </a:lnSpc>
            </a:pPr>
            <a:r>
              <a:rPr lang="en-US" sz="2000"/>
              <a:t>Discuss adaptation necessities during acquisitions or leadership changes.</a:t>
            </a:r>
          </a:p>
          <a:p>
            <a:pPr lvl="1" algn="just">
              <a:lnSpc>
                <a:spcPct val="150000"/>
              </a:lnSpc>
            </a:pPr>
            <a:r>
              <a:rPr lang="en-US" sz="2000"/>
              <a:t>Explain security's role in project justification.</a:t>
            </a:r>
          </a:p>
          <a:p>
            <a:endParaRPr lang="en-US"/>
          </a:p>
        </p:txBody>
      </p:sp>
    </p:spTree>
    <p:extLst>
      <p:ext uri="{BB962C8B-B14F-4D97-AF65-F5344CB8AC3E}">
        <p14:creationId xmlns:p14="http://schemas.microsoft.com/office/powerpoint/2010/main" val="2850008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p:txBody>
          <a:bodyPr/>
          <a:lstStyle/>
          <a:p>
            <a:r>
              <a:rPr lang="en-US"/>
              <a:t>Understanding SOC</a:t>
            </a:r>
          </a:p>
        </p:txBody>
      </p:sp>
      <p:sp>
        <p:nvSpPr>
          <p:cNvPr id="4" name="TextBox 3">
            <a:extLst>
              <a:ext uri="{FF2B5EF4-FFF2-40B4-BE49-F238E27FC236}">
                <a16:creationId xmlns:a16="http://schemas.microsoft.com/office/drawing/2014/main" id="{7D5B78F2-25D7-2B87-23C4-6E6D4ECA8CB5}"/>
              </a:ext>
            </a:extLst>
          </p:cNvPr>
          <p:cNvSpPr txBox="1"/>
          <p:nvPr/>
        </p:nvSpPr>
        <p:spPr>
          <a:xfrm>
            <a:off x="833887" y="1689340"/>
            <a:ext cx="10969924" cy="68326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Calibri"/>
                <a:ea typeface="Calibri"/>
                <a:cs typeface="Calibri"/>
              </a:rPr>
              <a:t>Definition and Purpose: </a:t>
            </a:r>
            <a:br>
              <a:rPr lang="en-US" sz="2000">
                <a:latin typeface="Calibri"/>
                <a:ea typeface="Calibri"/>
                <a:cs typeface="Calibri"/>
              </a:rPr>
            </a:br>
            <a:r>
              <a:rPr lang="en-US" sz="2000">
                <a:latin typeface="Calibri"/>
                <a:ea typeface="Calibri"/>
                <a:cs typeface="Calibri"/>
              </a:rPr>
              <a:t>A Security Operations Center (SOC) is a centralized unit, staffed either by an organization's own personnel or by a third-party managed security service provider. It is </a:t>
            </a:r>
            <a:r>
              <a:rPr lang="en-US" sz="2000" b="1">
                <a:solidFill>
                  <a:schemeClr val="accent3"/>
                </a:solidFill>
                <a:latin typeface="Calibri"/>
                <a:ea typeface="Calibri"/>
                <a:cs typeface="Calibri"/>
              </a:rPr>
              <a:t>responsible for continuously monitoring, detecting, analyzing, and responding to cybersecurity threats across an organization's IT infrastructure</a:t>
            </a:r>
            <a:r>
              <a:rPr lang="en-US" sz="2000">
                <a:latin typeface="Calibri"/>
                <a:ea typeface="Calibri"/>
                <a:cs typeface="Calibri"/>
              </a:rPr>
              <a:t> [1].</a:t>
            </a:r>
          </a:p>
          <a:p>
            <a:endParaRPr lang="en-US" sz="2000">
              <a:latin typeface="Calibri"/>
              <a:ea typeface="Calibri"/>
              <a:cs typeface="Calibri"/>
            </a:endParaRPr>
          </a:p>
          <a:p>
            <a:r>
              <a:rPr lang="en-US" sz="2000" b="1">
                <a:latin typeface="Calibri"/>
                <a:ea typeface="Calibri"/>
                <a:cs typeface="Calibri"/>
              </a:rPr>
              <a:t>Core Functions: </a:t>
            </a:r>
          </a:p>
          <a:p>
            <a:pPr marL="342900" indent="-342900">
              <a:buFont typeface="Arial"/>
              <a:buChar char="•"/>
            </a:pPr>
            <a:r>
              <a:rPr lang="en-US" sz="2000" b="1">
                <a:latin typeface="Calibri"/>
                <a:ea typeface="Calibri"/>
                <a:cs typeface="Calibri"/>
              </a:rPr>
              <a:t>Threat Detection and Prevention: </a:t>
            </a:r>
            <a:r>
              <a:rPr lang="en-US" sz="2000">
                <a:latin typeface="Calibri"/>
                <a:ea typeface="Calibri"/>
                <a:cs typeface="Calibri"/>
              </a:rPr>
              <a:t>SOCs actively watch networks, systems, and applications for suspicious activity, aiming to catch threats before they escalate into full breaches [2].</a:t>
            </a:r>
            <a:endParaRPr lang="en-US">
              <a:latin typeface="Calibri"/>
              <a:ea typeface="Calibri"/>
              <a:cs typeface="Calibri"/>
            </a:endParaRPr>
          </a:p>
          <a:p>
            <a:pPr marL="342900" indent="-342900">
              <a:buFont typeface="Arial"/>
              <a:buChar char="•"/>
            </a:pPr>
            <a:r>
              <a:rPr lang="en-US" sz="2000" b="1">
                <a:latin typeface="Calibri"/>
                <a:ea typeface="Calibri"/>
                <a:cs typeface="Calibri"/>
              </a:rPr>
              <a:t>Rapid Incident Response: </a:t>
            </a:r>
            <a:r>
              <a:rPr lang="en-US" sz="2000">
                <a:latin typeface="Calibri"/>
                <a:ea typeface="Calibri"/>
                <a:cs typeface="Calibri"/>
              </a:rPr>
              <a:t>SOCs follow established procedures to contain and remediate breaches once detected, limiting damage to operations and data integrity [2].</a:t>
            </a:r>
            <a:endParaRPr lang="en-US">
              <a:latin typeface="Calibri"/>
              <a:ea typeface="Calibri"/>
              <a:cs typeface="Calibri"/>
            </a:endParaRPr>
          </a:p>
          <a:p>
            <a:pPr marL="342900" indent="-342900">
              <a:buFont typeface="Arial"/>
              <a:buChar char="•"/>
            </a:pPr>
            <a:r>
              <a:rPr lang="en-US" sz="2000" b="1">
                <a:latin typeface="Calibri"/>
                <a:ea typeface="Calibri"/>
                <a:cs typeface="Calibri"/>
              </a:rPr>
              <a:t>Continuous Monitoring: </a:t>
            </a:r>
            <a:r>
              <a:rPr lang="en-US" sz="2000">
                <a:latin typeface="Calibri"/>
                <a:ea typeface="Calibri"/>
                <a:cs typeface="Calibri"/>
              </a:rPr>
              <a:t>Round-the-clock coverage ensures incidents are caught even outside normal business hours, given how quickly modern attacks move [3].</a:t>
            </a:r>
            <a:endParaRPr lang="en-US">
              <a:latin typeface="Calibri"/>
              <a:ea typeface="Calibri"/>
              <a:cs typeface="Calibri"/>
            </a:endParaRPr>
          </a:p>
          <a:p>
            <a:endParaRPr lang="en-US" sz="2000" b="1">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pPr algn="ctr"/>
            <a:endParaRPr lang="en-US">
              <a:latin typeface="Calibri"/>
              <a:ea typeface="Calibri"/>
              <a:cs typeface="Calibri"/>
            </a:endParaRPr>
          </a:p>
        </p:txBody>
      </p:sp>
    </p:spTree>
    <p:extLst>
      <p:ext uri="{BB962C8B-B14F-4D97-AF65-F5344CB8AC3E}">
        <p14:creationId xmlns:p14="http://schemas.microsoft.com/office/powerpoint/2010/main" val="1367199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6CA4FAF-2C00-8FF4-CF4E-94333ADA75CE}"/>
              </a:ext>
            </a:extLst>
          </p:cNvPr>
          <p:cNvSpPr txBox="1"/>
          <p:nvPr/>
        </p:nvSpPr>
        <p:spPr>
          <a:xfrm>
            <a:off x="498231" y="1992923"/>
            <a:ext cx="11097845"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Sans-Serif"/>
              <a:buChar char="•"/>
            </a:pPr>
            <a:r>
              <a:rPr lang="en-US" sz="2000" b="1" i="0" u="none" strike="noStrike" baseline="0">
                <a:solidFill>
                  <a:srgbClr val="000000"/>
                </a:solidFill>
                <a:latin typeface="Calibri"/>
                <a:ea typeface="Arial"/>
                <a:cs typeface="Arial"/>
              </a:rPr>
              <a:t>Risk Management: </a:t>
            </a:r>
            <a:r>
              <a:rPr lang="en-US" sz="2000" b="0" i="0" u="none" strike="noStrike" baseline="0">
                <a:solidFill>
                  <a:srgbClr val="000000"/>
                </a:solidFill>
                <a:latin typeface="Calibri"/>
                <a:ea typeface="Arial"/>
                <a:cs typeface="Arial"/>
              </a:rPr>
              <a:t>By identifying vulnerabilities proactively and prioritizing fixes using </a:t>
            </a:r>
            <a:r>
              <a:rPr lang="en-US" sz="2000">
                <a:solidFill>
                  <a:srgbClr val="000000"/>
                </a:solidFill>
                <a:latin typeface="Calibri"/>
                <a:ea typeface="Arial"/>
                <a:cs typeface="Arial"/>
              </a:rPr>
              <a:t>real-time threat</a:t>
            </a:r>
            <a:r>
              <a:rPr lang="en-US" sz="2000" b="0" i="0" u="none" strike="noStrike" baseline="0">
                <a:solidFill>
                  <a:srgbClr val="000000"/>
                </a:solidFill>
                <a:latin typeface="Calibri"/>
                <a:ea typeface="Arial"/>
                <a:cs typeface="Arial"/>
              </a:rPr>
              <a:t> intelligence, SOCs help organizations manage risk rather than just react to it [1].</a:t>
            </a:r>
            <a:r>
              <a:rPr lang="en-US" sz="2000" b="0" i="0">
                <a:solidFill>
                  <a:srgbClr val="000000"/>
                </a:solidFill>
                <a:latin typeface="Calibri"/>
                <a:ea typeface="Arial"/>
                <a:cs typeface="Arial"/>
              </a:rPr>
              <a:t>​</a:t>
            </a:r>
          </a:p>
          <a:p>
            <a:pPr marL="342900" indent="-342900">
              <a:buFont typeface="Arial,Sans-Serif"/>
              <a:buChar char="•"/>
            </a:pPr>
            <a:r>
              <a:rPr lang="en-US" sz="2000" b="1" i="0" u="none" strike="noStrike" baseline="0">
                <a:solidFill>
                  <a:srgbClr val="000000"/>
                </a:solidFill>
                <a:latin typeface="Calibri"/>
                <a:ea typeface="Arial"/>
                <a:cs typeface="Arial"/>
              </a:rPr>
              <a:t>Compliance: </a:t>
            </a:r>
            <a:r>
              <a:rPr lang="en-US" sz="2000" b="0" i="0" u="none" strike="noStrike" baseline="0">
                <a:solidFill>
                  <a:srgbClr val="000000"/>
                </a:solidFill>
                <a:latin typeface="Calibri"/>
                <a:ea typeface="Arial"/>
                <a:cs typeface="Arial"/>
              </a:rPr>
              <a:t>SOCs help organizations meet regulatory monitoring and </a:t>
            </a:r>
            <a:r>
              <a:rPr lang="en-US" sz="2000">
                <a:solidFill>
                  <a:srgbClr val="000000"/>
                </a:solidFill>
                <a:latin typeface="Calibri"/>
                <a:ea typeface="Arial"/>
                <a:cs typeface="Arial"/>
              </a:rPr>
              <a:t>incident-response requirements</a:t>
            </a:r>
            <a:r>
              <a:rPr lang="en-US" sz="2000" b="0" i="0" u="none" strike="noStrike" baseline="0">
                <a:solidFill>
                  <a:srgbClr val="000000"/>
                </a:solidFill>
                <a:latin typeface="Calibri"/>
                <a:ea typeface="Arial"/>
                <a:cs typeface="Arial"/>
              </a:rPr>
              <a:t> (e.g., GDPR, HIPAA, PCI-DSS), reducing exposure to fines and legal consequences [3].</a:t>
            </a:r>
            <a:r>
              <a:rPr lang="en-US" sz="2000" b="0" i="0">
                <a:solidFill>
                  <a:srgbClr val="000000"/>
                </a:solidFill>
                <a:latin typeface="Calibri"/>
                <a:ea typeface="Arial"/>
                <a:cs typeface="Arial"/>
              </a:rPr>
              <a:t>​</a:t>
            </a:r>
          </a:p>
          <a:p>
            <a:pPr marL="342900" indent="-342900">
              <a:buFont typeface="Arial,Sans-Serif"/>
              <a:buChar char="•"/>
            </a:pPr>
            <a:r>
              <a:rPr lang="en-US" sz="2000" b="1" i="0" u="none" strike="noStrike" baseline="0">
                <a:solidFill>
                  <a:srgbClr val="000000"/>
                </a:solidFill>
                <a:latin typeface="Calibri"/>
                <a:ea typeface="Arial"/>
                <a:cs typeface="Arial"/>
              </a:rPr>
              <a:t>Protection of Assets and Reputation: </a:t>
            </a:r>
            <a:r>
              <a:rPr lang="en-US" sz="2000" b="0" i="0" u="none" strike="noStrike" baseline="0">
                <a:solidFill>
                  <a:srgbClr val="000000"/>
                </a:solidFill>
                <a:latin typeface="Calibri"/>
                <a:ea typeface="Arial"/>
                <a:cs typeface="Arial"/>
              </a:rPr>
              <a:t>Effective SOC operations safeguard sensitive data </a:t>
            </a:r>
            <a:r>
              <a:rPr lang="en-US" sz="2000">
                <a:solidFill>
                  <a:srgbClr val="000000"/>
                </a:solidFill>
                <a:latin typeface="Calibri"/>
                <a:ea typeface="Arial"/>
                <a:cs typeface="Arial"/>
              </a:rPr>
              <a:t>and intellectual</a:t>
            </a:r>
            <a:r>
              <a:rPr lang="en-US" sz="2000" b="0" i="0" u="none" strike="noStrike" baseline="0">
                <a:solidFill>
                  <a:srgbClr val="000000"/>
                </a:solidFill>
                <a:latin typeface="Calibri"/>
                <a:ea typeface="Arial"/>
                <a:cs typeface="Arial"/>
              </a:rPr>
              <a:t> property, which in turn protects customer trust [1].</a:t>
            </a:r>
            <a:r>
              <a:rPr lang="en-US" sz="2000" b="0" i="0">
                <a:solidFill>
                  <a:srgbClr val="000000"/>
                </a:solidFill>
                <a:latin typeface="Calibri"/>
                <a:ea typeface="Arial"/>
                <a:cs typeface="Arial"/>
              </a:rPr>
              <a:t>​</a:t>
            </a:r>
          </a:p>
          <a:p>
            <a:pPr algn="ctr"/>
            <a:endParaRPr lang="en-US"/>
          </a:p>
        </p:txBody>
      </p:sp>
      <p:sp>
        <p:nvSpPr>
          <p:cNvPr id="9" name="Title 1">
            <a:extLst>
              <a:ext uri="{FF2B5EF4-FFF2-40B4-BE49-F238E27FC236}">
                <a16:creationId xmlns:a16="http://schemas.microsoft.com/office/drawing/2014/main" id="{0DB6A61F-65E6-E13F-65A9-651DD43984C9}"/>
              </a:ext>
            </a:extLst>
          </p:cNvPr>
          <p:cNvSpPr txBox="1">
            <a:spLocks/>
          </p:cNvSpPr>
          <p:nvPr/>
        </p:nvSpPr>
        <p:spPr>
          <a:xfrm>
            <a:off x="990600" y="51752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DIN Next LT Arabic" panose="020B0503020203050203" pitchFamily="34" charset="-78"/>
                <a:ea typeface="+mj-ea"/>
                <a:cs typeface="DIN Next LT Arabic" panose="020B0503020203050203" pitchFamily="34" charset="-78"/>
              </a:defRPr>
            </a:lvl1pPr>
          </a:lstStyle>
          <a:p>
            <a:r>
              <a:rPr lang="en-US"/>
              <a:t>Understanding SOC</a:t>
            </a:r>
          </a:p>
        </p:txBody>
      </p:sp>
    </p:spTree>
    <p:extLst>
      <p:ext uri="{BB962C8B-B14F-4D97-AF65-F5344CB8AC3E}">
        <p14:creationId xmlns:p14="http://schemas.microsoft.com/office/powerpoint/2010/main" val="138233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E6E1E-CC53-6E9C-ECD8-21186A47B1EC}"/>
              </a:ext>
            </a:extLst>
          </p:cNvPr>
          <p:cNvSpPr>
            <a:spLocks noGrp="1"/>
          </p:cNvSpPr>
          <p:nvPr>
            <p:ph type="title"/>
          </p:nvPr>
        </p:nvSpPr>
        <p:spPr>
          <a:xfrm>
            <a:off x="838200" y="365126"/>
            <a:ext cx="10515600" cy="1325563"/>
          </a:xfrm>
        </p:spPr>
        <p:txBody>
          <a:bodyPr/>
          <a:lstStyle/>
          <a:p>
            <a:r>
              <a:rPr lang="en-US"/>
              <a:t>Understanding SOC</a:t>
            </a:r>
          </a:p>
        </p:txBody>
      </p:sp>
      <p:pic>
        <p:nvPicPr>
          <p:cNvPr id="6" name="Content Placeholder 5">
            <a:extLst>
              <a:ext uri="{FF2B5EF4-FFF2-40B4-BE49-F238E27FC236}">
                <a16:creationId xmlns:a16="http://schemas.microsoft.com/office/drawing/2014/main" id="{35062D71-6576-FFAD-248D-C9A7B523662E}"/>
              </a:ext>
            </a:extLst>
          </p:cNvPr>
          <p:cNvPicPr>
            <a:picLocks noGrp="1" noChangeAspect="1"/>
          </p:cNvPicPr>
          <p:nvPr>
            <p:ph idx="1"/>
          </p:nvPr>
        </p:nvPicPr>
        <p:blipFill>
          <a:blip r:embed="rId2"/>
          <a:stretch>
            <a:fillRect/>
          </a:stretch>
        </p:blipFill>
        <p:spPr>
          <a:xfrm>
            <a:off x="3044539" y="1575879"/>
            <a:ext cx="6832357" cy="3188434"/>
          </a:xfrm>
          <a:prstGeom prst="rect">
            <a:avLst/>
          </a:prstGeom>
        </p:spPr>
      </p:pic>
      <p:sp>
        <p:nvSpPr>
          <p:cNvPr id="4" name="TextBox 3">
            <a:extLst>
              <a:ext uri="{FF2B5EF4-FFF2-40B4-BE49-F238E27FC236}">
                <a16:creationId xmlns:a16="http://schemas.microsoft.com/office/drawing/2014/main" id="{E766F91C-D4B5-E353-6007-65514D98C920}"/>
              </a:ext>
            </a:extLst>
          </p:cNvPr>
          <p:cNvSpPr txBox="1"/>
          <p:nvPr/>
        </p:nvSpPr>
        <p:spPr>
          <a:xfrm>
            <a:off x="488462" y="4982307"/>
            <a:ext cx="1142023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Why Technology Alone Is Not Enough</a:t>
            </a:r>
            <a:br>
              <a:rPr lang="en-US">
                <a:latin typeface="Calibri"/>
                <a:ea typeface="Calibri"/>
                <a:cs typeface="Calibri"/>
              </a:rPr>
            </a:br>
            <a:r>
              <a:rPr lang="en-US">
                <a:latin typeface="Calibri"/>
                <a:ea typeface="Calibri"/>
                <a:cs typeface="Calibri"/>
              </a:rPr>
              <a:t>A SOC's technology stack (SIEM, IDS/IPS, EDR) is only as effective as the people and processes built around it. When a correctly generated alert is not escalated and acted on with urgency, the detection layer can perform exactly as designed and the organization can still suffer a major breach [4].</a:t>
            </a:r>
          </a:p>
          <a:p>
            <a:pPr algn="ctr"/>
            <a:endParaRPr lang="en-US"/>
          </a:p>
        </p:txBody>
      </p:sp>
    </p:spTree>
    <p:extLst>
      <p:ext uri="{BB962C8B-B14F-4D97-AF65-F5344CB8AC3E}">
        <p14:creationId xmlns:p14="http://schemas.microsoft.com/office/powerpoint/2010/main" val="3379874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5DF1D-8362-4DC8-15CC-B95080E59E25}"/>
              </a:ext>
            </a:extLst>
          </p:cNvPr>
          <p:cNvSpPr>
            <a:spLocks noGrp="1"/>
          </p:cNvSpPr>
          <p:nvPr>
            <p:ph type="title"/>
          </p:nvPr>
        </p:nvSpPr>
        <p:spPr/>
        <p:txBody>
          <a:bodyPr>
            <a:normAutofit/>
          </a:bodyPr>
          <a:lstStyle/>
          <a:p>
            <a:r>
              <a:rPr lang="en-US" b="1">
                <a:latin typeface="Calibri"/>
                <a:ea typeface="Calibri"/>
                <a:cs typeface="DIN Next LT Arabic"/>
              </a:rPr>
              <a:t>Case Scenario </a:t>
            </a:r>
            <a:endParaRPr lang="en-US"/>
          </a:p>
        </p:txBody>
      </p:sp>
      <p:sp>
        <p:nvSpPr>
          <p:cNvPr id="3" name="Content Placeholder 2">
            <a:extLst>
              <a:ext uri="{FF2B5EF4-FFF2-40B4-BE49-F238E27FC236}">
                <a16:creationId xmlns:a16="http://schemas.microsoft.com/office/drawing/2014/main" id="{2C2CAC7F-C77C-9B4F-04CE-E48E2A96F652}"/>
              </a:ext>
            </a:extLst>
          </p:cNvPr>
          <p:cNvSpPr>
            <a:spLocks noGrp="1"/>
          </p:cNvSpPr>
          <p:nvPr>
            <p:ph idx="1"/>
          </p:nvPr>
        </p:nvSpPr>
        <p:spPr/>
        <p:txBody>
          <a:bodyPr vert="horz" lIns="91440" tIns="45720" rIns="91440" bIns="45720" rtlCol="0" anchor="t">
            <a:noAutofit/>
          </a:bodyPr>
          <a:lstStyle/>
          <a:p>
            <a:r>
              <a:rPr lang="en-US" sz="2000" b="1">
                <a:latin typeface="Calibri"/>
                <a:ea typeface="Calibri"/>
                <a:cs typeface="Calibri"/>
              </a:rPr>
              <a:t>Target Corporation, 2013</a:t>
            </a:r>
            <a:r>
              <a:rPr lang="en-US" sz="2000">
                <a:latin typeface="Calibri"/>
                <a:ea typeface="Calibri"/>
                <a:cs typeface="Calibri"/>
              </a:rPr>
              <a:t> Target had installed a $1.6 million FireEye malware-detection system weeks before the breach, paired with a monitoring team in Bangalore reporting to a security operations center in Minneapolis [4]. On November 30 and again on December 2, 2013, FireEye correctly identified the exfiltration malware and issued high-severity alerts; the Bangalore team escalated the alerts to Minneapolis, but on both occasions the warnings went unheeded [5]. Analysts in Minneapolis reviewed the alert, classified it as a false positive, and dismissed it — a failure widely attributed to alert fatigue from the sheer daily volume of low-level warnings SOC teams typically face [6]. The result was the theft of approximately 40 million credit card numbers and 70 million customer records [5]. This case is a standard illustration in SOC training of how strong detection technology cannot compensate for weak triage process and escalation discipline.</a:t>
            </a:r>
          </a:p>
          <a:p>
            <a:endParaRPr lang="en-US" sz="1900"/>
          </a:p>
        </p:txBody>
      </p:sp>
    </p:spTree>
    <p:extLst>
      <p:ext uri="{BB962C8B-B14F-4D97-AF65-F5344CB8AC3E}">
        <p14:creationId xmlns:p14="http://schemas.microsoft.com/office/powerpoint/2010/main" val="2271965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C414E-3267-1527-7C64-0A140AA1D5EC}"/>
              </a:ext>
            </a:extLst>
          </p:cNvPr>
          <p:cNvSpPr>
            <a:spLocks noGrp="1"/>
          </p:cNvSpPr>
          <p:nvPr>
            <p:ph type="title"/>
          </p:nvPr>
        </p:nvSpPr>
        <p:spPr/>
        <p:txBody>
          <a:bodyPr>
            <a:normAutofit/>
          </a:bodyPr>
          <a:lstStyle/>
          <a:p>
            <a:r>
              <a:rPr lang="en-US">
                <a:cs typeface="DIN Next LT Arabic"/>
              </a:rPr>
              <a:t>SOC Objectives</a:t>
            </a:r>
          </a:p>
        </p:txBody>
      </p:sp>
      <p:sp>
        <p:nvSpPr>
          <p:cNvPr id="3" name="Content Placeholder 2">
            <a:extLst>
              <a:ext uri="{FF2B5EF4-FFF2-40B4-BE49-F238E27FC236}">
                <a16:creationId xmlns:a16="http://schemas.microsoft.com/office/drawing/2014/main" id="{755CC817-B2F8-E8D3-87E6-DAB2F06F22C7}"/>
              </a:ext>
            </a:extLst>
          </p:cNvPr>
          <p:cNvSpPr>
            <a:spLocks noGrp="1"/>
          </p:cNvSpPr>
          <p:nvPr>
            <p:ph idx="1"/>
          </p:nvPr>
        </p:nvSpPr>
        <p:spPr/>
        <p:txBody>
          <a:bodyPr vert="horz" lIns="91440" tIns="45720" rIns="91440" bIns="45720" rtlCol="0" anchor="t">
            <a:normAutofit/>
          </a:bodyPr>
          <a:lstStyle/>
          <a:p>
            <a:r>
              <a:rPr lang="en-US" b="1">
                <a:cs typeface="DIN Next LT Arabic"/>
              </a:rPr>
              <a:t>Overview</a:t>
            </a:r>
            <a:br>
              <a:rPr lang="en-US"/>
            </a:br>
            <a:r>
              <a:rPr lang="en-US" sz="2200">
                <a:latin typeface="Calibri"/>
                <a:ea typeface="Calibri"/>
                <a:cs typeface="Calibri"/>
              </a:rPr>
              <a:t>The objectives of a SOC define what the unit is ultimately trying to achieve for the organization [1]:</a:t>
            </a:r>
          </a:p>
          <a:p>
            <a:pPr marL="800100" lvl="1" indent="-342900">
              <a:buAutoNum type="arabicPeriod"/>
            </a:pPr>
            <a:r>
              <a:rPr lang="en-US" sz="1800" i="1">
                <a:latin typeface="Calibri"/>
                <a:ea typeface="Calibri"/>
                <a:cs typeface="Calibri"/>
              </a:rPr>
              <a:t>Identify potential threats early</a:t>
            </a:r>
            <a:r>
              <a:rPr lang="en-US" sz="1800">
                <a:latin typeface="Calibri"/>
                <a:ea typeface="Calibri"/>
                <a:cs typeface="Calibri"/>
              </a:rPr>
              <a:t> to prevent escalation into full incidents.</a:t>
            </a:r>
          </a:p>
          <a:p>
            <a:pPr lvl="1">
              <a:buAutoNum type="arabicPeriod"/>
            </a:pPr>
            <a:r>
              <a:rPr lang="en-US" sz="1800" i="1">
                <a:latin typeface="Calibri"/>
                <a:ea typeface="Calibri"/>
                <a:cs typeface="Calibri"/>
              </a:rPr>
              <a:t>Ensure quick and effective response</a:t>
            </a:r>
            <a:r>
              <a:rPr lang="en-US" sz="1800">
                <a:latin typeface="Calibri"/>
                <a:ea typeface="Calibri"/>
                <a:cs typeface="Calibri"/>
              </a:rPr>
              <a:t> to security incidents once they occur.</a:t>
            </a:r>
          </a:p>
          <a:p>
            <a:pPr lvl="1">
              <a:buAutoNum type="arabicPeriod"/>
            </a:pPr>
            <a:r>
              <a:rPr lang="en-US" sz="1800" i="1">
                <a:latin typeface="Calibri"/>
                <a:ea typeface="Calibri"/>
                <a:cs typeface="Calibri"/>
              </a:rPr>
              <a:t>Reduce the impact</a:t>
            </a:r>
            <a:r>
              <a:rPr lang="en-US" sz="1800">
                <a:latin typeface="Calibri"/>
                <a:ea typeface="Calibri"/>
                <a:cs typeface="Calibri"/>
              </a:rPr>
              <a:t> of security incidents on business operations.</a:t>
            </a:r>
          </a:p>
          <a:p>
            <a:pPr lvl="1">
              <a:buAutoNum type="arabicPeriod"/>
            </a:pPr>
            <a:r>
              <a:rPr lang="en-US" sz="1800" i="1">
                <a:latin typeface="Calibri"/>
                <a:ea typeface="Calibri"/>
                <a:cs typeface="Calibri"/>
              </a:rPr>
              <a:t>Safeguard the organization's data, systems, and networks</a:t>
            </a:r>
            <a:r>
              <a:rPr lang="en-US" sz="1800">
                <a:latin typeface="Calibri"/>
                <a:ea typeface="Calibri"/>
                <a:cs typeface="Calibri"/>
              </a:rPr>
              <a:t> from unauthorized access or compromise.</a:t>
            </a:r>
          </a:p>
          <a:p>
            <a:pPr lvl="1">
              <a:buAutoNum type="arabicPeriod"/>
            </a:pPr>
            <a:r>
              <a:rPr lang="en-US" sz="1800" i="1">
                <a:latin typeface="Calibri"/>
                <a:ea typeface="Calibri"/>
                <a:cs typeface="Calibri"/>
              </a:rPr>
              <a:t>Ensure adherence to industry, national, and global privacy regulations</a:t>
            </a:r>
            <a:r>
              <a:rPr lang="en-US" sz="1800">
                <a:latin typeface="Calibri"/>
                <a:ea typeface="Calibri"/>
                <a:cs typeface="Calibri"/>
              </a:rPr>
              <a:t>, avoiding legal and financial exposure.</a:t>
            </a:r>
          </a:p>
        </p:txBody>
      </p:sp>
    </p:spTree>
    <p:extLst>
      <p:ext uri="{BB962C8B-B14F-4D97-AF65-F5344CB8AC3E}">
        <p14:creationId xmlns:p14="http://schemas.microsoft.com/office/powerpoint/2010/main" val="3665160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6E967-1154-4DFD-942F-31966AB1E01C}"/>
              </a:ext>
            </a:extLst>
          </p:cNvPr>
          <p:cNvSpPr>
            <a:spLocks noGrp="1"/>
          </p:cNvSpPr>
          <p:nvPr>
            <p:ph type="title"/>
          </p:nvPr>
        </p:nvSpPr>
        <p:spPr/>
        <p:txBody>
          <a:bodyPr/>
          <a:lstStyle/>
          <a:p>
            <a:r>
              <a:rPr lang="en-US"/>
              <a:t>SOC Objectives</a:t>
            </a:r>
          </a:p>
        </p:txBody>
      </p:sp>
      <p:sp>
        <p:nvSpPr>
          <p:cNvPr id="3" name="Content Placeholder 2">
            <a:extLst>
              <a:ext uri="{FF2B5EF4-FFF2-40B4-BE49-F238E27FC236}">
                <a16:creationId xmlns:a16="http://schemas.microsoft.com/office/drawing/2014/main" id="{A2CC1B30-0C76-4497-BA79-4BB6FA0C926C}"/>
              </a:ext>
            </a:extLst>
          </p:cNvPr>
          <p:cNvSpPr>
            <a:spLocks noGrp="1"/>
          </p:cNvSpPr>
          <p:nvPr>
            <p:ph idx="1"/>
          </p:nvPr>
        </p:nvSpPr>
        <p:spPr/>
        <p:txBody>
          <a:bodyPr vert="horz" lIns="91440" tIns="45720" rIns="91440" bIns="45720" rtlCol="0" anchor="t">
            <a:normAutofit/>
          </a:bodyPr>
          <a:lstStyle/>
          <a:p>
            <a:r>
              <a:rPr lang="en-US" b="1">
                <a:latin typeface="Calibri"/>
                <a:ea typeface="Calibri"/>
                <a:cs typeface="Calibri"/>
              </a:rPr>
              <a:t>Why Objectives Matter More Than Tools?</a:t>
            </a:r>
            <a:endParaRPr lang="en-US">
              <a:latin typeface="Calibri"/>
              <a:ea typeface="Calibri"/>
              <a:cs typeface="Calibri"/>
            </a:endParaRPr>
          </a:p>
          <a:p>
            <a:r>
              <a:rPr lang="en-US">
                <a:latin typeface="Calibri"/>
                <a:ea typeface="Calibri"/>
                <a:cs typeface="Calibri"/>
              </a:rPr>
              <a:t> These objectives give a SOC its measure of success. A SOC can be fully staffed and equipped with modern SIEM, IDS/IPS, and EDR platforms and still </a:t>
            </a:r>
            <a:r>
              <a:rPr lang="en-US">
                <a:solidFill>
                  <a:srgbClr val="000000"/>
                </a:solidFill>
                <a:latin typeface="Calibri"/>
                <a:ea typeface="Calibri"/>
                <a:cs typeface="Calibri"/>
              </a:rPr>
              <a:t>fail to meet its core objectives if alerts are not escalated with urgency or if incident response procedures break down under pressure </a:t>
            </a:r>
            <a:r>
              <a:rPr lang="en-US">
                <a:latin typeface="Calibri"/>
                <a:ea typeface="Calibri"/>
                <a:cs typeface="Calibri"/>
              </a:rPr>
              <a:t>[6]. In other words, the objectives are the standard against which a SOC's people, process, and technology should be evaluated — not simply whether the tools exist, but whether threats are actually caught early and impact is actually minimized.</a:t>
            </a:r>
          </a:p>
          <a:p>
            <a:endParaRPr lang="en-US">
              <a:latin typeface="Calibri"/>
              <a:ea typeface="Calibri"/>
              <a:cs typeface="Calibri"/>
            </a:endParaRPr>
          </a:p>
        </p:txBody>
      </p:sp>
    </p:spTree>
    <p:extLst>
      <p:ext uri="{BB962C8B-B14F-4D97-AF65-F5344CB8AC3E}">
        <p14:creationId xmlns:p14="http://schemas.microsoft.com/office/powerpoint/2010/main" val="2063975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3847B-8103-0CCF-AB66-4D2DA2E954AB}"/>
              </a:ext>
            </a:extLst>
          </p:cNvPr>
          <p:cNvSpPr>
            <a:spLocks noGrp="1"/>
          </p:cNvSpPr>
          <p:nvPr>
            <p:ph type="title"/>
          </p:nvPr>
        </p:nvSpPr>
        <p:spPr/>
        <p:txBody>
          <a:bodyPr/>
          <a:lstStyle/>
          <a:p>
            <a:r>
              <a:rPr lang="en-US" b="1" baseline="0">
                <a:latin typeface="DIN Next LT Arabic"/>
              </a:rPr>
              <a:t>Case Scenario </a:t>
            </a:r>
            <a:endParaRPr lang="en-US"/>
          </a:p>
        </p:txBody>
      </p:sp>
      <p:sp>
        <p:nvSpPr>
          <p:cNvPr id="3" name="Content Placeholder 2">
            <a:extLst>
              <a:ext uri="{FF2B5EF4-FFF2-40B4-BE49-F238E27FC236}">
                <a16:creationId xmlns:a16="http://schemas.microsoft.com/office/drawing/2014/main" id="{24694D75-890F-DAAB-CE5D-B4B2E1F01599}"/>
              </a:ext>
            </a:extLst>
          </p:cNvPr>
          <p:cNvSpPr>
            <a:spLocks noGrp="1"/>
          </p:cNvSpPr>
          <p:nvPr>
            <p:ph idx="1"/>
          </p:nvPr>
        </p:nvSpPr>
        <p:spPr/>
        <p:txBody>
          <a:bodyPr vert="horz" lIns="91440" tIns="45720" rIns="91440" bIns="45720" rtlCol="0" anchor="t">
            <a:normAutofit lnSpcReduction="10000"/>
          </a:bodyPr>
          <a:lstStyle/>
          <a:p>
            <a:pPr marL="0" indent="0">
              <a:buNone/>
            </a:pPr>
            <a:r>
              <a:rPr lang="en-US" b="1">
                <a:cs typeface="DIN Next LT Arabic"/>
              </a:rPr>
              <a:t>Target Corporation, 2013</a:t>
            </a:r>
            <a:br>
              <a:rPr lang="en-US"/>
            </a:br>
            <a:r>
              <a:rPr lang="en-US" sz="2600">
                <a:latin typeface="Calibri"/>
                <a:ea typeface="Calibri"/>
                <a:cs typeface="Calibri"/>
              </a:rPr>
              <a:t>Target's SOC objectives were only partly met. The objective of </a:t>
            </a:r>
            <a:r>
              <a:rPr lang="en-US" sz="2600" i="1">
                <a:latin typeface="Calibri"/>
                <a:ea typeface="Calibri"/>
                <a:cs typeface="Calibri"/>
              </a:rPr>
              <a:t>early threat identification</a:t>
            </a:r>
            <a:r>
              <a:rPr lang="en-US" sz="2600">
                <a:latin typeface="Calibri"/>
                <a:ea typeface="Calibri"/>
                <a:cs typeface="Calibri"/>
              </a:rPr>
              <a:t> was technically achieved: FireEye correctly flagged the exfiltration malware on November 30 and again on December 2, 2013 [4]. However, the objective of </a:t>
            </a:r>
            <a:r>
              <a:rPr lang="en-US" sz="2600" i="1">
                <a:latin typeface="Calibri"/>
                <a:ea typeface="Calibri"/>
                <a:cs typeface="Calibri"/>
              </a:rPr>
              <a:t>ensuring a quick and effective response</a:t>
            </a:r>
            <a:r>
              <a:rPr lang="en-US" sz="2600">
                <a:latin typeface="Calibri"/>
                <a:ea typeface="Calibri"/>
                <a:cs typeface="Calibri"/>
              </a:rPr>
              <a:t> failed — the alerts were reviewed and dismissed rather than acted on. As a direct consequence, the objective of </a:t>
            </a:r>
            <a:r>
              <a:rPr lang="en-US" sz="2600" i="1">
                <a:latin typeface="Calibri"/>
                <a:ea typeface="Calibri"/>
                <a:cs typeface="Calibri"/>
              </a:rPr>
              <a:t>reducing impact on operations</a:t>
            </a:r>
            <a:r>
              <a:rPr lang="en-US" sz="2600">
                <a:latin typeface="Calibri"/>
                <a:ea typeface="Calibri"/>
                <a:cs typeface="Calibri"/>
              </a:rPr>
              <a:t> also failed: the breach ultimately affected roughly 40 million credit and debit card accounts between November 27 and December 15, 2013 [5]. The objective of </a:t>
            </a:r>
            <a:r>
              <a:rPr lang="en-US" sz="2600" i="1">
                <a:latin typeface="Calibri"/>
                <a:ea typeface="Calibri"/>
                <a:cs typeface="Calibri"/>
              </a:rPr>
              <a:t>safeguarding data</a:t>
            </a:r>
            <a:r>
              <a:rPr lang="en-US" sz="2600">
                <a:latin typeface="Calibri"/>
                <a:ea typeface="Calibri"/>
                <a:cs typeface="Calibri"/>
              </a:rPr>
              <a:t> was not met, and the fallout — including congressional scrutiny, regulatory attention, and dozens of lawsuits — illustrates how a shortfall against just one objective (timely response) can cascade into failure against all the others.</a:t>
            </a:r>
            <a:endParaRPr lang="en-US"/>
          </a:p>
        </p:txBody>
      </p:sp>
    </p:spTree>
    <p:extLst>
      <p:ext uri="{BB962C8B-B14F-4D97-AF65-F5344CB8AC3E}">
        <p14:creationId xmlns:p14="http://schemas.microsoft.com/office/powerpoint/2010/main" val="3470907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4BD25-0EBE-2B02-E0EE-D58CE1E90AEF}"/>
              </a:ext>
            </a:extLst>
          </p:cNvPr>
          <p:cNvSpPr>
            <a:spLocks noGrp="1"/>
          </p:cNvSpPr>
          <p:nvPr>
            <p:ph type="title"/>
          </p:nvPr>
        </p:nvSpPr>
        <p:spPr/>
        <p:txBody>
          <a:bodyPr/>
          <a:lstStyle/>
          <a:p>
            <a:r>
              <a:rPr lang="en-US">
                <a:cs typeface="DIN Next LT Arabic"/>
              </a:rPr>
              <a:t>Discussion </a:t>
            </a:r>
            <a:endParaRPr lang="en-US"/>
          </a:p>
        </p:txBody>
      </p:sp>
      <p:sp>
        <p:nvSpPr>
          <p:cNvPr id="3" name="Content Placeholder 2">
            <a:extLst>
              <a:ext uri="{FF2B5EF4-FFF2-40B4-BE49-F238E27FC236}">
                <a16:creationId xmlns:a16="http://schemas.microsoft.com/office/drawing/2014/main" id="{0E8DE321-E9E3-18EC-06A0-F4D30EE45B05}"/>
              </a:ext>
            </a:extLst>
          </p:cNvPr>
          <p:cNvSpPr>
            <a:spLocks noGrp="1"/>
          </p:cNvSpPr>
          <p:nvPr>
            <p:ph idx="1"/>
          </p:nvPr>
        </p:nvSpPr>
        <p:spPr/>
        <p:txBody>
          <a:bodyPr vert="horz" lIns="91440" tIns="45720" rIns="91440" bIns="45720" rtlCol="0" anchor="t">
            <a:normAutofit/>
          </a:bodyPr>
          <a:lstStyle/>
          <a:p>
            <a:r>
              <a:rPr lang="en-US">
                <a:latin typeface="Calibri"/>
                <a:ea typeface="Calibri"/>
                <a:cs typeface="Calibri"/>
              </a:rPr>
              <a:t>Walk through each of the five SOC objectives above and identify, for the Target case, which were met, which were not, and at what point in the incident timeline the failure occurred. </a:t>
            </a:r>
          </a:p>
        </p:txBody>
      </p:sp>
    </p:spTree>
    <p:extLst>
      <p:ext uri="{BB962C8B-B14F-4D97-AF65-F5344CB8AC3E}">
        <p14:creationId xmlns:p14="http://schemas.microsoft.com/office/powerpoint/2010/main" val="3927819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B81C1-7656-43FF-860B-4CA3AE68BCF7}"/>
              </a:ext>
            </a:extLst>
          </p:cNvPr>
          <p:cNvSpPr>
            <a:spLocks noGrp="1"/>
          </p:cNvSpPr>
          <p:nvPr>
            <p:ph type="title"/>
          </p:nvPr>
        </p:nvSpPr>
        <p:spPr/>
        <p:txBody>
          <a:bodyPr/>
          <a:lstStyle/>
          <a:p>
            <a:r>
              <a:rPr lang="en-US">
                <a:cs typeface="DIN Next LT Arabic"/>
              </a:rPr>
              <a:t>Components of a SOC : </a:t>
            </a:r>
            <a:endParaRPr lang="en-US"/>
          </a:p>
        </p:txBody>
      </p:sp>
      <p:sp>
        <p:nvSpPr>
          <p:cNvPr id="4" name="Text Placeholder 3">
            <a:extLst>
              <a:ext uri="{FF2B5EF4-FFF2-40B4-BE49-F238E27FC236}">
                <a16:creationId xmlns:a16="http://schemas.microsoft.com/office/drawing/2014/main" id="{19A6E404-BB92-435D-945B-5877C12A295A}"/>
              </a:ext>
            </a:extLst>
          </p:cNvPr>
          <p:cNvSpPr>
            <a:spLocks noGrp="1"/>
          </p:cNvSpPr>
          <p:nvPr>
            <p:ph type="body" idx="1"/>
          </p:nvPr>
        </p:nvSpPr>
        <p:spPr/>
        <p:txBody>
          <a:bodyPr vert="horz" lIns="91440" tIns="45720" rIns="91440" bIns="45720" rtlCol="0" anchor="t">
            <a:normAutofit/>
          </a:bodyPr>
          <a:lstStyle/>
          <a:p>
            <a:r>
              <a:rPr lang="en-US">
                <a:cs typeface="DIN Next LT Arabic"/>
              </a:rPr>
              <a:t>People- Process- Technology </a:t>
            </a:r>
            <a:endParaRPr lang="en-US"/>
          </a:p>
        </p:txBody>
      </p:sp>
    </p:spTree>
    <p:extLst>
      <p:ext uri="{BB962C8B-B14F-4D97-AF65-F5344CB8AC3E}">
        <p14:creationId xmlns:p14="http://schemas.microsoft.com/office/powerpoint/2010/main" val="3438492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a:xfrm>
            <a:off x="838200" y="365126"/>
            <a:ext cx="10515600" cy="1325563"/>
          </a:xfrm>
        </p:spPr>
        <p:txBody>
          <a:bodyPr/>
          <a:lstStyle/>
          <a:p>
            <a:r>
              <a:rPr lang="en-US">
                <a:cs typeface="DIN Next LT Arabic"/>
              </a:rPr>
              <a:t>SOC in Cybersecurity </a:t>
            </a:r>
          </a:p>
        </p:txBody>
      </p:sp>
      <p:pic>
        <p:nvPicPr>
          <p:cNvPr id="4" name="Online Media 3" title="Security Operations Center (SOC) Explained">
            <a:hlinkClick r:id="" action="ppaction://noaction"/>
            <a:extLst>
              <a:ext uri="{FF2B5EF4-FFF2-40B4-BE49-F238E27FC236}">
                <a16:creationId xmlns:a16="http://schemas.microsoft.com/office/drawing/2014/main" id="{93B75C14-4312-065E-D18C-059A6A6929AC}"/>
              </a:ext>
            </a:extLst>
          </p:cNvPr>
          <p:cNvPicPr>
            <a:picLocks noGrp="1" noRot="1" noChangeAspect="1"/>
          </p:cNvPicPr>
          <p:nvPr>
            <p:ph idx="1"/>
            <a:videoFile r:link="rId1"/>
          </p:nvPr>
        </p:nvPicPr>
        <p:blipFill>
          <a:blip r:embed="rId3"/>
          <a:stretch>
            <a:fillRect/>
          </a:stretch>
        </p:blipFill>
        <p:spPr>
          <a:xfrm>
            <a:off x="2244725" y="1825625"/>
            <a:ext cx="7700963" cy="4351338"/>
          </a:xfrm>
          <a:prstGeom prst="rect">
            <a:avLst/>
          </a:prstGeom>
        </p:spPr>
      </p:pic>
    </p:spTree>
    <p:extLst>
      <p:ext uri="{BB962C8B-B14F-4D97-AF65-F5344CB8AC3E}">
        <p14:creationId xmlns:p14="http://schemas.microsoft.com/office/powerpoint/2010/main" val="2194797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p:txBody>
          <a:bodyPr/>
          <a:lstStyle/>
          <a:p>
            <a:r>
              <a:rPr lang="en-US"/>
              <a:t>Components of SOC</a:t>
            </a:r>
          </a:p>
        </p:txBody>
      </p:sp>
      <p:pic>
        <p:nvPicPr>
          <p:cNvPr id="5" name="Content Placeholder 4" descr="A diagram of a diagram&#10;&#10;Description automatically generated">
            <a:extLst>
              <a:ext uri="{FF2B5EF4-FFF2-40B4-BE49-F238E27FC236}">
                <a16:creationId xmlns:a16="http://schemas.microsoft.com/office/drawing/2014/main" id="{790DF9DF-2895-E4EF-9366-EC8C08B94A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6595" y="1825625"/>
            <a:ext cx="9178810" cy="4351338"/>
          </a:xfrm>
        </p:spPr>
      </p:pic>
    </p:spTree>
    <p:extLst>
      <p:ext uri="{BB962C8B-B14F-4D97-AF65-F5344CB8AC3E}">
        <p14:creationId xmlns:p14="http://schemas.microsoft.com/office/powerpoint/2010/main" val="220704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2CF1B-CCB3-F38C-F3FC-212CD710EBDE}"/>
              </a:ext>
            </a:extLst>
          </p:cNvPr>
          <p:cNvSpPr>
            <a:spLocks noGrp="1"/>
          </p:cNvSpPr>
          <p:nvPr>
            <p:ph type="title"/>
          </p:nvPr>
        </p:nvSpPr>
        <p:spPr/>
        <p:txBody>
          <a:bodyPr/>
          <a:lstStyle/>
          <a:p>
            <a:r>
              <a:rPr lang="en-US">
                <a:cs typeface="DIN Next LT Arabic"/>
              </a:rPr>
              <a:t>Components of SOC</a:t>
            </a:r>
          </a:p>
          <a:p>
            <a:endParaRPr lang="en-US"/>
          </a:p>
        </p:txBody>
      </p:sp>
      <p:pic>
        <p:nvPicPr>
          <p:cNvPr id="11" name="Picture 10">
            <a:extLst>
              <a:ext uri="{FF2B5EF4-FFF2-40B4-BE49-F238E27FC236}">
                <a16:creationId xmlns:a16="http://schemas.microsoft.com/office/drawing/2014/main" id="{32389736-2E83-EDAE-39AB-60B35D18D9B2}"/>
              </a:ext>
            </a:extLst>
          </p:cNvPr>
          <p:cNvPicPr>
            <a:picLocks noChangeAspect="1"/>
          </p:cNvPicPr>
          <p:nvPr/>
        </p:nvPicPr>
        <p:blipFill>
          <a:blip r:embed="rId2"/>
          <a:stretch>
            <a:fillRect/>
          </a:stretch>
        </p:blipFill>
        <p:spPr>
          <a:xfrm>
            <a:off x="1619250" y="1960677"/>
            <a:ext cx="9249834" cy="4524145"/>
          </a:xfrm>
          <a:prstGeom prst="rect">
            <a:avLst/>
          </a:prstGeom>
        </p:spPr>
      </p:pic>
      <p:sp>
        <p:nvSpPr>
          <p:cNvPr id="12" name="TextBox 11">
            <a:extLst>
              <a:ext uri="{FF2B5EF4-FFF2-40B4-BE49-F238E27FC236}">
                <a16:creationId xmlns:a16="http://schemas.microsoft.com/office/drawing/2014/main" id="{C2B54FF0-F977-D689-E4FC-37E717AFF2A7}"/>
              </a:ext>
            </a:extLst>
          </p:cNvPr>
          <p:cNvSpPr txBox="1"/>
          <p:nvPr/>
        </p:nvSpPr>
        <p:spPr>
          <a:xfrm>
            <a:off x="603251" y="1259416"/>
            <a:ext cx="1170516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A SOC's effectiveness rests on three interdependent components — people, process, and technology [1]. Strength in one area cannot fully compensate for weakness in another: skilled analysts without defined procedures improvise inconsistently, and the best tools generate value only when someone acts on what they report.</a:t>
            </a:r>
            <a:endParaRPr lang="en-US"/>
          </a:p>
        </p:txBody>
      </p:sp>
    </p:spTree>
    <p:extLst>
      <p:ext uri="{BB962C8B-B14F-4D97-AF65-F5344CB8AC3E}">
        <p14:creationId xmlns:p14="http://schemas.microsoft.com/office/powerpoint/2010/main" val="630816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6D8C7-556A-CCC5-D07B-7A4AFD0D76D7}"/>
              </a:ext>
            </a:extLst>
          </p:cNvPr>
          <p:cNvSpPr>
            <a:spLocks noGrp="1"/>
          </p:cNvSpPr>
          <p:nvPr>
            <p:ph type="title"/>
          </p:nvPr>
        </p:nvSpPr>
        <p:spPr/>
        <p:txBody>
          <a:bodyPr/>
          <a:lstStyle/>
          <a:p>
            <a:r>
              <a:rPr lang="en-US">
                <a:cs typeface="DIN Next LT Arabic"/>
              </a:rPr>
              <a:t>Components of SOC: People </a:t>
            </a:r>
            <a:endParaRPr lang="en-US"/>
          </a:p>
          <a:p>
            <a:endParaRPr lang="en-US"/>
          </a:p>
        </p:txBody>
      </p:sp>
      <p:graphicFrame>
        <p:nvGraphicFramePr>
          <p:cNvPr id="5" name="Content Placeholder 4">
            <a:extLst>
              <a:ext uri="{FF2B5EF4-FFF2-40B4-BE49-F238E27FC236}">
                <a16:creationId xmlns:a16="http://schemas.microsoft.com/office/drawing/2014/main" id="{5540CA9D-CC7D-4127-E2CD-E2BAD7BAD14C}"/>
              </a:ext>
            </a:extLst>
          </p:cNvPr>
          <p:cNvGraphicFramePr>
            <a:graphicFrameLocks noGrp="1"/>
          </p:cNvGraphicFramePr>
          <p:nvPr>
            <p:ph idx="1"/>
            <p:extLst>
              <p:ext uri="{D42A27DB-BD31-4B8C-83A1-F6EECF244321}">
                <p14:modId xmlns:p14="http://schemas.microsoft.com/office/powerpoint/2010/main" val="1603429141"/>
              </p:ext>
            </p:extLst>
          </p:nvPr>
        </p:nvGraphicFramePr>
        <p:xfrm>
          <a:off x="372533" y="1826038"/>
          <a:ext cx="10515598" cy="3230880"/>
        </p:xfrm>
        <a:graphic>
          <a:graphicData uri="http://schemas.openxmlformats.org/drawingml/2006/table">
            <a:tbl>
              <a:tblPr bandRow="1">
                <a:tableStyleId>{91EBBBCC-DAD2-459C-BE2E-F6DE35CF9A28}</a:tableStyleId>
              </a:tblPr>
              <a:tblGrid>
                <a:gridCol w="3505199">
                  <a:extLst>
                    <a:ext uri="{9D8B030D-6E8A-4147-A177-3AD203B41FA5}">
                      <a16:colId xmlns:a16="http://schemas.microsoft.com/office/drawing/2014/main" val="821278733"/>
                    </a:ext>
                  </a:extLst>
                </a:gridCol>
                <a:gridCol w="2804583">
                  <a:extLst>
                    <a:ext uri="{9D8B030D-6E8A-4147-A177-3AD203B41FA5}">
                      <a16:colId xmlns:a16="http://schemas.microsoft.com/office/drawing/2014/main" val="1298225752"/>
                    </a:ext>
                  </a:extLst>
                </a:gridCol>
                <a:gridCol w="4205816">
                  <a:extLst>
                    <a:ext uri="{9D8B030D-6E8A-4147-A177-3AD203B41FA5}">
                      <a16:colId xmlns:a16="http://schemas.microsoft.com/office/drawing/2014/main" val="2087556413"/>
                    </a:ext>
                  </a:extLst>
                </a:gridCol>
              </a:tblGrid>
              <a:tr h="0">
                <a:tc>
                  <a:txBody>
                    <a:bodyPr/>
                    <a:lstStyle/>
                    <a:p>
                      <a:pPr>
                        <a:buNone/>
                      </a:pPr>
                      <a:r>
                        <a:rPr lang="en-US" sz="1400">
                          <a:latin typeface="Calibri"/>
                          <a:ea typeface="Calibri"/>
                          <a:cs typeface="Calibri"/>
                        </a:rPr>
                        <a:t>Role</a:t>
                      </a:r>
                    </a:p>
                  </a:txBody>
                  <a:tcPr anchor="ctr"/>
                </a:tc>
                <a:tc>
                  <a:txBody>
                    <a:bodyPr/>
                    <a:lstStyle/>
                    <a:p>
                      <a:pPr>
                        <a:buNone/>
                      </a:pPr>
                      <a:r>
                        <a:rPr lang="en-US" sz="1400">
                          <a:latin typeface="Calibri"/>
                          <a:ea typeface="Calibri"/>
                          <a:cs typeface="Calibri"/>
                        </a:rPr>
                        <a:t>Primary Focus</a:t>
                      </a:r>
                    </a:p>
                  </a:txBody>
                  <a:tcPr anchor="ctr"/>
                </a:tc>
                <a:tc>
                  <a:txBody>
                    <a:bodyPr/>
                    <a:lstStyle/>
                    <a:p>
                      <a:pPr>
                        <a:buNone/>
                      </a:pPr>
                      <a:r>
                        <a:rPr lang="en-US" sz="1400">
                          <a:latin typeface="Calibri"/>
                          <a:ea typeface="Calibri"/>
                          <a:cs typeface="Calibri"/>
                        </a:rPr>
                        <a:t>Key Duties</a:t>
                      </a:r>
                    </a:p>
                  </a:txBody>
                  <a:tcPr anchor="ctr"/>
                </a:tc>
                <a:extLst>
                  <a:ext uri="{0D108BD9-81ED-4DB2-BD59-A6C34878D82A}">
                    <a16:rowId xmlns:a16="http://schemas.microsoft.com/office/drawing/2014/main" val="1118300571"/>
                  </a:ext>
                </a:extLst>
              </a:tr>
              <a:tr h="0">
                <a:tc>
                  <a:txBody>
                    <a:bodyPr/>
                    <a:lstStyle/>
                    <a:p>
                      <a:pPr>
                        <a:buNone/>
                      </a:pPr>
                      <a:r>
                        <a:rPr lang="en-US" sz="1400">
                          <a:solidFill>
                            <a:schemeClr val="tx1"/>
                          </a:solidFill>
                          <a:latin typeface="Calibri"/>
                          <a:ea typeface="Calibri"/>
                          <a:cs typeface="Calibri"/>
                        </a:rPr>
                        <a:t>SOC Analyst – Tier 1</a:t>
                      </a:r>
                    </a:p>
                  </a:txBody>
                  <a:tcPr anchor="ctr"/>
                </a:tc>
                <a:tc>
                  <a:txBody>
                    <a:bodyPr/>
                    <a:lstStyle/>
                    <a:p>
                      <a:pPr>
                        <a:buNone/>
                      </a:pPr>
                      <a:r>
                        <a:rPr lang="en-US" sz="1400">
                          <a:latin typeface="Calibri"/>
                          <a:ea typeface="Calibri"/>
                          <a:cs typeface="Calibri"/>
                        </a:rPr>
                        <a:t>Initial detection (frontline)</a:t>
                      </a:r>
                    </a:p>
                  </a:txBody>
                  <a:tcPr anchor="ctr"/>
                </a:tc>
                <a:tc>
                  <a:txBody>
                    <a:bodyPr/>
                    <a:lstStyle/>
                    <a:p>
                      <a:pPr>
                        <a:buNone/>
                      </a:pPr>
                      <a:r>
                        <a:rPr lang="en-US" sz="1400">
                          <a:latin typeface="Calibri"/>
                          <a:ea typeface="Calibri"/>
                          <a:cs typeface="Calibri"/>
                        </a:rPr>
                        <a:t>Monitor SIEM tools; analyze alerts for urgency; perform initial triage to eliminate false positives; escalate to Tier 2 when needed</a:t>
                      </a:r>
                    </a:p>
                  </a:txBody>
                  <a:tcPr anchor="ctr"/>
                </a:tc>
                <a:extLst>
                  <a:ext uri="{0D108BD9-81ED-4DB2-BD59-A6C34878D82A}">
                    <a16:rowId xmlns:a16="http://schemas.microsoft.com/office/drawing/2014/main" val="3410775941"/>
                  </a:ext>
                </a:extLst>
              </a:tr>
              <a:tr h="0">
                <a:tc>
                  <a:txBody>
                    <a:bodyPr/>
                    <a:lstStyle/>
                    <a:p>
                      <a:pPr>
                        <a:buNone/>
                      </a:pPr>
                      <a:r>
                        <a:rPr lang="en-US" sz="1400">
                          <a:solidFill>
                            <a:schemeClr val="tx1"/>
                          </a:solidFill>
                          <a:latin typeface="Calibri"/>
                          <a:ea typeface="Calibri"/>
                          <a:cs typeface="Calibri"/>
                        </a:rPr>
                        <a:t>SOC Analyst – Tier 2</a:t>
                      </a:r>
                    </a:p>
                  </a:txBody>
                  <a:tcPr anchor="ctr"/>
                </a:tc>
                <a:tc>
                  <a:txBody>
                    <a:bodyPr/>
                    <a:lstStyle/>
                    <a:p>
                      <a:pPr>
                        <a:buNone/>
                      </a:pPr>
                      <a:r>
                        <a:rPr lang="en-US" sz="1400">
                          <a:latin typeface="Calibri"/>
                          <a:ea typeface="Calibri"/>
                          <a:cs typeface="Calibri"/>
                        </a:rPr>
                        <a:t>Incident response / deeper analysis</a:t>
                      </a:r>
                    </a:p>
                  </a:txBody>
                  <a:tcPr anchor="ctr"/>
                </a:tc>
                <a:tc>
                  <a:txBody>
                    <a:bodyPr/>
                    <a:lstStyle/>
                    <a:p>
                      <a:pPr>
                        <a:buNone/>
                      </a:pPr>
                      <a:r>
                        <a:rPr lang="en-US" sz="1400">
                          <a:latin typeface="Calibri"/>
                          <a:ea typeface="Calibri"/>
                          <a:cs typeface="Calibri"/>
                        </a:rPr>
                        <a:t>Investigate escalated incidents to confirm genuine threats; conduct root cause analysis; propose or apply mitigation; liaise with IT/development teams</a:t>
                      </a:r>
                    </a:p>
                  </a:txBody>
                  <a:tcPr anchor="ctr"/>
                </a:tc>
                <a:extLst>
                  <a:ext uri="{0D108BD9-81ED-4DB2-BD59-A6C34878D82A}">
                    <a16:rowId xmlns:a16="http://schemas.microsoft.com/office/drawing/2014/main" val="1506084515"/>
                  </a:ext>
                </a:extLst>
              </a:tr>
              <a:tr h="571500">
                <a:tc>
                  <a:txBody>
                    <a:bodyPr/>
                    <a:lstStyle/>
                    <a:p>
                      <a:pPr>
                        <a:buNone/>
                      </a:pPr>
                      <a:r>
                        <a:rPr lang="en-US" sz="1400">
                          <a:solidFill>
                            <a:schemeClr val="tx1"/>
                          </a:solidFill>
                          <a:latin typeface="Calibri"/>
                          <a:ea typeface="Calibri"/>
                          <a:cs typeface="Calibri"/>
                        </a:rPr>
                        <a:t>SOC Analyst – Tier 3</a:t>
                      </a:r>
                    </a:p>
                  </a:txBody>
                  <a:tcPr anchor="ctr"/>
                </a:tc>
                <a:tc>
                  <a:txBody>
                    <a:bodyPr/>
                    <a:lstStyle/>
                    <a:p>
                      <a:pPr>
                        <a:buNone/>
                      </a:pPr>
                      <a:r>
                        <a:rPr lang="en-US" sz="1400">
                          <a:latin typeface="Calibri"/>
                          <a:ea typeface="Calibri"/>
                          <a:cs typeface="Calibri"/>
                        </a:rPr>
                        <a:t>Threat hunting</a:t>
                      </a:r>
                    </a:p>
                  </a:txBody>
                  <a:tcPr anchor="ctr"/>
                </a:tc>
                <a:tc>
                  <a:txBody>
                    <a:bodyPr/>
                    <a:lstStyle/>
                    <a:p>
                      <a:pPr>
                        <a:buNone/>
                      </a:pPr>
                      <a:r>
                        <a:rPr lang="en-US" sz="1400">
                          <a:latin typeface="Calibri"/>
                          <a:ea typeface="Calibri"/>
                          <a:cs typeface="Calibri"/>
                        </a:rPr>
                        <a:t>Proactively hunt for anomalies that don't trigger standard alerts; develop custom detection rules; stay current on emerging threats; deep-dive investigations</a:t>
                      </a:r>
                    </a:p>
                  </a:txBody>
                  <a:tcPr anchor="ctr"/>
                </a:tc>
                <a:extLst>
                  <a:ext uri="{0D108BD9-81ED-4DB2-BD59-A6C34878D82A}">
                    <a16:rowId xmlns:a16="http://schemas.microsoft.com/office/drawing/2014/main" val="3543515864"/>
                  </a:ext>
                </a:extLst>
              </a:tr>
              <a:tr h="0">
                <a:tc>
                  <a:txBody>
                    <a:bodyPr/>
                    <a:lstStyle/>
                    <a:p>
                      <a:pPr lvl="0">
                        <a:buNone/>
                      </a:pPr>
                      <a:r>
                        <a:rPr lang="en-US" sz="1400">
                          <a:solidFill>
                            <a:schemeClr val="tx1"/>
                          </a:solidFill>
                          <a:latin typeface="Calibri"/>
                          <a:ea typeface="Calibri"/>
                          <a:cs typeface="Calibri"/>
                        </a:rPr>
                        <a:t>Incident Responder</a:t>
                      </a:r>
                    </a:p>
                  </a:txBody>
                  <a:tcPr anchor="ctr"/>
                </a:tc>
                <a:tc>
                  <a:txBody>
                    <a:bodyPr/>
                    <a:lstStyle/>
                    <a:p>
                      <a:pPr lvl="0">
                        <a:buNone/>
                      </a:pPr>
                      <a:r>
                        <a:rPr lang="en-US" sz="1400">
                          <a:latin typeface="Calibri"/>
                          <a:ea typeface="Calibri"/>
                          <a:cs typeface="Calibri"/>
                        </a:rPr>
                        <a:t>Active incident handling</a:t>
                      </a:r>
                    </a:p>
                  </a:txBody>
                  <a:tcPr anchor="ctr"/>
                </a:tc>
                <a:tc>
                  <a:txBody>
                    <a:bodyPr/>
                    <a:lstStyle/>
                    <a:p>
                      <a:pPr lvl="0">
                        <a:buNone/>
                      </a:pPr>
                      <a:r>
                        <a:rPr lang="en-US" sz="1400">
                          <a:latin typeface="Calibri"/>
                          <a:ea typeface="Calibri"/>
                          <a:cs typeface="Calibri"/>
                        </a:rPr>
                        <a:t>Contain and mitigate breaches; collaborate to isolate compromised systems; collect forensic data; guide recovery and restoration</a:t>
                      </a:r>
                    </a:p>
                  </a:txBody>
                  <a:tcPr anchor="ctr"/>
                </a:tc>
                <a:extLst>
                  <a:ext uri="{0D108BD9-81ED-4DB2-BD59-A6C34878D82A}">
                    <a16:rowId xmlns:a16="http://schemas.microsoft.com/office/drawing/2014/main" val="336039002"/>
                  </a:ext>
                </a:extLst>
              </a:tr>
            </a:tbl>
          </a:graphicData>
        </a:graphic>
      </p:graphicFrame>
    </p:spTree>
    <p:extLst>
      <p:ext uri="{BB962C8B-B14F-4D97-AF65-F5344CB8AC3E}">
        <p14:creationId xmlns:p14="http://schemas.microsoft.com/office/powerpoint/2010/main" val="3028432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17069-70A3-0467-1362-EDB8C5FA1449}"/>
              </a:ext>
            </a:extLst>
          </p:cNvPr>
          <p:cNvSpPr>
            <a:spLocks noGrp="1"/>
          </p:cNvSpPr>
          <p:nvPr>
            <p:ph type="title"/>
          </p:nvPr>
        </p:nvSpPr>
        <p:spPr/>
        <p:txBody>
          <a:bodyPr/>
          <a:lstStyle/>
          <a:p>
            <a:r>
              <a:rPr lang="en-US"/>
              <a:t>Components of SOC: People </a:t>
            </a:r>
          </a:p>
          <a:p>
            <a:endParaRPr lang="en-US"/>
          </a:p>
        </p:txBody>
      </p:sp>
      <p:graphicFrame>
        <p:nvGraphicFramePr>
          <p:cNvPr id="7" name="Content Placeholder 6">
            <a:extLst>
              <a:ext uri="{FF2B5EF4-FFF2-40B4-BE49-F238E27FC236}">
                <a16:creationId xmlns:a16="http://schemas.microsoft.com/office/drawing/2014/main" id="{0FA5CE90-BD5E-4D9E-25AF-9577668A6296}"/>
              </a:ext>
            </a:extLst>
          </p:cNvPr>
          <p:cNvGraphicFramePr>
            <a:graphicFrameLocks noGrp="1"/>
          </p:cNvGraphicFramePr>
          <p:nvPr>
            <p:ph idx="1"/>
            <p:extLst>
              <p:ext uri="{D42A27DB-BD31-4B8C-83A1-F6EECF244321}">
                <p14:modId xmlns:p14="http://schemas.microsoft.com/office/powerpoint/2010/main" val="485324326"/>
              </p:ext>
            </p:extLst>
          </p:nvPr>
        </p:nvGraphicFramePr>
        <p:xfrm>
          <a:off x="838200" y="1709137"/>
          <a:ext cx="10515597" cy="4404608"/>
        </p:xfrm>
        <a:graphic>
          <a:graphicData uri="http://schemas.openxmlformats.org/drawingml/2006/table">
            <a:tbl>
              <a:tblPr bandRow="1">
                <a:tableStyleId>{91EBBBCC-DAD2-459C-BE2E-F6DE35CF9A28}</a:tableStyleId>
              </a:tblPr>
              <a:tblGrid>
                <a:gridCol w="3505199">
                  <a:extLst>
                    <a:ext uri="{9D8B030D-6E8A-4147-A177-3AD203B41FA5}">
                      <a16:colId xmlns:a16="http://schemas.microsoft.com/office/drawing/2014/main" val="2383956276"/>
                    </a:ext>
                  </a:extLst>
                </a:gridCol>
                <a:gridCol w="2571750">
                  <a:extLst>
                    <a:ext uri="{9D8B030D-6E8A-4147-A177-3AD203B41FA5}">
                      <a16:colId xmlns:a16="http://schemas.microsoft.com/office/drawing/2014/main" val="889574234"/>
                    </a:ext>
                  </a:extLst>
                </a:gridCol>
                <a:gridCol w="4438648">
                  <a:extLst>
                    <a:ext uri="{9D8B030D-6E8A-4147-A177-3AD203B41FA5}">
                      <a16:colId xmlns:a16="http://schemas.microsoft.com/office/drawing/2014/main" val="2984849201"/>
                    </a:ext>
                  </a:extLst>
                </a:gridCol>
              </a:tblGrid>
              <a:tr h="571500">
                <a:tc>
                  <a:txBody>
                    <a:bodyPr/>
                    <a:lstStyle/>
                    <a:p>
                      <a:pPr lvl="0">
                        <a:buNone/>
                      </a:pPr>
                      <a:r>
                        <a:rPr lang="en-US" sz="1400">
                          <a:latin typeface="Calibri"/>
                          <a:ea typeface="Calibri"/>
                          <a:cs typeface="Calibri"/>
                        </a:rPr>
                        <a:t>Role</a:t>
                      </a:r>
                      <a:endParaRPr lang="en-US"/>
                    </a:p>
                  </a:txBody>
                  <a:tcPr anchor="ctr"/>
                </a:tc>
                <a:tc>
                  <a:txBody>
                    <a:bodyPr/>
                    <a:lstStyle/>
                    <a:p>
                      <a:pPr lvl="0">
                        <a:buNone/>
                      </a:pPr>
                      <a:r>
                        <a:rPr lang="en-US" sz="1400">
                          <a:latin typeface="Calibri"/>
                          <a:ea typeface="Calibri"/>
                          <a:cs typeface="Calibri"/>
                        </a:rPr>
                        <a:t>Primary Focus</a:t>
                      </a:r>
                      <a:endParaRPr lang="en-US"/>
                    </a:p>
                  </a:txBody>
                  <a:tcPr anchor="ctr"/>
                </a:tc>
                <a:tc>
                  <a:txBody>
                    <a:bodyPr/>
                    <a:lstStyle/>
                    <a:p>
                      <a:pPr lvl="0">
                        <a:buNone/>
                      </a:pPr>
                      <a:r>
                        <a:rPr lang="en-US" sz="1400">
                          <a:latin typeface="Calibri"/>
                          <a:ea typeface="Calibri"/>
                          <a:cs typeface="Calibri"/>
                        </a:rPr>
                        <a:t>Key Duties</a:t>
                      </a:r>
                      <a:endParaRPr lang="en-US"/>
                    </a:p>
                  </a:txBody>
                  <a:tcPr anchor="ctr"/>
                </a:tc>
                <a:extLst>
                  <a:ext uri="{0D108BD9-81ED-4DB2-BD59-A6C34878D82A}">
                    <a16:rowId xmlns:a16="http://schemas.microsoft.com/office/drawing/2014/main" val="65082604"/>
                  </a:ext>
                </a:extLst>
              </a:tr>
              <a:tr h="571500">
                <a:tc>
                  <a:txBody>
                    <a:bodyPr/>
                    <a:lstStyle/>
                    <a:p>
                      <a:pPr marL="0" marR="0" lvl="0" indent="0" algn="l" rtl="0">
                        <a:buNone/>
                      </a:pPr>
                      <a:r>
                        <a:rPr lang="en-US" sz="1400">
                          <a:solidFill>
                            <a:srgbClr val="000000"/>
                          </a:solidFill>
                          <a:effectLst/>
                          <a:latin typeface="Calibri"/>
                          <a:ea typeface="Calibri"/>
                          <a:cs typeface="Calibri"/>
                        </a:rPr>
                        <a:t>SOC Engineer</a:t>
                      </a:r>
                      <a:endParaRPr lang="en-US"/>
                    </a:p>
                  </a:txBody>
                  <a:tcPr marL="82296" marR="82296" marT="41148" marB="41148" anchor="ctr"/>
                </a:tc>
                <a:tc>
                  <a:txBody>
                    <a:bodyPr/>
                    <a:lstStyle/>
                    <a:p>
                      <a:pPr marL="0" marR="0" lvl="0" indent="0" algn="l" rtl="0">
                        <a:buNone/>
                      </a:pPr>
                      <a:r>
                        <a:rPr lang="en-US" sz="1400">
                          <a:solidFill>
                            <a:srgbClr val="000000"/>
                          </a:solidFill>
                          <a:effectLst/>
                          <a:latin typeface="Calibri"/>
                          <a:ea typeface="Calibri"/>
                          <a:cs typeface="Calibri"/>
                        </a:rPr>
                        <a:t>Infrastructure and tooling</a:t>
                      </a:r>
                      <a:endParaRPr lang="en-US"/>
                    </a:p>
                  </a:txBody>
                  <a:tcPr marL="82296" marR="82296" marT="41148" marB="41148" anchor="ctr"/>
                </a:tc>
                <a:tc>
                  <a:txBody>
                    <a:bodyPr/>
                    <a:lstStyle/>
                    <a:p>
                      <a:pPr marL="0" marR="0" lvl="0" indent="0" algn="l" rtl="0">
                        <a:buNone/>
                      </a:pPr>
                      <a:r>
                        <a:rPr lang="en-US" sz="1400">
                          <a:solidFill>
                            <a:srgbClr val="000000"/>
                          </a:solidFill>
                          <a:effectLst/>
                          <a:latin typeface="Calibri"/>
                          <a:ea typeface="Calibri"/>
                          <a:cs typeface="Calibri"/>
                        </a:rPr>
                        <a:t>Manage SIEM/firewalls/IDS-IPS/endpoint protection; ensure monitoring system reliability and scalability; integrate new data sources; help build playbooks</a:t>
                      </a:r>
                      <a:endParaRPr lang="en-US"/>
                    </a:p>
                  </a:txBody>
                  <a:tcPr marL="82296" marR="82296" marT="41148" marB="41148" anchor="ctr"/>
                </a:tc>
                <a:extLst>
                  <a:ext uri="{0D108BD9-81ED-4DB2-BD59-A6C34878D82A}">
                    <a16:rowId xmlns:a16="http://schemas.microsoft.com/office/drawing/2014/main" val="2584643838"/>
                  </a:ext>
                </a:extLst>
              </a:tr>
              <a:tr h="571500">
                <a:tc>
                  <a:txBody>
                    <a:bodyPr/>
                    <a:lstStyle/>
                    <a:p>
                      <a:pPr marL="0" marR="0" indent="0" algn="l" rtl="0" fontAlgn="base">
                        <a:buNone/>
                      </a:pPr>
                      <a:r>
                        <a:rPr lang="en-US" sz="1400">
                          <a:solidFill>
                            <a:srgbClr val="000000"/>
                          </a:solidFill>
                          <a:effectLst/>
                          <a:latin typeface="Calibri"/>
                          <a:ea typeface="Calibri"/>
                          <a:cs typeface="Calibri"/>
                        </a:rPr>
                        <a:t>SOC Manager</a:t>
                      </a:r>
                    </a:p>
                  </a:txBody>
                  <a:tcPr marL="82296" marR="82296" marT="41148" marB="41148" anchor="ctr"/>
                </a:tc>
                <a:tc>
                  <a:txBody>
                    <a:bodyPr/>
                    <a:lstStyle/>
                    <a:p>
                      <a:pPr marL="0" marR="0" indent="0" algn="l" rtl="0" fontAlgn="base">
                        <a:buNone/>
                      </a:pPr>
                      <a:r>
                        <a:rPr lang="en-US" sz="1400">
                          <a:solidFill>
                            <a:srgbClr val="000000"/>
                          </a:solidFill>
                          <a:effectLst/>
                          <a:latin typeface="Calibri"/>
                          <a:ea typeface="Calibri"/>
                          <a:cs typeface="Calibri"/>
                        </a:rPr>
                        <a:t>Team leadership and strategy</a:t>
                      </a:r>
                    </a:p>
                  </a:txBody>
                  <a:tcPr marL="82296" marR="82296" marT="41148" marB="41148" anchor="ctr"/>
                </a:tc>
                <a:tc>
                  <a:txBody>
                    <a:bodyPr/>
                    <a:lstStyle/>
                    <a:p>
                      <a:pPr marL="0" marR="0" indent="0" algn="l" rtl="0" fontAlgn="base">
                        <a:buNone/>
                      </a:pPr>
                      <a:r>
                        <a:rPr lang="en-US" sz="1400">
                          <a:solidFill>
                            <a:srgbClr val="000000"/>
                          </a:solidFill>
                          <a:effectLst/>
                          <a:latin typeface="Calibri"/>
                          <a:ea typeface="Calibri"/>
                          <a:cs typeface="Calibri"/>
                        </a:rPr>
                        <a:t>Develop security policies and IR playbooks; coordinate team efforts and prioritize responses; set strategic direction; report to upper management</a:t>
                      </a:r>
                    </a:p>
                  </a:txBody>
                  <a:tcPr marL="82296" marR="82296" marT="41148" marB="41148" anchor="ctr"/>
                </a:tc>
                <a:extLst>
                  <a:ext uri="{0D108BD9-81ED-4DB2-BD59-A6C34878D82A}">
                    <a16:rowId xmlns:a16="http://schemas.microsoft.com/office/drawing/2014/main" val="2855667101"/>
                  </a:ext>
                </a:extLst>
              </a:tr>
              <a:tr h="730244">
                <a:tc>
                  <a:txBody>
                    <a:bodyPr/>
                    <a:lstStyle/>
                    <a:p>
                      <a:pPr marL="0" marR="0" indent="0" algn="l" rtl="0" fontAlgn="base">
                        <a:buNone/>
                      </a:pPr>
                      <a:r>
                        <a:rPr lang="en-US" sz="1400">
                          <a:solidFill>
                            <a:srgbClr val="000000"/>
                          </a:solidFill>
                          <a:effectLst/>
                          <a:latin typeface="Calibri"/>
                          <a:ea typeface="Calibri"/>
                          <a:cs typeface="Calibri"/>
                        </a:rPr>
                        <a:t>Threat Intelligence Analyst</a:t>
                      </a:r>
                    </a:p>
                  </a:txBody>
                  <a:tcPr marL="82296" marR="82296" marT="41148" marB="41148" anchor="ctr"/>
                </a:tc>
                <a:tc>
                  <a:txBody>
                    <a:bodyPr/>
                    <a:lstStyle/>
                    <a:p>
                      <a:pPr marL="0" marR="0" indent="0" algn="l" rtl="0" fontAlgn="base">
                        <a:buNone/>
                      </a:pPr>
                      <a:r>
                        <a:rPr lang="en-US" sz="1400">
                          <a:solidFill>
                            <a:srgbClr val="000000"/>
                          </a:solidFill>
                          <a:effectLst/>
                          <a:latin typeface="Calibri"/>
                          <a:ea typeface="Calibri"/>
                          <a:cs typeface="Calibri"/>
                        </a:rPr>
                        <a:t>External threat awareness</a:t>
                      </a:r>
                    </a:p>
                  </a:txBody>
                  <a:tcPr marL="82296" marR="82296" marT="41148" marB="41148" anchor="ctr"/>
                </a:tc>
                <a:tc>
                  <a:txBody>
                    <a:bodyPr/>
                    <a:lstStyle/>
                    <a:p>
                      <a:pPr marL="0" marR="0" indent="0" algn="l" rtl="0" fontAlgn="base">
                        <a:buNone/>
                      </a:pPr>
                      <a:r>
                        <a:rPr lang="en-US" sz="1400">
                          <a:solidFill>
                            <a:srgbClr val="000000"/>
                          </a:solidFill>
                          <a:effectLst/>
                          <a:latin typeface="Calibri"/>
                          <a:ea typeface="Calibri"/>
                          <a:cs typeface="Calibri"/>
                        </a:rPr>
                        <a:t>Collect and disseminate threat intel to the team; identify relevant vulnerabilities/risks; correlate global threats with internal incidents; maintain intel-sharing relationships</a:t>
                      </a:r>
                    </a:p>
                  </a:txBody>
                  <a:tcPr marL="82296" marR="82296" marT="41148" marB="41148" anchor="ctr"/>
                </a:tc>
                <a:extLst>
                  <a:ext uri="{0D108BD9-81ED-4DB2-BD59-A6C34878D82A}">
                    <a16:rowId xmlns:a16="http://schemas.microsoft.com/office/drawing/2014/main" val="2368552616"/>
                  </a:ext>
                </a:extLst>
              </a:tr>
              <a:tr h="730244">
                <a:tc>
                  <a:txBody>
                    <a:bodyPr/>
                    <a:lstStyle/>
                    <a:p>
                      <a:pPr marL="0" marR="0" indent="0" algn="l" rtl="0" fontAlgn="base">
                        <a:buNone/>
                      </a:pPr>
                      <a:r>
                        <a:rPr lang="en-US" sz="1400">
                          <a:solidFill>
                            <a:srgbClr val="000000"/>
                          </a:solidFill>
                          <a:effectLst/>
                          <a:latin typeface="Calibri"/>
                          <a:ea typeface="Calibri"/>
                          <a:cs typeface="Calibri"/>
                        </a:rPr>
                        <a:t>Forensic Investigator</a:t>
                      </a:r>
                    </a:p>
                  </a:txBody>
                  <a:tcPr marL="82296" marR="82296" marT="41148" marB="41148" anchor="ctr"/>
                </a:tc>
                <a:tc>
                  <a:txBody>
                    <a:bodyPr/>
                    <a:lstStyle/>
                    <a:p>
                      <a:pPr marL="0" marR="0" indent="0" algn="l" rtl="0" fontAlgn="base">
                        <a:buNone/>
                      </a:pPr>
                      <a:r>
                        <a:rPr lang="en-US" sz="1400">
                          <a:solidFill>
                            <a:srgbClr val="000000"/>
                          </a:solidFill>
                          <a:effectLst/>
                          <a:latin typeface="Calibri"/>
                          <a:ea typeface="Calibri"/>
                          <a:cs typeface="Calibri"/>
                        </a:rPr>
                        <a:t>Post-incident investigation</a:t>
                      </a:r>
                    </a:p>
                  </a:txBody>
                  <a:tcPr marL="82296" marR="82296" marT="41148" marB="41148" anchor="ctr"/>
                </a:tc>
                <a:tc>
                  <a:txBody>
                    <a:bodyPr/>
                    <a:lstStyle/>
                    <a:p>
                      <a:pPr marL="0" marR="0" indent="0" algn="l" rtl="0" fontAlgn="base">
                        <a:buNone/>
                      </a:pPr>
                      <a:r>
                        <a:rPr lang="en-US" sz="1400">
                          <a:solidFill>
                            <a:srgbClr val="000000"/>
                          </a:solidFill>
                          <a:effectLst/>
                          <a:latin typeface="Calibri"/>
                          <a:ea typeface="Calibri"/>
                          <a:cs typeface="Calibri"/>
                        </a:rPr>
                        <a:t>Perform in-depth analysis of compromised systems; preserve and document evidence for legal proceedings; work with legal/law enforcement; produce post-mortem reports</a:t>
                      </a:r>
                    </a:p>
                  </a:txBody>
                  <a:tcPr marL="82296" marR="82296" marT="41148" marB="41148" anchor="ctr"/>
                </a:tc>
                <a:extLst>
                  <a:ext uri="{0D108BD9-81ED-4DB2-BD59-A6C34878D82A}">
                    <a16:rowId xmlns:a16="http://schemas.microsoft.com/office/drawing/2014/main" val="1158143265"/>
                  </a:ext>
                </a:extLst>
              </a:tr>
              <a:tr h="571500">
                <a:tc>
                  <a:txBody>
                    <a:bodyPr/>
                    <a:lstStyle/>
                    <a:p>
                      <a:pPr marL="0" marR="0" indent="0" algn="l" rtl="0" fontAlgn="base">
                        <a:buNone/>
                      </a:pPr>
                      <a:r>
                        <a:rPr lang="en-US" sz="1400">
                          <a:solidFill>
                            <a:srgbClr val="000000"/>
                          </a:solidFill>
                          <a:effectLst/>
                          <a:latin typeface="Calibri"/>
                          <a:ea typeface="Calibri"/>
                          <a:cs typeface="Calibri"/>
                        </a:rPr>
                        <a:t>Compliance Officer / Auditor</a:t>
                      </a:r>
                    </a:p>
                  </a:txBody>
                  <a:tcPr marL="82296" marR="82296" marT="41148" marB="41148" anchor="ctr"/>
                </a:tc>
                <a:tc>
                  <a:txBody>
                    <a:bodyPr/>
                    <a:lstStyle/>
                    <a:p>
                      <a:pPr marL="0" marR="0" indent="0" algn="l" rtl="0" fontAlgn="base">
                        <a:buNone/>
                      </a:pPr>
                      <a:r>
                        <a:rPr lang="en-US" sz="1400">
                          <a:solidFill>
                            <a:srgbClr val="000000"/>
                          </a:solidFill>
                          <a:effectLst/>
                          <a:latin typeface="Calibri"/>
                          <a:ea typeface="Calibri"/>
                          <a:cs typeface="Calibri"/>
                        </a:rPr>
                        <a:t>Regulatory alignment</a:t>
                      </a:r>
                    </a:p>
                  </a:txBody>
                  <a:tcPr marL="82296" marR="82296" marT="41148" marB="41148" anchor="ctr"/>
                </a:tc>
                <a:tc>
                  <a:txBody>
                    <a:bodyPr/>
                    <a:lstStyle/>
                    <a:p>
                      <a:pPr marL="0" marR="0" indent="0" algn="l" rtl="0" fontAlgn="base">
                        <a:buNone/>
                      </a:pPr>
                      <a:r>
                        <a:rPr lang="en-US" sz="1400">
                          <a:solidFill>
                            <a:srgbClr val="000000"/>
                          </a:solidFill>
                          <a:effectLst/>
                          <a:latin typeface="Calibri"/>
                          <a:ea typeface="Calibri"/>
                          <a:cs typeface="Calibri"/>
                        </a:rPr>
                        <a:t>Audit SOC procedures and controls; ensure adherence to GDPR/HIPAA/PCI-DSS etc.; recommend improvements; provide audit reports to regulators</a:t>
                      </a:r>
                    </a:p>
                  </a:txBody>
                  <a:tcPr marL="82296" marR="82296" marT="41148" marB="41148" anchor="ctr"/>
                </a:tc>
                <a:extLst>
                  <a:ext uri="{0D108BD9-81ED-4DB2-BD59-A6C34878D82A}">
                    <a16:rowId xmlns:a16="http://schemas.microsoft.com/office/drawing/2014/main" val="856518540"/>
                  </a:ext>
                </a:extLst>
              </a:tr>
            </a:tbl>
          </a:graphicData>
        </a:graphic>
      </p:graphicFrame>
    </p:spTree>
    <p:extLst>
      <p:ext uri="{BB962C8B-B14F-4D97-AF65-F5344CB8AC3E}">
        <p14:creationId xmlns:p14="http://schemas.microsoft.com/office/powerpoint/2010/main" val="3802842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8BAB0-00A8-39E8-CF51-EF4318C2E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34876-425A-7001-FA74-9ADAD91602E2}"/>
              </a:ext>
            </a:extLst>
          </p:cNvPr>
          <p:cNvSpPr>
            <a:spLocks noGrp="1"/>
          </p:cNvSpPr>
          <p:nvPr>
            <p:ph type="title"/>
          </p:nvPr>
        </p:nvSpPr>
        <p:spPr/>
        <p:txBody>
          <a:bodyPr/>
          <a:lstStyle/>
          <a:p>
            <a:r>
              <a:rPr lang="en-US"/>
              <a:t>Components of SOC: People </a:t>
            </a:r>
          </a:p>
          <a:p>
            <a:endParaRPr lang="en-US"/>
          </a:p>
        </p:txBody>
      </p:sp>
      <p:pic>
        <p:nvPicPr>
          <p:cNvPr id="5" name="Content Placeholder 4">
            <a:extLst>
              <a:ext uri="{FF2B5EF4-FFF2-40B4-BE49-F238E27FC236}">
                <a16:creationId xmlns:a16="http://schemas.microsoft.com/office/drawing/2014/main" id="{56C598EC-452F-95B8-EF57-ACAAC2C43366}"/>
              </a:ext>
            </a:extLst>
          </p:cNvPr>
          <p:cNvPicPr>
            <a:picLocks noGrp="1" noChangeAspect="1"/>
          </p:cNvPicPr>
          <p:nvPr>
            <p:ph idx="1"/>
          </p:nvPr>
        </p:nvPicPr>
        <p:blipFill>
          <a:blip r:embed="rId2"/>
          <a:stretch>
            <a:fillRect/>
          </a:stretch>
        </p:blipFill>
        <p:spPr>
          <a:xfrm>
            <a:off x="1776412" y="2029619"/>
            <a:ext cx="8639175" cy="3943350"/>
          </a:xfrm>
          <a:prstGeom prst="rect">
            <a:avLst/>
          </a:prstGeom>
        </p:spPr>
      </p:pic>
    </p:spTree>
    <p:extLst>
      <p:ext uri="{BB962C8B-B14F-4D97-AF65-F5344CB8AC3E}">
        <p14:creationId xmlns:p14="http://schemas.microsoft.com/office/powerpoint/2010/main" val="540590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6C7FE-C3FF-598D-90CC-5445F9C09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53C78-777B-B496-F301-C6F678F3D500}"/>
              </a:ext>
            </a:extLst>
          </p:cNvPr>
          <p:cNvSpPr>
            <a:spLocks noGrp="1"/>
          </p:cNvSpPr>
          <p:nvPr>
            <p:ph type="title"/>
          </p:nvPr>
        </p:nvSpPr>
        <p:spPr/>
        <p:txBody>
          <a:bodyPr/>
          <a:lstStyle/>
          <a:p>
            <a:r>
              <a:rPr lang="en-US">
                <a:cs typeface="DIN Next LT Arabic"/>
              </a:rPr>
              <a:t>Components of SOC: People</a:t>
            </a:r>
            <a:endParaRPr lang="en-US"/>
          </a:p>
          <a:p>
            <a:endParaRPr lang="en-US"/>
          </a:p>
        </p:txBody>
      </p:sp>
      <p:pic>
        <p:nvPicPr>
          <p:cNvPr id="6" name="Content Placeholder 5">
            <a:extLst>
              <a:ext uri="{FF2B5EF4-FFF2-40B4-BE49-F238E27FC236}">
                <a16:creationId xmlns:a16="http://schemas.microsoft.com/office/drawing/2014/main" id="{B45DFE75-632F-CC73-A9D4-23DECFE83BB1}"/>
              </a:ext>
            </a:extLst>
          </p:cNvPr>
          <p:cNvPicPr>
            <a:picLocks noGrp="1" noChangeAspect="1"/>
          </p:cNvPicPr>
          <p:nvPr>
            <p:ph idx="1"/>
          </p:nvPr>
        </p:nvPicPr>
        <p:blipFill>
          <a:blip r:embed="rId2"/>
          <a:stretch>
            <a:fillRect/>
          </a:stretch>
        </p:blipFill>
        <p:spPr>
          <a:xfrm>
            <a:off x="839259" y="2468827"/>
            <a:ext cx="10513483" cy="2228850"/>
          </a:xfrm>
          <a:prstGeom prst="rect">
            <a:avLst/>
          </a:prstGeom>
        </p:spPr>
      </p:pic>
      <p:sp>
        <p:nvSpPr>
          <p:cNvPr id="7" name="TextBox 6">
            <a:extLst>
              <a:ext uri="{FF2B5EF4-FFF2-40B4-BE49-F238E27FC236}">
                <a16:creationId xmlns:a16="http://schemas.microsoft.com/office/drawing/2014/main" id="{987487EC-0483-3A4D-7965-F1D06532A580}"/>
              </a:ext>
            </a:extLst>
          </p:cNvPr>
          <p:cNvSpPr txBox="1"/>
          <p:nvPr/>
        </p:nvSpPr>
        <p:spPr>
          <a:xfrm>
            <a:off x="910166" y="1587500"/>
            <a:ext cx="94720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Attack escalation: ( phishing to malware)</a:t>
            </a:r>
          </a:p>
        </p:txBody>
      </p:sp>
    </p:spTree>
    <p:extLst>
      <p:ext uri="{BB962C8B-B14F-4D97-AF65-F5344CB8AC3E}">
        <p14:creationId xmlns:p14="http://schemas.microsoft.com/office/powerpoint/2010/main" val="1055800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48B6-72F6-6A38-8702-A7BD483559F6}"/>
              </a:ext>
            </a:extLst>
          </p:cNvPr>
          <p:cNvSpPr>
            <a:spLocks noGrp="1"/>
          </p:cNvSpPr>
          <p:nvPr>
            <p:ph type="title"/>
          </p:nvPr>
        </p:nvSpPr>
        <p:spPr/>
        <p:txBody>
          <a:bodyPr>
            <a:normAutofit/>
          </a:bodyPr>
          <a:lstStyle/>
          <a:p>
            <a:r>
              <a:rPr lang="en-US">
                <a:latin typeface="Calibri"/>
                <a:ea typeface="Calibri"/>
                <a:cs typeface="DIN Next LT Arabic"/>
              </a:rPr>
              <a:t>Discussion </a:t>
            </a:r>
            <a:endParaRPr lang="en-US"/>
          </a:p>
        </p:txBody>
      </p:sp>
      <p:sp>
        <p:nvSpPr>
          <p:cNvPr id="3" name="Content Placeholder 2">
            <a:extLst>
              <a:ext uri="{FF2B5EF4-FFF2-40B4-BE49-F238E27FC236}">
                <a16:creationId xmlns:a16="http://schemas.microsoft.com/office/drawing/2014/main" id="{2153564F-D1AF-8F6D-3B81-2A08FCE94D6B}"/>
              </a:ext>
            </a:extLst>
          </p:cNvPr>
          <p:cNvSpPr>
            <a:spLocks noGrp="1"/>
          </p:cNvSpPr>
          <p:nvPr>
            <p:ph idx="1"/>
          </p:nvPr>
        </p:nvSpPr>
        <p:spPr/>
        <p:txBody>
          <a:bodyPr vert="horz" lIns="91440" tIns="45720" rIns="91440" bIns="45720" rtlCol="0" anchor="t">
            <a:normAutofit/>
          </a:bodyPr>
          <a:lstStyle/>
          <a:p>
            <a:pPr marL="0" indent="0">
              <a:buNone/>
            </a:pPr>
            <a:r>
              <a:rPr lang="en-US">
                <a:latin typeface="Calibri"/>
                <a:ea typeface="Calibri"/>
                <a:cs typeface="Calibri"/>
              </a:rPr>
              <a:t>In the Target Corporation (2013) breach, FireEye's alert was correctly generated and escalated by the monitoring team in Bangalore (functioning as Tier 1), but the team in Minneapolis (effectively Tier 2) reviewed it, classified it as a false positive, and took no further action.</a:t>
            </a:r>
            <a:endParaRPr lang="en-US" b="1">
              <a:latin typeface="Calibri"/>
              <a:ea typeface="Calibri"/>
              <a:cs typeface="Calibri"/>
            </a:endParaRPr>
          </a:p>
          <a:p>
            <a:endParaRPr lang="en-US" i="1">
              <a:latin typeface="Calibri"/>
              <a:ea typeface="Calibri"/>
              <a:cs typeface="Calibri"/>
            </a:endParaRPr>
          </a:p>
          <a:p>
            <a:r>
              <a:rPr lang="en-US" i="1">
                <a:latin typeface="Calibri"/>
                <a:ea typeface="Calibri"/>
                <a:cs typeface="Calibri"/>
              </a:rPr>
              <a:t>Based on the role table above: which tier's responsibilities were actually fulfilled, which tier's responsibilities failed, and what specific duty from that role's list should have prevented the alert from being dismissed?</a:t>
            </a:r>
            <a:endParaRPr lang="en-US">
              <a:latin typeface="Calibri"/>
              <a:ea typeface="Calibri"/>
              <a:cs typeface="Calibri"/>
            </a:endParaRPr>
          </a:p>
          <a:p>
            <a:endParaRPr lang="en-US">
              <a:latin typeface="Calibri"/>
              <a:ea typeface="Calibri"/>
              <a:cs typeface="Calibri"/>
            </a:endParaRPr>
          </a:p>
        </p:txBody>
      </p:sp>
    </p:spTree>
    <p:extLst>
      <p:ext uri="{BB962C8B-B14F-4D97-AF65-F5344CB8AC3E}">
        <p14:creationId xmlns:p14="http://schemas.microsoft.com/office/powerpoint/2010/main" val="4191071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9FFF3-27B1-4D32-BCA7-4423400303D2}"/>
              </a:ext>
            </a:extLst>
          </p:cNvPr>
          <p:cNvSpPr>
            <a:spLocks noGrp="1"/>
          </p:cNvSpPr>
          <p:nvPr>
            <p:ph type="title"/>
          </p:nvPr>
        </p:nvSpPr>
        <p:spPr/>
        <p:txBody>
          <a:bodyPr/>
          <a:lstStyle/>
          <a:p>
            <a:r>
              <a:rPr lang="en-US"/>
              <a:t>Components of a SOC : Processes</a:t>
            </a:r>
          </a:p>
        </p:txBody>
      </p:sp>
      <p:sp>
        <p:nvSpPr>
          <p:cNvPr id="3" name="Content Placeholder 2">
            <a:extLst>
              <a:ext uri="{FF2B5EF4-FFF2-40B4-BE49-F238E27FC236}">
                <a16:creationId xmlns:a16="http://schemas.microsoft.com/office/drawing/2014/main" id="{28023775-BEA8-4593-BE03-6E346F127AB4}"/>
              </a:ext>
            </a:extLst>
          </p:cNvPr>
          <p:cNvSpPr>
            <a:spLocks noGrp="1"/>
          </p:cNvSpPr>
          <p:nvPr>
            <p:ph idx="1"/>
          </p:nvPr>
        </p:nvSpPr>
        <p:spPr/>
        <p:txBody>
          <a:bodyPr vert="horz" lIns="91440" tIns="45720" rIns="91440" bIns="45720" rtlCol="0" anchor="t">
            <a:noAutofit/>
          </a:bodyPr>
          <a:lstStyle/>
          <a:p>
            <a:r>
              <a:rPr lang="en-US" sz="2000" b="1" i="1">
                <a:latin typeface="Calibri"/>
                <a:ea typeface="Calibri"/>
                <a:cs typeface="Calibri"/>
              </a:rPr>
              <a:t>Monitoring &amp; Detection</a:t>
            </a:r>
            <a:r>
              <a:rPr lang="en-US" sz="2000" b="1">
                <a:latin typeface="Calibri"/>
                <a:ea typeface="Calibri"/>
                <a:cs typeface="Calibri"/>
              </a:rPr>
              <a:t> : </a:t>
            </a:r>
            <a:r>
              <a:rPr lang="en-US" sz="2000">
                <a:latin typeface="Calibri"/>
                <a:ea typeface="Calibri"/>
                <a:cs typeface="Calibri"/>
              </a:rPr>
              <a:t>continuous monitoring of logs, events, and network traffic; correlation of alerts across SIEM, IDS/IPS, firewall, and EDR tools; baseline creation for normal behavior.</a:t>
            </a:r>
          </a:p>
          <a:p>
            <a:r>
              <a:rPr lang="en-US" sz="2000" b="1" i="1">
                <a:latin typeface="Calibri"/>
                <a:ea typeface="Calibri"/>
                <a:cs typeface="Calibri"/>
              </a:rPr>
              <a:t>Incident Identification &amp; Classification</a:t>
            </a:r>
            <a:r>
              <a:rPr lang="en-US" sz="2000" b="1">
                <a:latin typeface="Calibri"/>
                <a:ea typeface="Calibri"/>
                <a:cs typeface="Calibri"/>
              </a:rPr>
              <a:t> : </a:t>
            </a:r>
            <a:r>
              <a:rPr lang="en-US" sz="2000">
                <a:latin typeface="Calibri"/>
                <a:ea typeface="Calibri"/>
                <a:cs typeface="Calibri"/>
              </a:rPr>
              <a:t>triage of alerts to separate true positives from false positives, and categorization by type (malware, phishing, insider threat, DDoS, etc.).</a:t>
            </a:r>
          </a:p>
          <a:p>
            <a:r>
              <a:rPr lang="en-US" sz="2000" b="1" i="1">
                <a:latin typeface="Calibri"/>
                <a:ea typeface="Calibri"/>
                <a:cs typeface="Calibri"/>
              </a:rPr>
              <a:t>Incident Response</a:t>
            </a:r>
            <a:r>
              <a:rPr lang="en-US" sz="2000">
                <a:latin typeface="Calibri"/>
                <a:ea typeface="Calibri"/>
                <a:cs typeface="Calibri"/>
              </a:rPr>
              <a:t> : following a structured framework such as NIST's PICERL model (Preparation, Identification, Containment, Eradication, Recovery, Lessons Learned), supported by playbooks and runbooks for common attack types.</a:t>
            </a:r>
          </a:p>
          <a:p>
            <a:r>
              <a:rPr lang="en-US" sz="2000" b="1" i="1">
                <a:latin typeface="Calibri"/>
                <a:ea typeface="Calibri"/>
                <a:cs typeface="Calibri"/>
              </a:rPr>
              <a:t>Threat Intelligence Integration</a:t>
            </a:r>
            <a:r>
              <a:rPr lang="en-US" sz="2000">
                <a:latin typeface="Calibri"/>
                <a:ea typeface="Calibri"/>
                <a:cs typeface="Calibri"/>
              </a:rPr>
              <a:t> : ingesting threat feeds, indicators of compromise (</a:t>
            </a:r>
            <a:r>
              <a:rPr lang="en-US" sz="2000" err="1">
                <a:latin typeface="Calibri"/>
                <a:ea typeface="Calibri"/>
                <a:cs typeface="Calibri"/>
              </a:rPr>
              <a:t>IoCs</a:t>
            </a:r>
            <a:r>
              <a:rPr lang="en-US" sz="2000">
                <a:latin typeface="Calibri"/>
                <a:ea typeface="Calibri"/>
                <a:cs typeface="Calibri"/>
              </a:rPr>
              <a:t>), and adversary tactics, techniques, and procedures (TTPs), typically mapped against frameworks like MITRE ATT&amp;CK.</a:t>
            </a:r>
          </a:p>
          <a:p>
            <a:endParaRPr lang="en-US" sz="2000">
              <a:latin typeface="Calibri"/>
              <a:ea typeface="Calibri"/>
              <a:cs typeface="Calibri"/>
            </a:endParaRPr>
          </a:p>
        </p:txBody>
      </p:sp>
    </p:spTree>
    <p:extLst>
      <p:ext uri="{BB962C8B-B14F-4D97-AF65-F5344CB8AC3E}">
        <p14:creationId xmlns:p14="http://schemas.microsoft.com/office/powerpoint/2010/main" val="2207463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90A8-77EF-4FC1-BACA-D60C60F59A10}"/>
              </a:ext>
            </a:extLst>
          </p:cNvPr>
          <p:cNvSpPr>
            <a:spLocks noGrp="1"/>
          </p:cNvSpPr>
          <p:nvPr>
            <p:ph type="title"/>
          </p:nvPr>
        </p:nvSpPr>
        <p:spPr/>
        <p:txBody>
          <a:bodyPr/>
          <a:lstStyle/>
          <a:p>
            <a:r>
              <a:rPr lang="en-US"/>
              <a:t>Components of a SOC : Processes</a:t>
            </a:r>
          </a:p>
        </p:txBody>
      </p:sp>
      <p:sp>
        <p:nvSpPr>
          <p:cNvPr id="3" name="Content Placeholder 2">
            <a:extLst>
              <a:ext uri="{FF2B5EF4-FFF2-40B4-BE49-F238E27FC236}">
                <a16:creationId xmlns:a16="http://schemas.microsoft.com/office/drawing/2014/main" id="{A059956E-41AA-4B6C-A266-3556AC01ADA9}"/>
              </a:ext>
            </a:extLst>
          </p:cNvPr>
          <p:cNvSpPr>
            <a:spLocks noGrp="1"/>
          </p:cNvSpPr>
          <p:nvPr>
            <p:ph idx="1"/>
          </p:nvPr>
        </p:nvSpPr>
        <p:spPr/>
        <p:txBody>
          <a:bodyPr vert="horz" lIns="91440" tIns="45720" rIns="91440" bIns="45720" rtlCol="0" anchor="t">
            <a:normAutofit/>
          </a:bodyPr>
          <a:lstStyle/>
          <a:p>
            <a:r>
              <a:rPr lang="en-US" sz="2000" b="1" i="1">
                <a:latin typeface="Calibri"/>
                <a:ea typeface="Calibri"/>
                <a:cs typeface="Calibri"/>
              </a:rPr>
              <a:t>Vulnerability Management: </a:t>
            </a:r>
            <a:r>
              <a:rPr lang="en-US" sz="2000">
                <a:latin typeface="Calibri"/>
                <a:ea typeface="Calibri"/>
                <a:cs typeface="Calibri"/>
              </a:rPr>
              <a:t>regular scanning and patch management, prioritized by risk and asset criticality.</a:t>
            </a:r>
          </a:p>
          <a:p>
            <a:r>
              <a:rPr lang="en-US" sz="2000" b="1" i="1">
                <a:latin typeface="Calibri"/>
                <a:ea typeface="Calibri"/>
                <a:cs typeface="Calibri"/>
              </a:rPr>
              <a:t>Log Management: </a:t>
            </a:r>
            <a:r>
              <a:rPr lang="en-US" sz="2000">
                <a:latin typeface="Calibri"/>
                <a:ea typeface="Calibri"/>
                <a:cs typeface="Calibri"/>
              </a:rPr>
              <a:t> collecting, normalizing, and retaining security logs while preserving log integrity for compliance.</a:t>
            </a:r>
          </a:p>
          <a:p>
            <a:r>
              <a:rPr lang="en-US" sz="2000" b="1" i="1">
                <a:latin typeface="Calibri"/>
                <a:ea typeface="Calibri"/>
                <a:cs typeface="Calibri"/>
              </a:rPr>
              <a:t>Forensics &amp; Root Cause Analysis|: </a:t>
            </a:r>
            <a:r>
              <a:rPr lang="en-US" sz="2000">
                <a:latin typeface="Calibri"/>
                <a:ea typeface="Calibri"/>
                <a:cs typeface="Calibri"/>
              </a:rPr>
              <a:t>investigating affected systems to determine attack origin, with evidence preserved for legal or compliance purposes.</a:t>
            </a:r>
          </a:p>
          <a:p>
            <a:r>
              <a:rPr lang="en-US" sz="2000" b="1" i="1">
                <a:latin typeface="Calibri"/>
                <a:ea typeface="Calibri"/>
                <a:cs typeface="Calibri"/>
              </a:rPr>
              <a:t>Reporting &amp; Communication: </a:t>
            </a:r>
            <a:r>
              <a:rPr lang="en-US" sz="2000">
                <a:latin typeface="Calibri"/>
                <a:ea typeface="Calibri"/>
                <a:cs typeface="Calibri"/>
              </a:rPr>
              <a:t>producing regular incident and trend reports and maintaining clear channels with IT, management, and external stakeholders.</a:t>
            </a:r>
          </a:p>
          <a:p>
            <a:r>
              <a:rPr lang="en-US" sz="2000" b="1" i="1">
                <a:latin typeface="Calibri"/>
                <a:ea typeface="Calibri"/>
                <a:cs typeface="Calibri"/>
              </a:rPr>
              <a:t>Compliance &amp; Governance: </a:t>
            </a:r>
            <a:r>
              <a:rPr lang="en-US" sz="2000">
                <a:latin typeface="Calibri"/>
                <a:ea typeface="Calibri"/>
                <a:cs typeface="Calibri"/>
              </a:rPr>
              <a:t>ensuring operations align with standards such as ISO 27001, GDPR, HIPAA, and PCI-DSS, with documented policies and audit trails.</a:t>
            </a:r>
          </a:p>
          <a:p>
            <a:r>
              <a:rPr lang="en-US" sz="2000" b="1" i="1">
                <a:latin typeface="Calibri"/>
                <a:ea typeface="Calibri"/>
                <a:cs typeface="Calibri"/>
              </a:rPr>
              <a:t>Continuous Improvement: </a:t>
            </a:r>
            <a:r>
              <a:rPr lang="en-US" sz="2000">
                <a:latin typeface="Calibri"/>
                <a:ea typeface="Calibri"/>
                <a:cs typeface="Calibri"/>
              </a:rPr>
              <a:t> post-incident reviews that refine detection rules, playbooks, and automation over time.</a:t>
            </a:r>
          </a:p>
          <a:p>
            <a:endParaRPr lang="en-US" sz="2000">
              <a:latin typeface="Calibri"/>
              <a:ea typeface="Calibri"/>
              <a:cs typeface="Calibri"/>
            </a:endParaRPr>
          </a:p>
        </p:txBody>
      </p:sp>
    </p:spTree>
    <p:extLst>
      <p:ext uri="{BB962C8B-B14F-4D97-AF65-F5344CB8AC3E}">
        <p14:creationId xmlns:p14="http://schemas.microsoft.com/office/powerpoint/2010/main" val="3075409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549F7-B37D-C6CB-ED3D-A3F9E8AD0AF3}"/>
              </a:ext>
            </a:extLst>
          </p:cNvPr>
          <p:cNvSpPr>
            <a:spLocks noGrp="1"/>
          </p:cNvSpPr>
          <p:nvPr>
            <p:ph type="title"/>
          </p:nvPr>
        </p:nvSpPr>
        <p:spPr/>
        <p:txBody>
          <a:bodyPr/>
          <a:lstStyle/>
          <a:p>
            <a:r>
              <a:rPr lang="en-US">
                <a:cs typeface="DIN Next LT Arabic"/>
              </a:rPr>
              <a:t>Components of a SOC: Technology</a:t>
            </a:r>
          </a:p>
          <a:p>
            <a:endParaRPr lang="en-US"/>
          </a:p>
        </p:txBody>
      </p:sp>
      <p:pic>
        <p:nvPicPr>
          <p:cNvPr id="4" name="Content Placeholder 3">
            <a:extLst>
              <a:ext uri="{FF2B5EF4-FFF2-40B4-BE49-F238E27FC236}">
                <a16:creationId xmlns:a16="http://schemas.microsoft.com/office/drawing/2014/main" id="{709C77C0-35AA-3F7E-2385-21408ED7A31C}"/>
              </a:ext>
            </a:extLst>
          </p:cNvPr>
          <p:cNvPicPr>
            <a:picLocks noGrp="1" noChangeAspect="1"/>
          </p:cNvPicPr>
          <p:nvPr>
            <p:ph idx="1"/>
          </p:nvPr>
        </p:nvPicPr>
        <p:blipFill>
          <a:blip r:embed="rId2"/>
          <a:stretch>
            <a:fillRect/>
          </a:stretch>
        </p:blipFill>
        <p:spPr>
          <a:xfrm>
            <a:off x="1933575" y="1972469"/>
            <a:ext cx="8324850" cy="4057650"/>
          </a:xfrm>
          <a:prstGeom prst="rect">
            <a:avLst/>
          </a:prstGeom>
        </p:spPr>
      </p:pic>
    </p:spTree>
    <p:extLst>
      <p:ext uri="{BB962C8B-B14F-4D97-AF65-F5344CB8AC3E}">
        <p14:creationId xmlns:p14="http://schemas.microsoft.com/office/powerpoint/2010/main" val="627241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7D0070-3BA1-4A92-8F87-81F6106BB735}"/>
              </a:ext>
            </a:extLst>
          </p:cNvPr>
          <p:cNvSpPr>
            <a:spLocks noGrp="1"/>
          </p:cNvSpPr>
          <p:nvPr>
            <p:ph type="title"/>
          </p:nvPr>
        </p:nvSpPr>
        <p:spPr/>
        <p:txBody>
          <a:bodyPr/>
          <a:lstStyle/>
          <a:p>
            <a:r>
              <a:rPr lang="en-US"/>
              <a:t>Components of a SOC: Technology</a:t>
            </a:r>
          </a:p>
        </p:txBody>
      </p:sp>
      <p:sp>
        <p:nvSpPr>
          <p:cNvPr id="3" name="Content Placeholder 2">
            <a:extLst>
              <a:ext uri="{FF2B5EF4-FFF2-40B4-BE49-F238E27FC236}">
                <a16:creationId xmlns:a16="http://schemas.microsoft.com/office/drawing/2014/main" id="{BBBDC867-E9ED-4B40-B162-0DC2C1D779F7}"/>
              </a:ext>
            </a:extLst>
          </p:cNvPr>
          <p:cNvSpPr>
            <a:spLocks noGrp="1"/>
          </p:cNvSpPr>
          <p:nvPr>
            <p:ph idx="1"/>
          </p:nvPr>
        </p:nvSpPr>
        <p:spPr>
          <a:xfrm>
            <a:off x="838200" y="1825625"/>
            <a:ext cx="10515600" cy="4351338"/>
          </a:xfrm>
        </p:spPr>
        <p:txBody>
          <a:bodyPr>
            <a:normAutofit fontScale="85000" lnSpcReduction="10000"/>
          </a:bodyPr>
          <a:lstStyle/>
          <a:p>
            <a:r>
              <a:rPr lang="en-US"/>
              <a:t>Security Information and Event Management (SIEM)</a:t>
            </a:r>
          </a:p>
          <a:p>
            <a:pPr lvl="1"/>
            <a:r>
              <a:rPr lang="en-US"/>
              <a:t>Core of SOC operations.</a:t>
            </a:r>
          </a:p>
          <a:p>
            <a:pPr lvl="1"/>
            <a:r>
              <a:rPr lang="en-US"/>
              <a:t>Collects, aggregates, correlates, and analyzes logs/events from multiple sources.</a:t>
            </a:r>
          </a:p>
          <a:p>
            <a:pPr lvl="1"/>
            <a:r>
              <a:rPr lang="en-US"/>
              <a:t>Examples: Splunk, IBM </a:t>
            </a:r>
            <a:r>
              <a:rPr lang="en-US" err="1"/>
              <a:t>QRadar</a:t>
            </a:r>
            <a:r>
              <a:rPr lang="en-US"/>
              <a:t>, Elastic SIEM, ArcSight.</a:t>
            </a:r>
          </a:p>
          <a:p>
            <a:r>
              <a:rPr lang="en-US"/>
              <a:t>Endpoint Detection and Response (EDR) / Extended Detection and Response (XDR)</a:t>
            </a:r>
          </a:p>
          <a:p>
            <a:pPr lvl="1"/>
            <a:r>
              <a:rPr lang="en-US"/>
              <a:t>Provides deep visibility into endpoint activities.</a:t>
            </a:r>
          </a:p>
          <a:p>
            <a:pPr lvl="1"/>
            <a:r>
              <a:rPr lang="en-US"/>
              <a:t>Detects malware, ransomware, and suspicious processes.</a:t>
            </a:r>
          </a:p>
          <a:p>
            <a:pPr lvl="1"/>
            <a:r>
              <a:rPr lang="en-US"/>
              <a:t>Examples: CrowdStrike Falcon, Microsoft Defender for Endpoint, </a:t>
            </a:r>
            <a:r>
              <a:rPr lang="en-US" err="1"/>
              <a:t>SentinelOne</a:t>
            </a:r>
            <a:r>
              <a:rPr lang="en-US"/>
              <a:t>.</a:t>
            </a:r>
          </a:p>
          <a:p>
            <a:r>
              <a:rPr lang="en-US"/>
              <a:t>Intrusion Detection and Prevention Systems (IDS/IPS)</a:t>
            </a:r>
          </a:p>
          <a:p>
            <a:pPr lvl="1"/>
            <a:r>
              <a:rPr lang="en-US"/>
              <a:t>IDS: Monitors traffic for malicious patterns.</a:t>
            </a:r>
          </a:p>
          <a:p>
            <a:pPr lvl="1"/>
            <a:r>
              <a:rPr lang="en-US"/>
              <a:t>IPS: Blocks or prevents detected threats.</a:t>
            </a:r>
          </a:p>
          <a:p>
            <a:pPr lvl="1"/>
            <a:r>
              <a:rPr lang="en-US"/>
              <a:t>Examples: Snort, Suricata, Cisco Firepower.</a:t>
            </a:r>
          </a:p>
          <a:p>
            <a:endParaRPr lang="en-US"/>
          </a:p>
        </p:txBody>
      </p:sp>
    </p:spTree>
    <p:extLst>
      <p:ext uri="{BB962C8B-B14F-4D97-AF65-F5344CB8AC3E}">
        <p14:creationId xmlns:p14="http://schemas.microsoft.com/office/powerpoint/2010/main" val="409177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6BB1-9AC3-4478-8F3D-337E351B0FE6}"/>
              </a:ext>
            </a:extLst>
          </p:cNvPr>
          <p:cNvSpPr>
            <a:spLocks noGrp="1"/>
          </p:cNvSpPr>
          <p:nvPr>
            <p:ph type="title"/>
          </p:nvPr>
        </p:nvSpPr>
        <p:spPr/>
        <p:txBody>
          <a:bodyPr/>
          <a:lstStyle/>
          <a:p>
            <a:r>
              <a:rPr lang="en-US"/>
              <a:t>Components of a SOC: Technology</a:t>
            </a:r>
          </a:p>
        </p:txBody>
      </p:sp>
      <p:sp>
        <p:nvSpPr>
          <p:cNvPr id="3" name="Content Placeholder 2">
            <a:extLst>
              <a:ext uri="{FF2B5EF4-FFF2-40B4-BE49-F238E27FC236}">
                <a16:creationId xmlns:a16="http://schemas.microsoft.com/office/drawing/2014/main" id="{A359778D-4AA8-44C7-B318-74CF5EAA1560}"/>
              </a:ext>
            </a:extLst>
          </p:cNvPr>
          <p:cNvSpPr>
            <a:spLocks noGrp="1"/>
          </p:cNvSpPr>
          <p:nvPr>
            <p:ph idx="1"/>
          </p:nvPr>
        </p:nvSpPr>
        <p:spPr/>
        <p:txBody>
          <a:bodyPr>
            <a:normAutofit fontScale="85000" lnSpcReduction="20000"/>
          </a:bodyPr>
          <a:lstStyle/>
          <a:p>
            <a:r>
              <a:rPr lang="en-US"/>
              <a:t>Firewalls &amp; Next-Generation Firewalls (NGFWs)</a:t>
            </a:r>
          </a:p>
          <a:p>
            <a:pPr lvl="1"/>
            <a:r>
              <a:rPr lang="en-US"/>
              <a:t>First line of defense to control incoming/outgoing traffic.</a:t>
            </a:r>
          </a:p>
          <a:p>
            <a:pPr lvl="1"/>
            <a:r>
              <a:rPr lang="en-US"/>
              <a:t>NGFWs include deep packet inspection, app control, and threat intelligence.</a:t>
            </a:r>
          </a:p>
          <a:p>
            <a:r>
              <a:rPr lang="en-US"/>
              <a:t>Threat Intelligence Platforms (TIP)</a:t>
            </a:r>
          </a:p>
          <a:p>
            <a:pPr lvl="1"/>
            <a:r>
              <a:rPr lang="en-US"/>
              <a:t>Aggregates </a:t>
            </a:r>
            <a:r>
              <a:rPr lang="en-US" err="1"/>
              <a:t>IoCs</a:t>
            </a:r>
            <a:r>
              <a:rPr lang="en-US"/>
              <a:t>, threat feeds, and adversary TTPs.</a:t>
            </a:r>
          </a:p>
          <a:p>
            <a:pPr lvl="1"/>
            <a:r>
              <a:rPr lang="en-US"/>
              <a:t>Supports proactive defense and hunting.</a:t>
            </a:r>
          </a:p>
          <a:p>
            <a:pPr lvl="1"/>
            <a:r>
              <a:rPr lang="en-US"/>
              <a:t>Examples: MISP, ThreatConnect, </a:t>
            </a:r>
            <a:r>
              <a:rPr lang="en-US" err="1"/>
              <a:t>Anomali</a:t>
            </a:r>
            <a:r>
              <a:rPr lang="en-US"/>
              <a:t>.</a:t>
            </a:r>
          </a:p>
          <a:p>
            <a:r>
              <a:rPr lang="en-US"/>
              <a:t>Security Orchestration, Automation, and Response (SOAR)</a:t>
            </a:r>
          </a:p>
          <a:p>
            <a:pPr lvl="1"/>
            <a:r>
              <a:rPr lang="en-US"/>
              <a:t>Automates repetitive SOC tasks like triage, enrichment, and response.</a:t>
            </a:r>
          </a:p>
          <a:p>
            <a:pPr lvl="1"/>
            <a:r>
              <a:rPr lang="en-US"/>
              <a:t>Integrates with SIEM and other tools.</a:t>
            </a:r>
          </a:p>
          <a:p>
            <a:pPr lvl="1"/>
            <a:r>
              <a:rPr lang="en-US"/>
              <a:t>Examples: Palo Alto Cortex XSOAR, Splunk SOAR, IBM Resilient.</a:t>
            </a:r>
          </a:p>
          <a:p>
            <a:r>
              <a:rPr lang="en-US"/>
              <a:t>Vulnerability Assessment &amp; Management Tools</a:t>
            </a:r>
          </a:p>
          <a:p>
            <a:pPr lvl="1"/>
            <a:r>
              <a:rPr lang="en-US"/>
              <a:t>Identifies and prioritizes vulnerabilities in systems and applications.</a:t>
            </a:r>
          </a:p>
          <a:p>
            <a:pPr lvl="1"/>
            <a:r>
              <a:rPr lang="en-US"/>
              <a:t>Examples: Nessus, OpenVAS, Qualys.</a:t>
            </a:r>
          </a:p>
          <a:p>
            <a:endParaRPr lang="en-US"/>
          </a:p>
        </p:txBody>
      </p:sp>
    </p:spTree>
    <p:extLst>
      <p:ext uri="{BB962C8B-B14F-4D97-AF65-F5344CB8AC3E}">
        <p14:creationId xmlns:p14="http://schemas.microsoft.com/office/powerpoint/2010/main" val="3267612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C4332-79E6-43B9-BBB7-3F205B0F273C}"/>
              </a:ext>
            </a:extLst>
          </p:cNvPr>
          <p:cNvSpPr>
            <a:spLocks noGrp="1"/>
          </p:cNvSpPr>
          <p:nvPr>
            <p:ph type="title"/>
          </p:nvPr>
        </p:nvSpPr>
        <p:spPr/>
        <p:txBody>
          <a:bodyPr/>
          <a:lstStyle/>
          <a:p>
            <a:r>
              <a:rPr lang="en-US"/>
              <a:t>Components of a SOC: Technology</a:t>
            </a:r>
          </a:p>
        </p:txBody>
      </p:sp>
      <p:sp>
        <p:nvSpPr>
          <p:cNvPr id="3" name="Content Placeholder 2">
            <a:extLst>
              <a:ext uri="{FF2B5EF4-FFF2-40B4-BE49-F238E27FC236}">
                <a16:creationId xmlns:a16="http://schemas.microsoft.com/office/drawing/2014/main" id="{BE7C83DB-2C21-4B2E-A9F2-26F605520EAE}"/>
              </a:ext>
            </a:extLst>
          </p:cNvPr>
          <p:cNvSpPr>
            <a:spLocks noGrp="1"/>
          </p:cNvSpPr>
          <p:nvPr>
            <p:ph sz="half" idx="1"/>
          </p:nvPr>
        </p:nvSpPr>
        <p:spPr/>
        <p:txBody>
          <a:bodyPr>
            <a:normAutofit fontScale="77500" lnSpcReduction="20000"/>
          </a:bodyPr>
          <a:lstStyle/>
          <a:p>
            <a:r>
              <a:rPr lang="en-US"/>
              <a:t>Forensics Tools</a:t>
            </a:r>
          </a:p>
          <a:p>
            <a:pPr lvl="1"/>
            <a:r>
              <a:rPr lang="en-US"/>
              <a:t>Used for deep-dive investigation and evidence gathering.</a:t>
            </a:r>
          </a:p>
          <a:p>
            <a:pPr lvl="1"/>
            <a:r>
              <a:rPr lang="en-US"/>
              <a:t>Examples: FTK, Autopsy, Volatility.</a:t>
            </a:r>
          </a:p>
          <a:p>
            <a:r>
              <a:rPr lang="en-US"/>
              <a:t>Packet Capture &amp; Network Monitoring Tools</a:t>
            </a:r>
          </a:p>
          <a:p>
            <a:pPr lvl="1"/>
            <a:r>
              <a:rPr lang="en-US"/>
              <a:t>Provides traffic analysis and anomaly detection.</a:t>
            </a:r>
          </a:p>
          <a:p>
            <a:pPr lvl="1"/>
            <a:r>
              <a:rPr lang="en-US"/>
              <a:t>Examples: Wireshark, </a:t>
            </a:r>
            <a:r>
              <a:rPr lang="en-US" err="1"/>
              <a:t>Zeek</a:t>
            </a:r>
            <a:r>
              <a:rPr lang="en-US"/>
              <a:t> (Bro), NetFlow analyzers.</a:t>
            </a:r>
          </a:p>
          <a:p>
            <a:r>
              <a:rPr lang="en-US"/>
              <a:t>User and Entity Behavior Analytics (UEBA)</a:t>
            </a:r>
          </a:p>
          <a:p>
            <a:pPr lvl="1"/>
            <a:r>
              <a:rPr lang="en-US"/>
              <a:t>Uses machine learning to detect anomalies in user and system behavior.</a:t>
            </a:r>
          </a:p>
          <a:p>
            <a:pPr lvl="1"/>
            <a:r>
              <a:rPr lang="en-US"/>
              <a:t>Helps identify insider threats and compromised accounts.</a:t>
            </a:r>
          </a:p>
          <a:p>
            <a:endParaRPr lang="en-US"/>
          </a:p>
        </p:txBody>
      </p:sp>
      <p:sp>
        <p:nvSpPr>
          <p:cNvPr id="4" name="Content Placeholder 3">
            <a:extLst>
              <a:ext uri="{FF2B5EF4-FFF2-40B4-BE49-F238E27FC236}">
                <a16:creationId xmlns:a16="http://schemas.microsoft.com/office/drawing/2014/main" id="{C3F0294A-980C-4585-B85E-AFBD19435917}"/>
              </a:ext>
            </a:extLst>
          </p:cNvPr>
          <p:cNvSpPr>
            <a:spLocks noGrp="1"/>
          </p:cNvSpPr>
          <p:nvPr>
            <p:ph sz="half" idx="2"/>
          </p:nvPr>
        </p:nvSpPr>
        <p:spPr/>
        <p:txBody>
          <a:bodyPr>
            <a:normAutofit fontScale="77500" lnSpcReduction="20000"/>
          </a:bodyPr>
          <a:lstStyle/>
          <a:p>
            <a:r>
              <a:rPr lang="en-US"/>
              <a:t>Cloud Security Monitoring Tools</a:t>
            </a:r>
          </a:p>
          <a:p>
            <a:pPr lvl="1"/>
            <a:r>
              <a:rPr lang="en-US"/>
              <a:t>Ensures visibility and compliance in cloud environments.</a:t>
            </a:r>
          </a:p>
          <a:p>
            <a:pPr lvl="1"/>
            <a:r>
              <a:rPr lang="en-US"/>
              <a:t>Examples: AWS </a:t>
            </a:r>
            <a:r>
              <a:rPr lang="en-US" err="1"/>
              <a:t>GuardDuty</a:t>
            </a:r>
            <a:r>
              <a:rPr lang="en-US"/>
              <a:t>, Azure Security Center, Prisma Cloud.</a:t>
            </a:r>
          </a:p>
          <a:p>
            <a:r>
              <a:rPr lang="en-US"/>
              <a:t>Case Management / Ticketing Systems</a:t>
            </a:r>
          </a:p>
          <a:p>
            <a:pPr lvl="1"/>
            <a:r>
              <a:rPr lang="en-US"/>
              <a:t>Tracks incidents, investigations, and response workflows.</a:t>
            </a:r>
          </a:p>
          <a:p>
            <a:pPr lvl="1"/>
            <a:r>
              <a:rPr lang="en-US"/>
              <a:t>Examples: ServiceNow, JIRA, </a:t>
            </a:r>
            <a:r>
              <a:rPr lang="en-US" err="1"/>
              <a:t>TheHive</a:t>
            </a:r>
            <a:r>
              <a:rPr lang="en-US"/>
              <a:t>.</a:t>
            </a:r>
          </a:p>
          <a:p>
            <a:r>
              <a:rPr lang="en-US"/>
              <a:t>Data Lakes / Log Storage</a:t>
            </a:r>
          </a:p>
          <a:p>
            <a:pPr lvl="1"/>
            <a:r>
              <a:rPr lang="en-US"/>
              <a:t>Scalable storage for long-term data retention, compliance, and hunting.</a:t>
            </a:r>
          </a:p>
          <a:p>
            <a:pPr lvl="1"/>
            <a:r>
              <a:rPr lang="en-US"/>
              <a:t>Examples: </a:t>
            </a:r>
            <a:r>
              <a:rPr lang="en-US" err="1"/>
              <a:t>ElasticSearch</a:t>
            </a:r>
            <a:r>
              <a:rPr lang="en-US"/>
              <a:t>, Hadoop-based storage.</a:t>
            </a:r>
          </a:p>
          <a:p>
            <a:endParaRPr lang="en-US"/>
          </a:p>
        </p:txBody>
      </p:sp>
    </p:spTree>
    <p:extLst>
      <p:ext uri="{BB962C8B-B14F-4D97-AF65-F5344CB8AC3E}">
        <p14:creationId xmlns:p14="http://schemas.microsoft.com/office/powerpoint/2010/main" val="1664243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C2B7-C470-0B4B-654A-92132996BC0A}"/>
              </a:ext>
            </a:extLst>
          </p:cNvPr>
          <p:cNvSpPr>
            <a:spLocks noGrp="1"/>
          </p:cNvSpPr>
          <p:nvPr>
            <p:ph type="title"/>
          </p:nvPr>
        </p:nvSpPr>
        <p:spPr/>
        <p:txBody>
          <a:bodyPr>
            <a:normAutofit/>
          </a:bodyPr>
          <a:lstStyle/>
          <a:p>
            <a:r>
              <a:rPr lang="en-US">
                <a:cs typeface="DIN Next LT Arabic"/>
              </a:rPr>
              <a:t>Case Scenario</a:t>
            </a:r>
            <a:endParaRPr lang="en-US"/>
          </a:p>
        </p:txBody>
      </p:sp>
      <p:sp>
        <p:nvSpPr>
          <p:cNvPr id="3" name="Content Placeholder 2">
            <a:extLst>
              <a:ext uri="{FF2B5EF4-FFF2-40B4-BE49-F238E27FC236}">
                <a16:creationId xmlns:a16="http://schemas.microsoft.com/office/drawing/2014/main" id="{14310885-D13A-33BD-A5AC-B550C59313F5}"/>
              </a:ext>
            </a:extLst>
          </p:cNvPr>
          <p:cNvSpPr>
            <a:spLocks noGrp="1"/>
          </p:cNvSpPr>
          <p:nvPr>
            <p:ph sz="half" idx="1"/>
          </p:nvPr>
        </p:nvSpPr>
        <p:spPr>
          <a:xfrm>
            <a:off x="457200" y="1835394"/>
            <a:ext cx="10896600" cy="4351338"/>
          </a:xfrm>
        </p:spPr>
        <p:txBody>
          <a:bodyPr vert="horz" lIns="91440" tIns="45720" rIns="91440" bIns="45720" rtlCol="0" anchor="t">
            <a:noAutofit/>
          </a:bodyPr>
          <a:lstStyle/>
          <a:p>
            <a:pPr marL="0" indent="0">
              <a:buNone/>
            </a:pPr>
            <a:r>
              <a:rPr lang="en-US" sz="2400" b="1">
                <a:cs typeface="DIN Next LT Arabic"/>
              </a:rPr>
              <a:t> Equifax, 2017</a:t>
            </a:r>
            <a:endParaRPr lang="en-US" sz="2400">
              <a:cs typeface="DIN Next LT Arabic"/>
            </a:endParaRPr>
          </a:p>
          <a:p>
            <a:pPr marL="0" indent="0">
              <a:buNone/>
            </a:pPr>
            <a:r>
              <a:rPr lang="en-US" sz="1800">
                <a:cs typeface="DIN Next LT Arabic"/>
              </a:rPr>
              <a:t>The Equifax breach illustrates all three components failing in combination rather than any single one. </a:t>
            </a:r>
            <a:r>
              <a:rPr lang="en-US" sz="1800" i="1">
                <a:cs typeface="DIN Next LT Arabic"/>
              </a:rPr>
              <a:t>Technology:</a:t>
            </a:r>
            <a:r>
              <a:rPr lang="en-US" sz="1800">
                <a:cs typeface="DIN Next LT Arabic"/>
              </a:rPr>
              <a:t> a critical flaw in the open-source Apache Struts framework (CVE-2017-5638) went unpatched on Equifax's systems; a vulnerability scan run on March 15, 2017 — specifically intended to catch exactly this kind of exposure — failed to detect the affected systems [7]. </a:t>
            </a:r>
            <a:r>
              <a:rPr lang="en-US" sz="1800" i="1">
                <a:cs typeface="DIN Next LT Arabic"/>
              </a:rPr>
              <a:t>Process:</a:t>
            </a:r>
            <a:r>
              <a:rPr lang="en-US" sz="1800">
                <a:cs typeface="DIN Next LT Arabic"/>
              </a:rPr>
              <a:t> company policy required patching within 48 hours of a critical alert, but the vulnerability, disclosed by US-CERT and DHS on March 8, remained unpatched for months [7], [8]. </a:t>
            </a:r>
            <a:r>
              <a:rPr lang="en-US" sz="1800" i="1">
                <a:cs typeface="DIN Next LT Arabic"/>
              </a:rPr>
              <a:t>People:</a:t>
            </a:r>
            <a:r>
              <a:rPr lang="en-US" sz="1800">
                <a:cs typeface="DIN Next LT Arabic"/>
              </a:rPr>
              <a:t> the internal notification to patch went out on March 9, but the employee responsible for the affected system reportedly never received it because a manager failed to forward it, and a later congressional report noted that senior executives skipped briefings on the issue [8]. The result was exposure of personal data for 143 million people. Because the failure touched people, process, and technology simultaneously, this case works well as a single example spanning all three components at once, rather than needing three separate case studies.</a:t>
            </a:r>
          </a:p>
        </p:txBody>
      </p:sp>
    </p:spTree>
    <p:extLst>
      <p:ext uri="{BB962C8B-B14F-4D97-AF65-F5344CB8AC3E}">
        <p14:creationId xmlns:p14="http://schemas.microsoft.com/office/powerpoint/2010/main" val="1411160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8171-F926-35F4-D835-E57F50168F0D}"/>
              </a:ext>
            </a:extLst>
          </p:cNvPr>
          <p:cNvSpPr>
            <a:spLocks noGrp="1"/>
          </p:cNvSpPr>
          <p:nvPr>
            <p:ph type="title"/>
          </p:nvPr>
        </p:nvSpPr>
        <p:spPr/>
        <p:txBody>
          <a:bodyPr>
            <a:normAutofit/>
          </a:bodyPr>
          <a:lstStyle/>
          <a:p>
            <a:r>
              <a:rPr lang="en-US">
                <a:cs typeface="DIN Next LT Arabic"/>
              </a:rPr>
              <a:t>Discussion</a:t>
            </a:r>
            <a:endParaRPr lang="en-US"/>
          </a:p>
        </p:txBody>
      </p:sp>
      <p:sp>
        <p:nvSpPr>
          <p:cNvPr id="3" name="Content Placeholder 2">
            <a:extLst>
              <a:ext uri="{FF2B5EF4-FFF2-40B4-BE49-F238E27FC236}">
                <a16:creationId xmlns:a16="http://schemas.microsoft.com/office/drawing/2014/main" id="{C6385C09-1F23-7DE5-D819-8B9A541C3672}"/>
              </a:ext>
            </a:extLst>
          </p:cNvPr>
          <p:cNvSpPr>
            <a:spLocks noGrp="1"/>
          </p:cNvSpPr>
          <p:nvPr>
            <p:ph sz="half" idx="1"/>
          </p:nvPr>
        </p:nvSpPr>
        <p:spPr>
          <a:xfrm>
            <a:off x="838200" y="1825625"/>
            <a:ext cx="10515600" cy="4351338"/>
          </a:xfrm>
        </p:spPr>
        <p:txBody>
          <a:bodyPr vert="horz" lIns="91440" tIns="45720" rIns="91440" bIns="45720" rtlCol="0" anchor="t">
            <a:normAutofit/>
          </a:bodyPr>
          <a:lstStyle/>
          <a:p>
            <a:pPr marL="0" indent="0">
              <a:buNone/>
            </a:pPr>
            <a:r>
              <a:rPr lang="en-US">
                <a:cs typeface="DIN Next LT Arabic"/>
              </a:rPr>
              <a:t>For the Equifax case, identify one corrective control from the People component, one from Process, and one from Technology that — had it worked as intended — would independently have prevented the breach</a:t>
            </a:r>
            <a:endParaRPr lang="en-US"/>
          </a:p>
        </p:txBody>
      </p:sp>
    </p:spTree>
    <p:extLst>
      <p:ext uri="{BB962C8B-B14F-4D97-AF65-F5344CB8AC3E}">
        <p14:creationId xmlns:p14="http://schemas.microsoft.com/office/powerpoint/2010/main" val="4212179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3218A-33A2-11AC-9222-C5A907301862}"/>
              </a:ext>
            </a:extLst>
          </p:cNvPr>
          <p:cNvSpPr>
            <a:spLocks noGrp="1"/>
          </p:cNvSpPr>
          <p:nvPr>
            <p:ph type="title"/>
          </p:nvPr>
        </p:nvSpPr>
        <p:spPr/>
        <p:txBody>
          <a:bodyPr/>
          <a:lstStyle/>
          <a:p>
            <a:r>
              <a:rPr lang="en-US" sz="4400" dirty="0">
                <a:cs typeface="DIN Next LT Arabic"/>
              </a:rPr>
              <a:t>SOC Configurations</a:t>
            </a:r>
          </a:p>
          <a:p>
            <a:endParaRPr lang="en-US" dirty="0"/>
          </a:p>
        </p:txBody>
      </p:sp>
      <p:sp>
        <p:nvSpPr>
          <p:cNvPr id="3" name="Text Placeholder 2">
            <a:extLst>
              <a:ext uri="{FF2B5EF4-FFF2-40B4-BE49-F238E27FC236}">
                <a16:creationId xmlns:a16="http://schemas.microsoft.com/office/drawing/2014/main" id="{2FE7CD1F-3D48-7A04-AFB2-AFD6F88D582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41499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ED537-1827-DEBB-465C-A3A0AABD9F94}"/>
              </a:ext>
            </a:extLst>
          </p:cNvPr>
          <p:cNvSpPr>
            <a:spLocks noGrp="1"/>
          </p:cNvSpPr>
          <p:nvPr>
            <p:ph type="title"/>
          </p:nvPr>
        </p:nvSpPr>
        <p:spPr/>
        <p:txBody>
          <a:bodyPr/>
          <a:lstStyle/>
          <a:p>
            <a:r>
              <a:rPr lang="en-US"/>
              <a:t>Types of SOC Configurations</a:t>
            </a:r>
          </a:p>
        </p:txBody>
      </p:sp>
      <p:sp>
        <p:nvSpPr>
          <p:cNvPr id="3" name="Content Placeholder 2">
            <a:extLst>
              <a:ext uri="{FF2B5EF4-FFF2-40B4-BE49-F238E27FC236}">
                <a16:creationId xmlns:a16="http://schemas.microsoft.com/office/drawing/2014/main" id="{61C989F4-DCD7-8DEF-DFDA-07857211CE4B}"/>
              </a:ext>
            </a:extLst>
          </p:cNvPr>
          <p:cNvSpPr>
            <a:spLocks noGrp="1"/>
          </p:cNvSpPr>
          <p:nvPr>
            <p:ph idx="1"/>
          </p:nvPr>
        </p:nvSpPr>
        <p:spPr/>
        <p:txBody>
          <a:bodyPr>
            <a:normAutofit/>
          </a:bodyPr>
          <a:lstStyle/>
          <a:p>
            <a:pPr marL="0" indent="0">
              <a:lnSpc>
                <a:spcPct val="107000"/>
              </a:lnSpc>
              <a:spcAft>
                <a:spcPts val="800"/>
              </a:spcAft>
              <a:buNone/>
            </a:pPr>
            <a:r>
              <a:rPr lang="en-US" sz="1800">
                <a:effectLst/>
                <a:ea typeface="Aptos" panose="020B0004020202020204" pitchFamily="34" charset="0"/>
                <a:cs typeface="Arial" panose="020B0604020202020204" pitchFamily="34" charset="0"/>
              </a:rPr>
              <a:t>Security Operations Centers (SOCs) can be configured in various ways to suit the needs and resources of different organizations. Here are some common types of SOC configurations:</a:t>
            </a:r>
          </a:p>
          <a:p>
            <a:pPr marL="342900" indent="-342900">
              <a:lnSpc>
                <a:spcPct val="107000"/>
              </a:lnSpc>
              <a:spcAft>
                <a:spcPts val="800"/>
              </a:spcAft>
              <a:buFont typeface="+mj-lt"/>
              <a:buAutoNum type="arabicPeriod"/>
            </a:pPr>
            <a:r>
              <a:rPr lang="en-US" sz="1800">
                <a:effectLst/>
                <a:ea typeface="Aptos" panose="020B0004020202020204" pitchFamily="34" charset="0"/>
                <a:cs typeface="Arial" panose="020B0604020202020204" pitchFamily="34" charset="0"/>
              </a:rPr>
              <a:t>In-House SOC(dedicated) : Operated directly by the organization with full-time staff.</a:t>
            </a:r>
          </a:p>
          <a:p>
            <a:pPr marL="342900" indent="-342900">
              <a:lnSpc>
                <a:spcPct val="107000"/>
              </a:lnSpc>
              <a:spcAft>
                <a:spcPts val="800"/>
              </a:spcAft>
              <a:buFont typeface="+mj-lt"/>
              <a:buAutoNum type="arabicPeriod"/>
            </a:pPr>
            <a:r>
              <a:rPr lang="en-US" sz="1800">
                <a:effectLst/>
                <a:ea typeface="Aptos" panose="020B0004020202020204" pitchFamily="34" charset="0"/>
                <a:cs typeface="Arial" panose="020B0604020202020204" pitchFamily="34" charset="0"/>
              </a:rPr>
              <a:t>Managed SOC (M-SOC): Security monitoring outsourced to a third-party provider.</a:t>
            </a:r>
          </a:p>
          <a:p>
            <a:pPr marL="342900" indent="-342900">
              <a:lnSpc>
                <a:spcPct val="107000"/>
              </a:lnSpc>
              <a:spcAft>
                <a:spcPts val="800"/>
              </a:spcAft>
              <a:buFont typeface="+mj-lt"/>
              <a:buAutoNum type="arabicPeriod"/>
            </a:pPr>
            <a:r>
              <a:rPr lang="en-US" sz="1800">
                <a:effectLst/>
                <a:ea typeface="Aptos" panose="020B0004020202020204" pitchFamily="34" charset="0"/>
                <a:cs typeface="Arial" panose="020B0604020202020204" pitchFamily="34" charset="0"/>
              </a:rPr>
              <a:t>Hybrid SOC: Combines in-house and managed SOC elements for flexibility.</a:t>
            </a:r>
          </a:p>
          <a:p>
            <a:pPr marL="342900" indent="-342900">
              <a:lnSpc>
                <a:spcPct val="107000"/>
              </a:lnSpc>
              <a:spcAft>
                <a:spcPts val="800"/>
              </a:spcAft>
              <a:buFont typeface="+mj-lt"/>
              <a:buAutoNum type="arabicPeriod"/>
            </a:pPr>
            <a:r>
              <a:rPr lang="en-US" sz="1800">
                <a:effectLst/>
                <a:ea typeface="Aptos" panose="020B0004020202020204" pitchFamily="34" charset="0"/>
                <a:cs typeface="Arial" panose="020B0604020202020204" pitchFamily="34" charset="0"/>
              </a:rPr>
              <a:t>Virtual SOC (V-SOC): Operates remotely using cloud-based tools and technologies.</a:t>
            </a:r>
          </a:p>
          <a:p>
            <a:pPr marL="342900" indent="-342900">
              <a:lnSpc>
                <a:spcPct val="107000"/>
              </a:lnSpc>
              <a:spcAft>
                <a:spcPts val="800"/>
              </a:spcAft>
              <a:buFont typeface="+mj-lt"/>
              <a:buAutoNum type="arabicPeriod"/>
            </a:pPr>
            <a:r>
              <a:rPr lang="en-US" sz="1800">
                <a:effectLst/>
                <a:ea typeface="Aptos" panose="020B0004020202020204" pitchFamily="34" charset="0"/>
                <a:cs typeface="Arial" panose="020B0604020202020204" pitchFamily="34" charset="0"/>
              </a:rPr>
              <a:t>Co-managed SOC: Organization shares SOC operations with a managed security services provider.</a:t>
            </a:r>
          </a:p>
          <a:p>
            <a:pPr marL="0" indent="0">
              <a:lnSpc>
                <a:spcPct val="107000"/>
              </a:lnSpc>
              <a:spcAft>
                <a:spcPts val="800"/>
              </a:spcAft>
              <a:buNone/>
            </a:pPr>
            <a:r>
              <a:rPr lang="en-US" sz="1800">
                <a:effectLst/>
                <a:ea typeface="Aptos" panose="020B0004020202020204" pitchFamily="34" charset="0"/>
                <a:cs typeface="Arial" panose="020B0604020202020204" pitchFamily="34" charset="0"/>
              </a:rPr>
              <a:t>These configurations offer varying levels of control, cost, and scalability, allowing organizations to choose the best fit for their needs.</a:t>
            </a:r>
          </a:p>
          <a:p>
            <a:pPr marL="0" indent="0">
              <a:buNone/>
            </a:pPr>
            <a:endParaRPr lang="en-US"/>
          </a:p>
        </p:txBody>
      </p:sp>
    </p:spTree>
    <p:extLst>
      <p:ext uri="{BB962C8B-B14F-4D97-AF65-F5344CB8AC3E}">
        <p14:creationId xmlns:p14="http://schemas.microsoft.com/office/powerpoint/2010/main" val="960074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ED537-1827-DEBB-465C-A3A0AABD9F94}"/>
              </a:ext>
            </a:extLst>
          </p:cNvPr>
          <p:cNvSpPr>
            <a:spLocks noGrp="1"/>
          </p:cNvSpPr>
          <p:nvPr>
            <p:ph type="title"/>
          </p:nvPr>
        </p:nvSpPr>
        <p:spPr>
          <a:xfrm>
            <a:off x="838200" y="365126"/>
            <a:ext cx="10515600" cy="1325563"/>
          </a:xfrm>
        </p:spPr>
        <p:txBody>
          <a:bodyPr/>
          <a:lstStyle/>
          <a:p>
            <a:r>
              <a:rPr lang="en-US"/>
              <a:t>Types of SOC Configurations</a:t>
            </a:r>
          </a:p>
        </p:txBody>
      </p:sp>
      <p:graphicFrame>
        <p:nvGraphicFramePr>
          <p:cNvPr id="7" name="Content Placeholder 6">
            <a:extLst>
              <a:ext uri="{FF2B5EF4-FFF2-40B4-BE49-F238E27FC236}">
                <a16:creationId xmlns:a16="http://schemas.microsoft.com/office/drawing/2014/main" id="{DE7461A3-47CF-40BC-5F0E-98CF8352A2DE}"/>
              </a:ext>
            </a:extLst>
          </p:cNvPr>
          <p:cNvGraphicFramePr>
            <a:graphicFrameLocks noGrp="1"/>
          </p:cNvGraphicFramePr>
          <p:nvPr>
            <p:ph idx="1"/>
            <p:extLst>
              <p:ext uri="{D42A27DB-BD31-4B8C-83A1-F6EECF244321}">
                <p14:modId xmlns:p14="http://schemas.microsoft.com/office/powerpoint/2010/main" val="3710565809"/>
              </p:ext>
            </p:extLst>
          </p:nvPr>
        </p:nvGraphicFramePr>
        <p:xfrm>
          <a:off x="838200" y="1825625"/>
          <a:ext cx="11044780" cy="4573343"/>
        </p:xfrm>
        <a:graphic>
          <a:graphicData uri="http://schemas.openxmlformats.org/drawingml/2006/table">
            <a:tbl>
              <a:tblPr bandRow="1">
                <a:tableStyleId>{91EBBBCC-DAD2-459C-BE2E-F6DE35CF9A28}</a:tableStyleId>
              </a:tblPr>
              <a:tblGrid>
                <a:gridCol w="2761195">
                  <a:extLst>
                    <a:ext uri="{9D8B030D-6E8A-4147-A177-3AD203B41FA5}">
                      <a16:colId xmlns:a16="http://schemas.microsoft.com/office/drawing/2014/main" val="4046179852"/>
                    </a:ext>
                  </a:extLst>
                </a:gridCol>
                <a:gridCol w="2761195">
                  <a:extLst>
                    <a:ext uri="{9D8B030D-6E8A-4147-A177-3AD203B41FA5}">
                      <a16:colId xmlns:a16="http://schemas.microsoft.com/office/drawing/2014/main" val="1435610574"/>
                    </a:ext>
                  </a:extLst>
                </a:gridCol>
                <a:gridCol w="2761195">
                  <a:extLst>
                    <a:ext uri="{9D8B030D-6E8A-4147-A177-3AD203B41FA5}">
                      <a16:colId xmlns:a16="http://schemas.microsoft.com/office/drawing/2014/main" val="3948590613"/>
                    </a:ext>
                  </a:extLst>
                </a:gridCol>
                <a:gridCol w="2761195">
                  <a:extLst>
                    <a:ext uri="{9D8B030D-6E8A-4147-A177-3AD203B41FA5}">
                      <a16:colId xmlns:a16="http://schemas.microsoft.com/office/drawing/2014/main" val="4234237340"/>
                    </a:ext>
                  </a:extLst>
                </a:gridCol>
              </a:tblGrid>
              <a:tr h="273885">
                <a:tc>
                  <a:txBody>
                    <a:bodyPr/>
                    <a:lstStyle/>
                    <a:p>
                      <a:pPr>
                        <a:buNone/>
                      </a:pPr>
                      <a:r>
                        <a:rPr lang="en-US" sz="1400" dirty="0"/>
                        <a:t>Configuration</a:t>
                      </a:r>
                    </a:p>
                  </a:txBody>
                  <a:tcPr anchor="ctr"/>
                </a:tc>
                <a:tc>
                  <a:txBody>
                    <a:bodyPr/>
                    <a:lstStyle/>
                    <a:p>
                      <a:pPr>
                        <a:buNone/>
                      </a:pPr>
                      <a:r>
                        <a:rPr lang="en-US" sz="1400" dirty="0"/>
                        <a:t>Who Operates It</a:t>
                      </a:r>
                    </a:p>
                  </a:txBody>
                  <a:tcPr anchor="ctr"/>
                </a:tc>
                <a:tc>
                  <a:txBody>
                    <a:bodyPr/>
                    <a:lstStyle/>
                    <a:p>
                      <a:pPr>
                        <a:buNone/>
                      </a:pPr>
                      <a:r>
                        <a:rPr lang="en-US" sz="1400" dirty="0"/>
                        <a:t>Best Suited For</a:t>
                      </a:r>
                    </a:p>
                  </a:txBody>
                  <a:tcPr anchor="ctr"/>
                </a:tc>
                <a:tc>
                  <a:txBody>
                    <a:bodyPr/>
                    <a:lstStyle/>
                    <a:p>
                      <a:pPr>
                        <a:buNone/>
                      </a:pPr>
                      <a:r>
                        <a:rPr lang="en-US" sz="1400" dirty="0"/>
                        <a:t>Trade-off</a:t>
                      </a:r>
                    </a:p>
                  </a:txBody>
                  <a:tcPr anchor="ctr"/>
                </a:tc>
                <a:extLst>
                  <a:ext uri="{0D108BD9-81ED-4DB2-BD59-A6C34878D82A}">
                    <a16:rowId xmlns:a16="http://schemas.microsoft.com/office/drawing/2014/main" val="1720319338"/>
                  </a:ext>
                </a:extLst>
              </a:tr>
              <a:tr h="1087712">
                <a:tc>
                  <a:txBody>
                    <a:bodyPr/>
                    <a:lstStyle/>
                    <a:p>
                      <a:pPr>
                        <a:buNone/>
                      </a:pPr>
                      <a:r>
                        <a:rPr lang="en-US" sz="1400" dirty="0"/>
                        <a:t>In-house SOC (dedicated)</a:t>
                      </a:r>
                    </a:p>
                  </a:txBody>
                  <a:tcPr anchor="ctr"/>
                </a:tc>
                <a:tc>
                  <a:txBody>
                    <a:bodyPr/>
                    <a:lstStyle/>
                    <a:p>
                      <a:pPr>
                        <a:buNone/>
                      </a:pPr>
                      <a:r>
                        <a:rPr lang="en-US" sz="1400" dirty="0"/>
                        <a:t>Full-time staff employed directly by the organization</a:t>
                      </a:r>
                    </a:p>
                  </a:txBody>
                  <a:tcPr anchor="ctr"/>
                </a:tc>
                <a:tc>
                  <a:txBody>
                    <a:bodyPr/>
                    <a:lstStyle/>
                    <a:p>
                      <a:pPr>
                        <a:buNone/>
                      </a:pPr>
                      <a:r>
                        <a:rPr lang="en-US" sz="1400" dirty="0"/>
                        <a:t>Large organizations needing maximum control and customization</a:t>
                      </a:r>
                    </a:p>
                  </a:txBody>
                  <a:tcPr anchor="ctr"/>
                </a:tc>
                <a:tc>
                  <a:txBody>
                    <a:bodyPr/>
                    <a:lstStyle/>
                    <a:p>
                      <a:pPr>
                        <a:buNone/>
                      </a:pPr>
                      <a:r>
                        <a:rPr lang="en-US" sz="1400" dirty="0"/>
                        <a:t>Highest cost — significant investment in infrastructure, personnel, and maintenance</a:t>
                      </a:r>
                    </a:p>
                  </a:txBody>
                  <a:tcPr anchor="ctr"/>
                </a:tc>
                <a:extLst>
                  <a:ext uri="{0D108BD9-81ED-4DB2-BD59-A6C34878D82A}">
                    <a16:rowId xmlns:a16="http://schemas.microsoft.com/office/drawing/2014/main" val="4199718625"/>
                  </a:ext>
                </a:extLst>
              </a:tr>
              <a:tr h="680799">
                <a:tc>
                  <a:txBody>
                    <a:bodyPr/>
                    <a:lstStyle/>
                    <a:p>
                      <a:pPr>
                        <a:buNone/>
                      </a:pPr>
                      <a:r>
                        <a:rPr lang="en-US" sz="1400" dirty="0"/>
                        <a:t>Managed SOC (M-SOC)</a:t>
                      </a:r>
                    </a:p>
                  </a:txBody>
                  <a:tcPr anchor="ctr"/>
                </a:tc>
                <a:tc>
                  <a:txBody>
                    <a:bodyPr/>
                    <a:lstStyle/>
                    <a:p>
                      <a:pPr>
                        <a:buNone/>
                      </a:pPr>
                      <a:r>
                        <a:rPr lang="en-US" sz="1400" dirty="0"/>
                        <a:t>Third-party managed security service provider (MSSP)</a:t>
                      </a:r>
                    </a:p>
                  </a:txBody>
                  <a:tcPr anchor="ctr"/>
                </a:tc>
                <a:tc>
                  <a:txBody>
                    <a:bodyPr/>
                    <a:lstStyle/>
                    <a:p>
                      <a:pPr>
                        <a:buNone/>
                      </a:pPr>
                      <a:r>
                        <a:rPr lang="en-US" sz="1400" dirty="0"/>
                        <a:t>Organizations lacking resources/expertise to build their own SOC</a:t>
                      </a:r>
                    </a:p>
                  </a:txBody>
                  <a:tcPr anchor="ctr"/>
                </a:tc>
                <a:tc>
                  <a:txBody>
                    <a:bodyPr/>
                    <a:lstStyle/>
                    <a:p>
                      <a:pPr>
                        <a:buNone/>
                      </a:pPr>
                      <a:r>
                        <a:rPr lang="en-US" sz="1400" dirty="0"/>
                        <a:t>Less direct control; relies on the MSSP's tools and staff</a:t>
                      </a:r>
                    </a:p>
                  </a:txBody>
                  <a:tcPr anchor="ctr"/>
                </a:tc>
                <a:extLst>
                  <a:ext uri="{0D108BD9-81ED-4DB2-BD59-A6C34878D82A}">
                    <a16:rowId xmlns:a16="http://schemas.microsoft.com/office/drawing/2014/main" val="1515824840"/>
                  </a:ext>
                </a:extLst>
              </a:tr>
              <a:tr h="884256">
                <a:tc>
                  <a:txBody>
                    <a:bodyPr/>
                    <a:lstStyle/>
                    <a:p>
                      <a:pPr>
                        <a:buNone/>
                      </a:pPr>
                      <a:r>
                        <a:rPr lang="en-US" sz="1400" dirty="0"/>
                        <a:t>Hybrid SOC</a:t>
                      </a:r>
                    </a:p>
                  </a:txBody>
                  <a:tcPr anchor="ctr"/>
                </a:tc>
                <a:tc>
                  <a:txBody>
                    <a:bodyPr/>
                    <a:lstStyle/>
                    <a:p>
                      <a:pPr>
                        <a:buNone/>
                      </a:pPr>
                      <a:r>
                        <a:rPr lang="en-US" sz="1400" dirty="0"/>
                        <a:t>Split — some functions in-house, some outsourced</a:t>
                      </a:r>
                    </a:p>
                  </a:txBody>
                  <a:tcPr anchor="ctr"/>
                </a:tc>
                <a:tc>
                  <a:txBody>
                    <a:bodyPr/>
                    <a:lstStyle/>
                    <a:p>
                      <a:pPr>
                        <a:buNone/>
                      </a:pPr>
                      <a:r>
                        <a:rPr lang="en-US" sz="1400" dirty="0"/>
                        <a:t>Organizations wanting flexibility (e.g., in-house IR, outsourced monitoring)</a:t>
                      </a:r>
                    </a:p>
                  </a:txBody>
                  <a:tcPr anchor="ctr"/>
                </a:tc>
                <a:tc>
                  <a:txBody>
                    <a:bodyPr/>
                    <a:lstStyle/>
                    <a:p>
                      <a:pPr>
                        <a:buNone/>
                      </a:pPr>
                      <a:r>
                        <a:rPr lang="en-US" sz="1400" dirty="0"/>
                        <a:t>Requires clear division of responsibility to avoid coordination gaps</a:t>
                      </a:r>
                    </a:p>
                  </a:txBody>
                  <a:tcPr anchor="ctr"/>
                </a:tc>
                <a:extLst>
                  <a:ext uri="{0D108BD9-81ED-4DB2-BD59-A6C34878D82A}">
                    <a16:rowId xmlns:a16="http://schemas.microsoft.com/office/drawing/2014/main" val="440592199"/>
                  </a:ext>
                </a:extLst>
              </a:tr>
              <a:tr h="680799">
                <a:tc>
                  <a:txBody>
                    <a:bodyPr/>
                    <a:lstStyle/>
                    <a:p>
                      <a:pPr>
                        <a:buNone/>
                      </a:pPr>
                      <a:r>
                        <a:rPr lang="en-US" sz="1400" dirty="0"/>
                        <a:t>Virtual SOC (V-SOC)</a:t>
                      </a:r>
                    </a:p>
                  </a:txBody>
                  <a:tcPr anchor="ctr"/>
                </a:tc>
                <a:tc>
                  <a:txBody>
                    <a:bodyPr/>
                    <a:lstStyle/>
                    <a:p>
                      <a:pPr>
                        <a:buNone/>
                      </a:pPr>
                      <a:r>
                        <a:rPr lang="en-US" sz="1400" dirty="0"/>
                        <a:t>Analysts working remotely via cloud-based tools</a:t>
                      </a:r>
                    </a:p>
                  </a:txBody>
                  <a:tcPr anchor="ctr"/>
                </a:tc>
                <a:tc>
                  <a:txBody>
                    <a:bodyPr/>
                    <a:lstStyle/>
                    <a:p>
                      <a:pPr>
                        <a:buNone/>
                      </a:pPr>
                      <a:r>
                        <a:rPr lang="en-US" sz="1400" dirty="0"/>
                        <a:t>Distributed workforces or cloud-first organizations</a:t>
                      </a:r>
                    </a:p>
                  </a:txBody>
                  <a:tcPr anchor="ctr"/>
                </a:tc>
                <a:tc>
                  <a:txBody>
                    <a:bodyPr/>
                    <a:lstStyle/>
                    <a:p>
                      <a:pPr>
                        <a:buNone/>
                      </a:pPr>
                      <a:r>
                        <a:rPr lang="en-US" sz="1400" dirty="0"/>
                        <a:t>Depends heavily on reliable connectivity and cloud tooling</a:t>
                      </a:r>
                    </a:p>
                  </a:txBody>
                  <a:tcPr anchor="ctr"/>
                </a:tc>
                <a:extLst>
                  <a:ext uri="{0D108BD9-81ED-4DB2-BD59-A6C34878D82A}">
                    <a16:rowId xmlns:a16="http://schemas.microsoft.com/office/drawing/2014/main" val="3840880335"/>
                  </a:ext>
                </a:extLst>
              </a:tr>
              <a:tr h="884256">
                <a:tc>
                  <a:txBody>
                    <a:bodyPr/>
                    <a:lstStyle/>
                    <a:p>
                      <a:pPr>
                        <a:buNone/>
                      </a:pPr>
                      <a:r>
                        <a:rPr lang="en-US" sz="1400" dirty="0"/>
                        <a:t>Co-managed SOC</a:t>
                      </a:r>
                    </a:p>
                  </a:txBody>
                  <a:tcPr anchor="ctr"/>
                </a:tc>
                <a:tc>
                  <a:txBody>
                    <a:bodyPr/>
                    <a:lstStyle/>
                    <a:p>
                      <a:pPr>
                        <a:buNone/>
                      </a:pPr>
                      <a:r>
                        <a:rPr lang="en-US" sz="1400" dirty="0"/>
                        <a:t>Shared responsibility between organization and MSSP</a:t>
                      </a:r>
                    </a:p>
                  </a:txBody>
                  <a:tcPr anchor="ctr"/>
                </a:tc>
                <a:tc>
                  <a:txBody>
                    <a:bodyPr/>
                    <a:lstStyle/>
                    <a:p>
                      <a:pPr>
                        <a:buNone/>
                      </a:pPr>
                      <a:r>
                        <a:rPr lang="en-US" sz="1400" dirty="0"/>
                        <a:t>Organizations needing close MSSP collaboration for compliance reasons</a:t>
                      </a:r>
                    </a:p>
                  </a:txBody>
                  <a:tcPr anchor="ctr"/>
                </a:tc>
                <a:tc>
                  <a:txBody>
                    <a:bodyPr/>
                    <a:lstStyle/>
                    <a:p>
                      <a:pPr>
                        <a:buNone/>
                      </a:pPr>
                      <a:r>
                        <a:rPr lang="en-US" sz="1400" dirty="0"/>
                        <a:t>Requires strong coordination to prevent duplicated or missed coverage</a:t>
                      </a:r>
                    </a:p>
                  </a:txBody>
                  <a:tcPr anchor="ctr"/>
                </a:tc>
                <a:extLst>
                  <a:ext uri="{0D108BD9-81ED-4DB2-BD59-A6C34878D82A}">
                    <a16:rowId xmlns:a16="http://schemas.microsoft.com/office/drawing/2014/main" val="3050713215"/>
                  </a:ext>
                </a:extLst>
              </a:tr>
            </a:tbl>
          </a:graphicData>
        </a:graphic>
      </p:graphicFrame>
    </p:spTree>
    <p:extLst>
      <p:ext uri="{BB962C8B-B14F-4D97-AF65-F5344CB8AC3E}">
        <p14:creationId xmlns:p14="http://schemas.microsoft.com/office/powerpoint/2010/main" val="2549992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407A5-5AE2-7E82-18CA-549D81A69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B1F80-FC14-3B0F-2D58-628C03957094}"/>
              </a:ext>
            </a:extLst>
          </p:cNvPr>
          <p:cNvSpPr>
            <a:spLocks noGrp="1"/>
          </p:cNvSpPr>
          <p:nvPr>
            <p:ph type="title"/>
          </p:nvPr>
        </p:nvSpPr>
        <p:spPr/>
        <p:txBody>
          <a:bodyPr/>
          <a:lstStyle/>
          <a:p>
            <a:r>
              <a:rPr lang="en-US" dirty="0">
                <a:cs typeface="DIN Next LT Arabic"/>
              </a:rPr>
              <a:t>Types of SOC Configurations</a:t>
            </a:r>
            <a:endParaRPr lang="en-US">
              <a:cs typeface="DIN Next LT Arabic"/>
            </a:endParaRPr>
          </a:p>
          <a:p>
            <a:endParaRPr lang="en-US" dirty="0"/>
          </a:p>
        </p:txBody>
      </p:sp>
      <p:sp>
        <p:nvSpPr>
          <p:cNvPr id="5" name="TextBox 4">
            <a:extLst>
              <a:ext uri="{FF2B5EF4-FFF2-40B4-BE49-F238E27FC236}">
                <a16:creationId xmlns:a16="http://schemas.microsoft.com/office/drawing/2014/main" id="{E8568EA2-F020-12B5-A512-BE9B361729E4}"/>
              </a:ext>
            </a:extLst>
          </p:cNvPr>
          <p:cNvSpPr txBox="1"/>
          <p:nvPr/>
        </p:nvSpPr>
        <p:spPr>
          <a:xfrm>
            <a:off x="849206" y="1503680"/>
            <a:ext cx="1024466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Calibri"/>
                <a:ea typeface="Calibri"/>
                <a:cs typeface="Calibri"/>
              </a:rPr>
              <a:t>Choosing a Configuration</a:t>
            </a:r>
            <a:endParaRPr lang="en-US" dirty="0">
              <a:latin typeface="Calibri"/>
              <a:ea typeface="Calibri"/>
              <a:cs typeface="Calibri"/>
            </a:endParaRPr>
          </a:p>
          <a:p>
            <a:r>
              <a:rPr lang="en-US" dirty="0">
                <a:latin typeface="Calibri"/>
                <a:ea typeface="Calibri"/>
                <a:cs typeface="Calibri"/>
              </a:rPr>
              <a:t> No single configuration is universally superior; the right choice depends on organizational size, cost tolerance, asset criticality, and specific compliance obligations [1].</a:t>
            </a:r>
          </a:p>
        </p:txBody>
      </p:sp>
      <p:pic>
        <p:nvPicPr>
          <p:cNvPr id="7" name="Content Placeholder 6">
            <a:extLst>
              <a:ext uri="{FF2B5EF4-FFF2-40B4-BE49-F238E27FC236}">
                <a16:creationId xmlns:a16="http://schemas.microsoft.com/office/drawing/2014/main" id="{DF807F0A-2AA0-E70D-F1E6-C8686767B149}"/>
              </a:ext>
            </a:extLst>
          </p:cNvPr>
          <p:cNvPicPr>
            <a:picLocks noGrp="1" noChangeAspect="1"/>
          </p:cNvPicPr>
          <p:nvPr>
            <p:ph idx="1"/>
          </p:nvPr>
        </p:nvPicPr>
        <p:blipFill>
          <a:blip r:embed="rId2"/>
          <a:stretch>
            <a:fillRect/>
          </a:stretch>
        </p:blipFill>
        <p:spPr>
          <a:xfrm>
            <a:off x="1473835" y="2543969"/>
            <a:ext cx="8248650" cy="3524250"/>
          </a:xfrm>
          <a:prstGeom prst="rect">
            <a:avLst/>
          </a:prstGeom>
        </p:spPr>
      </p:pic>
    </p:spTree>
    <p:extLst>
      <p:ext uri="{BB962C8B-B14F-4D97-AF65-F5344CB8AC3E}">
        <p14:creationId xmlns:p14="http://schemas.microsoft.com/office/powerpoint/2010/main" val="3649804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59538-330C-8A09-145C-3A887651AB35}"/>
              </a:ext>
            </a:extLst>
          </p:cNvPr>
          <p:cNvSpPr>
            <a:spLocks noGrp="1"/>
          </p:cNvSpPr>
          <p:nvPr>
            <p:ph type="title"/>
          </p:nvPr>
        </p:nvSpPr>
        <p:spPr/>
        <p:txBody>
          <a:bodyPr>
            <a:normAutofit/>
          </a:bodyPr>
          <a:lstStyle/>
          <a:p>
            <a:r>
              <a:rPr lang="en-US" dirty="0">
                <a:cs typeface="DIN Next LT Arabic"/>
              </a:rPr>
              <a:t>Case Scenario</a:t>
            </a:r>
            <a:endParaRPr lang="en-US" dirty="0"/>
          </a:p>
        </p:txBody>
      </p:sp>
      <p:sp>
        <p:nvSpPr>
          <p:cNvPr id="3" name="Content Placeholder 2">
            <a:extLst>
              <a:ext uri="{FF2B5EF4-FFF2-40B4-BE49-F238E27FC236}">
                <a16:creationId xmlns:a16="http://schemas.microsoft.com/office/drawing/2014/main" id="{1F52E8C0-8881-E9CA-EF6E-D66E75A42923}"/>
              </a:ext>
            </a:extLst>
          </p:cNvPr>
          <p:cNvSpPr>
            <a:spLocks noGrp="1"/>
          </p:cNvSpPr>
          <p:nvPr>
            <p:ph idx="1"/>
          </p:nvPr>
        </p:nvSpPr>
        <p:spPr/>
        <p:txBody>
          <a:bodyPr vert="horz" lIns="91440" tIns="45720" rIns="91440" bIns="45720" rtlCol="0" anchor="t">
            <a:normAutofit/>
          </a:bodyPr>
          <a:lstStyle/>
          <a:p>
            <a:pPr marL="0" indent="0">
              <a:buNone/>
            </a:pPr>
            <a:r>
              <a:rPr lang="en-US" b="1" dirty="0">
                <a:cs typeface="DIN Next LT Arabic"/>
              </a:rPr>
              <a:t>Target Corporation, 2013</a:t>
            </a:r>
            <a:endParaRPr lang="en-US" dirty="0">
              <a:cs typeface="DIN Next LT Arabic"/>
            </a:endParaRPr>
          </a:p>
          <a:p>
            <a:pPr marL="0" indent="0">
              <a:buNone/>
            </a:pPr>
            <a:r>
              <a:rPr lang="en-US" sz="2000" dirty="0">
                <a:cs typeface="DIN Next LT Arabic"/>
              </a:rPr>
              <a:t> Target's SOC operated in a configuration that combined elements of hybrid and co-managed models: a monitoring team in Bangalore, India handled initial detection, while the security operations center in Minneapolis held decision-making authority [6]. This split-location arrangement illustrates a risk specific to hybrid/co-managed setups that a single-site in-house SOC would not face in the same way: even when the outsourced or remote arm of the SOC performs its job correctly — as Bangalore did, correctly flagging and escalating the FireEye alerts on November 30 and December 2, 2013 — the handoff to the team with final authority becomes a critical point of failure [4]. The alerts were escalated exactly as the configuration intended, but were then reviewed and dismissed in Minneapolis, and the breach went on to affect roughly 40 million card accounts [5].</a:t>
            </a:r>
          </a:p>
        </p:txBody>
      </p:sp>
    </p:spTree>
    <p:extLst>
      <p:ext uri="{BB962C8B-B14F-4D97-AF65-F5344CB8AC3E}">
        <p14:creationId xmlns:p14="http://schemas.microsoft.com/office/powerpoint/2010/main" val="21376187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EA29B-F4CD-949A-F24F-23DF93990684}"/>
              </a:ext>
            </a:extLst>
          </p:cNvPr>
          <p:cNvSpPr>
            <a:spLocks noGrp="1"/>
          </p:cNvSpPr>
          <p:nvPr>
            <p:ph type="title"/>
          </p:nvPr>
        </p:nvSpPr>
        <p:spPr/>
        <p:txBody>
          <a:bodyPr/>
          <a:lstStyle/>
          <a:p>
            <a:r>
              <a:rPr lang="en-US" dirty="0">
                <a:cs typeface="DIN Next LT Arabic"/>
              </a:rPr>
              <a:t>Discussion </a:t>
            </a:r>
          </a:p>
        </p:txBody>
      </p:sp>
      <p:sp>
        <p:nvSpPr>
          <p:cNvPr id="3" name="Content Placeholder 2">
            <a:extLst>
              <a:ext uri="{FF2B5EF4-FFF2-40B4-BE49-F238E27FC236}">
                <a16:creationId xmlns:a16="http://schemas.microsoft.com/office/drawing/2014/main" id="{511B0478-9AF8-8FEC-61EB-D0A68252ED45}"/>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Configuration choice defines </a:t>
            </a:r>
            <a:r>
              <a:rPr lang="en-US" i="1" dirty="0">
                <a:latin typeface="Calibri"/>
                <a:ea typeface="Calibri"/>
                <a:cs typeface="Calibri"/>
              </a:rPr>
              <a:t>where</a:t>
            </a:r>
            <a:r>
              <a:rPr lang="en-US" dirty="0">
                <a:latin typeface="Calibri"/>
                <a:ea typeface="Calibri"/>
                <a:cs typeface="Calibri"/>
              </a:rPr>
              <a:t> SOC functions are performed, not whether they are performed correctly. For the Target case, would a fully in-house, single-location SOC have removed the point of failure or could the same escalate-and-dismiss failure have occurred within one team just as easily?</a:t>
            </a:r>
          </a:p>
        </p:txBody>
      </p:sp>
    </p:spTree>
    <p:extLst>
      <p:ext uri="{BB962C8B-B14F-4D97-AF65-F5344CB8AC3E}">
        <p14:creationId xmlns:p14="http://schemas.microsoft.com/office/powerpoint/2010/main" val="1486952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8D2BE-3362-0A3D-453F-42FCAE45BC8F}"/>
              </a:ext>
            </a:extLst>
          </p:cNvPr>
          <p:cNvSpPr>
            <a:spLocks noGrp="1"/>
          </p:cNvSpPr>
          <p:nvPr>
            <p:ph type="title"/>
          </p:nvPr>
        </p:nvSpPr>
        <p:spPr>
          <a:ln>
            <a:solidFill>
              <a:schemeClr val="bg1"/>
            </a:solidFill>
          </a:ln>
        </p:spPr>
        <p:txBody>
          <a:bodyPr/>
          <a:lstStyle/>
          <a:p>
            <a:r>
              <a:rPr lang="en-US" sz="4400" dirty="0">
                <a:cs typeface="DIN Next LT Arabic"/>
              </a:rPr>
              <a:t>SOC Challenges</a:t>
            </a:r>
          </a:p>
          <a:p>
            <a:endParaRPr lang="en-US" dirty="0"/>
          </a:p>
        </p:txBody>
      </p:sp>
      <p:sp>
        <p:nvSpPr>
          <p:cNvPr id="3" name="Text Placeholder 2">
            <a:extLst>
              <a:ext uri="{FF2B5EF4-FFF2-40B4-BE49-F238E27FC236}">
                <a16:creationId xmlns:a16="http://schemas.microsoft.com/office/drawing/2014/main" id="{C4217B16-4057-3F9D-CEDC-0B455C5C6F5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33704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9491E-AF95-71EF-F01C-8257CBAE2AEC}"/>
              </a:ext>
            </a:extLst>
          </p:cNvPr>
          <p:cNvSpPr>
            <a:spLocks noGrp="1"/>
          </p:cNvSpPr>
          <p:nvPr>
            <p:ph type="title"/>
          </p:nvPr>
        </p:nvSpPr>
        <p:spPr/>
        <p:txBody>
          <a:bodyPr/>
          <a:lstStyle/>
          <a:p>
            <a:r>
              <a:rPr lang="en-US" dirty="0">
                <a:cs typeface="DIN Next LT Arabic"/>
              </a:rPr>
              <a:t>SOC Challenges</a:t>
            </a:r>
          </a:p>
          <a:p>
            <a:endParaRPr lang="en-US" dirty="0"/>
          </a:p>
        </p:txBody>
      </p:sp>
      <p:pic>
        <p:nvPicPr>
          <p:cNvPr id="4" name="Content Placeholder 3">
            <a:extLst>
              <a:ext uri="{FF2B5EF4-FFF2-40B4-BE49-F238E27FC236}">
                <a16:creationId xmlns:a16="http://schemas.microsoft.com/office/drawing/2014/main" id="{815E3708-A7E0-8C11-A495-9FE8CB1A5B5D}"/>
              </a:ext>
            </a:extLst>
          </p:cNvPr>
          <p:cNvPicPr>
            <a:picLocks noGrp="1" noChangeAspect="1"/>
          </p:cNvPicPr>
          <p:nvPr>
            <p:ph idx="1"/>
          </p:nvPr>
        </p:nvPicPr>
        <p:blipFill>
          <a:blip r:embed="rId2"/>
          <a:stretch>
            <a:fillRect/>
          </a:stretch>
        </p:blipFill>
        <p:spPr>
          <a:xfrm>
            <a:off x="838200" y="1858169"/>
            <a:ext cx="10515600" cy="4286250"/>
          </a:xfrm>
          <a:prstGeom prst="rect">
            <a:avLst/>
          </a:prstGeom>
        </p:spPr>
      </p:pic>
    </p:spTree>
    <p:extLst>
      <p:ext uri="{BB962C8B-B14F-4D97-AF65-F5344CB8AC3E}">
        <p14:creationId xmlns:p14="http://schemas.microsoft.com/office/powerpoint/2010/main" val="60772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B4196-E9B2-487C-AFA2-6C6FD3DDAABA}"/>
              </a:ext>
            </a:extLst>
          </p:cNvPr>
          <p:cNvSpPr>
            <a:spLocks noGrp="1"/>
          </p:cNvSpPr>
          <p:nvPr>
            <p:ph type="title"/>
          </p:nvPr>
        </p:nvSpPr>
        <p:spPr>
          <a:xfrm>
            <a:off x="838200" y="365126"/>
            <a:ext cx="10515600" cy="1325563"/>
          </a:xfrm>
        </p:spPr>
        <p:txBody>
          <a:bodyPr anchor="ctr">
            <a:normAutofit/>
          </a:bodyPr>
          <a:lstStyle/>
          <a:p>
            <a:r>
              <a:rPr lang="en-US"/>
              <a:t>SOC Challenges</a:t>
            </a:r>
          </a:p>
        </p:txBody>
      </p:sp>
      <p:sp>
        <p:nvSpPr>
          <p:cNvPr id="3" name="Content Placeholder 2">
            <a:extLst>
              <a:ext uri="{FF2B5EF4-FFF2-40B4-BE49-F238E27FC236}">
                <a16:creationId xmlns:a16="http://schemas.microsoft.com/office/drawing/2014/main" id="{47E81D88-1E47-4231-8999-6548D3B0F968}"/>
              </a:ext>
            </a:extLst>
          </p:cNvPr>
          <p:cNvSpPr>
            <a:spLocks noGrp="1"/>
          </p:cNvSpPr>
          <p:nvPr>
            <p:ph sz="half" idx="1"/>
          </p:nvPr>
        </p:nvSpPr>
        <p:spPr>
          <a:xfrm>
            <a:off x="838200" y="1825625"/>
            <a:ext cx="5181600" cy="4351338"/>
          </a:xfrm>
        </p:spPr>
        <p:txBody>
          <a:bodyPr>
            <a:normAutofit/>
          </a:bodyPr>
          <a:lstStyle/>
          <a:p>
            <a:r>
              <a:rPr lang="en-US" sz="1800"/>
              <a:t>Too Many Alerts (Alert Fatigue)</a:t>
            </a:r>
          </a:p>
          <a:p>
            <a:pPr lvl="1"/>
            <a:r>
              <a:rPr lang="en-US" sz="1800"/>
              <a:t>SOC analysts are often overwhelmed by the huge volume of alerts generated by SIEM, IDS/IPS, firewalls, and EDR tools.</a:t>
            </a:r>
          </a:p>
          <a:p>
            <a:pPr lvl="1"/>
            <a:r>
              <a:rPr lang="en-US" sz="1800"/>
              <a:t>Many of these alerts are false positives or duplicates, making it difficult to identify true threats.</a:t>
            </a:r>
          </a:p>
          <a:p>
            <a:pPr lvl="1"/>
            <a:r>
              <a:rPr lang="en-US" sz="1800"/>
              <a:t>Alert fatigue can lead to missed incidents, delayed responses, and analyst burnout.</a:t>
            </a:r>
          </a:p>
          <a:p>
            <a:pPr lvl="1"/>
            <a:r>
              <a:rPr lang="en-US" sz="1800"/>
              <a:t>Example: A SIEM generates 50,000 alerts daily; analysts realistically can only investigate a fraction, leading to missed APT (Advanced Persistent Threat) activity.</a:t>
            </a:r>
          </a:p>
        </p:txBody>
      </p:sp>
      <p:pic>
        <p:nvPicPr>
          <p:cNvPr id="4" name="Picture 3">
            <a:extLst>
              <a:ext uri="{FF2B5EF4-FFF2-40B4-BE49-F238E27FC236}">
                <a16:creationId xmlns:a16="http://schemas.microsoft.com/office/drawing/2014/main" id="{A260E3BB-37BA-BB85-12D4-A385AF727C2D}"/>
              </a:ext>
            </a:extLst>
          </p:cNvPr>
          <p:cNvPicPr>
            <a:picLocks noChangeAspect="1"/>
          </p:cNvPicPr>
          <p:nvPr/>
        </p:nvPicPr>
        <p:blipFill>
          <a:blip r:embed="rId2"/>
          <a:stretch>
            <a:fillRect/>
          </a:stretch>
        </p:blipFill>
        <p:spPr>
          <a:xfrm>
            <a:off x="6696115" y="1825625"/>
            <a:ext cx="4133770" cy="4351338"/>
          </a:xfrm>
          <a:prstGeom prst="rect">
            <a:avLst/>
          </a:prstGeom>
          <a:noFill/>
        </p:spPr>
      </p:pic>
    </p:spTree>
    <p:extLst>
      <p:ext uri="{BB962C8B-B14F-4D97-AF65-F5344CB8AC3E}">
        <p14:creationId xmlns:p14="http://schemas.microsoft.com/office/powerpoint/2010/main" val="2965597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A2CA9D-80A4-40A3-9D05-5555378C4DE9}"/>
              </a:ext>
            </a:extLst>
          </p:cNvPr>
          <p:cNvSpPr>
            <a:spLocks noGrp="1"/>
          </p:cNvSpPr>
          <p:nvPr>
            <p:ph type="title"/>
          </p:nvPr>
        </p:nvSpPr>
        <p:spPr>
          <a:xfrm>
            <a:off x="838200" y="365126"/>
            <a:ext cx="10515600" cy="1325563"/>
          </a:xfrm>
        </p:spPr>
        <p:txBody>
          <a:bodyPr anchor="ctr">
            <a:normAutofit/>
          </a:bodyPr>
          <a:lstStyle/>
          <a:p>
            <a:r>
              <a:rPr lang="en-US"/>
              <a:t>SOC Challenges</a:t>
            </a:r>
          </a:p>
        </p:txBody>
      </p:sp>
      <p:sp>
        <p:nvSpPr>
          <p:cNvPr id="3" name="Content Placeholder 2">
            <a:extLst>
              <a:ext uri="{FF2B5EF4-FFF2-40B4-BE49-F238E27FC236}">
                <a16:creationId xmlns:a16="http://schemas.microsoft.com/office/drawing/2014/main" id="{E1FEA699-1FDC-4E58-B89E-83E9F080C3F8}"/>
              </a:ext>
            </a:extLst>
          </p:cNvPr>
          <p:cNvSpPr>
            <a:spLocks noGrp="1"/>
          </p:cNvSpPr>
          <p:nvPr>
            <p:ph sz="half" idx="1"/>
          </p:nvPr>
        </p:nvSpPr>
        <p:spPr>
          <a:xfrm>
            <a:off x="838200" y="1825625"/>
            <a:ext cx="5181600" cy="4351338"/>
          </a:xfrm>
        </p:spPr>
        <p:txBody>
          <a:bodyPr>
            <a:normAutofit/>
          </a:bodyPr>
          <a:lstStyle/>
          <a:p>
            <a:r>
              <a:rPr lang="en-US" sz="1800"/>
              <a:t>Lack of Clear Incident Response Procedures and Policies</a:t>
            </a:r>
          </a:p>
          <a:p>
            <a:pPr lvl="1"/>
            <a:r>
              <a:rPr lang="en-US" sz="1800"/>
              <a:t>Without standardized playbooks and runbooks, responses to incidents can be inconsistent or delayed.</a:t>
            </a:r>
          </a:p>
          <a:p>
            <a:pPr lvl="1"/>
            <a:r>
              <a:rPr lang="en-US" sz="1800"/>
              <a:t>Some SOCs operate in a reactive mode rather than following structured frameworks like NIST IR (PICERL) or SANS IR.</a:t>
            </a:r>
          </a:p>
          <a:p>
            <a:pPr lvl="1"/>
            <a:r>
              <a:rPr lang="en-US" sz="1800"/>
              <a:t>This lack of clarity makes it hard to assign responsibilities and ensure proper evidence handling.</a:t>
            </a:r>
          </a:p>
          <a:p>
            <a:pPr lvl="1"/>
            <a:r>
              <a:rPr lang="en-US" sz="1800"/>
              <a:t>Example: During a ransomware outbreak, delays in isolating infected machines occur because no clear containment procedure exists.</a:t>
            </a:r>
          </a:p>
          <a:p>
            <a:endParaRPr lang="en-US" sz="1800"/>
          </a:p>
        </p:txBody>
      </p:sp>
      <p:pic>
        <p:nvPicPr>
          <p:cNvPr id="2" name="Picture 1">
            <a:extLst>
              <a:ext uri="{FF2B5EF4-FFF2-40B4-BE49-F238E27FC236}">
                <a16:creationId xmlns:a16="http://schemas.microsoft.com/office/drawing/2014/main" id="{89321296-04DC-A34A-5985-DE264B83D5E9}"/>
              </a:ext>
            </a:extLst>
          </p:cNvPr>
          <p:cNvPicPr>
            <a:picLocks noChangeAspect="1"/>
          </p:cNvPicPr>
          <p:nvPr/>
        </p:nvPicPr>
        <p:blipFill>
          <a:blip r:embed="rId2"/>
          <a:stretch>
            <a:fillRect/>
          </a:stretch>
        </p:blipFill>
        <p:spPr>
          <a:xfrm>
            <a:off x="6172200" y="2498630"/>
            <a:ext cx="5181600" cy="3005327"/>
          </a:xfrm>
          <a:prstGeom prst="rect">
            <a:avLst/>
          </a:prstGeom>
          <a:noFill/>
        </p:spPr>
      </p:pic>
    </p:spTree>
    <p:extLst>
      <p:ext uri="{BB962C8B-B14F-4D97-AF65-F5344CB8AC3E}">
        <p14:creationId xmlns:p14="http://schemas.microsoft.com/office/powerpoint/2010/main" val="3821544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9D18FF-62FD-45CB-BBC5-A4923B6D5573}"/>
              </a:ext>
            </a:extLst>
          </p:cNvPr>
          <p:cNvSpPr>
            <a:spLocks noGrp="1"/>
          </p:cNvSpPr>
          <p:nvPr>
            <p:ph type="title"/>
          </p:nvPr>
        </p:nvSpPr>
        <p:spPr/>
        <p:txBody>
          <a:bodyPr/>
          <a:lstStyle/>
          <a:p>
            <a:r>
              <a:rPr lang="en-US"/>
              <a:t>SOC Challenges</a:t>
            </a:r>
          </a:p>
        </p:txBody>
      </p:sp>
      <p:sp>
        <p:nvSpPr>
          <p:cNvPr id="3" name="Content Placeholder 2">
            <a:extLst>
              <a:ext uri="{FF2B5EF4-FFF2-40B4-BE49-F238E27FC236}">
                <a16:creationId xmlns:a16="http://schemas.microsoft.com/office/drawing/2014/main" id="{6E966266-DE2E-414A-B7C4-5230D90204CD}"/>
              </a:ext>
            </a:extLst>
          </p:cNvPr>
          <p:cNvSpPr>
            <a:spLocks noGrp="1"/>
          </p:cNvSpPr>
          <p:nvPr>
            <p:ph idx="1"/>
          </p:nvPr>
        </p:nvSpPr>
        <p:spPr>
          <a:xfrm>
            <a:off x="838200" y="1825625"/>
            <a:ext cx="10515600" cy="4351338"/>
          </a:xfrm>
        </p:spPr>
        <p:txBody>
          <a:bodyPr>
            <a:normAutofit/>
          </a:bodyPr>
          <a:lstStyle/>
          <a:p>
            <a:r>
              <a:rPr lang="en-US"/>
              <a:t>Limited Security Budgets</a:t>
            </a:r>
          </a:p>
          <a:p>
            <a:pPr lvl="1"/>
            <a:r>
              <a:rPr lang="en-US"/>
              <a:t>Many SOCs operate under tight financial constraints.</a:t>
            </a:r>
          </a:p>
          <a:p>
            <a:pPr lvl="1"/>
            <a:r>
              <a:rPr lang="en-US"/>
              <a:t>This leads to challenges such as:</a:t>
            </a:r>
          </a:p>
          <a:p>
            <a:pPr lvl="2"/>
            <a:r>
              <a:rPr lang="en-US"/>
              <a:t>Inability to purchase advanced detection tools (e.g., SOAR, XDR).</a:t>
            </a:r>
          </a:p>
          <a:p>
            <a:pPr lvl="2"/>
            <a:r>
              <a:rPr lang="en-US"/>
              <a:t>Limited investment in training and certifications for analysts.</a:t>
            </a:r>
          </a:p>
          <a:p>
            <a:pPr lvl="2"/>
            <a:r>
              <a:rPr lang="en-US"/>
              <a:t>Shortage of skilled staff due to low salaries compared to market demand.</a:t>
            </a:r>
          </a:p>
          <a:p>
            <a:pPr lvl="1"/>
            <a:r>
              <a:rPr lang="en-US"/>
              <a:t>Result: Organizations may rely on outdated technology, minimal automation, and smaller teams, leaving them vulnerable.</a:t>
            </a:r>
          </a:p>
          <a:p>
            <a:pPr lvl="1"/>
            <a:r>
              <a:rPr lang="en-US"/>
              <a:t>Example: A SOC might rely solely on open-source tools, which while powerful, require significant expertise to manage effectively.</a:t>
            </a:r>
          </a:p>
          <a:p>
            <a:endParaRPr lang="en-US"/>
          </a:p>
        </p:txBody>
      </p:sp>
    </p:spTree>
    <p:extLst>
      <p:ext uri="{BB962C8B-B14F-4D97-AF65-F5344CB8AC3E}">
        <p14:creationId xmlns:p14="http://schemas.microsoft.com/office/powerpoint/2010/main" val="3730854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4328FE-3F36-449F-A629-F92D5B71BD33}"/>
              </a:ext>
            </a:extLst>
          </p:cNvPr>
          <p:cNvSpPr>
            <a:spLocks noGrp="1"/>
          </p:cNvSpPr>
          <p:nvPr>
            <p:ph type="title"/>
          </p:nvPr>
        </p:nvSpPr>
        <p:spPr/>
        <p:txBody>
          <a:bodyPr/>
          <a:lstStyle/>
          <a:p>
            <a:r>
              <a:rPr lang="en-US"/>
              <a:t>SOC Challenges</a:t>
            </a:r>
          </a:p>
        </p:txBody>
      </p:sp>
      <p:sp>
        <p:nvSpPr>
          <p:cNvPr id="3" name="Content Placeholder 2">
            <a:extLst>
              <a:ext uri="{FF2B5EF4-FFF2-40B4-BE49-F238E27FC236}">
                <a16:creationId xmlns:a16="http://schemas.microsoft.com/office/drawing/2014/main" id="{0834890C-39EA-4857-B9D6-18F0C459F365}"/>
              </a:ext>
            </a:extLst>
          </p:cNvPr>
          <p:cNvSpPr>
            <a:spLocks noGrp="1"/>
          </p:cNvSpPr>
          <p:nvPr>
            <p:ph idx="1"/>
          </p:nvPr>
        </p:nvSpPr>
        <p:spPr>
          <a:xfrm>
            <a:off x="838200" y="1825625"/>
            <a:ext cx="10515600" cy="4351338"/>
          </a:xfrm>
        </p:spPr>
        <p:txBody>
          <a:bodyPr>
            <a:normAutofit lnSpcReduction="10000"/>
          </a:bodyPr>
          <a:lstStyle/>
          <a:p>
            <a:r>
              <a:rPr lang="en-US"/>
              <a:t>Compliance and Regulatory Requirements</a:t>
            </a:r>
          </a:p>
          <a:p>
            <a:pPr lvl="1"/>
            <a:r>
              <a:rPr lang="en-US"/>
              <a:t>SOCs must ensure adherence to multiple regulations (e.g., GDPR, HIPAA, PCI DSS, ISO 27001).</a:t>
            </a:r>
          </a:p>
          <a:p>
            <a:pPr lvl="1"/>
            <a:r>
              <a:rPr lang="en-US"/>
              <a:t>Compliance requires:</a:t>
            </a:r>
          </a:p>
          <a:p>
            <a:pPr lvl="2"/>
            <a:r>
              <a:rPr lang="en-US"/>
              <a:t>Proper logging and reporting.</a:t>
            </a:r>
          </a:p>
          <a:p>
            <a:pPr lvl="2"/>
            <a:r>
              <a:rPr lang="en-US"/>
              <a:t>Data retention policies.</a:t>
            </a:r>
          </a:p>
          <a:p>
            <a:pPr lvl="2"/>
            <a:r>
              <a:rPr lang="en-US"/>
              <a:t>Privacy controls.</a:t>
            </a:r>
          </a:p>
          <a:p>
            <a:pPr lvl="1"/>
            <a:r>
              <a:rPr lang="en-US"/>
              <a:t>Meeting compliance often diverts resources from active threat detection to documentation and reporting.</a:t>
            </a:r>
          </a:p>
          <a:p>
            <a:pPr lvl="1"/>
            <a:r>
              <a:rPr lang="en-US"/>
              <a:t>Example: A SOC team spends more time generating compliance audit reports than improving detection rules or conducting proactive threat hunting.</a:t>
            </a:r>
          </a:p>
        </p:txBody>
      </p:sp>
    </p:spTree>
    <p:extLst>
      <p:ext uri="{BB962C8B-B14F-4D97-AF65-F5344CB8AC3E}">
        <p14:creationId xmlns:p14="http://schemas.microsoft.com/office/powerpoint/2010/main" val="1819851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5EAA9C-0CA9-4B96-A6F2-757C05653ADB}"/>
              </a:ext>
            </a:extLst>
          </p:cNvPr>
          <p:cNvSpPr>
            <a:spLocks noGrp="1"/>
          </p:cNvSpPr>
          <p:nvPr>
            <p:ph type="title"/>
          </p:nvPr>
        </p:nvSpPr>
        <p:spPr/>
        <p:txBody>
          <a:bodyPr/>
          <a:lstStyle/>
          <a:p>
            <a:r>
              <a:rPr lang="en-US"/>
              <a:t>SOC Challenges</a:t>
            </a:r>
          </a:p>
        </p:txBody>
      </p:sp>
      <p:sp>
        <p:nvSpPr>
          <p:cNvPr id="3" name="Content Placeholder 2">
            <a:extLst>
              <a:ext uri="{FF2B5EF4-FFF2-40B4-BE49-F238E27FC236}">
                <a16:creationId xmlns:a16="http://schemas.microsoft.com/office/drawing/2014/main" id="{2443A747-0ABC-4777-AD0D-6446832D2114}"/>
              </a:ext>
            </a:extLst>
          </p:cNvPr>
          <p:cNvSpPr>
            <a:spLocks noGrp="1"/>
          </p:cNvSpPr>
          <p:nvPr>
            <p:ph idx="1"/>
          </p:nvPr>
        </p:nvSpPr>
        <p:spPr>
          <a:xfrm>
            <a:off x="838200" y="1825625"/>
            <a:ext cx="10515600" cy="4351338"/>
          </a:xfrm>
        </p:spPr>
        <p:txBody>
          <a:bodyPr>
            <a:normAutofit/>
          </a:bodyPr>
          <a:lstStyle/>
          <a:p>
            <a:r>
              <a:rPr lang="en-US"/>
              <a:t>Security Skills Shortage</a:t>
            </a:r>
          </a:p>
          <a:p>
            <a:pPr lvl="1"/>
            <a:r>
              <a:rPr lang="en-US"/>
              <a:t>There’s a global shortage of skilled cybersecurity professionals, particularly in SOC roles.</a:t>
            </a:r>
          </a:p>
          <a:p>
            <a:pPr lvl="1"/>
            <a:r>
              <a:rPr lang="en-US"/>
              <a:t>SOC teams need expertise in incident response, threat hunting, malware analysis, and forensics—but many organizations struggle to recruit or retain talent.</a:t>
            </a:r>
          </a:p>
          <a:p>
            <a:pPr lvl="1"/>
            <a:r>
              <a:rPr lang="en-US"/>
              <a:t>This leads to longer detection and response times and reliance on junior staff with limited experience.</a:t>
            </a:r>
          </a:p>
          <a:p>
            <a:pPr lvl="1"/>
            <a:r>
              <a:rPr lang="en-US"/>
              <a:t>Example: A Tier 1 SOC analyst may escalate too many false positives to Tier 2 due to lack of expertise, increasing workload inefficiency.</a:t>
            </a:r>
          </a:p>
          <a:p>
            <a:endParaRPr lang="en-US"/>
          </a:p>
        </p:txBody>
      </p:sp>
    </p:spTree>
    <p:extLst>
      <p:ext uri="{BB962C8B-B14F-4D97-AF65-F5344CB8AC3E}">
        <p14:creationId xmlns:p14="http://schemas.microsoft.com/office/powerpoint/2010/main" val="1612090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p:spPr>
        <p:txBody>
          <a:bodyPr>
            <a:noAutofit/>
          </a:bodyPr>
          <a:lstStyle/>
          <a:p>
            <a:r>
              <a:rPr lang="en-US"/>
              <a:t>References </a:t>
            </a:r>
          </a:p>
        </p:txBody>
      </p:sp>
      <p:sp>
        <p:nvSpPr>
          <p:cNvPr id="3" name="Content Placeholder 2"/>
          <p:cNvSpPr>
            <a:spLocks noGrp="1"/>
          </p:cNvSpPr>
          <p:nvPr>
            <p:ph idx="1"/>
          </p:nvPr>
        </p:nvSpPr>
        <p:spPr>
          <a:xfrm>
            <a:off x="838200" y="1825625"/>
            <a:ext cx="10515600" cy="4351338"/>
          </a:xfrm>
        </p:spPr>
        <p:txBody>
          <a:bodyPr vert="horz" lIns="91440" tIns="45720" rIns="91440" bIns="45720" rtlCol="0" anchor="t">
            <a:noAutofit/>
          </a:bodyPr>
          <a:lstStyle/>
          <a:p>
            <a:r>
              <a:rPr lang="en-US" sz="1000">
                <a:cs typeface="DIN Next LT Arabic"/>
              </a:rPr>
              <a:t>[1] G. Jarpey and R. S. McCoy, </a:t>
            </a:r>
            <a:r>
              <a:rPr lang="en-US" sz="1000" i="1">
                <a:cs typeface="DIN Next LT Arabic"/>
              </a:rPr>
              <a:t>Security Operations Center Guidebook: A Practical Guide for a Successful SOC</a:t>
            </a:r>
            <a:r>
              <a:rPr lang="en-US" sz="1000">
                <a:cs typeface="DIN Next LT Arabic"/>
              </a:rPr>
              <a:t>, n.d.</a:t>
            </a:r>
          </a:p>
          <a:p>
            <a:r>
              <a:rPr lang="en-US" sz="1000">
                <a:cs typeface="DIN Next LT Arabic"/>
              </a:rPr>
              <a:t>[2] "Understanding SOC, its components, setup, and benefits," </a:t>
            </a:r>
            <a:r>
              <a:rPr lang="en-US" sz="1000" i="1">
                <a:cs typeface="DIN Next LT Arabic"/>
              </a:rPr>
              <a:t>Spiceworks</a:t>
            </a:r>
            <a:r>
              <a:rPr lang="en-US" sz="1000">
                <a:cs typeface="DIN Next LT Arabic"/>
              </a:rPr>
              <a:t>.</a:t>
            </a:r>
            <a:endParaRPr lang="en-US" sz="1000"/>
          </a:p>
          <a:p>
            <a:r>
              <a:rPr lang="en-US" sz="1000">
                <a:cs typeface="DIN Next LT Arabic"/>
              </a:rPr>
              <a:t>[3] "What is a SOC: Functions, roles, benefits, challenges," </a:t>
            </a:r>
            <a:r>
              <a:rPr lang="en-US" sz="1000" i="1">
                <a:cs typeface="DIN Next LT Arabic"/>
              </a:rPr>
              <a:t>AKATI Security</a:t>
            </a:r>
            <a:r>
              <a:rPr lang="en-US" sz="1000">
                <a:cs typeface="DIN Next LT Arabic"/>
              </a:rPr>
              <a:t>.</a:t>
            </a:r>
            <a:endParaRPr lang="en-US" sz="1000"/>
          </a:p>
          <a:p>
            <a:r>
              <a:rPr lang="en-US" sz="1000">
                <a:cs typeface="DIN Next LT Arabic"/>
              </a:rPr>
              <a:t>[4] M. Riley, B. Elgin, D. Lawrence, and C. Matlack, "Missed alarms and 40 million stolen credit card numbers: How Target blew it," </a:t>
            </a:r>
            <a:r>
              <a:rPr lang="en-US" sz="1000" i="1">
                <a:cs typeface="DIN Next LT Arabic"/>
              </a:rPr>
              <a:t>Bloomberg Businessweek</a:t>
            </a:r>
            <a:r>
              <a:rPr lang="en-US" sz="1000">
                <a:cs typeface="DIN Next LT Arabic"/>
              </a:rPr>
              <a:t>, Mar. 13, 2014. [Online]. Available: </a:t>
            </a:r>
            <a:r>
              <a:rPr lang="en-US" sz="1000">
                <a:cs typeface="DIN Next LT Arabic"/>
                <a:hlinkClick r:id="rId2"/>
              </a:rPr>
              <a:t>http://www.businessweek.com/articles/2014-03-13/target-missed-alarms-in-epic-hack-of-credit-card-data</a:t>
            </a:r>
            <a:endParaRPr lang="en-US" sz="1000"/>
          </a:p>
          <a:p>
            <a:r>
              <a:rPr lang="en-US" sz="1000">
                <a:cs typeface="DIN Next LT Arabic"/>
              </a:rPr>
              <a:t>[5] B. Krebs, "Sources: Target investigating data breach," </a:t>
            </a:r>
            <a:r>
              <a:rPr lang="en-US" sz="1000" i="1">
                <a:cs typeface="DIN Next LT Arabic"/>
              </a:rPr>
              <a:t>KrebsOnSecurity</a:t>
            </a:r>
            <a:r>
              <a:rPr lang="en-US" sz="1000">
                <a:cs typeface="DIN Next LT Arabic"/>
              </a:rPr>
              <a:t>, Dec. 18, 2013. [Online]. Available: </a:t>
            </a:r>
            <a:r>
              <a:rPr lang="en-US" sz="1000">
                <a:cs typeface="DIN Next LT Arabic"/>
                <a:hlinkClick r:id="rId3"/>
              </a:rPr>
              <a:t>https://krebsonsecurity.com/2013/12/sources-target-investigating-data-breach/</a:t>
            </a:r>
            <a:endParaRPr lang="en-US" sz="1000"/>
          </a:p>
          <a:p>
            <a:r>
              <a:rPr lang="en-US" sz="1000">
                <a:cs typeface="DIN Next LT Arabic"/>
              </a:rPr>
              <a:t>[6] "The role of security operations centers in incident detection and response," </a:t>
            </a:r>
            <a:r>
              <a:rPr lang="en-US" sz="1000" i="1" err="1">
                <a:cs typeface="DIN Next LT Arabic"/>
              </a:rPr>
              <a:t>MoldStud</a:t>
            </a:r>
            <a:r>
              <a:rPr lang="en-US" sz="1000">
                <a:cs typeface="DIN Next LT Arabic"/>
              </a:rPr>
              <a:t>.</a:t>
            </a:r>
            <a:endParaRPr lang="en-US" sz="1000"/>
          </a:p>
          <a:p>
            <a:r>
              <a:rPr lang="en-US" sz="1000">
                <a:cs typeface="DIN Next LT Arabic"/>
              </a:rPr>
              <a:t>[7] "Equifax says unpatched Apache Struts flaw behind massive security breach," </a:t>
            </a:r>
            <a:r>
              <a:rPr lang="en-US" sz="1000" i="1">
                <a:cs typeface="DIN Next LT Arabic"/>
              </a:rPr>
              <a:t>Data Center Knowledge</a:t>
            </a:r>
            <a:r>
              <a:rPr lang="en-US" sz="1000">
                <a:cs typeface="DIN Next LT Arabic"/>
              </a:rPr>
              <a:t>. [Online]. Available: </a:t>
            </a:r>
            <a:r>
              <a:rPr lang="en-US" sz="1000">
                <a:cs typeface="DIN Next LT Arabic"/>
                <a:hlinkClick r:id="rId4"/>
              </a:rPr>
              <a:t>https://www.datacenterknowledge.com/data-breaches/equifax-says-unpatched-apache-struts-flaw-behind-massive-security-breach</a:t>
            </a:r>
            <a:endParaRPr lang="en-US" sz="1000"/>
          </a:p>
          <a:p>
            <a:r>
              <a:rPr lang="en-US" sz="1000">
                <a:cs typeface="DIN Next LT Arabic"/>
              </a:rPr>
              <a:t>[8] "Congressional report rips Equifax for weak security," </a:t>
            </a:r>
            <a:r>
              <a:rPr lang="en-US" sz="1000" i="1">
                <a:cs typeface="DIN Next LT Arabic"/>
              </a:rPr>
              <a:t>BankInfoSecurity</a:t>
            </a:r>
            <a:r>
              <a:rPr lang="en-US" sz="1000">
                <a:cs typeface="DIN Next LT Arabic"/>
              </a:rPr>
              <a:t>. [Online]. Available: </a:t>
            </a:r>
            <a:r>
              <a:rPr lang="en-US" sz="1000">
                <a:cs typeface="DIN Next LT Arabic"/>
                <a:hlinkClick r:id="rId5"/>
              </a:rPr>
              <a:t>https://www.bankinfosecurity.com/congressional-report-rips-equifax-for-weak-security-a-12355</a:t>
            </a:r>
            <a:endParaRPr lang="en-US" sz="1000"/>
          </a:p>
        </p:txBody>
      </p:sp>
    </p:spTree>
    <p:extLst>
      <p:ext uri="{BB962C8B-B14F-4D97-AF65-F5344CB8AC3E}">
        <p14:creationId xmlns:p14="http://schemas.microsoft.com/office/powerpoint/2010/main" val="327480019"/>
      </p:ext>
    </p:extLst>
  </p:cSld>
  <p:clrMapOvr>
    <a:masterClrMapping/>
  </p:clrMapOvr>
</p:sld>
</file>

<file path=ppt/theme/theme1.xml><?xml version="1.0" encoding="utf-8"?>
<a:theme xmlns:a="http://schemas.openxmlformats.org/drawingml/2006/main" name="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5B96C54-0A27-4F08-9C0C-1866F81CC976}" vid="{FD9DF39B-C2CC-4318-B2DC-E4DB3D62B6BC}"/>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77BEC6FFFE5EF41954276BDD54D5AC8" ma:contentTypeVersion="3" ma:contentTypeDescription="Create a new document." ma:contentTypeScope="" ma:versionID="006eb17f8363eff2fb93b94268576681">
  <xsd:schema xmlns:xsd="http://www.w3.org/2001/XMLSchema" xmlns:xs="http://www.w3.org/2001/XMLSchema" xmlns:p="http://schemas.microsoft.com/office/2006/metadata/properties" xmlns:ns2="1d705a9b-23a6-464f-98ef-a824ae360a44" targetNamespace="http://schemas.microsoft.com/office/2006/metadata/properties" ma:root="true" ma:fieldsID="5d8ebdba3c2b26c4179c9bb6f2265b79" ns2:_="">
    <xsd:import namespace="1d705a9b-23a6-464f-98ef-a824ae360a4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705a9b-23a6-464f-98ef-a824ae360a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86292F-7342-41F2-996A-70F28D1D888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BDA6CBF-0670-4675-8BBD-C40C26CE0CD6}">
  <ds:schemaRefs>
    <ds:schemaRef ds:uri="http://schemas.microsoft.com/sharepoint/v3/contenttype/forms"/>
  </ds:schemaRefs>
</ds:datastoreItem>
</file>

<file path=customXml/itemProps3.xml><?xml version="1.0" encoding="utf-8"?>
<ds:datastoreItem xmlns:ds="http://schemas.openxmlformats.org/officeDocument/2006/customXml" ds:itemID="{17118E31-BDA5-45A6-B5AB-CB1131E746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705a9b-23a6-464f-98ef-a824ae360a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Primary Colors-UTAS</Template>
  <Application>Microsoft Office PowerPoint</Application>
  <PresentationFormat>Widescreen</PresentationFormat>
  <Slides>41</Slides>
  <Notes>0</Notes>
  <HiddenSlides>0</HiddenSlides>
  <ScaleCrop>false</ScaleCrop>
  <HeadingPairs>
    <vt:vector size="4" baseType="variant">
      <vt:variant>
        <vt:lpstr>Theme</vt:lpstr>
      </vt:variant>
      <vt:variant>
        <vt:i4>2</vt:i4>
      </vt:variant>
      <vt:variant>
        <vt:lpstr>Slide Titles</vt:lpstr>
      </vt:variant>
      <vt:variant>
        <vt:i4>41</vt:i4>
      </vt:variant>
    </vt:vector>
  </HeadingPairs>
  <TitlesOfParts>
    <vt:vector size="43" baseType="lpstr">
      <vt:lpstr>Office Theme</vt:lpstr>
      <vt:lpstr>1_Office Theme</vt:lpstr>
      <vt:lpstr>Chapter 1:</vt:lpstr>
      <vt:lpstr>Objectives</vt:lpstr>
      <vt:lpstr>Understanding SOC</vt:lpstr>
      <vt:lpstr>PowerPoint Presentation</vt:lpstr>
      <vt:lpstr>Understanding SOC</vt:lpstr>
      <vt:lpstr>Case Scenario </vt:lpstr>
      <vt:lpstr>SOC Objectives</vt:lpstr>
      <vt:lpstr>SOC Objectives</vt:lpstr>
      <vt:lpstr>Case Scenario </vt:lpstr>
      <vt:lpstr>Discussion </vt:lpstr>
      <vt:lpstr>Components of a SOC : </vt:lpstr>
      <vt:lpstr>SOC in Cybersecurity </vt:lpstr>
      <vt:lpstr>Components of SOC</vt:lpstr>
      <vt:lpstr>Components of SOC </vt:lpstr>
      <vt:lpstr>Components of SOC: People  </vt:lpstr>
      <vt:lpstr>Components of SOC: People  </vt:lpstr>
      <vt:lpstr>Components of SOC: People  </vt:lpstr>
      <vt:lpstr>Components of SOC: People </vt:lpstr>
      <vt:lpstr>Discussion </vt:lpstr>
      <vt:lpstr>Components of a SOC : Processes</vt:lpstr>
      <vt:lpstr>Components of a SOC : Processes</vt:lpstr>
      <vt:lpstr>Components of a SOC: Technology </vt:lpstr>
      <vt:lpstr>Components of a SOC: Technology</vt:lpstr>
      <vt:lpstr>Components of a SOC: Technology</vt:lpstr>
      <vt:lpstr>Components of a SOC: Technology</vt:lpstr>
      <vt:lpstr>Case Scenario</vt:lpstr>
      <vt:lpstr>Discussion</vt:lpstr>
      <vt:lpstr>SOC Configurations </vt:lpstr>
      <vt:lpstr>Types of SOC Configurations</vt:lpstr>
      <vt:lpstr>Types of SOC Configurations</vt:lpstr>
      <vt:lpstr>Types of SOC Configurations </vt:lpstr>
      <vt:lpstr>Case Scenario</vt:lpstr>
      <vt:lpstr>Discussion </vt:lpstr>
      <vt:lpstr>SOC Challenges </vt:lpstr>
      <vt:lpstr>SOC Challenges </vt:lpstr>
      <vt:lpstr>SOC Challenges</vt:lpstr>
      <vt:lpstr>SOC Challenges</vt:lpstr>
      <vt:lpstr>SOC Challenges</vt:lpstr>
      <vt:lpstr>SOC Challenges</vt:lpstr>
      <vt:lpstr>SOC Challenges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Karthikeyan Subramanian</dc:creator>
  <cp:revision>58</cp:revision>
  <cp:lastPrinted>2025-09-23T06:41:37Z</cp:lastPrinted>
  <dcterms:created xsi:type="dcterms:W3CDTF">2024-01-08T13:56:07Z</dcterms:created>
  <dcterms:modified xsi:type="dcterms:W3CDTF">2026-09-21T07:21:31Z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2024-03-15T13:43:55Z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dc2b733b-a224-4576-9839-d0ca720b0032</vt:lpwstr>
  </property>
  <property fmtid="{D5CDD505-2E9C-101B-9397-08002B2CF9AE}" pid="7" name="MSIP_Label_defa4170-0d19-0005-0004-bc88714345d2_ActionId">
    <vt:lpwstr>9cfd7dfd-0260-44b6-8540-22ebc4005b21</vt:lpwstr>
  </property>
  <property fmtid="{D5CDD505-2E9C-101B-9397-08002B2CF9AE}" pid="8" name="MSIP_Label_defa4170-0d19-0005-0004-bc88714345d2_ContentBits">
    <vt:lpwstr>0</vt:lpwstr>
  </property>
  <property fmtid="{D5CDD505-2E9C-101B-9397-08002B2CF9AE}" pid="9" name="ContentTypeId">
    <vt:lpwstr>0x010100877BEC6FFFE5EF41954276BDD54D5AC8</vt:lpwstr>
  </property>
</Properties>
</file>