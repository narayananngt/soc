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329" r:id="rId6"/>
    <p:sldId id="257" r:id="rId7"/>
    <p:sldId id="330" r:id="rId8"/>
    <p:sldId id="346" r:id="rId9"/>
    <p:sldId id="312" r:id="rId10"/>
    <p:sldId id="347" r:id="rId11"/>
    <p:sldId id="348" r:id="rId12"/>
    <p:sldId id="315" r:id="rId13"/>
    <p:sldId id="316" r:id="rId14"/>
    <p:sldId id="317" r:id="rId15"/>
    <p:sldId id="318" r:id="rId16"/>
    <p:sldId id="320" r:id="rId17"/>
    <p:sldId id="321" r:id="rId18"/>
    <p:sldId id="332" r:id="rId19"/>
    <p:sldId id="337" r:id="rId20"/>
    <p:sldId id="338" r:id="rId21"/>
    <p:sldId id="341" r:id="rId22"/>
    <p:sldId id="342" r:id="rId23"/>
    <p:sldId id="343" r:id="rId24"/>
    <p:sldId id="344" r:id="rId25"/>
    <p:sldId id="345" r:id="rId26"/>
    <p:sldId id="333" r:id="rId27"/>
    <p:sldId id="261" r:id="rId28"/>
    <p:sldId id="324" r:id="rId29"/>
    <p:sldId id="327" r:id="rId30"/>
    <p:sldId id="292" r:id="rId31"/>
    <p:sldId id="291" r:id="rId32"/>
    <p:sldId id="334" r:id="rId33"/>
    <p:sldId id="294" r:id="rId34"/>
    <p:sldId id="350" r:id="rId35"/>
    <p:sldId id="295" r:id="rId36"/>
    <p:sldId id="349" r:id="rId37"/>
    <p:sldId id="296" r:id="rId38"/>
    <p:sldId id="325" r:id="rId39"/>
    <p:sldId id="326" r:id="rId40"/>
    <p:sldId id="323" r:id="rId41"/>
    <p:sldId id="351" r:id="rId42"/>
    <p:sldId id="308"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59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54547F-C93D-8ABB-4E44-E8FD0E12CB04}" v="1" dt="2025-10-25T20:13:54.91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75" autoAdjust="0"/>
    <p:restoredTop sz="94660"/>
  </p:normalViewPr>
  <p:slideViewPr>
    <p:cSldViewPr snapToGrid="0">
      <p:cViewPr varScale="1">
        <p:scale>
          <a:sx n="76" d="100"/>
          <a:sy n="76" d="100"/>
        </p:scale>
        <p:origin x="585" y="45"/>
      </p:cViewPr>
      <p:guideLst/>
    </p:cSldViewPr>
  </p:slideViewPr>
  <p:notesTextViewPr>
    <p:cViewPr>
      <p:scale>
        <a:sx n="1" d="1"/>
        <a:sy n="1" d="1"/>
      </p:scale>
      <p:origin x="0" y="0"/>
    </p:cViewPr>
  </p:notesTextViewPr>
  <p:sorterViewPr>
    <p:cViewPr varScale="1">
      <p:scale>
        <a:sx n="100" d="100"/>
        <a:sy n="100" d="100"/>
      </p:scale>
      <p:origin x="0" y="-2707"/>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375687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4275191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7" name="Graphic 6">
            <a:extLst>
              <a:ext uri="{FF2B5EF4-FFF2-40B4-BE49-F238E27FC236}">
                <a16:creationId xmlns:a16="http://schemas.microsoft.com/office/drawing/2014/main" id="{3FAB82C7-3A7F-3400-8C0C-C6807996BDD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15975"/>
            <a:ext cx="219075" cy="365125"/>
          </a:xfrm>
          <a:prstGeom prst="rect">
            <a:avLst/>
          </a:prstGeom>
        </p:spPr>
      </p:pic>
      <p:pic>
        <p:nvPicPr>
          <p:cNvPr id="8" name="Picture 7">
            <a:extLst>
              <a:ext uri="{FF2B5EF4-FFF2-40B4-BE49-F238E27FC236}">
                <a16:creationId xmlns:a16="http://schemas.microsoft.com/office/drawing/2014/main" id="{BBAF4668-7EA5-DF62-F5E8-E55363257555}"/>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6691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4336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750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0038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0739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288450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83280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460322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831208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284449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91475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740991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841173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52112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endParaRPr lang="en-US" dirty="0"/>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58513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dirty="0"/>
              <a:t> </a:t>
            </a:r>
            <a:r>
              <a:rPr lang="en-US" dirty="0"/>
              <a:t>University of Technology and Applied Sciences</a:t>
            </a:r>
            <a:r>
              <a:rPr lang="ar-DZ" dirty="0"/>
              <a:t> جامعة التقنية والعلوم التطبيقية - </a:t>
            </a:r>
            <a:r>
              <a:rPr lang="en-US" dirty="0"/>
              <a:t> </a:t>
            </a:r>
          </a:p>
          <a:p>
            <a:endParaRPr lang="en-US" dirty="0"/>
          </a:p>
          <a:p>
            <a:endParaRPr lang="en-US" dirty="0"/>
          </a:p>
        </p:txBody>
      </p:sp>
    </p:spTree>
    <p:extLst>
      <p:ext uri="{BB962C8B-B14F-4D97-AF65-F5344CB8AC3E}">
        <p14:creationId xmlns:p14="http://schemas.microsoft.com/office/powerpoint/2010/main" val="2974472356"/>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61" r:id="rId4"/>
    <p:sldLayoutId id="2147483651" r:id="rId5"/>
    <p:sldLayoutId id="2147483662" r:id="rId6"/>
    <p:sldLayoutId id="2147483663"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5"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www.crowdstrike.com/cybersecurity-101/threat-actor/" TargetMode="Externa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8" Type="http://schemas.openxmlformats.org/officeDocument/2006/relationships/hyperlink" Target="https://support.phishingtackle.com/hc/en-gb/articles/4410170814609-YARA-Rule-Examples#h_01FM80HZP4B89G4NHS7CS9GAX4" TargetMode="External"/><Relationship Id="rId3" Type="http://schemas.openxmlformats.org/officeDocument/2006/relationships/hyperlink" Target="https://support.phishingtackle.com/hc/en-gb/articles/4410170814609-YARA-Rule-Examples" TargetMode="External"/><Relationship Id="rId7" Type="http://schemas.openxmlformats.org/officeDocument/2006/relationships/hyperlink" Target="https://support.phishingtackle.com/hc/en-gb/articles/4410170814609-YARA-Rule-Examples#h_01FM7VZJGF4F90ANCWZRC370BN" TargetMode="External"/><Relationship Id="rId2" Type="http://schemas.openxmlformats.org/officeDocument/2006/relationships/hyperlink" Target="https://www.geeksforgeeks.org/threat-hunting-using-yara/" TargetMode="External"/><Relationship Id="rId1" Type="http://schemas.openxmlformats.org/officeDocument/2006/relationships/slideLayout" Target="../slideLayouts/slideLayout3.xml"/><Relationship Id="rId6" Type="http://schemas.openxmlformats.org/officeDocument/2006/relationships/hyperlink" Target="https://support.phishingtackle.com/hc/en-gb/articles/4410170814609-YARA-Rule-Examples#h_01FM9WT5SVN9F4GAJ6781SD2SK" TargetMode="External"/><Relationship Id="rId5" Type="http://schemas.openxmlformats.org/officeDocument/2006/relationships/hyperlink" Target="https://support.phishingtackle.com/hc/en-gb/articles/4410170814609-YARA-Rule-Examples#h_01FM7TA3J1RZ8KE8XARSHE2CER" TargetMode="External"/><Relationship Id="rId4" Type="http://schemas.openxmlformats.org/officeDocument/2006/relationships/hyperlink" Target="https://support.phishingtackle.com/hc/en-gb/articles/4410170814609-YARA-Rule-Examples#h_01FM7T85MTS1EYC8FGD17EH2W1"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s://mitre-attack.github.io/attack-navigator/v3/enterprise/" TargetMode="External"/><Relationship Id="rId2" Type="http://schemas.openxmlformats.org/officeDocument/2006/relationships/hyperlink" Target="https://www.youtube.com/watch?v=78RIsFqo9pM" TargetMode="External"/><Relationship Id="rId1" Type="http://schemas.openxmlformats.org/officeDocument/2006/relationships/slideLayout" Target="../slideLayouts/slideLayout3.xml"/><Relationship Id="rId4" Type="http://schemas.openxmlformats.org/officeDocument/2006/relationships/hyperlink" Target="https://center-for-threat-informed-defense.github.io/attack-flow/example_flow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5BB2-0847-90FD-A4B9-58B4E1F0AEA3}"/>
              </a:ext>
            </a:extLst>
          </p:cNvPr>
          <p:cNvSpPr>
            <a:spLocks noGrp="1"/>
          </p:cNvSpPr>
          <p:nvPr>
            <p:ph type="ctrTitle"/>
          </p:nvPr>
        </p:nvSpPr>
        <p:spPr>
          <a:xfrm>
            <a:off x="3911600" y="2609849"/>
            <a:ext cx="7670800" cy="1790701"/>
          </a:xfrm>
        </p:spPr>
        <p:txBody>
          <a:bodyPr/>
          <a:lstStyle/>
          <a:p>
            <a:r>
              <a:rPr lang="en-US" dirty="0"/>
              <a:t>Lecture 6</a:t>
            </a:r>
          </a:p>
        </p:txBody>
      </p:sp>
      <p:sp>
        <p:nvSpPr>
          <p:cNvPr id="3" name="Subtitle 2">
            <a:extLst>
              <a:ext uri="{FF2B5EF4-FFF2-40B4-BE49-F238E27FC236}">
                <a16:creationId xmlns:a16="http://schemas.microsoft.com/office/drawing/2014/main" id="{88893B68-7396-A123-DEDF-BCF392D104FF}"/>
              </a:ext>
            </a:extLst>
          </p:cNvPr>
          <p:cNvSpPr>
            <a:spLocks noGrp="1"/>
          </p:cNvSpPr>
          <p:nvPr>
            <p:ph type="subTitle" idx="1"/>
          </p:nvPr>
        </p:nvSpPr>
        <p:spPr>
          <a:xfrm>
            <a:off x="1717040" y="4514849"/>
            <a:ext cx="9865360" cy="865187"/>
          </a:xfrm>
        </p:spPr>
        <p:txBody>
          <a:bodyPr>
            <a:noAutofit/>
          </a:bodyPr>
          <a:lstStyle/>
          <a:p>
            <a:r>
              <a:rPr lang="en-GB" sz="4400" b="1" dirty="0">
                <a:effectLst/>
                <a:latin typeface="Times New Roman" panose="02020603050405020304" pitchFamily="18" charset="0"/>
                <a:ea typeface="Times New Roman" panose="02020603050405020304" pitchFamily="18" charset="0"/>
              </a:rPr>
              <a:t>Threat Intelligence and Threat Hunting</a:t>
            </a:r>
            <a:endParaRPr lang="en-US" sz="4400" dirty="0"/>
          </a:p>
        </p:txBody>
      </p:sp>
    </p:spTree>
    <p:extLst>
      <p:ext uri="{BB962C8B-B14F-4D97-AF65-F5344CB8AC3E}">
        <p14:creationId xmlns:p14="http://schemas.microsoft.com/office/powerpoint/2010/main" val="4193284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181F3-E9F7-410D-5AAD-D8D27F777FA1}"/>
              </a:ext>
            </a:extLst>
          </p:cNvPr>
          <p:cNvSpPr>
            <a:spLocks noGrp="1"/>
          </p:cNvSpPr>
          <p:nvPr>
            <p:ph type="ctrTitle"/>
          </p:nvPr>
        </p:nvSpPr>
        <p:spPr>
          <a:xfrm>
            <a:off x="2900855" y="1662603"/>
            <a:ext cx="8763526" cy="1790701"/>
          </a:xfrm>
        </p:spPr>
        <p:txBody>
          <a:bodyPr/>
          <a:lstStyle/>
          <a:p>
            <a:pPr algn="l"/>
            <a:r>
              <a:rPr lang="en-US" sz="3200" dirty="0"/>
              <a:t>6. Threat Intelligence and Threat Hunting </a:t>
            </a:r>
            <a:br>
              <a:rPr lang="en-US" dirty="0"/>
            </a:br>
            <a:endParaRPr lang="en-US" dirty="0"/>
          </a:p>
        </p:txBody>
      </p:sp>
      <p:sp>
        <p:nvSpPr>
          <p:cNvPr id="3" name="Subtitle 2">
            <a:extLst>
              <a:ext uri="{FF2B5EF4-FFF2-40B4-BE49-F238E27FC236}">
                <a16:creationId xmlns:a16="http://schemas.microsoft.com/office/drawing/2014/main" id="{D601F018-8754-BBEB-39BC-B9E6FF52E7DD}"/>
              </a:ext>
            </a:extLst>
          </p:cNvPr>
          <p:cNvSpPr>
            <a:spLocks noGrp="1"/>
          </p:cNvSpPr>
          <p:nvPr>
            <p:ph type="subTitle" idx="1"/>
          </p:nvPr>
        </p:nvSpPr>
        <p:spPr>
          <a:xfrm>
            <a:off x="3463092" y="3197246"/>
            <a:ext cx="8594375" cy="2806263"/>
          </a:xfrm>
        </p:spPr>
        <p:txBody>
          <a:bodyPr>
            <a:normAutofit/>
          </a:bodyPr>
          <a:lstStyle/>
          <a:p>
            <a:pPr marL="0" indent="0" algn="l">
              <a:buNone/>
            </a:pPr>
            <a:r>
              <a:rPr lang="en-US" dirty="0"/>
              <a:t>6.1 Role of threat intelligence in SOC operations </a:t>
            </a:r>
          </a:p>
          <a:p>
            <a:pPr marL="0" indent="0" algn="l">
              <a:buNone/>
            </a:pPr>
            <a:r>
              <a:rPr lang="en-US" dirty="0"/>
              <a:t>6.2 Sources of Threat Intelligence Data </a:t>
            </a:r>
          </a:p>
          <a:p>
            <a:pPr marL="0" indent="0" algn="l">
              <a:buNone/>
            </a:pPr>
            <a:r>
              <a:rPr lang="en-US" dirty="0"/>
              <a:t>6.3 Threat hunting methodologies and techniques </a:t>
            </a:r>
          </a:p>
          <a:p>
            <a:pPr marL="0" indent="0" algn="l">
              <a:buNone/>
            </a:pPr>
            <a:r>
              <a:rPr lang="en-US" dirty="0"/>
              <a:t>6.4 Incorporating threat intelligence into incident response</a:t>
            </a:r>
          </a:p>
          <a:p>
            <a:endParaRPr lang="en-US" dirty="0"/>
          </a:p>
        </p:txBody>
      </p:sp>
    </p:spTree>
    <p:extLst>
      <p:ext uri="{BB962C8B-B14F-4D97-AF65-F5344CB8AC3E}">
        <p14:creationId xmlns:p14="http://schemas.microsoft.com/office/powerpoint/2010/main" val="6261704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a:xfrm>
            <a:off x="1084580" y="624103"/>
            <a:ext cx="10515600" cy="467994"/>
          </a:xfrm>
        </p:spPr>
        <p:txBody>
          <a:bodyPr>
            <a:normAutofit fontScale="90000"/>
          </a:bodyPr>
          <a:lstStyle/>
          <a:p>
            <a:r>
              <a:rPr lang="en-US"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909320" y="1593907"/>
            <a:ext cx="10877212" cy="4583371"/>
          </a:xfrm>
        </p:spPr>
        <p:txBody>
          <a:bodyPr>
            <a:normAutofit fontScale="85000" lnSpcReduction="20000"/>
          </a:bodyPr>
          <a:lstStyle/>
          <a:p>
            <a:pPr marL="0" indent="0" algn="just">
              <a:buNone/>
            </a:pPr>
            <a:r>
              <a:rPr lang="en-US" sz="2400" dirty="0">
                <a:latin typeface="Times New Roman" panose="02020603050405020304" pitchFamily="18" charset="0"/>
                <a:cs typeface="Times New Roman" panose="02020603050405020304" pitchFamily="18" charset="0"/>
              </a:rPr>
              <a:t>After studying this chapter, you should be able to: </a:t>
            </a:r>
          </a:p>
          <a:p>
            <a:pPr algn="just">
              <a:lnSpc>
                <a:spcPct val="150000"/>
              </a:lnSpc>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Understand the importance of threat intelligence in improving proactive threat detection and response, as well as its function in SOC operations.</a:t>
            </a:r>
          </a:p>
          <a:p>
            <a:pPr algn="just">
              <a:lnSpc>
                <a:spcPct val="150000"/>
              </a:lnSpc>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different sources of threat intelligence information, such as vendor reports, internal telemetry, open-source feeds, and dark web monitoring.</a:t>
            </a:r>
          </a:p>
          <a:p>
            <a:pPr algn="just">
              <a:lnSpc>
                <a:spcPct val="150000"/>
              </a:lnSpc>
            </a:pPr>
            <a:r>
              <a:rPr lang="en-US" sz="2000" dirty="0">
                <a:latin typeface="Times New Roman" panose="02020603050405020304" pitchFamily="18" charset="0"/>
                <a:cs typeface="Times New Roman" panose="02020603050405020304" pitchFamily="18" charset="0"/>
              </a:rPr>
              <a:t>Apply threat hunting methodologies and techniques such as behavioral analytics, anomaly detection, and signature-based detection to proactively seek out potential threats within the network environment.</a:t>
            </a:r>
          </a:p>
          <a:p>
            <a:pPr algn="just">
              <a:lnSpc>
                <a:spcPct val="150000"/>
              </a:lnSpc>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reduce the impact of security incidents on organizational assets and to improve response efforts, effectively incorporate threat intelligence into incident response processes. </a:t>
            </a:r>
          </a:p>
          <a:p>
            <a:pPr algn="just">
              <a:lnSpc>
                <a:spcPct val="150000"/>
              </a:lnSpc>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keep ahead of developing cyber threats, continuously improve your threat intelligence methods and processes based on insights from threat hunting efforts and incident response results.</a:t>
            </a:r>
          </a:p>
          <a:p>
            <a:pPr algn="just"/>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endParaRPr lang="en-US" altLang="en-US" dirty="0">
              <a:latin typeface="Arial" panose="020B0604020202020204" pitchFamily="34"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850008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F49E-EE21-568E-AF97-721CFD86B2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E11604-CF4F-13EE-18E7-7F89DEB8F3F6}"/>
              </a:ext>
            </a:extLst>
          </p:cNvPr>
          <p:cNvSpPr>
            <a:spLocks noGrp="1"/>
          </p:cNvSpPr>
          <p:nvPr>
            <p:ph type="ctrTitle"/>
          </p:nvPr>
        </p:nvSpPr>
        <p:spPr>
          <a:xfrm>
            <a:off x="2900855" y="1662603"/>
            <a:ext cx="8763526" cy="1790701"/>
          </a:xfrm>
        </p:spPr>
        <p:txBody>
          <a:bodyPr/>
          <a:lstStyle/>
          <a:p>
            <a:pPr algn="l"/>
            <a:r>
              <a:rPr lang="en-US" sz="3200" dirty="0"/>
              <a:t>6. Threat Intelligence and Threat Hunting </a:t>
            </a:r>
            <a:br>
              <a:rPr lang="en-US" dirty="0"/>
            </a:br>
            <a:endParaRPr lang="en-US" dirty="0"/>
          </a:p>
        </p:txBody>
      </p:sp>
      <p:sp>
        <p:nvSpPr>
          <p:cNvPr id="3" name="Subtitle 2">
            <a:extLst>
              <a:ext uri="{FF2B5EF4-FFF2-40B4-BE49-F238E27FC236}">
                <a16:creationId xmlns:a16="http://schemas.microsoft.com/office/drawing/2014/main" id="{31E8F036-C8CC-58CD-55BA-B16757E15DCC}"/>
              </a:ext>
            </a:extLst>
          </p:cNvPr>
          <p:cNvSpPr>
            <a:spLocks noGrp="1"/>
          </p:cNvSpPr>
          <p:nvPr>
            <p:ph type="subTitle" idx="1"/>
          </p:nvPr>
        </p:nvSpPr>
        <p:spPr>
          <a:xfrm>
            <a:off x="3463092" y="3197246"/>
            <a:ext cx="8594375" cy="2806263"/>
          </a:xfrm>
        </p:spPr>
        <p:txBody>
          <a:bodyPr>
            <a:normAutofit/>
          </a:bodyPr>
          <a:lstStyle/>
          <a:p>
            <a:pPr marL="0" indent="0" algn="l">
              <a:buNone/>
            </a:pPr>
            <a:r>
              <a:rPr lang="en-US" dirty="0"/>
              <a:t>6.1 Role of threat intelligence in SOC operations </a:t>
            </a:r>
          </a:p>
          <a:p>
            <a:pPr marL="0" indent="0" algn="l">
              <a:buNone/>
            </a:pPr>
            <a:r>
              <a:rPr lang="en-US" dirty="0"/>
              <a:t> </a:t>
            </a:r>
          </a:p>
          <a:p>
            <a:endParaRPr lang="en-US" dirty="0"/>
          </a:p>
        </p:txBody>
      </p:sp>
    </p:spTree>
    <p:extLst>
      <p:ext uri="{BB962C8B-B14F-4D97-AF65-F5344CB8AC3E}">
        <p14:creationId xmlns:p14="http://schemas.microsoft.com/office/powerpoint/2010/main" val="39904418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AA737-3091-CBFE-46CF-CF51FA8826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F868D-F589-801C-E693-DB79846097D9}"/>
              </a:ext>
            </a:extLst>
          </p:cNvPr>
          <p:cNvSpPr>
            <a:spLocks noGrp="1"/>
          </p:cNvSpPr>
          <p:nvPr>
            <p:ph type="title"/>
          </p:nvPr>
        </p:nvSpPr>
        <p:spPr>
          <a:xfrm>
            <a:off x="947256" y="687705"/>
            <a:ext cx="10515600" cy="575764"/>
          </a:xfrm>
        </p:spPr>
        <p:txBody>
          <a:bodyPr>
            <a:normAutofit fontScale="90000"/>
          </a:bodyPr>
          <a:lstStyle/>
          <a:p>
            <a:r>
              <a:rPr lang="en-US" sz="3600" dirty="0">
                <a:latin typeface="Times New Roman" panose="02020603050405020304" pitchFamily="18" charset="0"/>
                <a:cs typeface="Times New Roman" panose="02020603050405020304" pitchFamily="18" charset="0"/>
              </a:rPr>
              <a:t>What is </a:t>
            </a:r>
            <a:r>
              <a:rPr lang="en-US" sz="3600" i="0" dirty="0">
                <a:solidFill>
                  <a:srgbClr val="161616"/>
                </a:solidFill>
                <a:effectLst/>
                <a:latin typeface="Times New Roman" panose="02020603050405020304" pitchFamily="18" charset="0"/>
                <a:cs typeface="Times New Roman" panose="02020603050405020304" pitchFamily="18" charset="0"/>
              </a:rPr>
              <a:t>Threat intelligence</a:t>
            </a:r>
            <a:r>
              <a:rPr lang="en-US" sz="3600"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61B977BA-8111-544A-7463-9C4577F19718}"/>
              </a:ext>
            </a:extLst>
          </p:cNvPr>
          <p:cNvSpPr>
            <a:spLocks noGrp="1"/>
          </p:cNvSpPr>
          <p:nvPr>
            <p:ph idx="1"/>
          </p:nvPr>
        </p:nvSpPr>
        <p:spPr>
          <a:xfrm>
            <a:off x="838200" y="1493239"/>
            <a:ext cx="11120120" cy="4781726"/>
          </a:xfrm>
        </p:spPr>
        <p:txBody>
          <a:bodyPr>
            <a:normAutofit/>
          </a:bodyPr>
          <a:lstStyle/>
          <a:p>
            <a:pPr marL="0" indent="0" algn="just">
              <a:lnSpc>
                <a:spcPct val="150000"/>
              </a:lnSpc>
              <a:buNone/>
            </a:pPr>
            <a:r>
              <a:rPr lang="en-US" sz="1900" i="0" dirty="0">
                <a:solidFill>
                  <a:srgbClr val="FF0000"/>
                </a:solidFill>
                <a:effectLst/>
                <a:latin typeface="Times New Roman" panose="02020603050405020304" pitchFamily="18" charset="0"/>
                <a:cs typeface="Times New Roman" panose="02020603050405020304" pitchFamily="18" charset="0"/>
              </a:rPr>
              <a:t>Threat intelligence—also called "cyberthreat intelligence" (CTI)</a:t>
            </a:r>
          </a:p>
          <a:p>
            <a:pPr algn="just">
              <a:lnSpc>
                <a:spcPct val="150000"/>
              </a:lnSpc>
            </a:pPr>
            <a:r>
              <a:rPr lang="en-US" sz="1900" i="0" dirty="0">
                <a:solidFill>
                  <a:srgbClr val="000000"/>
                </a:solidFill>
                <a:effectLst/>
                <a:latin typeface="Times New Roman" panose="02020603050405020304" pitchFamily="18" charset="0"/>
                <a:cs typeface="Times New Roman" panose="02020603050405020304" pitchFamily="18" charset="0"/>
              </a:rPr>
              <a:t>Threat intelligence is data that is collected, processed, and analyzed to understand a threat actor’s motives, targets, and attack behaviors. </a:t>
            </a:r>
          </a:p>
          <a:p>
            <a:pPr algn="just">
              <a:lnSpc>
                <a:spcPct val="150000"/>
              </a:lnSpc>
            </a:pPr>
            <a:r>
              <a:rPr lang="en-US" sz="1900" i="0" dirty="0">
                <a:solidFill>
                  <a:srgbClr val="000000"/>
                </a:solidFill>
                <a:effectLst/>
                <a:latin typeface="Times New Roman" panose="02020603050405020304" pitchFamily="18" charset="0"/>
                <a:cs typeface="Times New Roman" panose="02020603050405020304" pitchFamily="18" charset="0"/>
              </a:rPr>
              <a:t>Threat intelligence enables us to make faster, more informed, data-backed security decisions and change their behavior from reactive to proactive in the fight against </a:t>
            </a:r>
            <a:r>
              <a:rPr lang="en-US" sz="1900" b="1" i="0" strike="noStrike" dirty="0">
                <a:effectLst/>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threat actors</a:t>
            </a:r>
            <a:r>
              <a:rPr lang="en-US" sz="1900" b="1" i="0" dirty="0">
                <a:effectLst/>
                <a:latin typeface="Times New Roman" panose="02020603050405020304" pitchFamily="18" charset="0"/>
                <a:cs typeface="Times New Roman" panose="02020603050405020304" pitchFamily="18" charset="0"/>
              </a:rPr>
              <a:t>.</a:t>
            </a:r>
          </a:p>
          <a:p>
            <a:pPr algn="just">
              <a:lnSpc>
                <a:spcPct val="150000"/>
              </a:lnSpc>
            </a:pPr>
            <a:r>
              <a:rPr lang="en-US" sz="1900" b="0" i="0" dirty="0">
                <a:solidFill>
                  <a:srgbClr val="161616"/>
                </a:solidFill>
                <a:effectLst/>
                <a:latin typeface="Times New Roman" panose="02020603050405020304" pitchFamily="18" charset="0"/>
                <a:cs typeface="Times New Roman" panose="02020603050405020304" pitchFamily="18" charset="0"/>
              </a:rPr>
              <a:t>Threat intelligence helps security teams be more proactive, enabling them to take effective, data-driven actions to prevent cyberattacks before they occur. It can also help an organization detect and respond to attacks in progress faster.</a:t>
            </a:r>
            <a:endParaRPr lang="en-US" dirty="0"/>
          </a:p>
        </p:txBody>
      </p:sp>
    </p:spTree>
    <p:extLst>
      <p:ext uri="{BB962C8B-B14F-4D97-AF65-F5344CB8AC3E}">
        <p14:creationId xmlns:p14="http://schemas.microsoft.com/office/powerpoint/2010/main" val="9896131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5C245-2D9B-90F3-008E-1B0EFE7C9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3B51B-EB7A-EEC6-506E-C2BD6E8999A5}"/>
              </a:ext>
            </a:extLst>
          </p:cNvPr>
          <p:cNvSpPr>
            <a:spLocks noGrp="1"/>
          </p:cNvSpPr>
          <p:nvPr>
            <p:ph type="title"/>
          </p:nvPr>
        </p:nvSpPr>
        <p:spPr>
          <a:xfrm>
            <a:off x="754310" y="544444"/>
            <a:ext cx="10515600" cy="822961"/>
          </a:xfrm>
        </p:spPr>
        <p:txBody>
          <a:bodyPr>
            <a:noAutofit/>
          </a:bodyPr>
          <a:lstStyle/>
          <a:p>
            <a:br>
              <a:rPr lang="en-US" sz="3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32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Why is Threat Intelligence Important?</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EC07E8FE-40E5-6BE6-8A3B-F15CBC53FEB3}"/>
              </a:ext>
            </a:extLst>
          </p:cNvPr>
          <p:cNvSpPr>
            <a:spLocks noGrp="1"/>
          </p:cNvSpPr>
          <p:nvPr>
            <p:ph idx="1"/>
          </p:nvPr>
        </p:nvSpPr>
        <p:spPr>
          <a:xfrm>
            <a:off x="838200" y="1585519"/>
            <a:ext cx="11120120" cy="4697834"/>
          </a:xfrm>
        </p:spPr>
        <p:txBody>
          <a:bodyPr>
            <a:normAutofit fontScale="47500" lnSpcReduction="20000"/>
          </a:bodyPr>
          <a:lstStyle/>
          <a:p>
            <a:pPr marL="0" indent="0" algn="just">
              <a:buNone/>
            </a:pPr>
            <a:r>
              <a:rPr lang="en-US" sz="3600" i="0" dirty="0">
                <a:solidFill>
                  <a:srgbClr val="161616"/>
                </a:solidFill>
                <a:effectLst/>
                <a:latin typeface="Times New Roman" panose="02020603050405020304" pitchFamily="18" charset="0"/>
                <a:cs typeface="Times New Roman" panose="02020603050405020304" pitchFamily="18" charset="0"/>
              </a:rPr>
              <a:t>Threat intelligence is crucial for organizations due to its role in predictive, preventative, detection, and responsive measures:</a:t>
            </a:r>
          </a:p>
          <a:p>
            <a:pPr marL="0" indent="0" algn="just">
              <a:lnSpc>
                <a:spcPct val="170000"/>
              </a:lnSpc>
              <a:buNone/>
            </a:pPr>
            <a:r>
              <a:rPr lang="en-US" sz="3600" i="0" dirty="0">
                <a:solidFill>
                  <a:srgbClr val="161616"/>
                </a:solidFill>
                <a:effectLst/>
                <a:latin typeface="Times New Roman" panose="02020603050405020304" pitchFamily="18" charset="0"/>
                <a:cs typeface="Times New Roman" panose="02020603050405020304" pitchFamily="18" charset="0"/>
              </a:rPr>
              <a:t>1.</a:t>
            </a:r>
            <a:r>
              <a:rPr lang="en-US" sz="3600" b="1" i="0" dirty="0">
                <a:solidFill>
                  <a:srgbClr val="161616"/>
                </a:solidFill>
                <a:effectLst/>
                <a:latin typeface="Times New Roman" panose="02020603050405020304" pitchFamily="18" charset="0"/>
                <a:cs typeface="Times New Roman" panose="02020603050405020304" pitchFamily="18" charset="0"/>
              </a:rPr>
              <a:t>Predictive Measures: </a:t>
            </a:r>
            <a:r>
              <a:rPr lang="en-US" sz="3600" i="0" dirty="0">
                <a:solidFill>
                  <a:srgbClr val="161616"/>
                </a:solidFill>
                <a:effectLst/>
                <a:latin typeface="Times New Roman" panose="02020603050405020304" pitchFamily="18" charset="0"/>
                <a:cs typeface="Times New Roman" panose="02020603050405020304" pitchFamily="18" charset="0"/>
              </a:rPr>
              <a:t>It allows organizations to anticipate future threats, enabling proactive planning and prevention of potential attacks.</a:t>
            </a:r>
          </a:p>
          <a:p>
            <a:pPr marL="0" indent="0" algn="just">
              <a:lnSpc>
                <a:spcPct val="170000"/>
              </a:lnSpc>
              <a:buNone/>
            </a:pPr>
            <a:r>
              <a:rPr lang="en-US" sz="3600" i="0" dirty="0">
                <a:solidFill>
                  <a:srgbClr val="161616"/>
                </a:solidFill>
                <a:effectLst/>
                <a:latin typeface="Times New Roman" panose="02020603050405020304" pitchFamily="18" charset="0"/>
                <a:cs typeface="Times New Roman" panose="02020603050405020304" pitchFamily="18" charset="0"/>
              </a:rPr>
              <a:t>2.</a:t>
            </a:r>
            <a:r>
              <a:rPr lang="en-US" sz="3600" b="1" i="0" dirty="0">
                <a:solidFill>
                  <a:srgbClr val="161616"/>
                </a:solidFill>
                <a:effectLst/>
                <a:latin typeface="Times New Roman" panose="02020603050405020304" pitchFamily="18" charset="0"/>
                <a:cs typeface="Times New Roman" panose="02020603050405020304" pitchFamily="18" charset="0"/>
              </a:rPr>
              <a:t>Preventative Measures</a:t>
            </a:r>
            <a:r>
              <a:rPr lang="en-US" sz="3600" i="0" dirty="0">
                <a:solidFill>
                  <a:srgbClr val="161616"/>
                </a:solidFill>
                <a:effectLst/>
                <a:latin typeface="Times New Roman" panose="02020603050405020304" pitchFamily="18" charset="0"/>
                <a:cs typeface="Times New Roman" panose="02020603050405020304" pitchFamily="18" charset="0"/>
              </a:rPr>
              <a:t>: By providing insights into emerging threats, threat intelligence helps organizations fortify their defenses, thereby reducing the likelihood of successful cyber attacks such as malware infiltration.</a:t>
            </a:r>
          </a:p>
          <a:p>
            <a:pPr marL="0" indent="0" algn="just">
              <a:lnSpc>
                <a:spcPct val="170000"/>
              </a:lnSpc>
              <a:buNone/>
            </a:pPr>
            <a:r>
              <a:rPr lang="en-US" sz="3600" i="0" dirty="0">
                <a:solidFill>
                  <a:srgbClr val="161616"/>
                </a:solidFill>
                <a:effectLst/>
                <a:latin typeface="Times New Roman" panose="02020603050405020304" pitchFamily="18" charset="0"/>
                <a:cs typeface="Times New Roman" panose="02020603050405020304" pitchFamily="18" charset="0"/>
              </a:rPr>
              <a:t>3. </a:t>
            </a:r>
            <a:r>
              <a:rPr lang="en-US" sz="3600" b="1" i="0" dirty="0">
                <a:solidFill>
                  <a:srgbClr val="161616"/>
                </a:solidFill>
                <a:effectLst/>
                <a:latin typeface="Times New Roman" panose="02020603050405020304" pitchFamily="18" charset="0"/>
                <a:cs typeface="Times New Roman" panose="02020603050405020304" pitchFamily="18" charset="0"/>
              </a:rPr>
              <a:t>Detection Measures</a:t>
            </a:r>
            <a:r>
              <a:rPr lang="en-US" sz="3600" i="0" dirty="0">
                <a:solidFill>
                  <a:srgbClr val="161616"/>
                </a:solidFill>
                <a:effectLst/>
                <a:latin typeface="Times New Roman" panose="02020603050405020304" pitchFamily="18" charset="0"/>
                <a:cs typeface="Times New Roman" panose="02020603050405020304" pitchFamily="18" charset="0"/>
              </a:rPr>
              <a:t>: Threat intelligence aids in the identification of both ongoing and latent threats within networks, including understanding the tactics, techniques, and procedures employed by cyber criminals during reconnaissance or active operations.</a:t>
            </a:r>
          </a:p>
          <a:p>
            <a:pPr marL="0" indent="0" algn="just">
              <a:lnSpc>
                <a:spcPct val="170000"/>
              </a:lnSpc>
              <a:buNone/>
            </a:pPr>
            <a:r>
              <a:rPr lang="en-US" sz="3600" i="0" dirty="0">
                <a:solidFill>
                  <a:srgbClr val="161616"/>
                </a:solidFill>
                <a:effectLst/>
                <a:latin typeface="Times New Roman" panose="02020603050405020304" pitchFamily="18" charset="0"/>
                <a:cs typeface="Times New Roman" panose="02020603050405020304" pitchFamily="18" charset="0"/>
              </a:rPr>
              <a:t>4. </a:t>
            </a:r>
            <a:r>
              <a:rPr lang="en-US" sz="3600" b="1" i="0" dirty="0">
                <a:solidFill>
                  <a:srgbClr val="161616"/>
                </a:solidFill>
                <a:effectLst/>
                <a:latin typeface="Times New Roman" panose="02020603050405020304" pitchFamily="18" charset="0"/>
                <a:cs typeface="Times New Roman" panose="02020603050405020304" pitchFamily="18" charset="0"/>
              </a:rPr>
              <a:t>Responsive Measures</a:t>
            </a:r>
            <a:r>
              <a:rPr lang="en-US" sz="3600" i="0" dirty="0">
                <a:solidFill>
                  <a:srgbClr val="161616"/>
                </a:solidFill>
                <a:effectLst/>
                <a:latin typeface="Times New Roman" panose="02020603050405020304" pitchFamily="18" charset="0"/>
                <a:cs typeface="Times New Roman" panose="02020603050405020304" pitchFamily="18" charset="0"/>
              </a:rPr>
              <a:t>: In the event of a security incident, threat intelligence informs an effective response strategy, potentially minimizing the impact and extent of the breach. For instance, indicators of compromise (</a:t>
            </a:r>
            <a:r>
              <a:rPr lang="en-US" sz="3600" i="0" dirty="0" err="1">
                <a:solidFill>
                  <a:srgbClr val="161616"/>
                </a:solidFill>
                <a:effectLst/>
                <a:latin typeface="Times New Roman" panose="02020603050405020304" pitchFamily="18" charset="0"/>
                <a:cs typeface="Times New Roman" panose="02020603050405020304" pitchFamily="18" charset="0"/>
              </a:rPr>
              <a:t>IoCs</a:t>
            </a:r>
            <a:r>
              <a:rPr lang="en-US" sz="3600" i="0" dirty="0">
                <a:solidFill>
                  <a:srgbClr val="161616"/>
                </a:solidFill>
                <a:effectLst/>
                <a:latin typeface="Times New Roman" panose="02020603050405020304" pitchFamily="18" charset="0"/>
                <a:cs typeface="Times New Roman" panose="02020603050405020304" pitchFamily="18" charset="0"/>
              </a:rPr>
              <a:t>) discovered in an organization's environment guide security teams on how to respond to cyber attacks effectively.</a:t>
            </a:r>
            <a:endParaRPr lang="en-US" sz="3600" dirty="0">
              <a:latin typeface="Times New Roman" panose="02020603050405020304" pitchFamily="18" charset="0"/>
              <a:cs typeface="Times New Roman" panose="02020603050405020304" pitchFamily="18" charset="0"/>
            </a:endParaRPr>
          </a:p>
          <a:p>
            <a:pPr marL="0" indent="0" algn="just">
              <a:buNone/>
            </a:pPr>
            <a:endParaRPr lang="en-US" dirty="0"/>
          </a:p>
        </p:txBody>
      </p:sp>
    </p:spTree>
    <p:extLst>
      <p:ext uri="{BB962C8B-B14F-4D97-AF65-F5344CB8AC3E}">
        <p14:creationId xmlns:p14="http://schemas.microsoft.com/office/powerpoint/2010/main" val="3450360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8D8A-F4E2-2E78-3C56-1127539317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3EE02-DB2C-3A23-7C00-48D571BD90E3}"/>
              </a:ext>
            </a:extLst>
          </p:cNvPr>
          <p:cNvSpPr>
            <a:spLocks noGrp="1"/>
          </p:cNvSpPr>
          <p:nvPr>
            <p:ph type="title"/>
          </p:nvPr>
        </p:nvSpPr>
        <p:spPr>
          <a:xfrm>
            <a:off x="1084580" y="624103"/>
            <a:ext cx="10515600" cy="467994"/>
          </a:xfrm>
        </p:spPr>
        <p:txBody>
          <a:bodyPr>
            <a:normAutofit fontScale="90000"/>
          </a:bodyPr>
          <a:lstStyle/>
          <a:p>
            <a:r>
              <a:rPr lang="en-US" dirty="0">
                <a:latin typeface="Times New Roman" panose="02020603050405020304" pitchFamily="18" charset="0"/>
                <a:cs typeface="Times New Roman" panose="02020603050405020304" pitchFamily="18" charset="0"/>
              </a:rPr>
              <a:t>Roll of Threat intelligence in SOC operations.</a:t>
            </a:r>
          </a:p>
        </p:txBody>
      </p:sp>
      <p:sp>
        <p:nvSpPr>
          <p:cNvPr id="3" name="Content Placeholder 2">
            <a:extLst>
              <a:ext uri="{FF2B5EF4-FFF2-40B4-BE49-F238E27FC236}">
                <a16:creationId xmlns:a16="http://schemas.microsoft.com/office/drawing/2014/main" id="{5B1B3AE9-3B71-20B4-C188-DE1D3C24AC9B}"/>
              </a:ext>
            </a:extLst>
          </p:cNvPr>
          <p:cNvSpPr>
            <a:spLocks noGrp="1"/>
          </p:cNvSpPr>
          <p:nvPr>
            <p:ph idx="1"/>
          </p:nvPr>
        </p:nvSpPr>
        <p:spPr>
          <a:xfrm>
            <a:off x="909320" y="1593907"/>
            <a:ext cx="10877212" cy="4583371"/>
          </a:xfrm>
        </p:spPr>
        <p:txBody>
          <a:bodyPr>
            <a:normAutofit/>
          </a:bodyPr>
          <a:lstStyle/>
          <a:p>
            <a:pPr algn="just"/>
            <a:r>
              <a:rPr lang="en-US" sz="2400" dirty="0">
                <a:latin typeface="Times New Roman" panose="02020603050405020304" pitchFamily="18" charset="0"/>
                <a:cs typeface="Times New Roman" panose="02020603050405020304" pitchFamily="18" charset="0"/>
              </a:rPr>
              <a:t> </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Exploring Threat Intelligence within a Security Operations Center (SOC) and its role in enhancing an organization's overall security stance.  </a:t>
            </a:r>
          </a:p>
          <a:p>
            <a:pPr algn="just"/>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Threat Intelligence involves gathering, examining, and sharing data about existing and potential security risks that may affect an organization. </a:t>
            </a:r>
          </a:p>
          <a:p>
            <a:pPr algn="just"/>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a crucial element of contemporary cybersecurity and plays a pivotal role in protecting an organization's assets and data.</a:t>
            </a:r>
          </a:p>
          <a:p>
            <a:pPr marL="0" indent="0" algn="just">
              <a:buNone/>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algn="just"/>
            <a:endParaRPr lang="en-US" sz="2400" dirty="0">
              <a:latin typeface="Arial" panose="020B0604020202020204" pitchFamily="34" charset="0"/>
              <a:cs typeface="Arial" panose="020B0604020202020204" pitchFamily="34" charset="0"/>
            </a:endParaRPr>
          </a:p>
          <a:p>
            <a:endParaRPr lang="en-US" altLang="en-US" dirty="0">
              <a:latin typeface="Arial" panose="020B0604020202020204" pitchFamily="34"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7368922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76C6B56-286A-EC7C-F1B5-0ABF0E18C94B}"/>
              </a:ext>
            </a:extLst>
          </p:cNvPr>
          <p:cNvPicPr>
            <a:picLocks noChangeAspect="1"/>
          </p:cNvPicPr>
          <p:nvPr/>
        </p:nvPicPr>
        <p:blipFill rotWithShape="1">
          <a:blip r:embed="rId2">
            <a:extLst>
              <a:ext uri="{28A0092B-C50C-407E-A947-70E740481C1C}">
                <a14:useLocalDpi xmlns:a14="http://schemas.microsoft.com/office/drawing/2010/main" val="0"/>
              </a:ext>
            </a:extLst>
          </a:blip>
          <a:srcRect l="679" t="6491" r="-2018" b="2643"/>
          <a:stretch/>
        </p:blipFill>
        <p:spPr>
          <a:xfrm>
            <a:off x="386510" y="325689"/>
            <a:ext cx="11551643" cy="6360444"/>
          </a:xfrm>
          <a:prstGeom prst="rect">
            <a:avLst/>
          </a:prstGeom>
        </p:spPr>
      </p:pic>
    </p:spTree>
    <p:extLst>
      <p:ext uri="{BB962C8B-B14F-4D97-AF65-F5344CB8AC3E}">
        <p14:creationId xmlns:p14="http://schemas.microsoft.com/office/powerpoint/2010/main" val="3368998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DC1CA-442F-B8D3-47DD-A4DCEFC1D6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172096-A820-D103-E03C-CC6F1F5B9A13}"/>
              </a:ext>
            </a:extLst>
          </p:cNvPr>
          <p:cNvSpPr>
            <a:spLocks noGrp="1"/>
          </p:cNvSpPr>
          <p:nvPr>
            <p:ph type="title"/>
          </p:nvPr>
        </p:nvSpPr>
        <p:spPr>
          <a:xfrm>
            <a:off x="947257" y="687704"/>
            <a:ext cx="10515600" cy="497840"/>
          </a:xfrm>
        </p:spPr>
        <p:txBody>
          <a:bodyPr>
            <a:noAutofit/>
          </a:bodyPr>
          <a:lstStyle/>
          <a:p>
            <a:pPr algn="just"/>
            <a:r>
              <a:rPr lang="en-US" sz="3200" dirty="0">
                <a:latin typeface="Times New Roman" panose="02020603050405020304" pitchFamily="18" charset="0"/>
                <a:cs typeface="Times New Roman" panose="02020603050405020304" pitchFamily="18" charset="0"/>
              </a:rPr>
              <a:t>Threat intelligence lifecycle</a:t>
            </a:r>
          </a:p>
        </p:txBody>
      </p:sp>
      <p:sp>
        <p:nvSpPr>
          <p:cNvPr id="5" name="Content Placeholder 4">
            <a:extLst>
              <a:ext uri="{FF2B5EF4-FFF2-40B4-BE49-F238E27FC236}">
                <a16:creationId xmlns:a16="http://schemas.microsoft.com/office/drawing/2014/main" id="{E21ADA71-5130-471F-AB9A-4B9D3F3A063F}"/>
              </a:ext>
            </a:extLst>
          </p:cNvPr>
          <p:cNvSpPr>
            <a:spLocks noGrp="1"/>
          </p:cNvSpPr>
          <p:nvPr>
            <p:ph idx="1"/>
          </p:nvPr>
        </p:nvSpPr>
        <p:spPr>
          <a:xfrm>
            <a:off x="794057" y="1316261"/>
            <a:ext cx="6250497" cy="4723002"/>
          </a:xfrm>
        </p:spPr>
        <p:txBody>
          <a:bodyPr>
            <a:normAutofit fontScale="85000" lnSpcReduction="20000"/>
          </a:bodyPr>
          <a:lstStyle/>
          <a:p>
            <a:pPr marL="0" indent="0" algn="just">
              <a:lnSpc>
                <a:spcPct val="150000"/>
              </a:lnSpc>
              <a:buNone/>
            </a:pPr>
            <a:r>
              <a:rPr lang="en-US" sz="2000" dirty="0"/>
              <a:t> </a:t>
            </a:r>
          </a:p>
          <a:p>
            <a:pPr marL="0" indent="0" algn="just">
              <a:lnSpc>
                <a:spcPct val="150000"/>
              </a:lnSpc>
              <a:buNone/>
            </a:pPr>
            <a:r>
              <a:rPr lang="en-US" sz="2000" dirty="0">
                <a:solidFill>
                  <a:srgbClr val="FF0000"/>
                </a:solidFill>
              </a:rPr>
              <a:t>1. Planning and direction: </a:t>
            </a:r>
            <a:r>
              <a:rPr lang="en-US" sz="2000" dirty="0"/>
              <a:t>Define goals, identify threats, allocate resources.</a:t>
            </a:r>
          </a:p>
          <a:p>
            <a:pPr marL="0" indent="0" algn="just">
              <a:lnSpc>
                <a:spcPct val="150000"/>
              </a:lnSpc>
              <a:buNone/>
            </a:pPr>
            <a:r>
              <a:rPr lang="en-US" sz="2000" dirty="0">
                <a:solidFill>
                  <a:srgbClr val="FF0000"/>
                </a:solidFill>
              </a:rPr>
              <a:t>2. Collection: </a:t>
            </a:r>
            <a:r>
              <a:rPr lang="en-US" sz="2000" dirty="0"/>
              <a:t>Gather data from various sources.</a:t>
            </a:r>
          </a:p>
          <a:p>
            <a:pPr marL="0" indent="0" algn="just">
              <a:lnSpc>
                <a:spcPct val="150000"/>
              </a:lnSpc>
              <a:buNone/>
            </a:pPr>
            <a:r>
              <a:rPr lang="en-US" sz="2000" dirty="0">
                <a:solidFill>
                  <a:srgbClr val="FF0000"/>
                </a:solidFill>
              </a:rPr>
              <a:t>3. Processing: </a:t>
            </a:r>
            <a:r>
              <a:rPr lang="en-US" sz="2000" dirty="0"/>
              <a:t>Organize and analyze collected data.</a:t>
            </a:r>
          </a:p>
          <a:p>
            <a:pPr marL="0" indent="0" algn="just">
              <a:lnSpc>
                <a:spcPct val="150000"/>
              </a:lnSpc>
              <a:buNone/>
            </a:pPr>
            <a:r>
              <a:rPr lang="en-US" sz="2000" dirty="0">
                <a:solidFill>
                  <a:srgbClr val="FF0000"/>
                </a:solidFill>
              </a:rPr>
              <a:t>4. Analysis: </a:t>
            </a:r>
            <a:r>
              <a:rPr lang="en-US" sz="2000" dirty="0"/>
              <a:t>Evaluate data to identify threats and potential impact.</a:t>
            </a:r>
          </a:p>
          <a:p>
            <a:pPr marL="0" indent="0" algn="just">
              <a:lnSpc>
                <a:spcPct val="150000"/>
              </a:lnSpc>
              <a:buNone/>
            </a:pPr>
            <a:r>
              <a:rPr lang="en-US" sz="2000" dirty="0">
                <a:solidFill>
                  <a:srgbClr val="FF0000"/>
                </a:solidFill>
              </a:rPr>
              <a:t>5. Dissemination: </a:t>
            </a:r>
            <a:r>
              <a:rPr lang="en-US" sz="2000" dirty="0"/>
              <a:t>Share relevant information with stakeholders.</a:t>
            </a:r>
          </a:p>
          <a:p>
            <a:pPr marL="0" indent="0" algn="just">
              <a:lnSpc>
                <a:spcPct val="150000"/>
              </a:lnSpc>
              <a:buNone/>
            </a:pPr>
            <a:r>
              <a:rPr lang="en-US" sz="2000" dirty="0">
                <a:solidFill>
                  <a:srgbClr val="FF0000"/>
                </a:solidFill>
              </a:rPr>
              <a:t>6. Feedback: </a:t>
            </a:r>
            <a:r>
              <a:rPr lang="en-US" sz="2000" dirty="0"/>
              <a:t>Assess usefulness of information, improve processes iteratively.	</a:t>
            </a:r>
          </a:p>
          <a:p>
            <a:pPr marL="0" indent="0" algn="just">
              <a:buNone/>
            </a:pPr>
            <a:endParaRPr lang="en-US" dirty="0"/>
          </a:p>
        </p:txBody>
      </p:sp>
      <p:pic>
        <p:nvPicPr>
          <p:cNvPr id="1030" name="Picture 6" descr="What Is the Threat Intelligence Lifecycle? — Definition by ThreatDotMedi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7328" y="1185544"/>
            <a:ext cx="4147657" cy="41476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76979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44947-2072-3748-2185-782D0649C9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8D8B6-9DC4-1DDF-BE89-CE12125F31B2}"/>
              </a:ext>
            </a:extLst>
          </p:cNvPr>
          <p:cNvSpPr>
            <a:spLocks noGrp="1"/>
          </p:cNvSpPr>
          <p:nvPr>
            <p:ph type="title"/>
          </p:nvPr>
        </p:nvSpPr>
        <p:spPr>
          <a:xfrm>
            <a:off x="913874" y="357774"/>
            <a:ext cx="10515600" cy="497840"/>
          </a:xfrm>
        </p:spPr>
        <p:txBody>
          <a:bodyPr>
            <a:noAutofit/>
          </a:bodyPr>
          <a:lstStyle/>
          <a:p>
            <a:br>
              <a:rPr lang="en-US" sz="3200" kern="0" dirty="0">
                <a:solidFill>
                  <a:srgbClr val="000000"/>
                </a:solidFill>
                <a:effectLst/>
                <a:ea typeface="Times New Roman" panose="02020603050405020304" pitchFamily="18" charset="0"/>
                <a:cs typeface="Times New Roman" panose="02020603050405020304" pitchFamily="18" charset="0"/>
              </a:rPr>
            </a:br>
            <a:br>
              <a:rPr lang="en-US" sz="3200" kern="0" dirty="0">
                <a:solidFill>
                  <a:srgbClr val="000000"/>
                </a:solidFill>
                <a:effectLst/>
                <a:ea typeface="Times New Roman" panose="02020603050405020304" pitchFamily="18" charset="0"/>
                <a:cs typeface="Times New Roman" panose="02020603050405020304" pitchFamily="18" charset="0"/>
              </a:rPr>
            </a:br>
            <a:br>
              <a:rPr lang="en-US" sz="3200" kern="0" dirty="0">
                <a:solidFill>
                  <a:srgbClr val="000000"/>
                </a:solidFill>
                <a:effectLst/>
                <a:ea typeface="Times New Roman" panose="02020603050405020304" pitchFamily="18" charset="0"/>
                <a:cs typeface="Times New Roman" panose="02020603050405020304" pitchFamily="18" charset="0"/>
              </a:rPr>
            </a:br>
            <a:r>
              <a:rPr lang="en-US" sz="3200" i="0" dirty="0">
                <a:solidFill>
                  <a:srgbClr val="242424"/>
                </a:solidFill>
                <a:effectLst/>
                <a:cs typeface="Times New Roman" panose="02020603050405020304" pitchFamily="18" charset="0"/>
              </a:rPr>
              <a:t>How Threat Intelligence is Used in a SOC?</a:t>
            </a:r>
            <a:br>
              <a:rPr lang="en-US" sz="3200" i="0" dirty="0">
                <a:solidFill>
                  <a:srgbClr val="242424"/>
                </a:solidFill>
                <a:effectLst/>
                <a:cs typeface="Times New Roman" panose="02020603050405020304" pitchFamily="18" charset="0"/>
              </a:rPr>
            </a:br>
            <a:br>
              <a:rPr lang="en-US" sz="3200" kern="100" dirty="0">
                <a:effectLst/>
                <a:ea typeface="Calibri" panose="020F0502020204030204" pitchFamily="34" charset="0"/>
                <a:cs typeface="Times New Roman" panose="02020603050405020304" pitchFamily="18" charset="0"/>
              </a:rPr>
            </a:br>
            <a:br>
              <a:rPr lang="en-US" sz="3200" dirty="0">
                <a:cs typeface="Times New Roman" panose="02020603050405020304" pitchFamily="18" charset="0"/>
              </a:rPr>
            </a:br>
            <a:endParaRPr lang="en-US" sz="3200"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15550C58-8C5F-0A8A-FDF7-6A74D156E6CC}"/>
              </a:ext>
            </a:extLst>
          </p:cNvPr>
          <p:cNvSpPr>
            <a:spLocks noGrp="1"/>
          </p:cNvSpPr>
          <p:nvPr>
            <p:ph idx="1"/>
          </p:nvPr>
        </p:nvSpPr>
        <p:spPr>
          <a:xfrm>
            <a:off x="913874" y="913531"/>
            <a:ext cx="10765221" cy="5301935"/>
          </a:xfrm>
        </p:spPr>
        <p:txBody>
          <a:bodyPr>
            <a:noAutofit/>
          </a:bodyPr>
          <a:lstStyle/>
          <a:p>
            <a:pPr marL="342900" indent="-342900" algn="just">
              <a:buAutoNum type="arabicPeriod"/>
            </a:pPr>
            <a:r>
              <a:rPr lang="en-US" sz="1800" b="1" dirty="0">
                <a:cs typeface="Times New Roman" panose="02020603050405020304" pitchFamily="18" charset="0"/>
              </a:rPr>
              <a:t>Threat Detection :  </a:t>
            </a:r>
          </a:p>
          <a:p>
            <a:pPr marL="0" indent="0" algn="just">
              <a:buNone/>
            </a:pPr>
            <a:r>
              <a:rPr lang="en-US" sz="1800" b="1" dirty="0">
                <a:cs typeface="Times New Roman" panose="02020603050405020304" pitchFamily="18" charset="0"/>
              </a:rPr>
              <a:t>   -</a:t>
            </a:r>
            <a:r>
              <a:rPr lang="en-US" sz="1800" dirty="0">
                <a:cs typeface="Times New Roman" panose="02020603050405020304" pitchFamily="18" charset="0"/>
              </a:rPr>
              <a:t>Identifying new and emerging threats, including malware and phishing attempts.</a:t>
            </a:r>
          </a:p>
          <a:p>
            <a:pPr marL="0" indent="0" algn="just">
              <a:buNone/>
            </a:pPr>
            <a:r>
              <a:rPr lang="en-US" sz="1800" dirty="0">
                <a:cs typeface="Times New Roman" panose="02020603050405020304" pitchFamily="18" charset="0"/>
              </a:rPr>
              <a:t>   - Recognizing known threats that are still active, allowing for early prevention.</a:t>
            </a:r>
          </a:p>
          <a:p>
            <a:pPr marL="0" indent="0" algn="just">
              <a:buNone/>
            </a:pPr>
            <a:r>
              <a:rPr lang="en-US" sz="1800" b="1" dirty="0">
                <a:cs typeface="Times New Roman" panose="02020603050405020304" pitchFamily="18" charset="0"/>
              </a:rPr>
              <a:t>2. Vulnerability Management :</a:t>
            </a:r>
          </a:p>
          <a:p>
            <a:pPr marL="0" indent="0" algn="just">
              <a:buNone/>
            </a:pPr>
            <a:r>
              <a:rPr lang="en-US" sz="1800" dirty="0">
                <a:cs typeface="Times New Roman" panose="02020603050405020304" pitchFamily="18" charset="0"/>
              </a:rPr>
              <a:t>   - Using threat intelligence to pinpoint new vulnerabilities in systems and networks.</a:t>
            </a:r>
          </a:p>
          <a:p>
            <a:pPr marL="0" indent="0" algn="just">
              <a:buNone/>
            </a:pPr>
            <a:r>
              <a:rPr lang="en-US" sz="1800" dirty="0">
                <a:cs typeface="Times New Roman" panose="02020603050405020304" pitchFamily="18" charset="0"/>
              </a:rPr>
              <a:t>   - Prioritizing vulnerabilities based on risk level to facilitate timely patching or mitigation.</a:t>
            </a:r>
          </a:p>
          <a:p>
            <a:pPr marL="0" indent="0" algn="just">
              <a:buNone/>
            </a:pPr>
            <a:r>
              <a:rPr lang="en-US" sz="1800" b="1" dirty="0">
                <a:cs typeface="Times New Roman" panose="02020603050405020304" pitchFamily="18" charset="0"/>
              </a:rPr>
              <a:t>3. Incident Response:</a:t>
            </a:r>
          </a:p>
          <a:p>
            <a:pPr marL="0" indent="0" algn="just">
              <a:buNone/>
            </a:pPr>
            <a:r>
              <a:rPr lang="en-US" sz="1800" dirty="0">
                <a:cs typeface="Times New Roman" panose="02020603050405020304" pitchFamily="18" charset="0"/>
              </a:rPr>
              <a:t>   - Leveraging threat intelligence to enhance incident response strategies.</a:t>
            </a:r>
          </a:p>
          <a:p>
            <a:pPr marL="0" indent="0" algn="just">
              <a:buNone/>
            </a:pPr>
            <a:r>
              <a:rPr lang="en-US" sz="1800" dirty="0">
                <a:cs typeface="Times New Roman" panose="02020603050405020304" pitchFamily="18" charset="0"/>
              </a:rPr>
              <a:t>   - Gaining insights into cybercriminal tactics, techniques, and procedures to develop effective response plans.</a:t>
            </a:r>
          </a:p>
          <a:p>
            <a:pPr marL="0" indent="0" algn="just">
              <a:buNone/>
            </a:pPr>
            <a:r>
              <a:rPr lang="en-US" sz="1800" b="1" dirty="0">
                <a:cs typeface="Times New Roman" panose="02020603050405020304" pitchFamily="18" charset="0"/>
              </a:rPr>
              <a:t>4. Security Automation:</a:t>
            </a:r>
          </a:p>
          <a:p>
            <a:pPr marL="0" indent="0" algn="just">
              <a:buNone/>
            </a:pPr>
            <a:r>
              <a:rPr lang="en-US" sz="1800" dirty="0">
                <a:cs typeface="Times New Roman" panose="02020603050405020304" pitchFamily="18" charset="0"/>
              </a:rPr>
              <a:t>   - Integrating threat intelligence with automation tools for streamlined incident response and vulnerability management.</a:t>
            </a:r>
          </a:p>
          <a:p>
            <a:pPr marL="0" indent="0" algn="just">
              <a:buNone/>
            </a:pPr>
            <a:r>
              <a:rPr lang="en-US" sz="1800" dirty="0">
                <a:cs typeface="Times New Roman" panose="02020603050405020304" pitchFamily="18" charset="0"/>
              </a:rPr>
              <a:t>   - Enabling automated actions such as patching, incident escalation, and threat containment for quicker and more efficient responses.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9711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08BE0-28D9-FF0D-8B31-C89F6C1853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B3C88B-EB99-2029-AF7A-F2E0ECD57500}"/>
              </a:ext>
            </a:extLst>
          </p:cNvPr>
          <p:cNvSpPr>
            <a:spLocks noGrp="1"/>
          </p:cNvSpPr>
          <p:nvPr>
            <p:ph type="title"/>
          </p:nvPr>
        </p:nvSpPr>
        <p:spPr>
          <a:xfrm>
            <a:off x="772997" y="357599"/>
            <a:ext cx="11088977" cy="396240"/>
          </a:xfrm>
        </p:spPr>
        <p:txBody>
          <a:bodyPr>
            <a:noAutofit/>
          </a:bodyPr>
          <a:lstStyle/>
          <a:p>
            <a:br>
              <a:rPr lang="en-US" sz="3200" b="1" kern="0" dirty="0">
                <a:solidFill>
                  <a:srgbClr val="000000"/>
                </a:solidFill>
                <a:effectLst/>
                <a:ea typeface="Times New Roman" panose="02020603050405020304" pitchFamily="18" charset="0"/>
                <a:cs typeface="Times New Roman" panose="02020603050405020304" pitchFamily="18" charset="0"/>
              </a:rPr>
            </a:br>
            <a:br>
              <a:rPr lang="en-US" sz="3200" b="1" kern="0" dirty="0">
                <a:solidFill>
                  <a:srgbClr val="000000"/>
                </a:solidFill>
                <a:effectLst/>
                <a:ea typeface="Times New Roman" panose="02020603050405020304" pitchFamily="18" charset="0"/>
                <a:cs typeface="Times New Roman" panose="02020603050405020304" pitchFamily="18" charset="0"/>
              </a:rPr>
            </a:br>
            <a:br>
              <a:rPr lang="en-US" sz="3200" b="1" kern="0" dirty="0">
                <a:solidFill>
                  <a:srgbClr val="000000"/>
                </a:solidFill>
                <a:effectLst/>
                <a:ea typeface="Times New Roman" panose="02020603050405020304" pitchFamily="18" charset="0"/>
                <a:cs typeface="Times New Roman" panose="02020603050405020304" pitchFamily="18" charset="0"/>
              </a:rPr>
            </a:br>
            <a:br>
              <a:rPr lang="en-US" sz="3200" b="1" kern="0" dirty="0">
                <a:solidFill>
                  <a:srgbClr val="000000"/>
                </a:solidFill>
                <a:effectLst/>
                <a:ea typeface="Times New Roman" panose="02020603050405020304" pitchFamily="18" charset="0"/>
                <a:cs typeface="Times New Roman" panose="02020603050405020304" pitchFamily="18" charset="0"/>
              </a:rPr>
            </a:br>
            <a:r>
              <a:rPr lang="en-US" sz="3200" dirty="0">
                <a:cs typeface="Times New Roman" panose="02020603050405020304" pitchFamily="18" charset="0"/>
              </a:rPr>
              <a:t>Challenges in Implementing Threat Intelligence in a SOC:</a:t>
            </a:r>
            <a:br>
              <a:rPr lang="en-US" sz="3200" dirty="0">
                <a:cs typeface="Times New Roman" panose="02020603050405020304" pitchFamily="18" charset="0"/>
              </a:rPr>
            </a:br>
            <a:br>
              <a:rPr lang="en-US" sz="3200" b="1" i="0" dirty="0">
                <a:solidFill>
                  <a:srgbClr val="242424"/>
                </a:solidFill>
                <a:effectLst/>
                <a:cs typeface="Times New Roman" panose="02020603050405020304" pitchFamily="18" charset="0"/>
              </a:rPr>
            </a:br>
            <a:br>
              <a:rPr lang="en-US" sz="3200" kern="100" dirty="0">
                <a:effectLst/>
                <a:ea typeface="Calibri" panose="020F0502020204030204" pitchFamily="34" charset="0"/>
                <a:cs typeface="Times New Roman" panose="02020603050405020304" pitchFamily="18" charset="0"/>
              </a:rPr>
            </a:br>
            <a:br>
              <a:rPr lang="en-US" sz="3200" dirty="0">
                <a:cs typeface="Times New Roman" panose="02020603050405020304" pitchFamily="18" charset="0"/>
              </a:rPr>
            </a:br>
            <a:endParaRPr lang="en-US" sz="3200"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48B9269E-DBB8-F1D0-CE2C-9180A0E88913}"/>
              </a:ext>
            </a:extLst>
          </p:cNvPr>
          <p:cNvSpPr>
            <a:spLocks noGrp="1"/>
          </p:cNvSpPr>
          <p:nvPr>
            <p:ph idx="1"/>
          </p:nvPr>
        </p:nvSpPr>
        <p:spPr>
          <a:xfrm>
            <a:off x="996380" y="876563"/>
            <a:ext cx="10748579" cy="5490682"/>
          </a:xfrm>
        </p:spPr>
        <p:txBody>
          <a:bodyPr>
            <a:noAutofit/>
          </a:bodyPr>
          <a:lstStyle/>
          <a:p>
            <a:pPr marL="0" indent="0" algn="just">
              <a:lnSpc>
                <a:spcPct val="150000"/>
              </a:lnSpc>
              <a:buNone/>
            </a:pPr>
            <a:r>
              <a:rPr lang="en-US" sz="1600" b="1" dirty="0">
                <a:cs typeface="Times New Roman" panose="02020603050405020304" pitchFamily="18" charset="0"/>
              </a:rPr>
              <a:t>1.Investment in technology and personnel: </a:t>
            </a:r>
            <a:r>
              <a:rPr lang="en-US" sz="1600" dirty="0">
                <a:cs typeface="Times New Roman" panose="02020603050405020304" pitchFamily="18" charset="0"/>
              </a:rPr>
              <a:t>Organizations need to invest in the right technology and personnel for effective threat intelligence implementation, including hardware, software, and skilled employees.</a:t>
            </a:r>
          </a:p>
          <a:p>
            <a:pPr marL="0" indent="0" algn="just">
              <a:lnSpc>
                <a:spcPct val="150000"/>
              </a:lnSpc>
              <a:buNone/>
            </a:pPr>
            <a:r>
              <a:rPr lang="en-US" sz="1600" b="1" dirty="0">
                <a:cs typeface="Times New Roman" panose="02020603050405020304" pitchFamily="18" charset="0"/>
              </a:rPr>
              <a:t>2.Processes and procedures: </a:t>
            </a:r>
            <a:r>
              <a:rPr lang="en-US" sz="1600" dirty="0">
                <a:cs typeface="Times New Roman" panose="02020603050405020304" pitchFamily="18" charset="0"/>
              </a:rPr>
              <a:t>Establishing robust processes and procedures for analyzing, disseminating, and responding to threat intelligence is crucial for its effective utilization within a SOC.</a:t>
            </a:r>
          </a:p>
          <a:p>
            <a:pPr marL="0" indent="0" algn="just">
              <a:lnSpc>
                <a:spcPct val="150000"/>
              </a:lnSpc>
              <a:buNone/>
            </a:pPr>
            <a:r>
              <a:rPr lang="en-US" sz="1600" b="1" dirty="0">
                <a:cs typeface="Times New Roman" panose="02020603050405020304" pitchFamily="18" charset="0"/>
              </a:rPr>
              <a:t>3.Volume of data: </a:t>
            </a:r>
            <a:r>
              <a:rPr lang="en-US" sz="1600" dirty="0">
                <a:cs typeface="Times New Roman" panose="02020603050405020304" pitchFamily="18" charset="0"/>
              </a:rPr>
              <a:t>The sheer volume of data generated by threat intelligence can overwhelm a SOC, requiring adequate resources and tools for efficient analysis and dissemination.</a:t>
            </a:r>
          </a:p>
          <a:p>
            <a:pPr marL="0" indent="0" algn="just">
              <a:lnSpc>
                <a:spcPct val="150000"/>
              </a:lnSpc>
              <a:buNone/>
            </a:pPr>
            <a:r>
              <a:rPr lang="en-US" sz="1600" b="1" dirty="0">
                <a:cs typeface="Times New Roman" panose="02020603050405020304" pitchFamily="18" charset="0"/>
              </a:rPr>
              <a:t>4.Quality of data: </a:t>
            </a:r>
            <a:r>
              <a:rPr lang="en-US" sz="1600" dirty="0">
                <a:cs typeface="Times New Roman" panose="02020603050405020304" pitchFamily="18" charset="0"/>
              </a:rPr>
              <a:t>Ensuring the quality of threat intelligence data is essential, as not all sources are reliable. Organizations must verify authenticity, credibility, relevance, and timeliness of the information.</a:t>
            </a:r>
          </a:p>
          <a:p>
            <a:pPr marL="0" indent="0" algn="just">
              <a:lnSpc>
                <a:spcPct val="150000"/>
              </a:lnSpc>
              <a:buNone/>
            </a:pPr>
            <a:r>
              <a:rPr lang="en-US" sz="1600" b="1" dirty="0">
                <a:cs typeface="Times New Roman" panose="02020603050405020304" pitchFamily="18" charset="0"/>
              </a:rPr>
              <a:t>5.Integration with existing systems: </a:t>
            </a:r>
            <a:r>
              <a:rPr lang="en-US" sz="1600" dirty="0">
                <a:cs typeface="Times New Roman" panose="02020603050405020304" pitchFamily="18" charset="0"/>
              </a:rPr>
              <a:t>Integrating threat intelligence seamlessly into existing systems and processes, such as incident response and security operations, requires thorough understanding and planning.</a:t>
            </a:r>
          </a:p>
          <a:p>
            <a:pPr marL="0" indent="0" algn="just">
              <a:lnSpc>
                <a:spcPct val="150000"/>
              </a:lnSpc>
              <a:buNone/>
            </a:pPr>
            <a:r>
              <a:rPr lang="en-US" sz="1600" b="1" dirty="0">
                <a:cs typeface="Times New Roman" panose="02020603050405020304" pitchFamily="18" charset="0"/>
              </a:rPr>
              <a:t>6.Maintenance and updating: </a:t>
            </a:r>
            <a:r>
              <a:rPr lang="en-US" sz="1600" dirty="0">
                <a:cs typeface="Times New Roman" panose="02020603050405020304" pitchFamily="18" charset="0"/>
              </a:rPr>
              <a:t>Threat intelligence is dynamic and requires continuous maintenance and updating to stay relevant. This involves monitoring new threats, updating existing information, and providing ongoing training to SOC personnel.</a:t>
            </a:r>
          </a:p>
          <a:p>
            <a:pPr marL="0" indent="0" algn="just">
              <a:buNone/>
            </a:pPr>
            <a:r>
              <a:rPr lang="en-US"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4457757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D2478-0C76-8FFE-B8B5-CC4D1E4BE1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5EA14-9A2C-D590-AC9A-96DA8215EFA4}"/>
              </a:ext>
            </a:extLst>
          </p:cNvPr>
          <p:cNvSpPr>
            <a:spLocks noGrp="1"/>
          </p:cNvSpPr>
          <p:nvPr>
            <p:ph type="title"/>
          </p:nvPr>
        </p:nvSpPr>
        <p:spPr>
          <a:xfrm>
            <a:off x="838200" y="786421"/>
            <a:ext cx="10515600" cy="396240"/>
          </a:xfrm>
        </p:spPr>
        <p:txBody>
          <a:bodyPr>
            <a:normAutofit fontScale="90000"/>
          </a:bodyPr>
          <a:lstStyle/>
          <a:p>
            <a:br>
              <a:rPr lang="en-US" sz="3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6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US" sz="3100" dirty="0">
                <a:latin typeface="Times New Roman" panose="02020603050405020304" pitchFamily="18" charset="0"/>
                <a:cs typeface="Times New Roman" panose="02020603050405020304" pitchFamily="18" charset="0"/>
              </a:rPr>
              <a:t>Merits and Demerits of Threat Intelligence in a SOC</a:t>
            </a:r>
            <a:br>
              <a:rPr lang="en-US" sz="3600" dirty="0">
                <a:latin typeface="Times New Roman" panose="02020603050405020304" pitchFamily="18" charset="0"/>
                <a:cs typeface="Times New Roman" panose="02020603050405020304" pitchFamily="18" charset="0"/>
              </a:rPr>
            </a:br>
            <a:br>
              <a:rPr lang="en-US" sz="1400" i="0" dirty="0">
                <a:solidFill>
                  <a:srgbClr val="242424"/>
                </a:solidFill>
                <a:effectLst/>
                <a:latin typeface="Times New Roman" panose="02020603050405020304" pitchFamily="18" charset="0"/>
                <a:cs typeface="Times New Roman" panose="02020603050405020304" pitchFamily="18" charset="0"/>
              </a:rPr>
            </a:br>
            <a:br>
              <a:rPr lang="en-US" sz="3600"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graphicFrame>
        <p:nvGraphicFramePr>
          <p:cNvPr id="3" name="Content Placeholder 2">
            <a:extLst>
              <a:ext uri="{FF2B5EF4-FFF2-40B4-BE49-F238E27FC236}">
                <a16:creationId xmlns:a16="http://schemas.microsoft.com/office/drawing/2014/main" id="{27174B64-133A-5636-5FB5-F7486955F42B}"/>
              </a:ext>
            </a:extLst>
          </p:cNvPr>
          <p:cNvGraphicFramePr>
            <a:graphicFrameLocks noGrp="1"/>
          </p:cNvGraphicFramePr>
          <p:nvPr>
            <p:ph idx="1"/>
          </p:nvPr>
        </p:nvGraphicFramePr>
        <p:xfrm>
          <a:off x="838200" y="1451939"/>
          <a:ext cx="10723880" cy="4722359"/>
        </p:xfrm>
        <a:graphic>
          <a:graphicData uri="http://schemas.openxmlformats.org/drawingml/2006/table">
            <a:tbl>
              <a:tblPr firstRow="1" bandRow="1">
                <a:tableStyleId>{5C22544A-7EE6-4342-B048-85BDC9FD1C3A}</a:tableStyleId>
              </a:tblPr>
              <a:tblGrid>
                <a:gridCol w="5361940">
                  <a:extLst>
                    <a:ext uri="{9D8B030D-6E8A-4147-A177-3AD203B41FA5}">
                      <a16:colId xmlns:a16="http://schemas.microsoft.com/office/drawing/2014/main" val="827148685"/>
                    </a:ext>
                  </a:extLst>
                </a:gridCol>
                <a:gridCol w="5361940">
                  <a:extLst>
                    <a:ext uri="{9D8B030D-6E8A-4147-A177-3AD203B41FA5}">
                      <a16:colId xmlns:a16="http://schemas.microsoft.com/office/drawing/2014/main" val="3923693401"/>
                    </a:ext>
                  </a:extLst>
                </a:gridCol>
              </a:tblGrid>
              <a:tr h="433039">
                <a:tc>
                  <a:txBody>
                    <a:bodyPr/>
                    <a:lstStyle/>
                    <a:p>
                      <a:pPr fontAlgn="b"/>
                      <a:r>
                        <a:rPr lang="en-US" sz="2000" b="1" dirty="0">
                          <a:effectLst/>
                          <a:latin typeface="Times New Roman" panose="02020603050405020304" pitchFamily="18" charset="0"/>
                          <a:cs typeface="Times New Roman" panose="02020603050405020304" pitchFamily="18" charset="0"/>
                        </a:rPr>
                        <a:t>Merits (Advantages)</a:t>
                      </a:r>
                    </a:p>
                  </a:txBody>
                  <a:tcPr anchor="b"/>
                </a:tc>
                <a:tc>
                  <a:txBody>
                    <a:bodyPr/>
                    <a:lstStyle/>
                    <a:p>
                      <a:pPr fontAlgn="b"/>
                      <a:r>
                        <a:rPr lang="en-US" sz="2000" b="1" dirty="0">
                          <a:effectLst/>
                          <a:latin typeface="Times New Roman" panose="02020603050405020304" pitchFamily="18" charset="0"/>
                          <a:cs typeface="Times New Roman" panose="02020603050405020304" pitchFamily="18" charset="0"/>
                        </a:rPr>
                        <a:t>Demerits (Disadvantages)</a:t>
                      </a:r>
                    </a:p>
                  </a:txBody>
                  <a:tcPr anchor="b"/>
                </a:tc>
                <a:extLst>
                  <a:ext uri="{0D108BD9-81ED-4DB2-BD59-A6C34878D82A}">
                    <a16:rowId xmlns:a16="http://schemas.microsoft.com/office/drawing/2014/main" val="2488165382"/>
                  </a:ext>
                </a:extLst>
              </a:tr>
              <a:tr h="1099253">
                <a:tc>
                  <a:txBody>
                    <a:bodyPr/>
                    <a:lstStyle/>
                    <a:p>
                      <a:pPr fontAlgn="base"/>
                      <a:r>
                        <a:rPr lang="en-US" sz="2000" dirty="0">
                          <a:effectLst/>
                          <a:latin typeface="Times New Roman" panose="02020603050405020304" pitchFamily="18" charset="0"/>
                          <a:cs typeface="Times New Roman" panose="02020603050405020304" pitchFamily="18" charset="0"/>
                        </a:rPr>
                        <a:t>Enhanced Security Awareness: </a:t>
                      </a:r>
                    </a:p>
                    <a:p>
                      <a:pPr fontAlgn="base"/>
                      <a:r>
                        <a:rPr lang="en-US" sz="2000" dirty="0">
                          <a:effectLst/>
                          <a:latin typeface="Times New Roman" panose="02020603050405020304" pitchFamily="18" charset="0"/>
                          <a:cs typeface="Times New Roman" panose="02020603050405020304" pitchFamily="18" charset="0"/>
                        </a:rPr>
                        <a:t>Organizations gain insights into potential threats.</a:t>
                      </a:r>
                    </a:p>
                  </a:txBody>
                  <a:tcPr anchor="ctr"/>
                </a:tc>
                <a:tc>
                  <a:txBody>
                    <a:bodyPr/>
                    <a:lstStyle/>
                    <a:p>
                      <a:pPr fontAlgn="base"/>
                      <a:r>
                        <a:rPr lang="en-US" sz="2000" dirty="0">
                          <a:effectLst/>
                          <a:latin typeface="Times New Roman" panose="02020603050405020304" pitchFamily="18" charset="0"/>
                          <a:cs typeface="Times New Roman" panose="02020603050405020304" pitchFamily="18" charset="0"/>
                        </a:rPr>
                        <a:t>Overwhelming Volume:</a:t>
                      </a:r>
                    </a:p>
                    <a:p>
                      <a:pPr fontAlgn="base"/>
                      <a:r>
                        <a:rPr lang="en-US" sz="2000" dirty="0">
                          <a:effectLst/>
                          <a:latin typeface="Times New Roman" panose="02020603050405020304" pitchFamily="18" charset="0"/>
                          <a:cs typeface="Times New Roman" panose="02020603050405020304" pitchFamily="18" charset="0"/>
                        </a:rPr>
                        <a:t> Sorting through vast amounts of data can be challenging.</a:t>
                      </a:r>
                    </a:p>
                  </a:txBody>
                  <a:tcPr anchor="ctr"/>
                </a:tc>
                <a:extLst>
                  <a:ext uri="{0D108BD9-81ED-4DB2-BD59-A6C34878D82A}">
                    <a16:rowId xmlns:a16="http://schemas.microsoft.com/office/drawing/2014/main" val="333034532"/>
                  </a:ext>
                </a:extLst>
              </a:tr>
              <a:tr h="878756">
                <a:tc>
                  <a:txBody>
                    <a:bodyPr/>
                    <a:lstStyle/>
                    <a:p>
                      <a:pPr fontAlgn="base"/>
                      <a:r>
                        <a:rPr lang="en-US" sz="2000" dirty="0">
                          <a:effectLst/>
                          <a:latin typeface="Times New Roman" panose="02020603050405020304" pitchFamily="18" charset="0"/>
                          <a:cs typeface="Times New Roman" panose="02020603050405020304" pitchFamily="18" charset="0"/>
                        </a:rPr>
                        <a:t>Proactive Threat Detection: Early identification and mitigation of potential threats.</a:t>
                      </a:r>
                    </a:p>
                  </a:txBody>
                  <a:tcPr anchor="ctr"/>
                </a:tc>
                <a:tc>
                  <a:txBody>
                    <a:bodyPr/>
                    <a:lstStyle/>
                    <a:p>
                      <a:pPr fontAlgn="base"/>
                      <a:r>
                        <a:rPr lang="en-US" sz="2000" dirty="0">
                          <a:effectLst/>
                          <a:latin typeface="Times New Roman" panose="02020603050405020304" pitchFamily="18" charset="0"/>
                          <a:cs typeface="Times New Roman" panose="02020603050405020304" pitchFamily="18" charset="0"/>
                        </a:rPr>
                        <a:t>False Positives: </a:t>
                      </a:r>
                    </a:p>
                    <a:p>
                      <a:pPr fontAlgn="base"/>
                      <a:r>
                        <a:rPr lang="en-US" sz="2000" dirty="0">
                          <a:effectLst/>
                          <a:latin typeface="Times New Roman" panose="02020603050405020304" pitchFamily="18" charset="0"/>
                          <a:cs typeface="Times New Roman" panose="02020603050405020304" pitchFamily="18" charset="0"/>
                        </a:rPr>
                        <a:t>Inaccurate alerts can waste resources.</a:t>
                      </a:r>
                    </a:p>
                  </a:txBody>
                  <a:tcPr anchor="ctr"/>
                </a:tc>
                <a:extLst>
                  <a:ext uri="{0D108BD9-81ED-4DB2-BD59-A6C34878D82A}">
                    <a16:rowId xmlns:a16="http://schemas.microsoft.com/office/drawing/2014/main" val="2787257657"/>
                  </a:ext>
                </a:extLst>
              </a:tr>
              <a:tr h="770437">
                <a:tc>
                  <a:txBody>
                    <a:bodyPr/>
                    <a:lstStyle/>
                    <a:p>
                      <a:pPr fontAlgn="base"/>
                      <a:r>
                        <a:rPr lang="en-US" sz="2000" dirty="0">
                          <a:effectLst/>
                          <a:latin typeface="Times New Roman" panose="02020603050405020304" pitchFamily="18" charset="0"/>
                          <a:cs typeface="Times New Roman" panose="02020603050405020304" pitchFamily="18" charset="0"/>
                        </a:rPr>
                        <a:t>Informed Decision Making: </a:t>
                      </a:r>
                    </a:p>
                    <a:p>
                      <a:pPr fontAlgn="base"/>
                      <a:r>
                        <a:rPr lang="en-US" sz="2000" dirty="0">
                          <a:effectLst/>
                          <a:latin typeface="Times New Roman" panose="02020603050405020304" pitchFamily="18" charset="0"/>
                          <a:cs typeface="Times New Roman" panose="02020603050405020304" pitchFamily="18" charset="0"/>
                        </a:rPr>
                        <a:t>Better security posture decisions based on data.</a:t>
                      </a:r>
                    </a:p>
                  </a:txBody>
                  <a:tcPr anchor="ctr"/>
                </a:tc>
                <a:tc>
                  <a:txBody>
                    <a:bodyPr/>
                    <a:lstStyle/>
                    <a:p>
                      <a:pPr fontAlgn="base"/>
                      <a:r>
                        <a:rPr lang="en-US" sz="2000" dirty="0">
                          <a:effectLst/>
                          <a:latin typeface="Times New Roman" panose="02020603050405020304" pitchFamily="18" charset="0"/>
                          <a:cs typeface="Times New Roman" panose="02020603050405020304" pitchFamily="18" charset="0"/>
                        </a:rPr>
                        <a:t>Cost:</a:t>
                      </a:r>
                    </a:p>
                    <a:p>
                      <a:pPr fontAlgn="base"/>
                      <a:r>
                        <a:rPr lang="en-US" sz="2000" dirty="0">
                          <a:effectLst/>
                          <a:latin typeface="Times New Roman" panose="02020603050405020304" pitchFamily="18" charset="0"/>
                          <a:cs typeface="Times New Roman" panose="02020603050405020304" pitchFamily="18" charset="0"/>
                        </a:rPr>
                        <a:t> Implementing and maintaining can be expensive.</a:t>
                      </a:r>
                    </a:p>
                  </a:txBody>
                  <a:tcPr anchor="ctr"/>
                </a:tc>
                <a:extLst>
                  <a:ext uri="{0D108BD9-81ED-4DB2-BD59-A6C34878D82A}">
                    <a16:rowId xmlns:a16="http://schemas.microsoft.com/office/drawing/2014/main" val="3991926268"/>
                  </a:ext>
                </a:extLst>
              </a:tr>
              <a:tr h="770437">
                <a:tc>
                  <a:txBody>
                    <a:bodyPr/>
                    <a:lstStyle/>
                    <a:p>
                      <a:pPr fontAlgn="base"/>
                      <a:r>
                        <a:rPr lang="en-US" sz="2000" dirty="0">
                          <a:effectLst/>
                          <a:latin typeface="Times New Roman" panose="02020603050405020304" pitchFamily="18" charset="0"/>
                          <a:cs typeface="Times New Roman" panose="02020603050405020304" pitchFamily="18" charset="0"/>
                        </a:rPr>
                        <a:t>Incident Response Improvement: Streamlined response with relevant context.</a:t>
                      </a:r>
                    </a:p>
                  </a:txBody>
                  <a:tcPr anchor="ctr"/>
                </a:tc>
                <a:tc>
                  <a:txBody>
                    <a:bodyPr/>
                    <a:lstStyle/>
                    <a:p>
                      <a:pPr fontAlgn="base"/>
                      <a:r>
                        <a:rPr lang="en-US" sz="2000" dirty="0">
                          <a:effectLst/>
                          <a:latin typeface="Times New Roman" panose="02020603050405020304" pitchFamily="18" charset="0"/>
                          <a:cs typeface="Times New Roman" panose="02020603050405020304" pitchFamily="18" charset="0"/>
                        </a:rPr>
                        <a:t>Integration Challenges: </a:t>
                      </a:r>
                    </a:p>
                    <a:p>
                      <a:pPr fontAlgn="base"/>
                      <a:r>
                        <a:rPr lang="en-US" sz="2000" dirty="0">
                          <a:effectLst/>
                          <a:latin typeface="Times New Roman" panose="02020603050405020304" pitchFamily="18" charset="0"/>
                          <a:cs typeface="Times New Roman" panose="02020603050405020304" pitchFamily="18" charset="0"/>
                        </a:rPr>
                        <a:t>Integration with existing systems can be complex.</a:t>
                      </a:r>
                    </a:p>
                  </a:txBody>
                  <a:tcPr anchor="ctr"/>
                </a:tc>
                <a:extLst>
                  <a:ext uri="{0D108BD9-81ED-4DB2-BD59-A6C34878D82A}">
                    <a16:rowId xmlns:a16="http://schemas.microsoft.com/office/drawing/2014/main" val="1105883083"/>
                  </a:ext>
                </a:extLst>
              </a:tr>
              <a:tr h="770437">
                <a:tc>
                  <a:txBody>
                    <a:bodyPr/>
                    <a:lstStyle/>
                    <a:p>
                      <a:pPr fontAlgn="base"/>
                      <a:r>
                        <a:rPr lang="en-US" sz="2000" dirty="0">
                          <a:effectLst/>
                          <a:latin typeface="Times New Roman" panose="02020603050405020304" pitchFamily="18" charset="0"/>
                          <a:cs typeface="Times New Roman" panose="02020603050405020304" pitchFamily="18" charset="0"/>
                        </a:rPr>
                        <a:t>Competitive Advantage: </a:t>
                      </a:r>
                    </a:p>
                    <a:p>
                      <a:pPr fontAlgn="base"/>
                      <a:r>
                        <a:rPr lang="en-US" sz="2000" dirty="0">
                          <a:effectLst/>
                          <a:latin typeface="Times New Roman" panose="02020603050405020304" pitchFamily="18" charset="0"/>
                          <a:cs typeface="Times New Roman" panose="02020603050405020304" pitchFamily="18" charset="0"/>
                        </a:rPr>
                        <a:t>Stay ahead in security and maintain trust.</a:t>
                      </a:r>
                    </a:p>
                  </a:txBody>
                  <a:tcPr anchor="ctr"/>
                </a:tc>
                <a:tc>
                  <a:txBody>
                    <a:bodyPr/>
                    <a:lstStyle/>
                    <a:p>
                      <a:pPr fontAlgn="base"/>
                      <a:r>
                        <a:rPr lang="en-US" sz="2000" dirty="0">
                          <a:effectLst/>
                          <a:latin typeface="Times New Roman" panose="02020603050405020304" pitchFamily="18" charset="0"/>
                          <a:cs typeface="Times New Roman" panose="02020603050405020304" pitchFamily="18" charset="0"/>
                        </a:rPr>
                        <a:t>Privacy Concerns: </a:t>
                      </a:r>
                    </a:p>
                    <a:p>
                      <a:pPr fontAlgn="base"/>
                      <a:r>
                        <a:rPr lang="en-US" sz="2000" dirty="0">
                          <a:effectLst/>
                          <a:latin typeface="Times New Roman" panose="02020603050405020304" pitchFamily="18" charset="0"/>
                          <a:cs typeface="Times New Roman" panose="02020603050405020304" pitchFamily="18" charset="0"/>
                        </a:rPr>
                        <a:t>Raises questions about data privacy.</a:t>
                      </a:r>
                    </a:p>
                  </a:txBody>
                  <a:tcPr anchor="ctr"/>
                </a:tc>
                <a:extLst>
                  <a:ext uri="{0D108BD9-81ED-4DB2-BD59-A6C34878D82A}">
                    <a16:rowId xmlns:a16="http://schemas.microsoft.com/office/drawing/2014/main" val="1721167140"/>
                  </a:ext>
                </a:extLst>
              </a:tr>
            </a:tbl>
          </a:graphicData>
        </a:graphic>
      </p:graphicFrame>
    </p:spTree>
    <p:extLst>
      <p:ext uri="{BB962C8B-B14F-4D97-AF65-F5344CB8AC3E}">
        <p14:creationId xmlns:p14="http://schemas.microsoft.com/office/powerpoint/2010/main" val="30171025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A935-53DD-9499-B22F-10AF530A22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C3A77-8A62-E1AE-6EC6-6A7DB2F3C286}"/>
              </a:ext>
            </a:extLst>
          </p:cNvPr>
          <p:cNvSpPr>
            <a:spLocks noGrp="1"/>
          </p:cNvSpPr>
          <p:nvPr>
            <p:ph type="title"/>
          </p:nvPr>
        </p:nvSpPr>
        <p:spPr>
          <a:xfrm>
            <a:off x="783138" y="172749"/>
            <a:ext cx="10515600" cy="553720"/>
          </a:xfrm>
        </p:spPr>
        <p:txBody>
          <a:bodyPr>
            <a:noAutofit/>
          </a:bodyPr>
          <a:lstStyle/>
          <a:p>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GB" sz="3200" dirty="0">
                <a:effectLst/>
                <a:latin typeface="Times New Roman" panose="02020603050405020304" pitchFamily="18" charset="0"/>
                <a:ea typeface="Times New Roman" panose="02020603050405020304" pitchFamily="18" charset="0"/>
                <a:cs typeface="Times New Roman" panose="02020603050405020304" pitchFamily="18" charset="0"/>
              </a:rPr>
              <a:t>Incorporating threat intelligence into incident response.</a:t>
            </a:r>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E5BA12D-D8F1-36FF-1C5B-8FD9047EC9DE}"/>
              </a:ext>
            </a:extLst>
          </p:cNvPr>
          <p:cNvSpPr txBox="1"/>
          <p:nvPr/>
        </p:nvSpPr>
        <p:spPr>
          <a:xfrm>
            <a:off x="977462" y="980528"/>
            <a:ext cx="10657490" cy="4751557"/>
          </a:xfrm>
          <a:prstGeom prst="rect">
            <a:avLst/>
          </a:prstGeom>
          <a:noFill/>
        </p:spPr>
        <p:txBody>
          <a:bodyPr wrap="square">
            <a:spAutoFit/>
          </a:bodyPr>
          <a:lstStyle/>
          <a:p>
            <a:pPr algn="just">
              <a:lnSpc>
                <a:spcPct val="150000"/>
              </a:lnSpc>
            </a:pPr>
            <a:r>
              <a:rPr lang="en-US" sz="2000" kern="0" dirty="0">
                <a:effectLst/>
                <a:latin typeface="Times New Roman" panose="02020603050405020304" pitchFamily="18" charset="0"/>
                <a:ea typeface="Times New Roman" panose="02020603050405020304" pitchFamily="18" charset="0"/>
              </a:rPr>
              <a:t>Threat Intelligence plays an important role in incident response since it improves an organization's capacity to identify, reduce and recover back from cybersecurity incidents. It offers essential background knowledge and perspectives into the future. </a:t>
            </a:r>
          </a:p>
          <a:p>
            <a:pPr marL="742950" lvl="1" indent="-285750">
              <a:lnSpc>
                <a:spcPct val="150000"/>
              </a:lnSpc>
              <a:buFont typeface="Arial" panose="020B0604020202020204" pitchFamily="34" charset="0"/>
              <a:buChar char="•"/>
            </a:pPr>
            <a:r>
              <a:rPr lang="en-US" kern="0" dirty="0">
                <a:latin typeface="Times New Roman" panose="02020603050405020304" pitchFamily="18" charset="0"/>
              </a:rPr>
              <a:t>Early Detection: Threat information helps in identifying possible threats and weaknesses before they develop, enabling proactive monitoring. </a:t>
            </a:r>
          </a:p>
          <a:p>
            <a:pPr marL="742950" lvl="1" indent="-285750">
              <a:lnSpc>
                <a:spcPct val="150000"/>
              </a:lnSpc>
              <a:buFont typeface="Arial" panose="020B0604020202020204" pitchFamily="34" charset="0"/>
              <a:buChar char="•"/>
            </a:pPr>
            <a:r>
              <a:rPr lang="en-US" kern="0" dirty="0">
                <a:latin typeface="Times New Roman" panose="02020603050405020304" pitchFamily="18" charset="0"/>
              </a:rPr>
              <a:t>Rapid Identification: Analysts may promptly identify familiar attack patterns and signs, assisting in the initial phases of an incident. </a:t>
            </a:r>
          </a:p>
          <a:p>
            <a:pPr marL="742950" lvl="1" indent="-285750">
              <a:lnSpc>
                <a:spcPct val="150000"/>
              </a:lnSpc>
              <a:buFont typeface="Arial" panose="020B0604020202020204" pitchFamily="34" charset="0"/>
              <a:buChar char="•"/>
            </a:pPr>
            <a:r>
              <a:rPr lang="en-US" kern="0" dirty="0">
                <a:latin typeface="Times New Roman" panose="02020603050405020304" pitchFamily="18" charset="0"/>
              </a:rPr>
              <a:t>Contextual Insight: Intelligence enhances incident data by providing details on threat actors, tactics, approaches, and motivations, which helps in conducting precise event evaluations.</a:t>
            </a:r>
          </a:p>
          <a:p>
            <a:pPr marL="800100" lvl="1" indent="-342900">
              <a:lnSpc>
                <a:spcPct val="150000"/>
              </a:lnSpc>
              <a:buFont typeface="Arial" panose="020B0604020202020204" pitchFamily="34" charset="0"/>
              <a:buChar char="•"/>
            </a:pPr>
            <a:r>
              <a:rPr lang="en-US" kern="0" dirty="0">
                <a:latin typeface="Times New Roman" panose="02020603050405020304" pitchFamily="18" charset="0"/>
              </a:rPr>
              <a:t>Prioritization: Incident prioritization assists responders in ranking situations according to severity, possible impact, and organizational importance. </a:t>
            </a:r>
          </a:p>
        </p:txBody>
      </p:sp>
    </p:spTree>
    <p:extLst>
      <p:ext uri="{BB962C8B-B14F-4D97-AF65-F5344CB8AC3E}">
        <p14:creationId xmlns:p14="http://schemas.microsoft.com/office/powerpoint/2010/main" val="28762922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5795A-FD29-C1DB-1D9F-5709FAE43C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6A7D09-EDB8-FEE9-6749-6D7F31DD283D}"/>
              </a:ext>
            </a:extLst>
          </p:cNvPr>
          <p:cNvSpPr>
            <a:spLocks noGrp="1"/>
          </p:cNvSpPr>
          <p:nvPr>
            <p:ph type="title"/>
          </p:nvPr>
        </p:nvSpPr>
        <p:spPr>
          <a:xfrm>
            <a:off x="945931" y="315538"/>
            <a:ext cx="10515600" cy="396240"/>
          </a:xfrm>
        </p:spPr>
        <p:txBody>
          <a:bodyPr>
            <a:noAutofit/>
          </a:bodyPr>
          <a:lstStyle/>
          <a:p>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US" sz="3200" b="1"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r>
              <a:rPr lang="en-GB" sz="3200" dirty="0">
                <a:effectLst/>
                <a:latin typeface="Times New Roman" panose="02020603050405020304" pitchFamily="18" charset="0"/>
                <a:ea typeface="Times New Roman" panose="02020603050405020304" pitchFamily="18" charset="0"/>
                <a:cs typeface="Times New Roman" panose="02020603050405020304" pitchFamily="18" charset="0"/>
              </a:rPr>
              <a:t>Incorporating threat intelligence into incident response</a:t>
            </a:r>
            <a:br>
              <a:rPr lang="en-US" sz="3200" dirty="0">
                <a:latin typeface="Times New Roman" panose="02020603050405020304" pitchFamily="18" charset="0"/>
                <a:cs typeface="Times New Roman" panose="02020603050405020304" pitchFamily="18" charset="0"/>
              </a:rPr>
            </a:br>
            <a:br>
              <a:rPr lang="en-US" sz="3200" b="1" i="0" dirty="0">
                <a:solidFill>
                  <a:srgbClr val="242424"/>
                </a:solidFill>
                <a:effectLst/>
                <a:latin typeface="Times New Roman" panose="02020603050405020304" pitchFamily="18" charset="0"/>
                <a:cs typeface="Times New Roman" panose="02020603050405020304" pitchFamily="18" charset="0"/>
              </a:rPr>
            </a:br>
            <a:b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586C1CCE-DA00-2711-765C-9D11F1655636}"/>
              </a:ext>
            </a:extLst>
          </p:cNvPr>
          <p:cNvSpPr txBox="1"/>
          <p:nvPr/>
        </p:nvSpPr>
        <p:spPr>
          <a:xfrm>
            <a:off x="945931" y="909309"/>
            <a:ext cx="10515600" cy="557582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en-US" sz="2000" b="1" kern="0" dirty="0">
                <a:effectLst/>
                <a:latin typeface="Times New Roman" panose="02020603050405020304" pitchFamily="18" charset="0"/>
                <a:ea typeface="Times New Roman" panose="02020603050405020304" pitchFamily="18" charset="0"/>
              </a:rPr>
              <a:t>Customized Response: </a:t>
            </a:r>
            <a:r>
              <a:rPr lang="en-US" sz="2000" kern="0" dirty="0">
                <a:effectLst/>
                <a:latin typeface="Times New Roman" panose="02020603050405020304" pitchFamily="18" charset="0"/>
                <a:ea typeface="Times New Roman" panose="02020603050405020304" pitchFamily="18" charset="0"/>
              </a:rPr>
              <a:t>Threat intelligence enables the development of tailored plans to address specific threats, enhancing containment and mitigation actions. </a:t>
            </a:r>
            <a:endParaRPr lang="en-US" sz="2000" kern="0" dirty="0">
              <a:latin typeface="Times New Roman" panose="02020603050405020304" pitchFamily="18" charset="0"/>
              <a:ea typeface="Times New Roman" panose="02020603050405020304" pitchFamily="18" charset="0"/>
            </a:endParaRPr>
          </a:p>
          <a:p>
            <a:pPr marL="342900" indent="-342900">
              <a:lnSpc>
                <a:spcPct val="150000"/>
              </a:lnSpc>
              <a:buFont typeface="Arial" panose="020B0604020202020204" pitchFamily="34" charset="0"/>
              <a:buChar char="•"/>
            </a:pPr>
            <a:r>
              <a:rPr lang="en-US" sz="2000" b="1" kern="0" dirty="0">
                <a:effectLst/>
                <a:latin typeface="Times New Roman" panose="02020603050405020304" pitchFamily="18" charset="0"/>
                <a:ea typeface="Times New Roman" panose="02020603050405020304" pitchFamily="18" charset="0"/>
              </a:rPr>
              <a:t>Threat hunting: </a:t>
            </a:r>
            <a:r>
              <a:rPr lang="en-US" sz="2000" kern="0" dirty="0">
                <a:effectLst/>
                <a:latin typeface="Times New Roman" panose="02020603050405020304" pitchFamily="18" charset="0"/>
                <a:ea typeface="Times New Roman" panose="02020603050405020304" pitchFamily="18" charset="0"/>
              </a:rPr>
              <a:t>It involves analysts actively searching for indicators of potential threats that have not been noticed at this point utilizing threat intelligence information. </a:t>
            </a:r>
            <a:endParaRPr lang="en-US" sz="2000" kern="0" dirty="0">
              <a:latin typeface="Times New Roman" panose="02020603050405020304" pitchFamily="18" charset="0"/>
              <a:ea typeface="Times New Roman" panose="02020603050405020304" pitchFamily="18" charset="0"/>
            </a:endParaRPr>
          </a:p>
          <a:p>
            <a:pPr marL="342900" indent="-342900">
              <a:lnSpc>
                <a:spcPct val="150000"/>
              </a:lnSpc>
              <a:buFont typeface="Arial" panose="020B0604020202020204" pitchFamily="34" charset="0"/>
              <a:buChar char="•"/>
            </a:pPr>
            <a:r>
              <a:rPr lang="en-US" sz="2000" b="1" kern="0" dirty="0">
                <a:effectLst/>
                <a:latin typeface="Times New Roman" panose="02020603050405020304" pitchFamily="18" charset="0"/>
                <a:ea typeface="Times New Roman" panose="02020603050405020304" pitchFamily="18" charset="0"/>
              </a:rPr>
              <a:t>Attribution: </a:t>
            </a:r>
            <a:r>
              <a:rPr lang="en-US" sz="2000" kern="0" dirty="0">
                <a:effectLst/>
                <a:latin typeface="Times New Roman" panose="02020603050405020304" pitchFamily="18" charset="0"/>
                <a:ea typeface="Times New Roman" panose="02020603050405020304" pitchFamily="18" charset="0"/>
              </a:rPr>
              <a:t>Intelligence helps identify the source of assaults by recognized danger individuals or organizations, guiding reaction strategies and possible legal measures. </a:t>
            </a:r>
            <a:endParaRPr lang="en-US" sz="2000" kern="0" dirty="0">
              <a:latin typeface="Times New Roman" panose="02020603050405020304" pitchFamily="18" charset="0"/>
              <a:ea typeface="Times New Roman" panose="02020603050405020304" pitchFamily="18" charset="0"/>
            </a:endParaRPr>
          </a:p>
          <a:p>
            <a:pPr marL="342900" indent="-342900">
              <a:lnSpc>
                <a:spcPct val="150000"/>
              </a:lnSpc>
              <a:buFont typeface="Arial" panose="020B0604020202020204" pitchFamily="34" charset="0"/>
              <a:buChar char="•"/>
            </a:pPr>
            <a:r>
              <a:rPr lang="en-US" sz="2000" b="1" kern="0" dirty="0">
                <a:effectLst/>
                <a:latin typeface="Times New Roman" panose="02020603050405020304" pitchFamily="18" charset="0"/>
                <a:ea typeface="Times New Roman" panose="02020603050405020304" pitchFamily="18" charset="0"/>
              </a:rPr>
              <a:t>Mitigation Recommendations: </a:t>
            </a:r>
            <a:r>
              <a:rPr lang="en-US" sz="2000" kern="0" dirty="0">
                <a:effectLst/>
                <a:latin typeface="Times New Roman" panose="02020603050405020304" pitchFamily="18" charset="0"/>
                <a:ea typeface="Times New Roman" panose="02020603050405020304" pitchFamily="18" charset="0"/>
              </a:rPr>
              <a:t>It offers practical suggestions for addressing and protecting against future threats. </a:t>
            </a:r>
            <a:endParaRPr lang="en-US" sz="2000" kern="0" dirty="0">
              <a:latin typeface="Times New Roman" panose="02020603050405020304" pitchFamily="18" charset="0"/>
              <a:ea typeface="Times New Roman" panose="02020603050405020304" pitchFamily="18" charset="0"/>
            </a:endParaRPr>
          </a:p>
          <a:p>
            <a:pPr marL="342900" indent="-342900">
              <a:lnSpc>
                <a:spcPct val="150000"/>
              </a:lnSpc>
              <a:buFont typeface="Arial" panose="020B0604020202020204" pitchFamily="34" charset="0"/>
              <a:buChar char="•"/>
            </a:pPr>
            <a:r>
              <a:rPr lang="en-US" sz="2000" b="1" kern="0" dirty="0">
                <a:effectLst/>
                <a:latin typeface="Times New Roman" panose="02020603050405020304" pitchFamily="18" charset="0"/>
                <a:ea typeface="Times New Roman" panose="02020603050405020304" pitchFamily="18" charset="0"/>
              </a:rPr>
              <a:t>Intelligence sharing: </a:t>
            </a:r>
            <a:r>
              <a:rPr lang="en-US" sz="2000" kern="0" dirty="0">
                <a:effectLst/>
                <a:latin typeface="Times New Roman" panose="02020603050405020304" pitchFamily="18" charset="0"/>
                <a:ea typeface="Times New Roman" panose="02020603050405020304" pitchFamily="18" charset="0"/>
              </a:rPr>
              <a:t>It improves crisis response capability. </a:t>
            </a:r>
            <a:endParaRPr lang="en-US" sz="2000" kern="0" dirty="0">
              <a:latin typeface="Times New Roman" panose="02020603050405020304" pitchFamily="18" charset="0"/>
              <a:ea typeface="Times New Roman" panose="02020603050405020304" pitchFamily="18" charset="0"/>
            </a:endParaRPr>
          </a:p>
          <a:p>
            <a:pPr marL="342900" indent="-342900">
              <a:lnSpc>
                <a:spcPct val="150000"/>
              </a:lnSpc>
              <a:buFont typeface="Arial" panose="020B0604020202020204" pitchFamily="34" charset="0"/>
              <a:buChar char="•"/>
            </a:pPr>
            <a:r>
              <a:rPr lang="en-US" sz="2000" b="1" kern="0" dirty="0">
                <a:effectLst/>
                <a:latin typeface="Times New Roman" panose="02020603050405020304" pitchFamily="18" charset="0"/>
                <a:ea typeface="Times New Roman" panose="02020603050405020304" pitchFamily="18" charset="0"/>
              </a:rPr>
              <a:t>Continuous improvement: </a:t>
            </a:r>
            <a:r>
              <a:rPr lang="en-US" sz="2000" kern="0" dirty="0">
                <a:effectLst/>
                <a:latin typeface="Times New Roman" panose="02020603050405020304" pitchFamily="18" charset="0"/>
                <a:ea typeface="Times New Roman" panose="02020603050405020304" pitchFamily="18" charset="0"/>
              </a:rPr>
              <a:t>is archived by using threat intelligence to analyze incidents and enhance security policies for better protection against future attacks.</a:t>
            </a:r>
            <a:br>
              <a:rPr lang="en-US" sz="2000" kern="0" dirty="0">
                <a:effectLst/>
                <a:latin typeface="Times New Roman" panose="02020603050405020304" pitchFamily="18" charset="0"/>
                <a:ea typeface="Times New Roman" panose="02020603050405020304" pitchFamily="18" charset="0"/>
              </a:rPr>
            </a:br>
            <a:endParaRPr lang="en-US" sz="2000" dirty="0"/>
          </a:p>
        </p:txBody>
      </p:sp>
    </p:spTree>
    <p:extLst>
      <p:ext uri="{BB962C8B-B14F-4D97-AF65-F5344CB8AC3E}">
        <p14:creationId xmlns:p14="http://schemas.microsoft.com/office/powerpoint/2010/main" val="6124523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3BE25-F732-D969-E5BA-1CBCC27BA5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A2B00B-4EA3-B6ED-9B9B-2133C8F17E12}"/>
              </a:ext>
            </a:extLst>
          </p:cNvPr>
          <p:cNvSpPr>
            <a:spLocks noGrp="1"/>
          </p:cNvSpPr>
          <p:nvPr>
            <p:ph type="ctrTitle"/>
          </p:nvPr>
        </p:nvSpPr>
        <p:spPr>
          <a:xfrm>
            <a:off x="2900855" y="1662603"/>
            <a:ext cx="8763526" cy="1790701"/>
          </a:xfrm>
        </p:spPr>
        <p:txBody>
          <a:bodyPr/>
          <a:lstStyle/>
          <a:p>
            <a:pPr algn="l"/>
            <a:r>
              <a:rPr lang="en-US" sz="3200" dirty="0"/>
              <a:t>6. Threat Intelligence and Threat Hunting </a:t>
            </a:r>
            <a:br>
              <a:rPr lang="en-US" dirty="0"/>
            </a:br>
            <a:endParaRPr lang="en-US" dirty="0"/>
          </a:p>
        </p:txBody>
      </p:sp>
      <p:sp>
        <p:nvSpPr>
          <p:cNvPr id="3" name="Subtitle 2">
            <a:extLst>
              <a:ext uri="{FF2B5EF4-FFF2-40B4-BE49-F238E27FC236}">
                <a16:creationId xmlns:a16="http://schemas.microsoft.com/office/drawing/2014/main" id="{69C0FA68-F5D2-B874-0B54-D5A95AC2CC92}"/>
              </a:ext>
            </a:extLst>
          </p:cNvPr>
          <p:cNvSpPr>
            <a:spLocks noGrp="1"/>
          </p:cNvSpPr>
          <p:nvPr>
            <p:ph type="subTitle" idx="1"/>
          </p:nvPr>
        </p:nvSpPr>
        <p:spPr>
          <a:xfrm>
            <a:off x="3431561" y="2894549"/>
            <a:ext cx="8594375" cy="1317998"/>
          </a:xfrm>
        </p:spPr>
        <p:txBody>
          <a:bodyPr>
            <a:normAutofit lnSpcReduction="10000"/>
          </a:bodyPr>
          <a:lstStyle/>
          <a:p>
            <a:pPr marL="0" indent="0" algn="l">
              <a:buNone/>
            </a:pPr>
            <a:r>
              <a:rPr lang="en-US" dirty="0"/>
              <a:t> </a:t>
            </a:r>
          </a:p>
          <a:p>
            <a:pPr marL="0" indent="0" algn="l">
              <a:buNone/>
            </a:pPr>
            <a:r>
              <a:rPr lang="en-US" dirty="0"/>
              <a:t>6.2 Sources of Threat Intelligence Data </a:t>
            </a:r>
          </a:p>
          <a:p>
            <a:pPr marL="0" indent="0" algn="l">
              <a:buNone/>
            </a:pPr>
            <a:r>
              <a:rPr lang="en-US" dirty="0"/>
              <a:t> </a:t>
            </a:r>
          </a:p>
          <a:p>
            <a:endParaRPr lang="en-US" dirty="0"/>
          </a:p>
        </p:txBody>
      </p:sp>
    </p:spTree>
    <p:extLst>
      <p:ext uri="{BB962C8B-B14F-4D97-AF65-F5344CB8AC3E}">
        <p14:creationId xmlns:p14="http://schemas.microsoft.com/office/powerpoint/2010/main" val="27402085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96C9-D928-DED3-FCC7-E114EDE21BDF}"/>
              </a:ext>
            </a:extLst>
          </p:cNvPr>
          <p:cNvSpPr>
            <a:spLocks noGrp="1"/>
          </p:cNvSpPr>
          <p:nvPr>
            <p:ph type="title"/>
          </p:nvPr>
        </p:nvSpPr>
        <p:spPr>
          <a:xfrm>
            <a:off x="2143585" y="198012"/>
            <a:ext cx="10515600" cy="404231"/>
          </a:xfrm>
        </p:spPr>
        <p:txBody>
          <a:bodyPr>
            <a:normAutofit fontScale="90000"/>
          </a:bodyPr>
          <a:lstStyle/>
          <a:p>
            <a:r>
              <a:rPr lang="en-US" b="1" i="0" dirty="0">
                <a:solidFill>
                  <a:srgbClr val="000000"/>
                </a:solidFill>
                <a:effectLst/>
                <a:latin typeface="CiscoSansTT"/>
              </a:rPr>
              <a:t>Network Intelligence Communities</a:t>
            </a:r>
            <a:endParaRPr lang="en-US" dirty="0"/>
          </a:p>
        </p:txBody>
      </p:sp>
      <p:pic>
        <p:nvPicPr>
          <p:cNvPr id="9" name="Content Placeholder 8">
            <a:extLst>
              <a:ext uri="{FF2B5EF4-FFF2-40B4-BE49-F238E27FC236}">
                <a16:creationId xmlns:a16="http://schemas.microsoft.com/office/drawing/2014/main" id="{6F908EB8-05F6-16C2-CEC4-735392BF08A4}"/>
              </a:ext>
            </a:extLst>
          </p:cNvPr>
          <p:cNvPicPr>
            <a:picLocks noGrp="1" noChangeAspect="1"/>
          </p:cNvPicPr>
          <p:nvPr>
            <p:ph idx="1"/>
          </p:nvPr>
        </p:nvPicPr>
        <p:blipFill>
          <a:blip r:embed="rId2"/>
          <a:stretch>
            <a:fillRect/>
          </a:stretch>
        </p:blipFill>
        <p:spPr>
          <a:xfrm>
            <a:off x="189186" y="769530"/>
            <a:ext cx="10045788" cy="5690444"/>
          </a:xfrm>
        </p:spPr>
      </p:pic>
    </p:spTree>
    <p:extLst>
      <p:ext uri="{BB962C8B-B14F-4D97-AF65-F5344CB8AC3E}">
        <p14:creationId xmlns:p14="http://schemas.microsoft.com/office/powerpoint/2010/main" val="28328905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8FFA91-F999-7FAB-E947-797BEB8BD7D8}"/>
              </a:ext>
            </a:extLst>
          </p:cNvPr>
          <p:cNvSpPr>
            <a:spLocks noGrp="1"/>
          </p:cNvSpPr>
          <p:nvPr>
            <p:ph idx="1"/>
          </p:nvPr>
        </p:nvSpPr>
        <p:spPr>
          <a:xfrm>
            <a:off x="838199" y="346841"/>
            <a:ext cx="11086837" cy="5984591"/>
          </a:xfrm>
        </p:spPr>
        <p:txBody>
          <a:bodyPr>
            <a:normAutofit/>
          </a:bodyPr>
          <a:lstStyle/>
          <a:p>
            <a:r>
              <a:rPr lang="en-US" sz="2000" dirty="0">
                <a:effectLst/>
                <a:latin typeface="var(--headings-font-family)"/>
              </a:rPr>
              <a:t> </a:t>
            </a:r>
            <a:r>
              <a:rPr lang="en-US" sz="2000" kern="100" dirty="0">
                <a:latin typeface="Aptos" panose="020B0004020202020204" pitchFamily="34" charset="0"/>
                <a:cs typeface="Times New Roman" panose="02020603050405020304" pitchFamily="18" charset="0"/>
              </a:rPr>
              <a:t>Cisco Cybersecurity Reports</a:t>
            </a:r>
          </a:p>
          <a:p>
            <a:pPr lvl="1"/>
            <a:r>
              <a:rPr lang="en-US" sz="2000" kern="100" dirty="0">
                <a:latin typeface="Aptos" panose="020B0004020202020204" pitchFamily="34" charset="0"/>
                <a:cs typeface="Times New Roman" panose="02020603050405020304" pitchFamily="18" charset="0"/>
              </a:rPr>
              <a:t>Resources to help security professionals stay abreast of the latest threats are the Cisco Annual Cybersecurity Report and the Mid-Year Cybersecurity Report. These reports provide an update on the state of security preparedness, expert analysis of top vulnerabilities, factors behind the explosion of attacks using adware, spam, and more.</a:t>
            </a:r>
          </a:p>
          <a:p>
            <a:pPr lvl="1"/>
            <a:r>
              <a:rPr lang="en-US" sz="2000" kern="100" dirty="0">
                <a:latin typeface="Aptos" panose="020B0004020202020204" pitchFamily="34" charset="0"/>
                <a:cs typeface="Times New Roman" panose="02020603050405020304" pitchFamily="18" charset="0"/>
              </a:rPr>
              <a:t>Cybersecurity analysts should subscribe to and read these reports to learn how threat actors are targeting their networks, and what can be done to mitigate these attacks.</a:t>
            </a:r>
          </a:p>
          <a:p>
            <a:pPr lvl="1"/>
            <a:r>
              <a:rPr lang="en-US" sz="2000" kern="100" dirty="0">
                <a:latin typeface="Aptos" panose="020B0004020202020204" pitchFamily="34" charset="0"/>
                <a:cs typeface="Times New Roman" panose="02020603050405020304" pitchFamily="18" charset="0"/>
              </a:rPr>
              <a:t>Search the internet to locate and download Cisco Cybersecurity Reports from the Cisco website.</a:t>
            </a:r>
          </a:p>
          <a:p>
            <a:r>
              <a:rPr lang="en-US" sz="2000" kern="100" dirty="0">
                <a:latin typeface="Aptos" panose="020B0004020202020204" pitchFamily="34" charset="0"/>
                <a:cs typeface="Times New Roman" panose="02020603050405020304" pitchFamily="18" charset="0"/>
              </a:rPr>
              <a:t> Security Blogs and Podcasts</a:t>
            </a:r>
          </a:p>
          <a:p>
            <a:pPr lvl="1"/>
            <a:r>
              <a:rPr lang="en-US" sz="2000" kern="100" dirty="0">
                <a:latin typeface="Aptos" panose="020B0004020202020204" pitchFamily="34" charset="0"/>
                <a:cs typeface="Times New Roman" panose="02020603050405020304" pitchFamily="18" charset="0"/>
              </a:rPr>
              <a:t>Another method for keeping up-to-date on the latest threats is to read blogs and listen to podcasts. Blogs and podcasts also provide advice, research, and recommended mitigation techniques.</a:t>
            </a:r>
          </a:p>
          <a:p>
            <a:pPr lvl="1"/>
            <a:r>
              <a:rPr lang="en-US" sz="2000" kern="100" dirty="0">
                <a:latin typeface="Aptos" panose="020B0004020202020204" pitchFamily="34" charset="0"/>
                <a:cs typeface="Times New Roman" panose="02020603050405020304" pitchFamily="18" charset="0"/>
              </a:rPr>
              <a:t>There are several security blogs and podcasts available that a cybersecurity analyst should follow to learn about the latest threats, vulnerabilities, and exploits.</a:t>
            </a:r>
          </a:p>
          <a:p>
            <a:pPr lvl="1"/>
            <a:r>
              <a:rPr lang="en-US" sz="2000" kern="100" dirty="0">
                <a:latin typeface="Aptos" panose="020B0004020202020204" pitchFamily="34" charset="0"/>
                <a:cs typeface="Times New Roman" panose="02020603050405020304" pitchFamily="18" charset="0"/>
              </a:rPr>
              <a:t>Cisco provides blogs on security-related topics from a number of industry experts and from the Cisco Talos Group. Search for Cisco security blogs to locate them. You can also subscribe to receive notifications of new blogs by email. Cisco Talos also offers a series of over 80 podcasts that can be played from the internet or downloaded to your device of choice.</a:t>
            </a:r>
          </a:p>
          <a:p>
            <a:endParaRPr lang="en-US" dirty="0"/>
          </a:p>
        </p:txBody>
      </p:sp>
    </p:spTree>
    <p:extLst>
      <p:ext uri="{BB962C8B-B14F-4D97-AF65-F5344CB8AC3E}">
        <p14:creationId xmlns:p14="http://schemas.microsoft.com/office/powerpoint/2010/main" val="19358969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1C888-171B-95AE-FE68-70E042DD8539}"/>
              </a:ext>
            </a:extLst>
          </p:cNvPr>
          <p:cNvSpPr>
            <a:spLocks noGrp="1"/>
          </p:cNvSpPr>
          <p:nvPr>
            <p:ph type="title"/>
          </p:nvPr>
        </p:nvSpPr>
        <p:spPr/>
        <p:txBody>
          <a:bodyPr/>
          <a:lstStyle/>
          <a:p>
            <a:r>
              <a:rPr lang="en-US" b="1" i="0" dirty="0">
                <a:effectLst/>
                <a:latin typeface="CiscoSansTT"/>
              </a:rPr>
              <a:t>Threat Intelligence Services</a:t>
            </a:r>
            <a:endParaRPr lang="en-US" dirty="0"/>
          </a:p>
        </p:txBody>
      </p:sp>
      <p:sp>
        <p:nvSpPr>
          <p:cNvPr id="3" name="Content Placeholder 2">
            <a:extLst>
              <a:ext uri="{FF2B5EF4-FFF2-40B4-BE49-F238E27FC236}">
                <a16:creationId xmlns:a16="http://schemas.microsoft.com/office/drawing/2014/main" id="{6FD0B85F-A1D2-05EB-3FE1-BE00A2E8E547}"/>
              </a:ext>
            </a:extLst>
          </p:cNvPr>
          <p:cNvSpPr>
            <a:spLocks noGrp="1"/>
          </p:cNvSpPr>
          <p:nvPr>
            <p:ph idx="1"/>
          </p:nvPr>
        </p:nvSpPr>
        <p:spPr>
          <a:xfrm>
            <a:off x="838200" y="1507182"/>
            <a:ext cx="10992244" cy="4985692"/>
          </a:xfrm>
        </p:spPr>
        <p:txBody>
          <a:bodyPr>
            <a:normAutofit lnSpcReduction="10000"/>
          </a:bodyPr>
          <a:lstStyle/>
          <a:p>
            <a:pPr marL="0" indent="0">
              <a:lnSpc>
                <a:spcPct val="150000"/>
              </a:lnSpc>
              <a:buNone/>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Threat intelligence services allow the exchange of threat information such as vulnerabilities, indicators of compromise (IOC), and mitigation techniques. This information is not only shared with personnel, but also with security systems. As threats emerge, threat intelligence services create and distribute firewall rules and IOCs to the devices that have subscribed to the service.</a:t>
            </a:r>
          </a:p>
          <a:p>
            <a:pPr marR="0">
              <a:lnSpc>
                <a:spcPct val="150000"/>
              </a:lnSpc>
              <a:spcAft>
                <a:spcPts val="800"/>
              </a:spcAft>
              <a:buFont typeface="Wingdings" panose="05000000000000000000" pitchFamily="2" charset="2"/>
              <a:buChar char="Ø"/>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Talos is one of the largest commercial threat intelligence teams in the world, and is comprised of world-class researchers, analysts and engineers. The goal of Talos is to help protect enterprise users, data, and infrastructure from active adversaries. The Talos team collects information about active, existing, and emerging threats. Talos then provides comprehensive protection against these attacks and malware to its subscribers.</a:t>
            </a:r>
          </a:p>
          <a:p>
            <a:pPr lvl="1">
              <a:lnSpc>
                <a:spcPct val="150000"/>
              </a:lnSpc>
              <a:spcAft>
                <a:spcPts val="800"/>
              </a:spcAft>
              <a:buFont typeface="Wingdings" panose="05000000000000000000" pitchFamily="2" charset="2"/>
              <a:buChar char="Ø"/>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Cisco Security products can use Talos threat intelligence in real time to provide fast and effective security solutions. Cisco Talos also provides free software, services, resources, and data. Talos maintains the security incident detection rule sets for the Snort.org, </a:t>
            </a:r>
            <a:r>
              <a:rPr lang="en-US" sz="1400" kern="100" dirty="0" err="1">
                <a:effectLst/>
                <a:latin typeface="Aptos" panose="020B0004020202020204" pitchFamily="34" charset="0"/>
                <a:ea typeface="Aptos" panose="020B0004020202020204" pitchFamily="34" charset="0"/>
                <a:cs typeface="Times New Roman" panose="02020603050405020304" pitchFamily="18" charset="0"/>
              </a:rPr>
              <a:t>ClamAV</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and </a:t>
            </a:r>
            <a:r>
              <a:rPr lang="en-US" sz="1400" kern="100" dirty="0" err="1">
                <a:effectLst/>
                <a:latin typeface="Aptos" panose="020B0004020202020204" pitchFamily="34" charset="0"/>
                <a:ea typeface="Aptos" panose="020B0004020202020204" pitchFamily="34" charset="0"/>
                <a:cs typeface="Times New Roman" panose="02020603050405020304" pitchFamily="18" charset="0"/>
              </a:rPr>
              <a:t>SpamCop</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network security tools.</a:t>
            </a:r>
          </a:p>
          <a:p>
            <a:endParaRPr lang="en-US" dirty="0"/>
          </a:p>
        </p:txBody>
      </p:sp>
    </p:spTree>
    <p:extLst>
      <p:ext uri="{BB962C8B-B14F-4D97-AF65-F5344CB8AC3E}">
        <p14:creationId xmlns:p14="http://schemas.microsoft.com/office/powerpoint/2010/main" val="33131774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254A53-31DD-81DE-E2D1-6130F12577C7}"/>
              </a:ext>
            </a:extLst>
          </p:cNvPr>
          <p:cNvSpPr>
            <a:spLocks noGrp="1"/>
          </p:cNvSpPr>
          <p:nvPr>
            <p:ph idx="1"/>
          </p:nvPr>
        </p:nvSpPr>
        <p:spPr>
          <a:xfrm>
            <a:off x="1039998" y="318441"/>
            <a:ext cx="10515600" cy="5943622"/>
          </a:xfrm>
        </p:spPr>
        <p:txBody>
          <a:bodyPr>
            <a:normAutofit/>
          </a:bodyPr>
          <a:lstStyle/>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FireEye</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FireEye is another security company that offers services to help enterprises secure their networks. FireEye uses a three-pronged approach combining security intelligence, security expertise, and technology.</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FireEye offers SIEM and SOAR with the Helix Security Platform, which uses behavioral analysis and advanced threat detection and is supported by the FireEye Mandiant worldwide threat intelligence network. Helix is cloud-hosted security operations platform that combines diverse security tools and threat intelligence into a single platform.</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FireEye Security System blocks attacks across web and email threat vectors, and latent malware that resides on file shares. It can block advanced malware that easily bypasses traditional signature-based defenses and compromises the majority of enterprise networks. It addresses all stages of an attack lifecycle with a signature-less engine utilizing stateful attack analysis to detect zero-day threats.</a:t>
            </a: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Automated Indicator Sharing</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U.S. Department of Homeland Security (DHS) offers a free service called Automated Indicator Sharing (AIS). AIS enables the real-time exchange of cyber threat indicators (e.g., malicious IP addresses, the sender address of a phishing email, etc.) between the U.S. Federal Government and the private sector.</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AIS creates an ecosystem where, as soon as a threat is recognized, it is immediately shared with the community to help them protect their networks from that particular threat.</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Search the internet for “DHS AIS” service to learn more.</a:t>
            </a:r>
          </a:p>
          <a:p>
            <a:pPr marL="457200" lvl="1">
              <a:lnSpc>
                <a:spcPct val="115000"/>
              </a:lnSpc>
              <a:spcAft>
                <a:spcPts val="800"/>
              </a:spcAft>
            </a:pP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10455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41FB9F-7A28-265F-95EC-847619C8C428}"/>
              </a:ext>
            </a:extLst>
          </p:cNvPr>
          <p:cNvSpPr>
            <a:spLocks noGrp="1"/>
          </p:cNvSpPr>
          <p:nvPr>
            <p:ph idx="1"/>
          </p:nvPr>
        </p:nvSpPr>
        <p:spPr>
          <a:xfrm>
            <a:off x="838200" y="315310"/>
            <a:ext cx="11049000" cy="5861653"/>
          </a:xfrm>
        </p:spPr>
        <p:txBody>
          <a:bodyPr>
            <a:normAutofit fontScale="92500"/>
          </a:bodyPr>
          <a:lstStyle/>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Common Vulnerabilities and Exposures (CVE) Database</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United States government sponsored the MITRE Corporation to create and maintain a catalog of known security threats called Common Vulnerabilities and Exposures (CVE). The CVE serves as a dictionary of common names (i.e., CVE Identifiers) for publicly known cybersecurity vulnerabilities.</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The MITRE Corporation defines unique CVE Identifiers for publicly known information-security vulnerabilities to make it easier to share data.</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Search the internet for “</a:t>
            </a:r>
            <a:r>
              <a:rPr lang="en-US" sz="1400" kern="100" dirty="0" err="1">
                <a:effectLst/>
                <a:latin typeface="Aptos" panose="020B0004020202020204" pitchFamily="34" charset="0"/>
                <a:ea typeface="Aptos" panose="020B0004020202020204" pitchFamily="34" charset="0"/>
                <a:cs typeface="Times New Roman" panose="02020603050405020304" pitchFamily="18" charset="0"/>
              </a:rPr>
              <a:t>Mitre</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Corporation” and view information about CVE</a:t>
            </a:r>
          </a:p>
          <a:p>
            <a:pPr marL="0" marR="0">
              <a:lnSpc>
                <a:spcPct val="115000"/>
              </a:lnSpc>
              <a:spcAft>
                <a:spcPts val="80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Threat Intelligence Communication Standards</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Network organizations and professionals must share information to increase knowledge about threat actors and the assets they want to access. Several intelligence sharing open standards have evolved to enable communication across multiple networking platforms. These standards enable the exchange of cyber threat intelligence (CTI) in an automated, consistent, and machine readable format.</a:t>
            </a:r>
          </a:p>
          <a:p>
            <a:pPr marL="457200" lvl="1">
              <a:lnSpc>
                <a:spcPct val="115000"/>
              </a:lnSpc>
              <a:spcAft>
                <a:spcPts val="800"/>
              </a:spcAft>
            </a:pPr>
            <a:r>
              <a:rPr lang="en-US" sz="1400" kern="100" dirty="0">
                <a:effectLst/>
                <a:latin typeface="Aptos" panose="020B0004020202020204" pitchFamily="34" charset="0"/>
                <a:ea typeface="Aptos" panose="020B0004020202020204" pitchFamily="34" charset="0"/>
                <a:cs typeface="Times New Roman" panose="02020603050405020304" pitchFamily="18" charset="0"/>
              </a:rPr>
              <a:t>Three common threat intelligence sharing standards include the following:</a:t>
            </a:r>
          </a:p>
          <a:p>
            <a:pPr marL="800100" lvl="1" indent="-342900">
              <a:lnSpc>
                <a:spcPct val="115000"/>
              </a:lnSpc>
              <a:spcAft>
                <a:spcPts val="800"/>
              </a:spcAft>
              <a:buSzPts val="1000"/>
              <a:buFont typeface="Symbol" panose="05050102010706020507" pitchFamily="18" charset="2"/>
              <a:buChar char=""/>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Structured Threat Information Expression (STIX) -</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This is a set of specifications for exchanging cyber threat information between organizations. The Cyber Observable Expression (</a:t>
            </a:r>
            <a:r>
              <a:rPr lang="en-US" sz="1400" kern="100" dirty="0" err="1">
                <a:effectLst/>
                <a:latin typeface="Aptos" panose="020B0004020202020204" pitchFamily="34" charset="0"/>
                <a:ea typeface="Aptos" panose="020B0004020202020204" pitchFamily="34" charset="0"/>
                <a:cs typeface="Times New Roman" panose="02020603050405020304" pitchFamily="18" charset="0"/>
              </a:rPr>
              <a:t>CybOX</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standard has been incorporated into STIX.</a:t>
            </a:r>
          </a:p>
          <a:p>
            <a:pPr marL="800100" lvl="1" indent="-342900">
              <a:lnSpc>
                <a:spcPct val="115000"/>
              </a:lnSpc>
              <a:spcAft>
                <a:spcPts val="800"/>
              </a:spcAft>
              <a:buSzPts val="1000"/>
              <a:buFont typeface="Symbol" panose="05050102010706020507" pitchFamily="18" charset="2"/>
              <a:buChar char=""/>
              <a:tabLst>
                <a:tab pos="457200" algn="l"/>
              </a:tabLst>
            </a:pPr>
            <a:r>
              <a:rPr lang="en-US" sz="1400" b="1" kern="100" dirty="0">
                <a:effectLst/>
                <a:latin typeface="Aptos" panose="020B0004020202020204" pitchFamily="34" charset="0"/>
                <a:ea typeface="Aptos" panose="020B0004020202020204" pitchFamily="34" charset="0"/>
                <a:cs typeface="Times New Roman" panose="02020603050405020304" pitchFamily="18" charset="0"/>
              </a:rPr>
              <a:t>Trusted Automated Exchange of Indicator Information (TAXII) –</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This is the specification for an application layer protocol that allows the communication of CTI over HTTPS. TAXII is designed to support STIX.</a:t>
            </a:r>
          </a:p>
          <a:p>
            <a:pPr marL="800100" lvl="1" indent="-342900">
              <a:lnSpc>
                <a:spcPct val="115000"/>
              </a:lnSpc>
              <a:spcAft>
                <a:spcPts val="800"/>
              </a:spcAft>
              <a:buSzPts val="1000"/>
              <a:buFont typeface="Symbol" panose="05050102010706020507" pitchFamily="18" charset="2"/>
              <a:buChar char=""/>
              <a:tabLst>
                <a:tab pos="457200" algn="l"/>
              </a:tabLst>
            </a:pPr>
            <a:r>
              <a:rPr lang="en-US" sz="1400" b="1" kern="100" dirty="0" err="1">
                <a:effectLst/>
                <a:latin typeface="Aptos" panose="020B0004020202020204" pitchFamily="34" charset="0"/>
                <a:ea typeface="Aptos" panose="020B0004020202020204" pitchFamily="34" charset="0"/>
                <a:cs typeface="Times New Roman" panose="02020603050405020304" pitchFamily="18" charset="0"/>
              </a:rPr>
              <a:t>CybOX</a:t>
            </a:r>
            <a:r>
              <a:rPr lang="en-US" sz="1400" b="1" kern="100" dirty="0">
                <a:effectLst/>
                <a:latin typeface="Aptos" panose="020B0004020202020204" pitchFamily="34" charset="0"/>
                <a:ea typeface="Aptos" panose="020B0004020202020204" pitchFamily="34" charset="0"/>
                <a:cs typeface="Times New Roman" panose="02020603050405020304" pitchFamily="18" charset="0"/>
              </a:rPr>
              <a:t> -</a:t>
            </a:r>
            <a:r>
              <a:rPr lang="en-US" sz="1400" kern="100" dirty="0">
                <a:effectLst/>
                <a:latin typeface="Aptos" panose="020B0004020202020204" pitchFamily="34" charset="0"/>
                <a:ea typeface="Aptos" panose="020B0004020202020204" pitchFamily="34" charset="0"/>
                <a:cs typeface="Times New Roman" panose="02020603050405020304" pitchFamily="18" charset="0"/>
              </a:rPr>
              <a:t> This is a set of standardized schema for specifying, capturing, characterizing, and communicating events and properties of network operations that supports many cybersecurity functions.</a:t>
            </a:r>
          </a:p>
          <a:p>
            <a:endParaRPr lang="en-US" dirty="0"/>
          </a:p>
        </p:txBody>
      </p:sp>
    </p:spTree>
    <p:extLst>
      <p:ext uri="{BB962C8B-B14F-4D97-AF65-F5344CB8AC3E}">
        <p14:creationId xmlns:p14="http://schemas.microsoft.com/office/powerpoint/2010/main" val="4799856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DFE1A9-C6AA-2ABF-9F74-DBC16AE29B55}"/>
              </a:ext>
            </a:extLst>
          </p:cNvPr>
          <p:cNvSpPr>
            <a:spLocks noGrp="1"/>
          </p:cNvSpPr>
          <p:nvPr>
            <p:ph idx="1"/>
          </p:nvPr>
        </p:nvSpPr>
        <p:spPr>
          <a:xfrm>
            <a:off x="838200" y="416210"/>
            <a:ext cx="10998550" cy="6117020"/>
          </a:xfrm>
        </p:spPr>
        <p:txBody>
          <a:bodyPr>
            <a:normAutofit/>
          </a:bodyPr>
          <a:lstStyle/>
          <a:p>
            <a:pPr marL="0" marR="0">
              <a:lnSpc>
                <a:spcPct val="115000"/>
              </a:lnSpc>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Threat Intelligence Platforms</a:t>
            </a:r>
          </a:p>
          <a:p>
            <a:pPr marL="457200" lvl="1">
              <a:lnSpc>
                <a:spcPct val="115000"/>
              </a:lnSpc>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As we have seen, there are many sources of threat intelligence information, each of which may have its own data format. Accessing and using multiple threat intelligence sources can be very time-consuming. To help cybersecurity personnel make the best use of threat intelligence, threat intelligence platforms (TIP) have evolved.</a:t>
            </a:r>
          </a:p>
          <a:p>
            <a:pPr marL="457200" lvl="1">
              <a:lnSpc>
                <a:spcPct val="115000"/>
              </a:lnSpc>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A threat intelligence platform centralizes the collection of threat data from numerous data sources and formats. There are three major types of threat intelligence data. The first is indicators of compromise (IOC). The second is tools, techniques, and procedures (TTP). The third is reputation information about internet destinations or domains. The volume of threat intelligence data can be overwhelming, so the threat intelligence platform is designed to aggregate the data in one place and--most importantly--present the data in a comprehensible and usable format.</a:t>
            </a:r>
          </a:p>
          <a:p>
            <a:pPr marL="457200" lvl="1">
              <a:lnSpc>
                <a:spcPct val="115000"/>
              </a:lnSpc>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Organizations can contribute to threat intelligence by sharing their intrusion data over the internet, typically through automation. Many threat intelligence services use subscriber data to enhance their products and to keep current with the constantly changing immerging threat landscape.</a:t>
            </a:r>
          </a:p>
          <a:p>
            <a:pPr marL="457200" lvl="1">
              <a:lnSpc>
                <a:spcPct val="115000"/>
              </a:lnSpc>
              <a:spcAft>
                <a:spcPts val="800"/>
              </a:spcAft>
            </a:pPr>
            <a:r>
              <a:rPr lang="en-US" sz="1600" kern="100" dirty="0">
                <a:effectLst/>
                <a:latin typeface="Aptos" panose="020B0004020202020204" pitchFamily="34" charset="0"/>
                <a:ea typeface="Aptos" panose="020B0004020202020204" pitchFamily="34" charset="0"/>
                <a:cs typeface="Times New Roman" panose="02020603050405020304" pitchFamily="18" charset="0"/>
              </a:rPr>
              <a:t>Honeypots are simulated networks or servers that are designed to attract attackers. The attack-related information gathered from honeypots can then be shared with threat intelligence platform subscribers. However, hosting honeypots can itself be a risk. Basing a honeypot in the cloud isolates the honeypot from production networks. This approach is an attractive alternative for gathering threat intelligence.</a:t>
            </a:r>
          </a:p>
        </p:txBody>
      </p:sp>
    </p:spTree>
    <p:extLst>
      <p:ext uri="{BB962C8B-B14F-4D97-AF65-F5344CB8AC3E}">
        <p14:creationId xmlns:p14="http://schemas.microsoft.com/office/powerpoint/2010/main" val="39046118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1C2CC-F2A4-3317-C525-312DCFE8B85B}"/>
              </a:ext>
            </a:extLst>
          </p:cNvPr>
          <p:cNvSpPr>
            <a:spLocks noGrp="1"/>
          </p:cNvSpPr>
          <p:nvPr>
            <p:ph type="title"/>
          </p:nvPr>
        </p:nvSpPr>
        <p:spPr>
          <a:xfrm>
            <a:off x="838200" y="365127"/>
            <a:ext cx="10515600" cy="536662"/>
          </a:xfrm>
        </p:spPr>
        <p:txBody>
          <a:bodyPr>
            <a:normAutofit fontScale="90000"/>
          </a:bodyPr>
          <a:lstStyle/>
          <a:p>
            <a:r>
              <a:rPr lang="en-US" sz="4400" dirty="0">
                <a:latin typeface="Times New Roman" panose="02020603050405020304" pitchFamily="18" charset="0"/>
                <a:cs typeface="Times New Roman" panose="02020603050405020304" pitchFamily="18" charset="0"/>
              </a:rPr>
              <a:t>Sources of Threat Intelligence data</a:t>
            </a:r>
            <a:endParaRPr lang="en-US" dirty="0"/>
          </a:p>
        </p:txBody>
      </p:sp>
      <p:sp>
        <p:nvSpPr>
          <p:cNvPr id="3" name="Content Placeholder 2">
            <a:extLst>
              <a:ext uri="{FF2B5EF4-FFF2-40B4-BE49-F238E27FC236}">
                <a16:creationId xmlns:a16="http://schemas.microsoft.com/office/drawing/2014/main" id="{E4F6D792-6989-396E-ACC4-0426ED361FA8}"/>
              </a:ext>
            </a:extLst>
          </p:cNvPr>
          <p:cNvSpPr>
            <a:spLocks noGrp="1"/>
          </p:cNvSpPr>
          <p:nvPr>
            <p:ph idx="1"/>
          </p:nvPr>
        </p:nvSpPr>
        <p:spPr>
          <a:xfrm>
            <a:off x="838199" y="1154036"/>
            <a:ext cx="11149899" cy="5133252"/>
          </a:xfrm>
        </p:spPr>
        <p:txBody>
          <a:bodyPr>
            <a:normAutofit fontScale="47500" lnSpcReduction="20000"/>
          </a:bodyPr>
          <a:lstStyle/>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CISA (Cybersecurity and Infrastructure Security Agency): Provides updates on patches, malware analyses, and Known Exploited Vulnerabilities Catalogue. Targets American audience but valuable globally.</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Dark Reading: Community forum for real-time threat information and knowledge-building. Offers insights from the dark web.</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SANS Internet Storm Center: Relies on unpaid volunteers to collect data on internet traffic for analysis. Offers free analysis and warning services to users and companies.</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Red Canary: Features "Better Know a Data Source" series and Monthly Intelligence Insights for detection opportunities.</a:t>
            </a:r>
          </a:p>
          <a:p>
            <a:pPr marL="342900" indent="-342900" algn="just">
              <a:lnSpc>
                <a:spcPct val="170000"/>
              </a:lnSpc>
              <a:buFont typeface="+mj-lt"/>
              <a:buAutoNum type="arabicPeriod"/>
            </a:pPr>
            <a:r>
              <a:rPr lang="en-US" sz="2900" kern="100" dirty="0" err="1">
                <a:latin typeface="Aptos" panose="020B0004020202020204" pitchFamily="34" charset="0"/>
                <a:cs typeface="Times New Roman" panose="02020603050405020304" pitchFamily="18" charset="0"/>
              </a:rPr>
              <a:t>Krebson</a:t>
            </a:r>
            <a:r>
              <a:rPr lang="en-US" sz="2900" kern="100" dirty="0">
                <a:latin typeface="Aptos" panose="020B0004020202020204" pitchFamily="34" charset="0"/>
                <a:cs typeface="Times New Roman" panose="02020603050405020304" pitchFamily="18" charset="0"/>
              </a:rPr>
              <a:t> security: Excellent resource for senior executives new to cybersecurity. Written by an investigative journalist covering top news.</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Microsoft: Offers current vulnerability and mitigation advice consistent with its scale.</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CrowdStrike: Covers latest news in the cybersecurity world.</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Mandiant: Releases detailed technical analyses of malware and threat actors with tight attribution standards.</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Cisco Talos: Provides high-quality evaluations with high update frequency. Offers accurate, timely, and actionable threat information.</a:t>
            </a:r>
          </a:p>
          <a:p>
            <a:pPr marL="342900" indent="-342900" algn="just">
              <a:lnSpc>
                <a:spcPct val="170000"/>
              </a:lnSpc>
              <a:buFont typeface="+mj-lt"/>
              <a:buAutoNum type="arabicPeriod"/>
            </a:pPr>
            <a:r>
              <a:rPr lang="en-US" sz="2900" kern="100" dirty="0">
                <a:latin typeface="Aptos" panose="020B0004020202020204" pitchFamily="34" charset="0"/>
                <a:cs typeface="Times New Roman" panose="02020603050405020304" pitchFamily="18" charset="0"/>
              </a:rPr>
              <a:t> FBI (Internet Crime Complaint Center - IC3): Collaborates with CISA. Lacks native RSS feed but valuable for additional insights.</a:t>
            </a:r>
          </a:p>
          <a:p>
            <a:endParaRPr lang="en-US" dirty="0"/>
          </a:p>
        </p:txBody>
      </p:sp>
    </p:spTree>
    <p:extLst>
      <p:ext uri="{BB962C8B-B14F-4D97-AF65-F5344CB8AC3E}">
        <p14:creationId xmlns:p14="http://schemas.microsoft.com/office/powerpoint/2010/main" val="7729384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24DD3-ED1D-F077-57CB-2FBE1818F5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766D1-E412-EA81-9F2C-9EFBDEA1554D}"/>
              </a:ext>
            </a:extLst>
          </p:cNvPr>
          <p:cNvSpPr>
            <a:spLocks noGrp="1"/>
          </p:cNvSpPr>
          <p:nvPr>
            <p:ph type="ctrTitle"/>
          </p:nvPr>
        </p:nvSpPr>
        <p:spPr>
          <a:xfrm>
            <a:off x="2900855" y="1662603"/>
            <a:ext cx="8763526" cy="1790701"/>
          </a:xfrm>
        </p:spPr>
        <p:txBody>
          <a:bodyPr/>
          <a:lstStyle/>
          <a:p>
            <a:pPr algn="l"/>
            <a:r>
              <a:rPr lang="en-US" sz="3200" dirty="0"/>
              <a:t>6. Threat Intelligence and Threat Hunting </a:t>
            </a:r>
            <a:br>
              <a:rPr lang="en-US" dirty="0"/>
            </a:br>
            <a:endParaRPr lang="en-US" dirty="0"/>
          </a:p>
        </p:txBody>
      </p:sp>
      <p:sp>
        <p:nvSpPr>
          <p:cNvPr id="3" name="Subtitle 2">
            <a:extLst>
              <a:ext uri="{FF2B5EF4-FFF2-40B4-BE49-F238E27FC236}">
                <a16:creationId xmlns:a16="http://schemas.microsoft.com/office/drawing/2014/main" id="{FE6F1711-D7AF-BC94-7DE9-6DE4DCEC096C}"/>
              </a:ext>
            </a:extLst>
          </p:cNvPr>
          <p:cNvSpPr>
            <a:spLocks noGrp="1"/>
          </p:cNvSpPr>
          <p:nvPr>
            <p:ph type="subTitle" idx="1"/>
          </p:nvPr>
        </p:nvSpPr>
        <p:spPr>
          <a:xfrm>
            <a:off x="3463092" y="3197247"/>
            <a:ext cx="8594375" cy="1324304"/>
          </a:xfrm>
        </p:spPr>
        <p:txBody>
          <a:bodyPr>
            <a:normAutofit lnSpcReduction="10000"/>
          </a:bodyPr>
          <a:lstStyle/>
          <a:p>
            <a:pPr marL="0" indent="0" algn="l">
              <a:buNone/>
            </a:pPr>
            <a:r>
              <a:rPr lang="en-US" dirty="0"/>
              <a:t> </a:t>
            </a:r>
          </a:p>
          <a:p>
            <a:pPr marL="0" indent="0" algn="l">
              <a:buNone/>
            </a:pPr>
            <a:r>
              <a:rPr lang="en-US" dirty="0"/>
              <a:t>6.3 Threat hunting methodologies and techniques </a:t>
            </a:r>
          </a:p>
          <a:p>
            <a:pPr marL="0" indent="0" algn="l">
              <a:buNone/>
            </a:pPr>
            <a:r>
              <a:rPr lang="en-US" dirty="0"/>
              <a:t> </a:t>
            </a:r>
          </a:p>
          <a:p>
            <a:endParaRPr lang="en-US" dirty="0"/>
          </a:p>
        </p:txBody>
      </p:sp>
    </p:spTree>
    <p:extLst>
      <p:ext uri="{BB962C8B-B14F-4D97-AF65-F5344CB8AC3E}">
        <p14:creationId xmlns:p14="http://schemas.microsoft.com/office/powerpoint/2010/main" val="539744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a:xfrm>
            <a:off x="1296412" y="459804"/>
            <a:ext cx="8970093" cy="453844"/>
          </a:xfrm>
        </p:spPr>
        <p:txBody>
          <a:bodyPr>
            <a:normAutofit fontScale="90000"/>
          </a:bodyPr>
          <a:lstStyle/>
          <a:p>
            <a:br>
              <a:rPr lang="en-US" sz="3600" dirty="0"/>
            </a:br>
            <a:r>
              <a:rPr lang="en-US" sz="3600" dirty="0">
                <a:cs typeface="Times New Roman" panose="02020603050405020304" pitchFamily="18" charset="0"/>
              </a:rPr>
              <a:t>What is threat hunting?</a:t>
            </a:r>
            <a:br>
              <a:rPr lang="en-US" dirty="0">
                <a:cs typeface="Times New Roman" panose="02020603050405020304" pitchFamily="18" charset="0"/>
              </a:rPr>
            </a:br>
            <a:endParaRPr lang="en-US"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ED3496ED-35E4-1B1E-17DF-AE81FB6BCD41}"/>
              </a:ext>
            </a:extLst>
          </p:cNvPr>
          <p:cNvSpPr>
            <a:spLocks noGrp="1"/>
          </p:cNvSpPr>
          <p:nvPr>
            <p:ph idx="1"/>
          </p:nvPr>
        </p:nvSpPr>
        <p:spPr>
          <a:xfrm>
            <a:off x="386080" y="1014775"/>
            <a:ext cx="11419840" cy="4828450"/>
          </a:xfrm>
        </p:spPr>
        <p:txBody>
          <a:bodyPr>
            <a:normAutofit/>
          </a:bodyPr>
          <a:lstStyle/>
          <a:p>
            <a:pPr marL="0" indent="0" algn="just">
              <a:lnSpc>
                <a:spcPct val="150000"/>
              </a:lnSpc>
              <a:buNone/>
            </a:pPr>
            <a:r>
              <a:rPr lang="en-US" sz="1600" dirty="0"/>
              <a:t>	</a:t>
            </a:r>
            <a:r>
              <a:rPr lang="en-US" sz="2000" dirty="0">
                <a:latin typeface="Trebuchet MS" panose="020B0603020202020204" pitchFamily="34" charset="0"/>
                <a:cs typeface="Times New Roman" panose="02020603050405020304" pitchFamily="18" charset="0"/>
              </a:rPr>
              <a:t>Threat hunting, also known as cyberthreat hunting, is a proactive approach to identifying previously unknown, or ongoing non-remediated threats, within an organization's network. T</a:t>
            </a:r>
            <a:r>
              <a:rPr lang="en-US" sz="2000" b="0" i="0" dirty="0">
                <a:solidFill>
                  <a:srgbClr val="000000"/>
                </a:solidFill>
                <a:effectLst/>
                <a:latin typeface="Trebuchet MS" panose="020B0603020202020204" pitchFamily="34" charset="0"/>
                <a:cs typeface="Times New Roman" panose="02020603050405020304" pitchFamily="18" charset="0"/>
              </a:rPr>
              <a:t>he primary goal of threat hunting is to discover potential incidents before they negatively impact your organization. </a:t>
            </a:r>
          </a:p>
          <a:p>
            <a:pPr lvl="1" algn="just">
              <a:lnSpc>
                <a:spcPct val="150000"/>
              </a:lnSpc>
            </a:pPr>
            <a:r>
              <a:rPr lang="en-US" sz="1600" b="1" dirty="0">
                <a:latin typeface="Trebuchet MS" panose="020B0603020202020204" pitchFamily="34" charset="0"/>
                <a:cs typeface="Times New Roman" panose="02020603050405020304" pitchFamily="18" charset="0"/>
              </a:rPr>
              <a:t>Threat hunting </a:t>
            </a:r>
            <a:r>
              <a:rPr lang="en-US" sz="1600" b="1" i="0" dirty="0">
                <a:effectLst/>
                <a:latin typeface="Trebuchet MS" panose="020B0603020202020204" pitchFamily="34" charset="0"/>
                <a:cs typeface="Times New Roman" panose="02020603050405020304" pitchFamily="18" charset="0"/>
              </a:rPr>
              <a:t>Memory Analysis: </a:t>
            </a:r>
            <a:r>
              <a:rPr lang="en-US" sz="1600" b="0" i="0" dirty="0">
                <a:effectLst/>
                <a:latin typeface="Trebuchet MS" panose="020B0603020202020204" pitchFamily="34" charset="0"/>
                <a:cs typeface="Times New Roman" panose="02020603050405020304" pitchFamily="18" charset="0"/>
              </a:rPr>
              <a:t>Checking your system’s memory for malicious activity using memory dumps, which are snapshots of a device's random-access memory (RAM) at a specific point in time.</a:t>
            </a:r>
          </a:p>
          <a:p>
            <a:pPr lvl="1" algn="just">
              <a:lnSpc>
                <a:spcPct val="150000"/>
              </a:lnSpc>
            </a:pPr>
            <a:r>
              <a:rPr lang="en-US" sz="1600" b="1" i="0" dirty="0">
                <a:effectLst/>
                <a:latin typeface="Trebuchet MS" panose="020B0603020202020204" pitchFamily="34" charset="0"/>
                <a:cs typeface="Times New Roman" panose="02020603050405020304" pitchFamily="18" charset="0"/>
              </a:rPr>
              <a:t>Server Image Analysis: </a:t>
            </a:r>
            <a:r>
              <a:rPr lang="en-US" sz="1600" b="0" i="0" dirty="0">
                <a:effectLst/>
                <a:latin typeface="Trebuchet MS" panose="020B0603020202020204" pitchFamily="34" charset="0"/>
                <a:cs typeface="Times New Roman" panose="02020603050405020304" pitchFamily="18" charset="0"/>
              </a:rPr>
              <a:t>Analyzing server images for threat activity.</a:t>
            </a:r>
          </a:p>
          <a:p>
            <a:pPr lvl="1" algn="just">
              <a:lnSpc>
                <a:spcPct val="150000"/>
              </a:lnSpc>
            </a:pPr>
            <a:r>
              <a:rPr lang="en-US" sz="1600" b="1" i="0" dirty="0">
                <a:effectLst/>
                <a:latin typeface="Trebuchet MS" panose="020B0603020202020204" pitchFamily="34" charset="0"/>
                <a:cs typeface="Times New Roman" panose="02020603050405020304" pitchFamily="18" charset="0"/>
              </a:rPr>
              <a:t>Endpoint Protection Data: C</a:t>
            </a:r>
            <a:r>
              <a:rPr lang="en-US" sz="1600" b="0" i="0" dirty="0">
                <a:effectLst/>
                <a:latin typeface="Trebuchet MS" panose="020B0603020202020204" pitchFamily="34" charset="0"/>
                <a:cs typeface="Times New Roman" panose="02020603050405020304" pitchFamily="18" charset="0"/>
              </a:rPr>
              <a:t>hecking endpoint protection data for signs of suspicious activity.</a:t>
            </a:r>
          </a:p>
          <a:p>
            <a:pPr lvl="1" algn="just">
              <a:lnSpc>
                <a:spcPct val="150000"/>
              </a:lnSpc>
            </a:pPr>
            <a:r>
              <a:rPr lang="en-US" sz="1600" b="1" i="0" dirty="0">
                <a:effectLst/>
                <a:latin typeface="Trebuchet MS" panose="020B0603020202020204" pitchFamily="34" charset="0"/>
                <a:cs typeface="Times New Roman" panose="02020603050405020304" pitchFamily="18" charset="0"/>
              </a:rPr>
              <a:t>Disk Image Analysis: </a:t>
            </a:r>
            <a:r>
              <a:rPr lang="en-US" sz="1600" b="0" i="0" dirty="0">
                <a:effectLst/>
                <a:latin typeface="Trebuchet MS" panose="020B0603020202020204" pitchFamily="34" charset="0"/>
                <a:cs typeface="Times New Roman" panose="02020603050405020304" pitchFamily="18" charset="0"/>
              </a:rPr>
              <a:t>Analyzing the disk images of individual workstations to see if anything raises a red flag.</a:t>
            </a:r>
          </a:p>
          <a:p>
            <a:pPr lvl="1" algn="just">
              <a:lnSpc>
                <a:spcPct val="150000"/>
              </a:lnSpc>
            </a:pPr>
            <a:r>
              <a:rPr lang="en-US" sz="1600" b="1" i="0" dirty="0">
                <a:effectLst/>
                <a:latin typeface="Trebuchet MS" panose="020B0603020202020204" pitchFamily="34" charset="0"/>
                <a:cs typeface="Times New Roman" panose="02020603050405020304" pitchFamily="18" charset="0"/>
              </a:rPr>
              <a:t>Network Protection Infrastructure: </a:t>
            </a:r>
            <a:r>
              <a:rPr lang="en-US" sz="1600" b="0" i="0" dirty="0">
                <a:effectLst/>
                <a:latin typeface="Trebuchet MS" panose="020B0603020202020204" pitchFamily="34" charset="0"/>
                <a:cs typeface="Times New Roman" panose="02020603050405020304" pitchFamily="18" charset="0"/>
              </a:rPr>
              <a:t>Checking your network protection infrastructure for alerts or anomalous data points that may indicate the presence of a threat, such as malware.</a:t>
            </a:r>
          </a:p>
          <a:p>
            <a:pPr marL="0" indent="0" algn="just">
              <a:buNone/>
            </a:pPr>
            <a:endParaRPr lang="en-US" sz="1600" dirty="0">
              <a:cs typeface="Arial" panose="020B0604020202020204" pitchFamily="34" charset="0"/>
            </a:endParaRPr>
          </a:p>
          <a:p>
            <a:pPr marL="0" indent="0" algn="just">
              <a:buNone/>
            </a:pPr>
            <a:endParaRPr lang="en-US" sz="1600" dirty="0">
              <a:cs typeface="Arial" panose="020B0604020202020204" pitchFamily="34" charset="0"/>
            </a:endParaRPr>
          </a:p>
          <a:p>
            <a:pPr marL="0" indent="0" algn="just">
              <a:buNone/>
            </a:pPr>
            <a:endParaRPr lang="en-US" sz="1600" dirty="0"/>
          </a:p>
        </p:txBody>
      </p:sp>
    </p:spTree>
    <p:extLst>
      <p:ext uri="{BB962C8B-B14F-4D97-AF65-F5344CB8AC3E}">
        <p14:creationId xmlns:p14="http://schemas.microsoft.com/office/powerpoint/2010/main" val="13671994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1055" y="416202"/>
            <a:ext cx="6459523" cy="1325563"/>
          </a:xfrm>
        </p:spPr>
        <p:txBody>
          <a:bodyPr>
            <a:normAutofit fontScale="90000"/>
          </a:bodyPr>
          <a:lstStyle/>
          <a:p>
            <a:pPr algn="r"/>
            <a:r>
              <a:rPr lang="en-US" dirty="0">
                <a:latin typeface="Times New Roman" panose="02020603050405020304" pitchFamily="18" charset="0"/>
                <a:cs typeface="Times New Roman" panose="02020603050405020304" pitchFamily="18" charset="0"/>
              </a:rPr>
              <a:t>Cyber threat hunting </a:t>
            </a:r>
            <a:br>
              <a:rPr lang="en-US"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Methods, Tools, Techniques &amp; Frameworks</a:t>
            </a:r>
          </a:p>
        </p:txBody>
      </p:sp>
      <p:sp>
        <p:nvSpPr>
          <p:cNvPr id="3" name="Content Placeholder 2"/>
          <p:cNvSpPr>
            <a:spLocks noGrp="1"/>
          </p:cNvSpPr>
          <p:nvPr>
            <p:ph idx="1"/>
          </p:nvPr>
        </p:nvSpPr>
        <p:spPr>
          <a:xfrm>
            <a:off x="151002" y="1825625"/>
            <a:ext cx="11202798" cy="4351338"/>
          </a:xfrm>
        </p:spPr>
        <p:txBody>
          <a:bodyPr/>
          <a:lstStyle/>
          <a:p>
            <a:pPr marL="0" indent="0">
              <a:buNone/>
            </a:pPr>
            <a:r>
              <a:rPr lang="en-US" dirty="0">
                <a:latin typeface="Times New Roman" panose="02020603050405020304" pitchFamily="18" charset="0"/>
                <a:cs typeface="Times New Roman" panose="02020603050405020304" pitchFamily="18" charset="0"/>
              </a:rPr>
              <a:t> </a:t>
            </a:r>
            <a:endParaRPr lang="en-US" dirty="0"/>
          </a:p>
        </p:txBody>
      </p:sp>
      <p:pic>
        <p:nvPicPr>
          <p:cNvPr id="5" name="Picture 2" descr="Cyber Threat Hunting 101 Guide - Methods, Tools, Techniques &amp; Frame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7070" y="1993345"/>
            <a:ext cx="6741373" cy="3362425"/>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42332" y="235154"/>
            <a:ext cx="4112354" cy="6878806"/>
          </a:xfrm>
          <a:prstGeom prst="rect">
            <a:avLst/>
          </a:prstGeom>
        </p:spPr>
        <p:txBody>
          <a:bodyPr wrap="square">
            <a:spAutoFit/>
          </a:bodyPr>
          <a:lstStyle/>
          <a:p>
            <a:pPr algn="just"/>
            <a:r>
              <a:rPr lang="en-US" b="1" dirty="0">
                <a:latin typeface="+mj-lt"/>
              </a:rPr>
              <a:t>What is Cyber Threat Hunting?</a:t>
            </a:r>
          </a:p>
          <a:p>
            <a:pPr algn="just">
              <a:lnSpc>
                <a:spcPct val="150000"/>
              </a:lnSpc>
            </a:pPr>
            <a:endParaRPr lang="en-US" dirty="0">
              <a:solidFill>
                <a:srgbClr val="0CAFF0"/>
              </a:solidFill>
              <a:latin typeface="+mj-lt"/>
            </a:endParaRPr>
          </a:p>
          <a:p>
            <a:pPr algn="just">
              <a:lnSpc>
                <a:spcPct val="150000"/>
              </a:lnSpc>
            </a:pPr>
            <a:r>
              <a:rPr lang="en-US" dirty="0">
                <a:latin typeface="+mj-lt"/>
                <a:cs typeface="Times New Roman" panose="02020603050405020304" pitchFamily="18" charset="0"/>
              </a:rPr>
              <a:t>It is an active information security strategy used by a security analyst. Threat Hunting is a proactive method utilized by Security Analysts to identify unfamiliar or non-remediated cyber threats within an organization's network. </a:t>
            </a:r>
          </a:p>
          <a:p>
            <a:pPr algn="just">
              <a:lnSpc>
                <a:spcPct val="150000"/>
              </a:lnSpc>
            </a:pPr>
            <a:endParaRPr lang="en-US" dirty="0">
              <a:latin typeface="+mj-lt"/>
              <a:cs typeface="Times New Roman" panose="02020603050405020304" pitchFamily="18" charset="0"/>
            </a:endParaRPr>
          </a:p>
          <a:p>
            <a:pPr algn="just">
              <a:lnSpc>
                <a:spcPct val="150000"/>
              </a:lnSpc>
            </a:pPr>
            <a:r>
              <a:rPr lang="en-US" dirty="0">
                <a:latin typeface="+mj-lt"/>
                <a:cs typeface="Times New Roman" panose="02020603050405020304" pitchFamily="18" charset="0"/>
              </a:rPr>
              <a:t>It involves iterative searches for indicators of compromise, including Advanced Persistent Threats (APTs) and Hacker tactics, techniques, and procedures (TTP) that can damage existing systems.</a:t>
            </a:r>
            <a:endParaRPr lang="en-US" dirty="0">
              <a:solidFill>
                <a:srgbClr val="1A1A1A"/>
              </a:solidFill>
              <a:latin typeface="+mj-lt"/>
            </a:endParaRPr>
          </a:p>
          <a:p>
            <a:pPr algn="just"/>
            <a:r>
              <a:rPr lang="en-US" dirty="0">
                <a:solidFill>
                  <a:srgbClr val="1A1A1A"/>
                </a:solidFill>
                <a:latin typeface="PT Sans"/>
              </a:rPr>
              <a:t> </a:t>
            </a:r>
            <a:endParaRPr lang="en-US" b="0" i="0" dirty="0">
              <a:solidFill>
                <a:srgbClr val="1A1A1A"/>
              </a:solidFill>
              <a:effectLst/>
              <a:latin typeface="PT Sans"/>
            </a:endParaRPr>
          </a:p>
        </p:txBody>
      </p:sp>
    </p:spTree>
    <p:extLst>
      <p:ext uri="{BB962C8B-B14F-4D97-AF65-F5344CB8AC3E}">
        <p14:creationId xmlns:p14="http://schemas.microsoft.com/office/powerpoint/2010/main" val="1576802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8739" y="144602"/>
            <a:ext cx="10515600" cy="754547"/>
          </a:xfrm>
        </p:spPr>
        <p:txBody>
          <a:bodyPr>
            <a:normAutofit/>
          </a:bodyPr>
          <a:lstStyle/>
          <a:p>
            <a:r>
              <a:rPr lang="en-US" sz="3200" dirty="0">
                <a:cs typeface="Times New Roman" panose="02020603050405020304" pitchFamily="18" charset="0"/>
              </a:rPr>
              <a:t>Cyber Threat Hunting Activities</a:t>
            </a:r>
          </a:p>
        </p:txBody>
      </p:sp>
      <p:sp>
        <p:nvSpPr>
          <p:cNvPr id="3" name="Content Placeholder 2"/>
          <p:cNvSpPr>
            <a:spLocks noGrp="1"/>
          </p:cNvSpPr>
          <p:nvPr>
            <p:ph idx="1"/>
          </p:nvPr>
        </p:nvSpPr>
        <p:spPr>
          <a:xfrm>
            <a:off x="977462" y="1128811"/>
            <a:ext cx="10872416" cy="5240457"/>
          </a:xfrm>
        </p:spPr>
        <p:txBody>
          <a:bodyPr>
            <a:noAutofit/>
          </a:bodyPr>
          <a:lstStyle/>
          <a:p>
            <a:pPr marL="0" indent="0" algn="just">
              <a:lnSpc>
                <a:spcPct val="150000"/>
              </a:lnSpc>
              <a:buNone/>
            </a:pPr>
            <a:r>
              <a:rPr lang="en-US" sz="1600" b="1" dirty="0"/>
              <a:t>1. Hunting for insider threats or outside threats or attackers:</a:t>
            </a:r>
            <a:endParaRPr lang="en-US" sz="1600" dirty="0"/>
          </a:p>
          <a:p>
            <a:pPr lvl="1" algn="just">
              <a:lnSpc>
                <a:spcPct val="150000"/>
              </a:lnSpc>
            </a:pPr>
            <a:r>
              <a:rPr lang="en-US" sz="1600" dirty="0"/>
              <a:t>Cyber threat hunters can detect threats posed by insiders like employees and outsiders like criminal organizations.</a:t>
            </a:r>
          </a:p>
          <a:p>
            <a:pPr marL="0" indent="0" algn="just">
              <a:lnSpc>
                <a:spcPct val="150000"/>
              </a:lnSpc>
              <a:buNone/>
            </a:pPr>
            <a:r>
              <a:rPr lang="en-US" sz="1600" b="1" dirty="0"/>
              <a:t>2. Actively looking for known adversaries:</a:t>
            </a:r>
            <a:endParaRPr lang="en-US" sz="1600" dirty="0"/>
          </a:p>
          <a:p>
            <a:pPr lvl="1" algn="just">
              <a:lnSpc>
                <a:spcPct val="150000"/>
              </a:lnSpc>
            </a:pPr>
            <a:r>
              <a:rPr lang="en-US" sz="1600" dirty="0"/>
              <a:t>A known attacker is someone whose code pattern is on the deny list of known dangerous programs or who is identified in threat intelligence services.</a:t>
            </a:r>
          </a:p>
          <a:p>
            <a:pPr marL="0" indent="0" algn="just">
              <a:lnSpc>
                <a:spcPct val="150000"/>
              </a:lnSpc>
              <a:buNone/>
            </a:pPr>
            <a:r>
              <a:rPr lang="en-US" sz="1600" b="1" dirty="0"/>
              <a:t>3. To find hidden risks and stop an assault from happening:</a:t>
            </a:r>
            <a:endParaRPr lang="en-US" sz="1600" dirty="0"/>
          </a:p>
          <a:p>
            <a:pPr lvl="1" algn="just">
              <a:lnSpc>
                <a:spcPct val="150000"/>
              </a:lnSpc>
            </a:pPr>
            <a:r>
              <a:rPr lang="en-US" sz="1600" dirty="0"/>
              <a:t>Threat hunters constantly watch the computer environment and can identify irregularities that might point to a threat through </a:t>
            </a:r>
            <a:r>
              <a:rPr lang="en-US" sz="1600" dirty="0" err="1"/>
              <a:t>behavioural</a:t>
            </a:r>
            <a:r>
              <a:rPr lang="en-US" sz="1600" dirty="0"/>
              <a:t> analysis.</a:t>
            </a:r>
          </a:p>
          <a:p>
            <a:pPr marL="0" indent="0" algn="just">
              <a:lnSpc>
                <a:spcPct val="150000"/>
              </a:lnSpc>
              <a:buNone/>
            </a:pPr>
            <a:r>
              <a:rPr lang="en-US" sz="1600" b="1" dirty="0"/>
              <a:t>4. Predict &amp; Update Response Plan:</a:t>
            </a:r>
            <a:endParaRPr lang="en-US" sz="1600" dirty="0"/>
          </a:p>
          <a:p>
            <a:pPr lvl="1" algn="just">
              <a:lnSpc>
                <a:spcPct val="150000"/>
              </a:lnSpc>
            </a:pPr>
            <a:r>
              <a:rPr lang="en-US" sz="1600" dirty="0"/>
              <a:t>Threat hunters evaluate a threat as thoroughly as they can before implementing the incident response strategy to counter it. This is used to update the response plan and prevent any similar attacks.</a:t>
            </a:r>
          </a:p>
        </p:txBody>
      </p:sp>
    </p:spTree>
    <p:extLst>
      <p:ext uri="{BB962C8B-B14F-4D97-AF65-F5344CB8AC3E}">
        <p14:creationId xmlns:p14="http://schemas.microsoft.com/office/powerpoint/2010/main" val="33126772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609A7-4579-61A2-3FEC-20602D7B6A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A791EF-3BE0-B1E0-D901-A05B11F5B34A}"/>
              </a:ext>
            </a:extLst>
          </p:cNvPr>
          <p:cNvSpPr>
            <a:spLocks noGrp="1"/>
          </p:cNvSpPr>
          <p:nvPr>
            <p:ph type="title"/>
          </p:nvPr>
        </p:nvSpPr>
        <p:spPr>
          <a:xfrm>
            <a:off x="6508006" y="605396"/>
            <a:ext cx="5371147" cy="874462"/>
          </a:xfrm>
        </p:spPr>
        <p:txBody>
          <a:bodyPr>
            <a:noAutofit/>
          </a:bodyPr>
          <a:lstStyle/>
          <a:p>
            <a:br>
              <a:rPr lang="en-US" sz="3200" b="1" dirty="0">
                <a:cs typeface="Arial" panose="020B0604020202020204" pitchFamily="34" charset="0"/>
              </a:rPr>
            </a:br>
            <a:r>
              <a:rPr lang="en-US" sz="3200" b="1" dirty="0">
                <a:cs typeface="Times New Roman" panose="02020603050405020304" pitchFamily="18" charset="0"/>
              </a:rPr>
              <a:t>Effective Threat hunting process</a:t>
            </a:r>
            <a:br>
              <a:rPr lang="en-US" sz="3200" dirty="0">
                <a:cs typeface="Times New Roman" panose="02020603050405020304" pitchFamily="18" charset="0"/>
              </a:rPr>
            </a:br>
            <a:endParaRPr lang="en-US" sz="3200"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0F68EE98-CE0A-BF0B-4987-C8C10857F1C7}"/>
              </a:ext>
            </a:extLst>
          </p:cNvPr>
          <p:cNvSpPr>
            <a:spLocks noGrp="1"/>
          </p:cNvSpPr>
          <p:nvPr>
            <p:ph idx="1"/>
          </p:nvPr>
        </p:nvSpPr>
        <p:spPr>
          <a:xfrm>
            <a:off x="814902" y="309004"/>
            <a:ext cx="5144464" cy="6123327"/>
          </a:xfrm>
        </p:spPr>
        <p:txBody>
          <a:bodyPr>
            <a:normAutofit fontScale="85000" lnSpcReduction="20000"/>
          </a:bodyPr>
          <a:lstStyle/>
          <a:p>
            <a:pPr marL="0" indent="0" algn="just">
              <a:lnSpc>
                <a:spcPct val="150000"/>
              </a:lnSpc>
              <a:buNone/>
            </a:pPr>
            <a:r>
              <a:rPr lang="en-US" sz="2200" dirty="0">
                <a:cs typeface="Times New Roman" panose="02020603050405020304" pitchFamily="18" charset="0"/>
              </a:rPr>
              <a:t>Cyber threat hunters employ this structured approach to gather intelligence on attackers' strategies and objectives. Additionally, they utilize obtained insights to understand an organization's security landscape, anticipate future threats, and address existing vulnerabilities.</a:t>
            </a:r>
          </a:p>
          <a:p>
            <a:pPr marL="0" indent="0" algn="just">
              <a:lnSpc>
                <a:spcPct val="150000"/>
              </a:lnSpc>
              <a:buNone/>
            </a:pPr>
            <a:r>
              <a:rPr lang="en-US" sz="2200" b="1" dirty="0">
                <a:solidFill>
                  <a:srgbClr val="FF0000"/>
                </a:solidFill>
                <a:cs typeface="Times New Roman" panose="02020603050405020304" pitchFamily="18" charset="0"/>
              </a:rPr>
              <a:t>Effective Threat Search Process:</a:t>
            </a:r>
          </a:p>
          <a:p>
            <a:pPr algn="just">
              <a:lnSpc>
                <a:spcPct val="150000"/>
              </a:lnSpc>
            </a:pPr>
            <a:r>
              <a:rPr lang="en-US" sz="2200" b="1" dirty="0">
                <a:cs typeface="Times New Roman" panose="02020603050405020304" pitchFamily="18" charset="0"/>
              </a:rPr>
              <a:t>Trigger: </a:t>
            </a:r>
            <a:r>
              <a:rPr lang="en-US" sz="2200" dirty="0">
                <a:cs typeface="Times New Roman" panose="02020603050405020304" pitchFamily="18" charset="0"/>
              </a:rPr>
              <a:t>Advanced detection systems identify anomalous behavior indicating potential threats, prompting threat hunters to investigate further.</a:t>
            </a:r>
          </a:p>
          <a:p>
            <a:pPr lvl="1" algn="just">
              <a:lnSpc>
                <a:spcPct val="150000"/>
              </a:lnSpc>
            </a:pPr>
            <a:r>
              <a:rPr lang="en-US" sz="1800" dirty="0">
                <a:solidFill>
                  <a:srgbClr val="FF0000"/>
                </a:solidFill>
                <a:cs typeface="Times New Roman" panose="02020603050405020304" pitchFamily="18" charset="0"/>
              </a:rPr>
              <a:t>Example: </a:t>
            </a:r>
            <a:r>
              <a:rPr lang="en-US" sz="1800" dirty="0">
                <a:cs typeface="Times New Roman" panose="02020603050405020304" pitchFamily="18" charset="0"/>
              </a:rPr>
              <a:t>Security teams anticipate future threats by exploring emerging technologies like fileless malware, triggering proactive hunting efforts.</a:t>
            </a:r>
            <a:endParaRPr lang="en-US" sz="1600" dirty="0">
              <a:cs typeface="Arial" panose="020B0604020202020204" pitchFamily="34" charset="0"/>
            </a:endParaRPr>
          </a:p>
          <a:p>
            <a:pPr marL="0" indent="0" algn="just">
              <a:buNone/>
            </a:pPr>
            <a:endParaRPr lang="en-US" sz="1600" dirty="0"/>
          </a:p>
        </p:txBody>
      </p:sp>
      <p:pic>
        <p:nvPicPr>
          <p:cNvPr id="5122" name="Picture 2" descr="https://proinf.com/images/blog/info-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63217" y="1960208"/>
            <a:ext cx="5898816" cy="32613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06229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D6C30-387F-54AA-E9F2-DD46495F308F}"/>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E03046E3-3F2E-DF4E-6871-214006743FE8}"/>
              </a:ext>
            </a:extLst>
          </p:cNvPr>
          <p:cNvSpPr>
            <a:spLocks noGrp="1"/>
          </p:cNvSpPr>
          <p:nvPr>
            <p:ph idx="1"/>
          </p:nvPr>
        </p:nvSpPr>
        <p:spPr>
          <a:xfrm>
            <a:off x="538480" y="441434"/>
            <a:ext cx="5124089" cy="6127146"/>
          </a:xfrm>
        </p:spPr>
        <p:txBody>
          <a:bodyPr>
            <a:normAutofit fontScale="85000" lnSpcReduction="10000"/>
          </a:bodyPr>
          <a:lstStyle/>
          <a:p>
            <a:pPr algn="just">
              <a:lnSpc>
                <a:spcPct val="150000"/>
              </a:lnSpc>
            </a:pPr>
            <a:r>
              <a:rPr lang="en-US" sz="2200" b="1" dirty="0">
                <a:latin typeface="+mj-lt"/>
                <a:cs typeface="Times New Roman" panose="02020603050405020304" pitchFamily="18" charset="0"/>
              </a:rPr>
              <a:t>Investigation: </a:t>
            </a:r>
            <a:r>
              <a:rPr lang="en-US" sz="2200" dirty="0">
                <a:latin typeface="+mj-lt"/>
                <a:cs typeface="Times New Roman" panose="02020603050405020304" pitchFamily="18" charset="0"/>
              </a:rPr>
              <a:t>Threat hunters utilize Endpoint Detection and Response (EDR) technologies to analyze system vulnerabilities and potential intrusions.</a:t>
            </a:r>
          </a:p>
          <a:p>
            <a:pPr lvl="1" algn="just">
              <a:lnSpc>
                <a:spcPct val="150000"/>
              </a:lnSpc>
            </a:pPr>
            <a:r>
              <a:rPr lang="en-US" sz="1800" dirty="0">
                <a:solidFill>
                  <a:srgbClr val="FF0000"/>
                </a:solidFill>
                <a:latin typeface="+mj-lt"/>
                <a:cs typeface="Times New Roman" panose="02020603050405020304" pitchFamily="18" charset="0"/>
              </a:rPr>
              <a:t>Example: </a:t>
            </a:r>
            <a:r>
              <a:rPr lang="en-US" sz="1800" dirty="0">
                <a:latin typeface="+mj-lt"/>
                <a:cs typeface="Times New Roman" panose="02020603050405020304" pitchFamily="18" charset="0"/>
              </a:rPr>
              <a:t>Investigations continue until the threat is confirmed harmless or until comprehensive data about the malicious activity is collected.</a:t>
            </a:r>
          </a:p>
          <a:p>
            <a:pPr algn="just">
              <a:lnSpc>
                <a:spcPct val="150000"/>
              </a:lnSpc>
            </a:pPr>
            <a:r>
              <a:rPr lang="en-US" sz="2200" b="1" dirty="0">
                <a:latin typeface="+mj-lt"/>
                <a:cs typeface="Times New Roman" panose="02020603050405020304" pitchFamily="18" charset="0"/>
              </a:rPr>
              <a:t>Resolution: </a:t>
            </a:r>
            <a:r>
              <a:rPr lang="en-US" sz="2200" dirty="0">
                <a:latin typeface="+mj-lt"/>
                <a:cs typeface="Times New Roman" panose="02020603050405020304" pitchFamily="18" charset="0"/>
              </a:rPr>
              <a:t>Operations and security teams leverage data on malicious activities to respond to incidents promptly and mitigates effectively.</a:t>
            </a:r>
          </a:p>
          <a:p>
            <a:pPr lvl="1" algn="just">
              <a:lnSpc>
                <a:spcPct val="150000"/>
              </a:lnSpc>
            </a:pPr>
            <a:r>
              <a:rPr lang="en-US" sz="1800" dirty="0">
                <a:solidFill>
                  <a:srgbClr val="FF0000"/>
                </a:solidFill>
                <a:latin typeface="+mj-lt"/>
                <a:cs typeface="Times New Roman" panose="02020603050405020304" pitchFamily="18" charset="0"/>
              </a:rPr>
              <a:t>Example: </a:t>
            </a:r>
            <a:r>
              <a:rPr lang="en-US" sz="1800" dirty="0">
                <a:latin typeface="+mj-lt"/>
                <a:cs typeface="Times New Roman" panose="02020603050405020304" pitchFamily="18" charset="0"/>
              </a:rPr>
              <a:t>Insights gained from both malicious and benign activities enhance the efficiency of automated systems, reducing reliance on human intervention.</a:t>
            </a:r>
          </a:p>
          <a:p>
            <a:pPr marL="0" indent="0" algn="just">
              <a:buNone/>
            </a:pPr>
            <a:endParaRPr lang="en-US" sz="1600" dirty="0">
              <a:cs typeface="Arial" panose="020B0604020202020204" pitchFamily="34" charset="0"/>
            </a:endParaRPr>
          </a:p>
          <a:p>
            <a:pPr marL="0" indent="0" algn="just">
              <a:buNone/>
            </a:pPr>
            <a:endParaRPr lang="en-US" sz="1600" dirty="0"/>
          </a:p>
        </p:txBody>
      </p:sp>
      <p:pic>
        <p:nvPicPr>
          <p:cNvPr id="4" name="Picture 2" descr="https://proinf.com/images/blog/info-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50669" y="1929469"/>
            <a:ext cx="5811364" cy="3212982"/>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F7683651-88B2-B583-8C6E-1065A0C41095}"/>
              </a:ext>
            </a:extLst>
          </p:cNvPr>
          <p:cNvSpPr txBox="1">
            <a:spLocks/>
          </p:cNvSpPr>
          <p:nvPr/>
        </p:nvSpPr>
        <p:spPr>
          <a:xfrm>
            <a:off x="6508006" y="605396"/>
            <a:ext cx="5371147" cy="87446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3200" b="1">
                <a:cs typeface="Arial" panose="020B0604020202020204" pitchFamily="34" charset="0"/>
              </a:rPr>
            </a:br>
            <a:r>
              <a:rPr lang="en-US" sz="3200" b="1">
                <a:cs typeface="Times New Roman" panose="02020603050405020304" pitchFamily="18" charset="0"/>
              </a:rPr>
              <a:t>Effective Threat hunting process</a:t>
            </a:r>
            <a:br>
              <a:rPr lang="en-US" sz="3200">
                <a:cs typeface="Times New Roman" panose="02020603050405020304" pitchFamily="18" charset="0"/>
              </a:rPr>
            </a:br>
            <a:endParaRPr lang="en-US" sz="3200" dirty="0">
              <a:cs typeface="Times New Roman" panose="02020603050405020304" pitchFamily="18" charset="0"/>
            </a:endParaRPr>
          </a:p>
        </p:txBody>
      </p:sp>
    </p:spTree>
    <p:extLst>
      <p:ext uri="{BB962C8B-B14F-4D97-AF65-F5344CB8AC3E}">
        <p14:creationId xmlns:p14="http://schemas.microsoft.com/office/powerpoint/2010/main" val="12636965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F3255-7182-C122-4A7A-A6AA2FEC5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7CFA07-701E-B09C-19FF-2116ECEFDF2B}"/>
              </a:ext>
            </a:extLst>
          </p:cNvPr>
          <p:cNvSpPr>
            <a:spLocks noGrp="1"/>
          </p:cNvSpPr>
          <p:nvPr>
            <p:ph type="ctrTitle"/>
          </p:nvPr>
        </p:nvSpPr>
        <p:spPr>
          <a:xfrm>
            <a:off x="2900855" y="1835106"/>
            <a:ext cx="8763526" cy="1158108"/>
          </a:xfrm>
        </p:spPr>
        <p:txBody>
          <a:bodyPr/>
          <a:lstStyle/>
          <a:p>
            <a:pPr algn="l"/>
            <a:r>
              <a:rPr lang="en-US" sz="3200" dirty="0"/>
              <a:t>6. Threat Intelligence and Threat Hunting </a:t>
            </a:r>
            <a:br>
              <a:rPr lang="en-US" dirty="0"/>
            </a:br>
            <a:endParaRPr lang="en-US" dirty="0"/>
          </a:p>
        </p:txBody>
      </p:sp>
      <p:sp>
        <p:nvSpPr>
          <p:cNvPr id="3" name="Subtitle 2">
            <a:extLst>
              <a:ext uri="{FF2B5EF4-FFF2-40B4-BE49-F238E27FC236}">
                <a16:creationId xmlns:a16="http://schemas.microsoft.com/office/drawing/2014/main" id="{B2EC6AE3-C722-1B11-ECBB-E8B22A01C5A8}"/>
              </a:ext>
            </a:extLst>
          </p:cNvPr>
          <p:cNvSpPr>
            <a:spLocks noGrp="1"/>
          </p:cNvSpPr>
          <p:nvPr>
            <p:ph type="subTitle" idx="1"/>
          </p:nvPr>
        </p:nvSpPr>
        <p:spPr>
          <a:xfrm>
            <a:off x="3431561" y="2706680"/>
            <a:ext cx="8594375" cy="1158108"/>
          </a:xfrm>
        </p:spPr>
        <p:txBody>
          <a:bodyPr>
            <a:normAutofit/>
          </a:bodyPr>
          <a:lstStyle/>
          <a:p>
            <a:pPr marL="0" indent="0" algn="l">
              <a:buNone/>
            </a:pPr>
            <a:r>
              <a:rPr lang="en-US" dirty="0"/>
              <a:t> </a:t>
            </a:r>
          </a:p>
          <a:p>
            <a:pPr marL="0" indent="0" algn="l">
              <a:buNone/>
            </a:pPr>
            <a:r>
              <a:rPr lang="en-US" dirty="0"/>
              <a:t>6.4 Incorporating threat intelligence into incident response</a:t>
            </a:r>
          </a:p>
        </p:txBody>
      </p:sp>
    </p:spTree>
    <p:extLst>
      <p:ext uri="{BB962C8B-B14F-4D97-AF65-F5344CB8AC3E}">
        <p14:creationId xmlns:p14="http://schemas.microsoft.com/office/powerpoint/2010/main" val="26498058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0D7C6-1278-4C29-6579-09AB96F7DB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573C88-7CDB-0653-B422-B78B60294DAB}"/>
              </a:ext>
            </a:extLst>
          </p:cNvPr>
          <p:cNvSpPr>
            <a:spLocks noGrp="1"/>
          </p:cNvSpPr>
          <p:nvPr>
            <p:ph type="title"/>
          </p:nvPr>
        </p:nvSpPr>
        <p:spPr>
          <a:xfrm>
            <a:off x="968266" y="255147"/>
            <a:ext cx="10774680" cy="426720"/>
          </a:xfrm>
        </p:spPr>
        <p:txBody>
          <a:bodyPr>
            <a:noAutofit/>
          </a:bodyPr>
          <a:lstStyle/>
          <a:p>
            <a:br>
              <a:rPr lang="en-US" sz="3200" dirty="0">
                <a:cs typeface="Times New Roman" panose="02020603050405020304" pitchFamily="18" charset="0"/>
              </a:rPr>
            </a:br>
            <a:br>
              <a:rPr lang="en-US" sz="3200" dirty="0">
                <a:cs typeface="Times New Roman" panose="02020603050405020304" pitchFamily="18" charset="0"/>
              </a:rPr>
            </a:br>
            <a:r>
              <a:rPr lang="en-GB" sz="3200" dirty="0">
                <a:effectLst/>
                <a:ea typeface="Times New Roman" panose="02020603050405020304" pitchFamily="18" charset="0"/>
                <a:cs typeface="Times New Roman" panose="02020603050405020304" pitchFamily="18" charset="0"/>
              </a:rPr>
              <a:t>Threat hunting methodologies and techniques</a:t>
            </a:r>
            <a:r>
              <a:rPr lang="en-US" sz="3200" dirty="0">
                <a:cs typeface="Times New Roman" panose="02020603050405020304" pitchFamily="18" charset="0"/>
              </a:rPr>
              <a:t>:</a:t>
            </a:r>
            <a:br>
              <a:rPr lang="en-US" sz="3200" dirty="0">
                <a:cs typeface="Times New Roman" panose="02020603050405020304" pitchFamily="18" charset="0"/>
              </a:rPr>
            </a:br>
            <a:br>
              <a:rPr lang="en-US" sz="3200" dirty="0">
                <a:cs typeface="Times New Roman" panose="02020603050405020304" pitchFamily="18" charset="0"/>
              </a:rPr>
            </a:br>
            <a:endParaRPr lang="en-US" sz="3200"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1B32AF2B-B698-F656-FEBE-44C294830B7B}"/>
              </a:ext>
            </a:extLst>
          </p:cNvPr>
          <p:cNvSpPr>
            <a:spLocks noGrp="1"/>
          </p:cNvSpPr>
          <p:nvPr>
            <p:ph idx="1"/>
          </p:nvPr>
        </p:nvSpPr>
        <p:spPr>
          <a:xfrm>
            <a:off x="968266" y="769357"/>
            <a:ext cx="10351375" cy="5656668"/>
          </a:xfrm>
        </p:spPr>
        <p:txBody>
          <a:bodyPr>
            <a:normAutofit fontScale="32500" lnSpcReduction="20000"/>
          </a:bodyPr>
          <a:lstStyle/>
          <a:p>
            <a:pPr marL="0" indent="0" algn="just">
              <a:lnSpc>
                <a:spcPct val="160000"/>
              </a:lnSpc>
              <a:buNone/>
            </a:pPr>
            <a:r>
              <a:rPr lang="en-US" sz="5600" b="1" kern="0" dirty="0">
                <a:solidFill>
                  <a:srgbClr val="FF0000"/>
                </a:solidFill>
                <a:cs typeface="Times New Roman" panose="02020603050405020304" pitchFamily="18" charset="0"/>
              </a:rPr>
              <a:t>1.Intelligence-based hunting:</a:t>
            </a:r>
          </a:p>
          <a:p>
            <a:pPr marL="0" indent="0" algn="just">
              <a:lnSpc>
                <a:spcPct val="160000"/>
              </a:lnSpc>
              <a:buNone/>
            </a:pPr>
            <a:r>
              <a:rPr lang="en-US" sz="5600" dirty="0">
                <a:cs typeface="Times New Roman" panose="02020603050405020304" pitchFamily="18" charset="0"/>
              </a:rPr>
              <a:t>	Intel-based threat hunting is a reactive threat-hunting model using </a:t>
            </a:r>
            <a:r>
              <a:rPr lang="en-US" sz="5600" dirty="0" err="1">
                <a:cs typeface="Times New Roman" panose="02020603050405020304" pitchFamily="18" charset="0"/>
              </a:rPr>
              <a:t>IoCs</a:t>
            </a:r>
            <a:r>
              <a:rPr lang="en-US" sz="5600" dirty="0">
                <a:cs typeface="Times New Roman" panose="02020603050405020304" pitchFamily="18" charset="0"/>
              </a:rPr>
              <a:t> from intelligence sources. The hunt follows predestined rules set by the SIEM and threat intelligence. Intel-based hunts can use </a:t>
            </a:r>
            <a:r>
              <a:rPr lang="en-US" sz="5600" dirty="0" err="1">
                <a:cs typeface="Times New Roman" panose="02020603050405020304" pitchFamily="18" charset="0"/>
              </a:rPr>
              <a:t>IoCs</a:t>
            </a:r>
            <a:r>
              <a:rPr lang="en-US" sz="5600" dirty="0">
                <a:cs typeface="Times New Roman" panose="02020603050405020304" pitchFamily="18" charset="0"/>
              </a:rPr>
              <a:t>, hash values, IP addresses, domain names, networks, or host artifacts provided by intelligence-sharing platforms such as Computer Emergency Response Team – CERT. These platforms allow for the export of automated alerts in the form of Trusted Automated Exchange of Intelligence Information (TAXII) and Structured Threat Information Expression (STIX), which can then be imported into SIEM. Once the SIEM has issued the warning based on an IoC, the threat hunter can look into the harmful activity that occurred before and after the alert to discover any environmental breach.</a:t>
            </a:r>
          </a:p>
        </p:txBody>
      </p:sp>
    </p:spTree>
    <p:extLst>
      <p:ext uri="{BB962C8B-B14F-4D97-AF65-F5344CB8AC3E}">
        <p14:creationId xmlns:p14="http://schemas.microsoft.com/office/powerpoint/2010/main" val="38634321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4691D2-25CD-9D16-4E59-DC50F093A447}"/>
              </a:ext>
            </a:extLst>
          </p:cNvPr>
          <p:cNvSpPr>
            <a:spLocks noGrp="1"/>
          </p:cNvSpPr>
          <p:nvPr>
            <p:ph idx="1"/>
          </p:nvPr>
        </p:nvSpPr>
        <p:spPr>
          <a:xfrm>
            <a:off x="964325" y="785100"/>
            <a:ext cx="10515600" cy="5325614"/>
          </a:xfrm>
        </p:spPr>
        <p:txBody>
          <a:bodyPr>
            <a:normAutofit fontScale="40000" lnSpcReduction="20000"/>
          </a:bodyPr>
          <a:lstStyle/>
          <a:p>
            <a:pPr marL="0" indent="0" algn="just">
              <a:lnSpc>
                <a:spcPct val="160000"/>
              </a:lnSpc>
              <a:buNone/>
            </a:pPr>
            <a:r>
              <a:rPr lang="en-US" sz="5600" b="1" kern="0" dirty="0">
                <a:solidFill>
                  <a:srgbClr val="FF0000"/>
                </a:solidFill>
                <a:effectLst/>
                <a:ea typeface="Times New Roman" panose="02020603050405020304" pitchFamily="18" charset="0"/>
                <a:cs typeface="Times New Roman" panose="02020603050405020304" pitchFamily="18" charset="0"/>
              </a:rPr>
              <a:t>2. Investigation using indicators of attack:</a:t>
            </a:r>
          </a:p>
          <a:p>
            <a:pPr marL="0" indent="0" algn="l">
              <a:lnSpc>
                <a:spcPct val="160000"/>
              </a:lnSpc>
              <a:buNone/>
            </a:pPr>
            <a:r>
              <a:rPr lang="en-US" sz="5600" dirty="0">
                <a:cs typeface="Times New Roman" panose="02020603050405020304" pitchFamily="18" charset="0"/>
              </a:rPr>
              <a:t>	Investigation using Indicators of Attack (IOAs) is a proactive threat hunting method, aiming to detect APT groups and attacks through global detection playbooks. It's commonly utilized with threat frameworks like MITRE (Massachusetts Institute of Technology Research and Engineering".) ATT&amp;CK (Adversarial Tactics, Techniques, and Common Knowledge). </a:t>
            </a:r>
          </a:p>
          <a:p>
            <a:pPr marL="0" indent="0" algn="l">
              <a:lnSpc>
                <a:spcPct val="160000"/>
              </a:lnSpc>
              <a:buNone/>
            </a:pPr>
            <a:r>
              <a:rPr lang="en-US" sz="4800" dirty="0">
                <a:cs typeface="Times New Roman" panose="02020603050405020304" pitchFamily="18" charset="0"/>
              </a:rPr>
              <a:t>The process involves:</a:t>
            </a:r>
          </a:p>
          <a:p>
            <a:pPr lvl="1">
              <a:lnSpc>
                <a:spcPct val="120000"/>
              </a:lnSpc>
            </a:pPr>
            <a:r>
              <a:rPr lang="en-US" sz="4800" dirty="0">
                <a:cs typeface="Times New Roman" panose="02020603050405020304" pitchFamily="18" charset="0"/>
              </a:rPr>
              <a:t>Utilizing TTPs(Tactics, Techniques and Procedures) and IOAs to pinpoint threat actors.</a:t>
            </a:r>
          </a:p>
          <a:p>
            <a:pPr lvl="1">
              <a:lnSpc>
                <a:spcPct val="120000"/>
              </a:lnSpc>
            </a:pPr>
            <a:r>
              <a:rPr lang="en-US" sz="4800" dirty="0">
                <a:cs typeface="Times New Roman" panose="02020603050405020304" pitchFamily="18" charset="0"/>
              </a:rPr>
              <a:t>Monitoring activities to identify patterns and isolate threats.</a:t>
            </a:r>
          </a:p>
          <a:p>
            <a:pPr lvl="1">
              <a:lnSpc>
                <a:spcPct val="120000"/>
              </a:lnSpc>
            </a:pPr>
            <a:r>
              <a:rPr lang="en-US" sz="4800" dirty="0">
                <a:latin typeface="Times New Roman" panose="02020603050405020304" pitchFamily="18" charset="0"/>
                <a:cs typeface="Times New Roman" panose="02020603050405020304" pitchFamily="18" charset="0"/>
              </a:rPr>
              <a:t>Evaluating the environment, domain, and attack behaviors to build hypotheses aligned with MITRE.</a:t>
            </a:r>
            <a:endParaRPr lang="en-US" sz="4800" dirty="0">
              <a:latin typeface="+mj-lt"/>
            </a:endParaRPr>
          </a:p>
          <a:p>
            <a:endParaRPr lang="en-US" dirty="0"/>
          </a:p>
        </p:txBody>
      </p:sp>
    </p:spTree>
    <p:extLst>
      <p:ext uri="{BB962C8B-B14F-4D97-AF65-F5344CB8AC3E}">
        <p14:creationId xmlns:p14="http://schemas.microsoft.com/office/powerpoint/2010/main" val="26727701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BD41F-FEBD-A2A3-3166-F2288126EB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278593-DA7F-205E-C51C-E02528927EA1}"/>
              </a:ext>
            </a:extLst>
          </p:cNvPr>
          <p:cNvSpPr>
            <a:spLocks noGrp="1"/>
          </p:cNvSpPr>
          <p:nvPr>
            <p:ph type="title"/>
          </p:nvPr>
        </p:nvSpPr>
        <p:spPr>
          <a:xfrm>
            <a:off x="1147678" y="146573"/>
            <a:ext cx="10774680" cy="547802"/>
          </a:xfrm>
        </p:spPr>
        <p:txBody>
          <a:bodyPr>
            <a:noAutofit/>
          </a:bodyPr>
          <a:lstStyle/>
          <a:p>
            <a:br>
              <a:rPr lang="en-US" sz="3200" dirty="0">
                <a:latin typeface="Times New Roman" panose="02020603050405020304" pitchFamily="18" charset="0"/>
                <a:cs typeface="Times New Roman" panose="02020603050405020304" pitchFamily="18" charset="0"/>
              </a:rPr>
            </a:br>
            <a:r>
              <a:rPr lang="en-GB" sz="3200" dirty="0">
                <a:effectLst/>
                <a:ea typeface="Times New Roman" panose="02020603050405020304" pitchFamily="18" charset="0"/>
                <a:cs typeface="Times New Roman" panose="02020603050405020304" pitchFamily="18" charset="0"/>
              </a:rPr>
              <a:t>Threat hunting methodologies and techniques</a:t>
            </a:r>
            <a:r>
              <a:rPr lang="en-US" sz="3200" dirty="0">
                <a:cs typeface="Times New Roman" panose="02020603050405020304" pitchFamily="18" charset="0"/>
              </a:rPr>
              <a:t>:</a:t>
            </a:r>
            <a:br>
              <a:rPr lang="en-US" sz="3200" dirty="0">
                <a:cs typeface="Times New Roman" panose="02020603050405020304" pitchFamily="18" charset="0"/>
              </a:rPr>
            </a:br>
            <a:endParaRPr lang="en-US" sz="3200" dirty="0">
              <a:cs typeface="Times New Roman" panose="02020603050405020304" pitchFamily="18" charset="0"/>
            </a:endParaRPr>
          </a:p>
        </p:txBody>
      </p:sp>
      <p:sp>
        <p:nvSpPr>
          <p:cNvPr id="5" name="Content Placeholder 4">
            <a:extLst>
              <a:ext uri="{FF2B5EF4-FFF2-40B4-BE49-F238E27FC236}">
                <a16:creationId xmlns:a16="http://schemas.microsoft.com/office/drawing/2014/main" id="{6E6B0EA3-2D1C-669F-80AD-065F494AE195}"/>
              </a:ext>
            </a:extLst>
          </p:cNvPr>
          <p:cNvSpPr>
            <a:spLocks noGrp="1"/>
          </p:cNvSpPr>
          <p:nvPr>
            <p:ph idx="1"/>
          </p:nvPr>
        </p:nvSpPr>
        <p:spPr>
          <a:xfrm>
            <a:off x="822433" y="826114"/>
            <a:ext cx="11216115" cy="5557908"/>
          </a:xfrm>
        </p:spPr>
        <p:txBody>
          <a:bodyPr>
            <a:noAutofit/>
          </a:bodyPr>
          <a:lstStyle/>
          <a:p>
            <a:pPr marL="0" indent="0" algn="just">
              <a:buNone/>
            </a:pPr>
            <a:r>
              <a:rPr lang="en-US" sz="1600" dirty="0">
                <a:solidFill>
                  <a:srgbClr val="FF0000"/>
                </a:solidFill>
                <a:latin typeface="+mj-lt"/>
                <a:cs typeface="Times New Roman" panose="02020603050405020304" pitchFamily="18" charset="0"/>
              </a:rPr>
              <a:t>3. Hypotheses-based hunting :</a:t>
            </a:r>
          </a:p>
          <a:p>
            <a:pPr>
              <a:lnSpc>
                <a:spcPct val="170000"/>
              </a:lnSpc>
            </a:pPr>
            <a:r>
              <a:rPr lang="en-US" sz="1600" dirty="0">
                <a:latin typeface="+mj-lt"/>
                <a:cs typeface="Times New Roman" panose="02020603050405020304" pitchFamily="18" charset="0"/>
              </a:rPr>
              <a:t>Hypothesis-based threat hunting is a proactive threat-hunting model that uses a threat-hunting library It’s aligned with the MITRE ATT&amp;CK framework and uses the global detection playbooks to identify APT groups and malware attacks. Hypothesis-based hunts use </a:t>
            </a:r>
            <a:r>
              <a:rPr lang="en-US" sz="1600" dirty="0" err="1">
                <a:latin typeface="+mj-lt"/>
                <a:cs typeface="Times New Roman" panose="02020603050405020304" pitchFamily="18" charset="0"/>
              </a:rPr>
              <a:t>IoAs</a:t>
            </a:r>
            <a:r>
              <a:rPr lang="en-US" sz="1600" dirty="0">
                <a:latin typeface="+mj-lt"/>
                <a:cs typeface="Times New Roman" panose="02020603050405020304" pitchFamily="18" charset="0"/>
              </a:rPr>
              <a:t> and TTP of attackers. </a:t>
            </a:r>
          </a:p>
          <a:p>
            <a:pPr>
              <a:lnSpc>
                <a:spcPct val="170000"/>
              </a:lnSpc>
            </a:pPr>
            <a:r>
              <a:rPr lang="en-US" sz="1600" dirty="0">
                <a:latin typeface="+mj-lt"/>
                <a:cs typeface="Times New Roman" panose="02020603050405020304" pitchFamily="18" charset="0"/>
              </a:rPr>
              <a:t>Depending on the environment, domain, and threat behavior patterns utilized to form a hypothesis in line with the MITRE ATT&amp;CK paradigm, the hunter determines the threat actors. Once the </a:t>
            </a:r>
            <a:r>
              <a:rPr lang="en-US" sz="1600" dirty="0" err="1">
                <a:latin typeface="+mj-lt"/>
                <a:cs typeface="Times New Roman" panose="02020603050405020304" pitchFamily="18" charset="0"/>
              </a:rPr>
              <a:t>behaviour</a:t>
            </a:r>
            <a:r>
              <a:rPr lang="en-US" sz="1600" dirty="0">
                <a:latin typeface="+mj-lt"/>
                <a:cs typeface="Times New Roman" panose="02020603050405020304" pitchFamily="18" charset="0"/>
              </a:rPr>
              <a:t> pattern is identified, the hunter monitors the activity patterns to detect, identify and isolate the threat. </a:t>
            </a:r>
          </a:p>
          <a:p>
            <a:pPr>
              <a:lnSpc>
                <a:spcPct val="170000"/>
              </a:lnSpc>
            </a:pPr>
            <a:r>
              <a:rPr lang="en-US" sz="1600" dirty="0">
                <a:latin typeface="+mj-lt"/>
                <a:cs typeface="Times New Roman" panose="02020603050405020304" pitchFamily="18" charset="0"/>
              </a:rPr>
              <a:t>As such, the hunter can proactively detect the threat actors before they can damage the environment.</a:t>
            </a:r>
          </a:p>
          <a:p>
            <a:pPr lvl="1" algn="just">
              <a:lnSpc>
                <a:spcPct val="120000"/>
              </a:lnSpc>
            </a:pPr>
            <a:r>
              <a:rPr lang="en-US" sz="1600" dirty="0">
                <a:solidFill>
                  <a:srgbClr val="FF0000"/>
                </a:solidFill>
                <a:latin typeface="+mj-lt"/>
                <a:cs typeface="Times New Roman" panose="02020603050405020304" pitchFamily="18" charset="0"/>
              </a:rPr>
              <a:t>Analytics-driven: </a:t>
            </a:r>
            <a:r>
              <a:rPr lang="en-US" sz="1600" dirty="0">
                <a:latin typeface="+mj-lt"/>
                <a:cs typeface="Times New Roman" panose="02020603050405020304" pitchFamily="18" charset="0"/>
              </a:rPr>
              <a:t>Hypotheses developed from structured frameworks and machine learning/AI data.</a:t>
            </a:r>
          </a:p>
          <a:p>
            <a:pPr lvl="1" algn="just">
              <a:lnSpc>
                <a:spcPct val="120000"/>
              </a:lnSpc>
            </a:pPr>
            <a:r>
              <a:rPr lang="en-US" sz="1600" dirty="0">
                <a:solidFill>
                  <a:srgbClr val="FF0000"/>
                </a:solidFill>
                <a:latin typeface="+mj-lt"/>
                <a:cs typeface="Times New Roman" panose="02020603050405020304" pitchFamily="18" charset="0"/>
              </a:rPr>
              <a:t>Situational-awareness: </a:t>
            </a:r>
            <a:r>
              <a:rPr lang="en-US" sz="1600" dirty="0">
                <a:latin typeface="+mj-lt"/>
                <a:cs typeface="Times New Roman" panose="02020603050405020304" pitchFamily="18" charset="0"/>
              </a:rPr>
              <a:t>Utilizes existing information and environment awareness to detect potential threats.</a:t>
            </a:r>
          </a:p>
          <a:p>
            <a:pPr lvl="1" algn="just">
              <a:lnSpc>
                <a:spcPct val="120000"/>
              </a:lnSpc>
            </a:pPr>
            <a:r>
              <a:rPr lang="en-US" sz="1600" dirty="0">
                <a:solidFill>
                  <a:srgbClr val="FF0000"/>
                </a:solidFill>
                <a:latin typeface="+mj-lt"/>
                <a:cs typeface="Times New Roman" panose="02020603050405020304" pitchFamily="18" charset="0"/>
              </a:rPr>
              <a:t>Intelligence-driven: </a:t>
            </a:r>
            <a:r>
              <a:rPr lang="en-US" sz="1600" dirty="0">
                <a:latin typeface="+mj-lt"/>
                <a:cs typeface="Times New Roman" panose="02020603050405020304" pitchFamily="18" charset="0"/>
              </a:rPr>
              <a:t>Hypotheses formed from threat actor tactics, techniques, and procedures (TTP). Testing involves observing system and network behaviors for TTP presence. Indicators of compromise (</a:t>
            </a:r>
            <a:r>
              <a:rPr lang="en-US" sz="1600" dirty="0" err="1">
                <a:latin typeface="+mj-lt"/>
                <a:cs typeface="Times New Roman" panose="02020603050405020304" pitchFamily="18" charset="0"/>
              </a:rPr>
              <a:t>IoCs</a:t>
            </a:r>
            <a:r>
              <a:rPr lang="en-US" sz="1600" dirty="0">
                <a:latin typeface="+mj-lt"/>
                <a:cs typeface="Times New Roman" panose="02020603050405020304" pitchFamily="18" charset="0"/>
              </a:rPr>
              <a:t>) or indicators of attack (</a:t>
            </a:r>
            <a:r>
              <a:rPr lang="en-US" sz="1600" dirty="0" err="1">
                <a:latin typeface="+mj-lt"/>
                <a:cs typeface="Times New Roman" panose="02020603050405020304" pitchFamily="18" charset="0"/>
              </a:rPr>
              <a:t>IoAs</a:t>
            </a:r>
            <a:r>
              <a:rPr lang="en-US" sz="1600" dirty="0">
                <a:latin typeface="+mj-lt"/>
                <a:cs typeface="Times New Roman" panose="02020603050405020304" pitchFamily="18" charset="0"/>
              </a:rPr>
              <a:t>) support intelligence-based hypotheses.</a:t>
            </a:r>
          </a:p>
        </p:txBody>
      </p:sp>
    </p:spTree>
    <p:extLst>
      <p:ext uri="{BB962C8B-B14F-4D97-AF65-F5344CB8AC3E}">
        <p14:creationId xmlns:p14="http://schemas.microsoft.com/office/powerpoint/2010/main" val="984802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12E259-2BB6-8BB4-FE1A-23DD4C6D3625}"/>
              </a:ext>
            </a:extLst>
          </p:cNvPr>
          <p:cNvSpPr>
            <a:spLocks noGrp="1"/>
          </p:cNvSpPr>
          <p:nvPr>
            <p:ph idx="1"/>
          </p:nvPr>
        </p:nvSpPr>
        <p:spPr>
          <a:xfrm>
            <a:off x="838200" y="781970"/>
            <a:ext cx="10515600" cy="5376074"/>
          </a:xfrm>
        </p:spPr>
        <p:txBody>
          <a:bodyPr>
            <a:normAutofit fontScale="47500" lnSpcReduction="20000"/>
          </a:bodyPr>
          <a:lstStyle/>
          <a:p>
            <a:pPr marL="0" indent="0" algn="just">
              <a:lnSpc>
                <a:spcPct val="170000"/>
              </a:lnSpc>
              <a:buNone/>
            </a:pPr>
            <a:r>
              <a:rPr lang="en-US" sz="4300" dirty="0">
                <a:solidFill>
                  <a:srgbClr val="FF0000"/>
                </a:solidFill>
                <a:latin typeface="+mj-lt"/>
                <a:cs typeface="Times New Roman" panose="02020603050405020304" pitchFamily="18" charset="0"/>
              </a:rPr>
              <a:t>4. Hybrid Hunting :</a:t>
            </a:r>
          </a:p>
          <a:p>
            <a:pPr algn="just">
              <a:lnSpc>
                <a:spcPct val="170000"/>
              </a:lnSpc>
            </a:pPr>
            <a:r>
              <a:rPr lang="en-US" sz="4300" dirty="0">
                <a:latin typeface="+mj-lt"/>
                <a:cs typeface="Times New Roman" panose="02020603050405020304" pitchFamily="18" charset="0"/>
              </a:rPr>
              <a:t>Custom threat hunting is based on situational awareness and industry-based hunting methodologies. It detects anomalies in SIEM and EDR tools and may be tailored to meet the needs of the customer. They are proactively executed based on situations, such as geographical issues and targeted attacks. Both Intel and hypothesis-based hunting models employing </a:t>
            </a:r>
            <a:r>
              <a:rPr lang="en-US" sz="4300" dirty="0" err="1">
                <a:latin typeface="+mj-lt"/>
                <a:cs typeface="Times New Roman" panose="02020603050405020304" pitchFamily="18" charset="0"/>
              </a:rPr>
              <a:t>IoA</a:t>
            </a:r>
            <a:r>
              <a:rPr lang="en-US" sz="4300" dirty="0">
                <a:latin typeface="+mj-lt"/>
                <a:cs typeface="Times New Roman" panose="02020603050405020304" pitchFamily="18" charset="0"/>
              </a:rPr>
              <a:t> and IoC information can be used in these hunting operations.</a:t>
            </a:r>
          </a:p>
          <a:p>
            <a:pPr lvl="1" algn="just">
              <a:lnSpc>
                <a:spcPct val="120000"/>
              </a:lnSpc>
            </a:pPr>
            <a:r>
              <a:rPr lang="en-US" sz="4300" dirty="0">
                <a:solidFill>
                  <a:srgbClr val="FF0000"/>
                </a:solidFill>
                <a:latin typeface="+mj-lt"/>
                <a:cs typeface="Times New Roman" panose="02020603050405020304" pitchFamily="18" charset="0"/>
              </a:rPr>
              <a:t>Customization: </a:t>
            </a:r>
            <a:r>
              <a:rPr lang="en-US" sz="4300" dirty="0">
                <a:latin typeface="+mj-lt"/>
                <a:cs typeface="Times New Roman" panose="02020603050405020304" pitchFamily="18" charset="0"/>
              </a:rPr>
              <a:t>Security analysts combine various hunting methodologies, including industry-based, situational awareness, and specific requirements.</a:t>
            </a:r>
          </a:p>
          <a:p>
            <a:pPr lvl="1" algn="just">
              <a:lnSpc>
                <a:spcPct val="120000"/>
              </a:lnSpc>
            </a:pPr>
            <a:r>
              <a:rPr lang="en-US" sz="4300" dirty="0">
                <a:solidFill>
                  <a:srgbClr val="FF0000"/>
                </a:solidFill>
                <a:latin typeface="+mj-lt"/>
                <a:cs typeface="Times New Roman" panose="02020603050405020304" pitchFamily="18" charset="0"/>
              </a:rPr>
              <a:t>Integration: </a:t>
            </a:r>
            <a:r>
              <a:rPr lang="en-US" sz="4300" dirty="0">
                <a:latin typeface="+mj-lt"/>
                <a:cs typeface="Times New Roman" panose="02020603050405020304" pitchFamily="18" charset="0"/>
              </a:rPr>
              <a:t>Incorporates data from geopolitical situations to tailor the hunt accordingly.</a:t>
            </a:r>
          </a:p>
          <a:p>
            <a:pPr lvl="1" algn="just">
              <a:lnSpc>
                <a:spcPct val="120000"/>
              </a:lnSpc>
            </a:pPr>
            <a:r>
              <a:rPr lang="en-US" sz="4300" dirty="0">
                <a:solidFill>
                  <a:srgbClr val="FF0000"/>
                </a:solidFill>
                <a:latin typeface="+mj-lt"/>
                <a:cs typeface="Times New Roman" panose="02020603050405020304" pitchFamily="18" charset="0"/>
              </a:rPr>
              <a:t>Automation: </a:t>
            </a:r>
            <a:r>
              <a:rPr lang="en-US" sz="4300" dirty="0">
                <a:latin typeface="+mj-lt"/>
                <a:cs typeface="Times New Roman" panose="02020603050405020304" pitchFamily="18" charset="0"/>
              </a:rPr>
              <a:t>Due to vast data, machine learning techniques and threat intelligence are utilized to automate a significant portion of the process.</a:t>
            </a:r>
          </a:p>
          <a:p>
            <a:pPr algn="just">
              <a:lnSpc>
                <a:spcPct val="170000"/>
              </a:lnSpc>
              <a:buFont typeface="Arial" panose="020B0604020202020204" pitchFamily="34" charset="0"/>
              <a:buChar char="•"/>
            </a:pPr>
            <a:endParaRPr lang="en-US" sz="4300"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0856410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BEE57-55A8-A4D9-6E3D-7242E7536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887C06-0A26-689F-5099-AB891A57275D}"/>
              </a:ext>
            </a:extLst>
          </p:cNvPr>
          <p:cNvSpPr>
            <a:spLocks noGrp="1"/>
          </p:cNvSpPr>
          <p:nvPr>
            <p:ph type="title"/>
          </p:nvPr>
        </p:nvSpPr>
        <p:spPr>
          <a:xfrm>
            <a:off x="861060" y="710547"/>
            <a:ext cx="10774680" cy="548640"/>
          </a:xfrm>
        </p:spPr>
        <p:txBody>
          <a:bodyPr>
            <a:noAutofit/>
          </a:bodyPr>
          <a:lstStyle/>
          <a:p>
            <a:br>
              <a:rPr lang="en-US" sz="3200" b="1" dirty="0">
                <a:latin typeface="Times New Roman" panose="02020603050405020304" pitchFamily="18" charset="0"/>
                <a:cs typeface="Times New Roman" panose="02020603050405020304" pitchFamily="18" charset="0"/>
              </a:rPr>
            </a:br>
            <a:br>
              <a:rPr lang="en-US" sz="3200" b="1" dirty="0">
                <a:latin typeface="Times New Roman" panose="02020603050405020304" pitchFamily="18" charset="0"/>
                <a:cs typeface="Times New Roman" panose="02020603050405020304" pitchFamily="18" charset="0"/>
              </a:rPr>
            </a:br>
            <a:br>
              <a:rPr lang="en-US" sz="3200" b="1" dirty="0">
                <a:latin typeface="Times New Roman" panose="02020603050405020304" pitchFamily="18" charset="0"/>
                <a:cs typeface="Times New Roman" panose="02020603050405020304" pitchFamily="18" charset="0"/>
              </a:rPr>
            </a:br>
            <a:r>
              <a:rPr lang="en-US" sz="3200" b="1" kern="0" dirty="0">
                <a:solidFill>
                  <a:srgbClr val="262628"/>
                </a:solidFill>
                <a:effectLst/>
                <a:ea typeface="Times New Roman" panose="02020603050405020304" pitchFamily="18" charset="0"/>
                <a:cs typeface="Times New Roman" panose="02020603050405020304" pitchFamily="18" charset="0"/>
              </a:rPr>
              <a:t>Threat Hunting Tools</a:t>
            </a:r>
            <a:br>
              <a:rPr lang="en-US" sz="3200" kern="100" dirty="0">
                <a:effectLst/>
                <a:latin typeface="Times New Roman" panose="02020603050405020304" pitchFamily="18" charset="0"/>
                <a:ea typeface="Calibri" panose="020F0502020204030204" pitchFamily="34" charset="0"/>
                <a:cs typeface="Times New Roman" panose="02020603050405020304" pitchFamily="18" charset="0"/>
              </a:rPr>
            </a:br>
            <a:br>
              <a:rPr lang="en-US" sz="3200" b="1"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55D1902F-40D9-0E48-F1D2-6A4EE2988FF1}"/>
              </a:ext>
            </a:extLst>
          </p:cNvPr>
          <p:cNvSpPr>
            <a:spLocks noGrp="1"/>
          </p:cNvSpPr>
          <p:nvPr>
            <p:ph idx="1"/>
          </p:nvPr>
        </p:nvSpPr>
        <p:spPr>
          <a:xfrm>
            <a:off x="538480" y="1400960"/>
            <a:ext cx="11419840" cy="4882394"/>
          </a:xfrm>
        </p:spPr>
        <p:txBody>
          <a:bodyPr>
            <a:normAutofit/>
          </a:bodyPr>
          <a:lstStyle/>
          <a:p>
            <a:pPr marL="0" indent="0" algn="just">
              <a:lnSpc>
                <a:spcPct val="150000"/>
              </a:lnSpc>
              <a:spcAft>
                <a:spcPts val="800"/>
              </a:spcAft>
              <a:buNone/>
            </a:pPr>
            <a:r>
              <a:rPr lang="en-US" sz="2400" kern="0" dirty="0">
                <a:effectLst/>
                <a:ea typeface="Times New Roman" panose="02020603050405020304" pitchFamily="18" charset="0"/>
                <a:cs typeface="Times New Roman" panose="02020603050405020304" pitchFamily="18" charset="0"/>
              </a:rPr>
              <a:t>To identify suspicious behaviors, Threat Hunters employ solutions and technologies. The following are the primary </a:t>
            </a:r>
            <a:r>
              <a:rPr lang="en-US" sz="2400" kern="0" dirty="0">
                <a:solidFill>
                  <a:srgbClr val="FF0000"/>
                </a:solidFill>
                <a:effectLst/>
                <a:ea typeface="Times New Roman" panose="02020603050405020304" pitchFamily="18" charset="0"/>
                <a:cs typeface="Times New Roman" panose="02020603050405020304" pitchFamily="18" charset="0"/>
              </a:rPr>
              <a:t>categories of threat hunting tools</a:t>
            </a:r>
            <a:r>
              <a:rPr lang="en-US" sz="2400" kern="0" dirty="0">
                <a:effectLst/>
                <a:ea typeface="Times New Roman" panose="02020603050405020304" pitchFamily="18" charset="0"/>
                <a:cs typeface="Times New Roman" panose="02020603050405020304" pitchFamily="18" charset="0"/>
              </a:rPr>
              <a:t>:</a:t>
            </a:r>
            <a:endParaRPr lang="en-US" sz="2400" kern="100" dirty="0">
              <a:effectLst/>
              <a:ea typeface="Calibri" panose="020F0502020204030204" pitchFamily="34" charset="0"/>
              <a:cs typeface="Times New Roman" panose="02020603050405020304" pitchFamily="18" charset="0"/>
            </a:endParaRPr>
          </a:p>
          <a:p>
            <a:pPr marL="342900" lvl="0" indent="-342900" algn="just">
              <a:lnSpc>
                <a:spcPct val="120000"/>
              </a:lnSpc>
              <a:spcAft>
                <a:spcPts val="800"/>
              </a:spcAft>
              <a:tabLst>
                <a:tab pos="457200" algn="l"/>
              </a:tabLst>
            </a:pPr>
            <a:r>
              <a:rPr lang="en-US" sz="2400" b="1" kern="0" dirty="0">
                <a:effectLst/>
                <a:ea typeface="Times New Roman" panose="02020603050405020304" pitchFamily="18" charset="0"/>
                <a:cs typeface="Times New Roman" panose="02020603050405020304" pitchFamily="18" charset="0"/>
              </a:rPr>
              <a:t>Network security monitoring tools:</a:t>
            </a:r>
            <a:r>
              <a:rPr lang="en-US" sz="2400" kern="0" dirty="0">
                <a:effectLst/>
                <a:ea typeface="Times New Roman" panose="02020603050405020304" pitchFamily="18" charset="0"/>
                <a:cs typeface="Times New Roman" panose="02020603050405020304" pitchFamily="18" charset="0"/>
              </a:rPr>
              <a:t> Antivirus, firewalls, and endpoint security solutions collect and monitor network security data.</a:t>
            </a:r>
            <a:endParaRPr lang="en-US" sz="2400" kern="100" dirty="0">
              <a:effectLst/>
              <a:ea typeface="Calibri" panose="020F0502020204030204" pitchFamily="34" charset="0"/>
              <a:cs typeface="Times New Roman" panose="02020603050405020304" pitchFamily="18" charset="0"/>
            </a:endParaRPr>
          </a:p>
          <a:p>
            <a:pPr marL="342900" lvl="0" indent="-342900" algn="just">
              <a:lnSpc>
                <a:spcPct val="120000"/>
              </a:lnSpc>
              <a:spcAft>
                <a:spcPts val="800"/>
              </a:spcAft>
              <a:tabLst>
                <a:tab pos="457200" algn="l"/>
              </a:tabLst>
            </a:pPr>
            <a:r>
              <a:rPr lang="en-US" sz="2400" b="1" kern="0" dirty="0">
                <a:effectLst/>
                <a:ea typeface="Times New Roman" panose="02020603050405020304" pitchFamily="18" charset="0"/>
                <a:cs typeface="Times New Roman" panose="02020603050405020304" pitchFamily="18" charset="0"/>
              </a:rPr>
              <a:t>SIEM solutions:</a:t>
            </a:r>
            <a:r>
              <a:rPr lang="en-US" sz="2000" kern="0" dirty="0">
                <a:effectLst/>
                <a:ea typeface="Times New Roman" panose="02020603050405020304" pitchFamily="18" charset="0"/>
                <a:cs typeface="Times New Roman" panose="02020603050405020304" pitchFamily="18" charset="0"/>
              </a:rPr>
              <a:t> Security information and event management (SIEM) solutions assist in handling raw security data and real-time threat analysis.</a:t>
            </a:r>
            <a:endParaRPr lang="en-US" sz="2000" kern="100" dirty="0">
              <a:effectLst/>
              <a:ea typeface="Calibri" panose="020F0502020204030204" pitchFamily="34" charset="0"/>
              <a:cs typeface="Times New Roman" panose="02020603050405020304" pitchFamily="18" charset="0"/>
            </a:endParaRPr>
          </a:p>
          <a:p>
            <a:pPr marL="342900" lvl="0" indent="-342900" algn="just">
              <a:lnSpc>
                <a:spcPct val="150000"/>
              </a:lnSpc>
              <a:spcAft>
                <a:spcPts val="800"/>
              </a:spcAft>
              <a:tabLst>
                <a:tab pos="457200" algn="l"/>
              </a:tabLst>
            </a:pPr>
            <a:r>
              <a:rPr lang="en-US" sz="2400" b="1" kern="0" dirty="0">
                <a:effectLst/>
                <a:ea typeface="Times New Roman" panose="02020603050405020304" pitchFamily="18" charset="0"/>
                <a:cs typeface="Times New Roman" panose="02020603050405020304" pitchFamily="18" charset="0"/>
              </a:rPr>
              <a:t>Analytics tools:</a:t>
            </a:r>
            <a:r>
              <a:rPr lang="en-US" sz="2000" kern="0" dirty="0">
                <a:effectLst/>
                <a:ea typeface="Times New Roman" panose="02020603050405020304" pitchFamily="18" charset="0"/>
                <a:cs typeface="Times New Roman" panose="02020603050405020304" pitchFamily="18" charset="0"/>
              </a:rPr>
              <a:t> Statistical and intelligence analysis software generates a visual report using interactive graphs and charts, making it easier to connect dots and spot patterns.</a:t>
            </a:r>
            <a:endParaRPr lang="en-US" sz="2000" kern="100" dirty="0">
              <a:effectLst/>
              <a:ea typeface="Calibri" panose="020F0502020204030204" pitchFamily="34" charset="0"/>
              <a:cs typeface="Times New Roman" panose="02020603050405020304" pitchFamily="18" charset="0"/>
            </a:endParaRPr>
          </a:p>
          <a:p>
            <a:pPr algn="just">
              <a:lnSpc>
                <a:spcPct val="107000"/>
              </a:lnSpc>
              <a:spcAft>
                <a:spcPts val="800"/>
              </a:spcAft>
            </a:pPr>
            <a:endParaRPr lang="en-US" sz="2400" kern="100" dirty="0">
              <a:effectLst/>
              <a:ea typeface="Calibri" panose="020F0502020204030204" pitchFamily="34" charset="0"/>
              <a:cs typeface="Times New Roman" panose="02020603050405020304" pitchFamily="18" charset="0"/>
            </a:endParaRPr>
          </a:p>
          <a:p>
            <a:pPr marL="0" indent="0" algn="just">
              <a:buNone/>
            </a:pPr>
            <a:endParaRPr lang="en-US" sz="1800" dirty="0"/>
          </a:p>
        </p:txBody>
      </p:sp>
    </p:spTree>
    <p:extLst>
      <p:ext uri="{BB962C8B-B14F-4D97-AF65-F5344CB8AC3E}">
        <p14:creationId xmlns:p14="http://schemas.microsoft.com/office/powerpoint/2010/main" val="33234629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887" y="358183"/>
            <a:ext cx="5583601" cy="758999"/>
          </a:xfrm>
        </p:spPr>
        <p:txBody>
          <a:bodyPr>
            <a:normAutofit/>
          </a:bodyPr>
          <a:lstStyle/>
          <a:p>
            <a:r>
              <a:rPr lang="en-US" sz="3600" dirty="0">
                <a:latin typeface="Times New Roman" panose="02020603050405020304" pitchFamily="18" charset="0"/>
                <a:cs typeface="Times New Roman" panose="02020603050405020304" pitchFamily="18" charset="0"/>
              </a:rPr>
              <a:t>Threat Hunting Frameworks</a:t>
            </a:r>
          </a:p>
        </p:txBody>
      </p:sp>
      <p:sp>
        <p:nvSpPr>
          <p:cNvPr id="3" name="Content Placeholder 2"/>
          <p:cNvSpPr>
            <a:spLocks noGrp="1"/>
          </p:cNvSpPr>
          <p:nvPr>
            <p:ph idx="1"/>
          </p:nvPr>
        </p:nvSpPr>
        <p:spPr>
          <a:xfrm>
            <a:off x="6205307" y="426797"/>
            <a:ext cx="5583601" cy="6255757"/>
          </a:xfrm>
        </p:spPr>
        <p:txBody>
          <a:bodyPr>
            <a:noAutofit/>
          </a:bodyPr>
          <a:lstStyle/>
          <a:p>
            <a:pPr>
              <a:lnSpc>
                <a:spcPct val="170000"/>
              </a:lnSpc>
            </a:pPr>
            <a:r>
              <a:rPr lang="en-US" sz="1400" dirty="0">
                <a:cs typeface="Times New Roman" panose="02020603050405020304" pitchFamily="18" charset="0"/>
              </a:rPr>
              <a:t>There is a no. of threat-hunting frameworks which organizations can employ. Two of the most popular are:</a:t>
            </a:r>
          </a:p>
          <a:p>
            <a:pPr lvl="1">
              <a:lnSpc>
                <a:spcPct val="170000"/>
              </a:lnSpc>
            </a:pPr>
            <a:r>
              <a:rPr lang="en-US" sz="1400" dirty="0" err="1">
                <a:solidFill>
                  <a:srgbClr val="FF0000"/>
                </a:solidFill>
                <a:cs typeface="Times New Roman" panose="02020603050405020304" pitchFamily="18" charset="0"/>
              </a:rPr>
              <a:t>TaHiTI</a:t>
            </a:r>
            <a:r>
              <a:rPr lang="en-US" sz="1400" dirty="0">
                <a:solidFill>
                  <a:srgbClr val="FF0000"/>
                </a:solidFill>
                <a:cs typeface="Times New Roman" panose="02020603050405020304" pitchFamily="18" charset="0"/>
              </a:rPr>
              <a:t> – Targeted Hunting integrating Threat Intelligence framework</a:t>
            </a:r>
          </a:p>
          <a:p>
            <a:pPr lvl="2">
              <a:lnSpc>
                <a:spcPct val="170000"/>
              </a:lnSpc>
            </a:pPr>
            <a:r>
              <a:rPr lang="en-US" sz="1400" dirty="0">
                <a:cs typeface="Times New Roman" panose="02020603050405020304" pitchFamily="18" charset="0"/>
              </a:rPr>
              <a:t>This framework is aligned with intel-based hunting. Threat intelligence, past occurrences, red teaming efforts, and other sources are sources of triggers.</a:t>
            </a:r>
          </a:p>
          <a:p>
            <a:pPr lvl="1">
              <a:lnSpc>
                <a:spcPct val="170000"/>
              </a:lnSpc>
            </a:pPr>
            <a:r>
              <a:rPr lang="en-US" sz="1400" dirty="0">
                <a:solidFill>
                  <a:srgbClr val="FF0000"/>
                </a:solidFill>
                <a:cs typeface="Times New Roman" panose="02020603050405020304" pitchFamily="18" charset="0"/>
              </a:rPr>
              <a:t>2. MITRE PRE-ATT&amp;CK and ATT&amp;CK frameworks</a:t>
            </a:r>
          </a:p>
          <a:p>
            <a:pPr lvl="2">
              <a:lnSpc>
                <a:spcPct val="170000"/>
              </a:lnSpc>
            </a:pPr>
            <a:r>
              <a:rPr lang="en-US" sz="1400" dirty="0">
                <a:cs typeface="Times New Roman" panose="02020603050405020304" pitchFamily="18" charset="0"/>
              </a:rPr>
              <a:t>These frameworks offer the expertise that may be used to address certain threat models and adversarial tactics.</a:t>
            </a:r>
          </a:p>
          <a:p>
            <a:pPr>
              <a:lnSpc>
                <a:spcPct val="170000"/>
              </a:lnSpc>
            </a:pPr>
            <a:r>
              <a:rPr lang="en-US" sz="1400" dirty="0">
                <a:cs typeface="Times New Roman" panose="02020603050405020304" pitchFamily="18" charset="0"/>
              </a:rPr>
              <a:t>An effective </a:t>
            </a:r>
            <a:r>
              <a:rPr lang="en-US" sz="1400" dirty="0" err="1">
                <a:cs typeface="Times New Roman" panose="02020603050405020304" pitchFamily="18" charset="0"/>
              </a:rPr>
              <a:t>defence</a:t>
            </a:r>
            <a:r>
              <a:rPr lang="en-US" sz="1400" dirty="0">
                <a:cs typeface="Times New Roman" panose="02020603050405020304" pitchFamily="18" charset="0"/>
              </a:rPr>
              <a:t> against threat actors is provided by a threat-hunting team's use of combinations of these techniques and resources as necessary.</a:t>
            </a:r>
            <a:endParaRPr lang="en-US" sz="1400" dirty="0"/>
          </a:p>
        </p:txBody>
      </p:sp>
      <p:pic>
        <p:nvPicPr>
          <p:cNvPr id="6146" name="Picture 2" descr="https://proinf.com/images/blog/info-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0047" y="2175641"/>
            <a:ext cx="5975260" cy="2758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9232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6765"/>
            <a:ext cx="4906754" cy="767388"/>
          </a:xfrm>
        </p:spPr>
        <p:txBody>
          <a:bodyPr>
            <a:normAutofit/>
          </a:bodyPr>
          <a:lstStyle/>
          <a:p>
            <a:r>
              <a:rPr lang="en-US" sz="3200" dirty="0">
                <a:cs typeface="Times New Roman" panose="02020603050405020304" pitchFamily="18" charset="0"/>
              </a:rPr>
              <a:t>Threat Hunting Process:</a:t>
            </a:r>
          </a:p>
        </p:txBody>
      </p:sp>
      <p:sp>
        <p:nvSpPr>
          <p:cNvPr id="3" name="Content Placeholder 2"/>
          <p:cNvSpPr>
            <a:spLocks noGrp="1"/>
          </p:cNvSpPr>
          <p:nvPr>
            <p:ph idx="1"/>
          </p:nvPr>
        </p:nvSpPr>
        <p:spPr>
          <a:xfrm>
            <a:off x="6331334" y="220717"/>
            <a:ext cx="5701949" cy="6066571"/>
          </a:xfrm>
        </p:spPr>
        <p:txBody>
          <a:bodyPr vert="horz" lIns="91440" tIns="45720" rIns="91440" bIns="45720" rtlCol="0" anchor="t">
            <a:normAutofit fontScale="62500" lnSpcReduction="20000"/>
          </a:bodyPr>
          <a:lstStyle/>
          <a:p>
            <a:pPr marL="0" indent="0">
              <a:lnSpc>
                <a:spcPct val="170000"/>
              </a:lnSpc>
              <a:buNone/>
            </a:pPr>
            <a:r>
              <a:rPr lang="en-US" sz="2900" dirty="0">
                <a:cs typeface="Times New Roman" panose="02020603050405020304" pitchFamily="18" charset="0"/>
              </a:rPr>
              <a:t>The actual threat hunt process starts from Step 3 in the given figure. Pre-hunt activities are integrated into our approach.</a:t>
            </a:r>
          </a:p>
          <a:p>
            <a:pPr>
              <a:lnSpc>
                <a:spcPct val="170000"/>
              </a:lnSpc>
            </a:pPr>
            <a:r>
              <a:rPr lang="en-US" sz="2900" b="1" dirty="0">
                <a:cs typeface="Times New Roman" panose="02020603050405020304" pitchFamily="18" charset="0"/>
              </a:rPr>
              <a:t>The threat-hunting is a cyclic process by nature. It consists of four processes.</a:t>
            </a:r>
            <a:endParaRPr lang="en-US" sz="2900" dirty="0">
              <a:cs typeface="Times New Roman" panose="02020603050405020304" pitchFamily="18" charset="0"/>
            </a:endParaRPr>
          </a:p>
          <a:p>
            <a:pPr lvl="1">
              <a:lnSpc>
                <a:spcPct val="170000"/>
              </a:lnSpc>
            </a:pPr>
            <a:r>
              <a:rPr lang="en-US" sz="2500" dirty="0">
                <a:cs typeface="Times New Roman" panose="02020603050405020304" pitchFamily="18" charset="0"/>
              </a:rPr>
              <a:t>Creation of a hypothesis.</a:t>
            </a:r>
          </a:p>
          <a:p>
            <a:pPr lvl="1">
              <a:lnSpc>
                <a:spcPct val="170000"/>
              </a:lnSpc>
            </a:pPr>
            <a:r>
              <a:rPr lang="en-US" sz="2500" dirty="0">
                <a:cs typeface="Times New Roman" panose="02020603050405020304" pitchFamily="18" charset="0"/>
              </a:rPr>
              <a:t>Verifying and validating the hypothesis. This process also includes further investigation for any proof with the help of Tools and Techniques.</a:t>
            </a:r>
          </a:p>
          <a:p>
            <a:pPr lvl="1">
              <a:lnSpc>
                <a:spcPct val="170000"/>
              </a:lnSpc>
            </a:pPr>
            <a:r>
              <a:rPr lang="en-US" sz="2500" dirty="0">
                <a:cs typeface="Times New Roman" panose="02020603050405020304" pitchFamily="18" charset="0"/>
              </a:rPr>
              <a:t>Uncover new TTP and patterns.</a:t>
            </a:r>
          </a:p>
          <a:p>
            <a:pPr lvl="1">
              <a:lnSpc>
                <a:spcPct val="170000"/>
              </a:lnSpc>
            </a:pPr>
            <a:r>
              <a:rPr lang="en-US" sz="2500" dirty="0">
                <a:cs typeface="Times New Roman"/>
              </a:rPr>
              <a:t>Inform and Enrichment. It is informing the incident response team about new TTP's which updates new threat definitions and categorizes threats using </a:t>
            </a:r>
            <a:r>
              <a:rPr lang="en-US" sz="2500" dirty="0">
                <a:solidFill>
                  <a:srgbClr val="FF0000"/>
                </a:solidFill>
                <a:cs typeface="Times New Roman"/>
              </a:rPr>
              <a:t>YARA</a:t>
            </a:r>
            <a:r>
              <a:rPr lang="en-US" sz="2500" dirty="0">
                <a:cs typeface="Times New Roman"/>
              </a:rPr>
              <a:t> and STIX.</a:t>
            </a:r>
          </a:p>
          <a:p>
            <a:endParaRPr lang="en-US" dirty="0"/>
          </a:p>
        </p:txBody>
      </p:sp>
      <p:pic>
        <p:nvPicPr>
          <p:cNvPr id="4" name="Picture 2" descr="https://proinf.com/images/blog/info-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94034"/>
            <a:ext cx="6331334" cy="32297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7121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0F7AE-A30C-4A05-18C9-C8D5CE361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56485A-86BE-BCCF-2E3A-1F18E871DE9D}"/>
              </a:ext>
            </a:extLst>
          </p:cNvPr>
          <p:cNvSpPr>
            <a:spLocks noGrp="1"/>
          </p:cNvSpPr>
          <p:nvPr>
            <p:ph type="title"/>
          </p:nvPr>
        </p:nvSpPr>
        <p:spPr>
          <a:xfrm>
            <a:off x="838200" y="687704"/>
            <a:ext cx="11120120" cy="365760"/>
          </a:xfrm>
        </p:spPr>
        <p:txBody>
          <a:bodyPr>
            <a:noAutofit/>
          </a:bodyPr>
          <a:lstStyle/>
          <a:p>
            <a:br>
              <a:rPr lang="en-US" sz="3200" dirty="0">
                <a:latin typeface="Times New Roman" panose="02020603050405020304" pitchFamily="18" charset="0"/>
                <a:cs typeface="Times New Roman" panose="02020603050405020304" pitchFamily="18" charset="0"/>
              </a:rPr>
            </a:b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What is </a:t>
            </a:r>
            <a:r>
              <a:rPr lang="en-US" sz="3200" i="0" dirty="0">
                <a:solidFill>
                  <a:srgbClr val="161616"/>
                </a:solidFill>
                <a:effectLst/>
                <a:latin typeface="Times New Roman" panose="02020603050405020304" pitchFamily="18" charset="0"/>
                <a:cs typeface="Times New Roman" panose="02020603050405020304" pitchFamily="18" charset="0"/>
              </a:rPr>
              <a:t>Difference between Threat hunting vs Threat Intelligence</a:t>
            </a:r>
            <a:r>
              <a:rPr lang="en-US" sz="3200" dirty="0">
                <a:latin typeface="Times New Roman" panose="02020603050405020304" pitchFamily="18" charset="0"/>
                <a:cs typeface="Times New Roman" panose="02020603050405020304" pitchFamily="18" charset="0"/>
              </a:rPr>
              <a:t>?</a:t>
            </a:r>
            <a:br>
              <a:rPr 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099219E1-F5B7-5179-C977-42EB6E10D136}"/>
              </a:ext>
            </a:extLst>
          </p:cNvPr>
          <p:cNvSpPr>
            <a:spLocks noGrp="1"/>
          </p:cNvSpPr>
          <p:nvPr>
            <p:ph idx="1"/>
          </p:nvPr>
        </p:nvSpPr>
        <p:spPr>
          <a:xfrm>
            <a:off x="838200" y="687704"/>
            <a:ext cx="11120120" cy="5428615"/>
          </a:xfrm>
        </p:spPr>
        <p:txBody>
          <a:bodyPr>
            <a:normAutofit/>
          </a:bodyPr>
          <a:lstStyle/>
          <a:p>
            <a:pPr marL="0" indent="0" algn="just">
              <a:buNone/>
            </a:pPr>
            <a:r>
              <a:rPr lang="en-US" dirty="0"/>
              <a:t>	</a:t>
            </a:r>
          </a:p>
          <a:p>
            <a:pPr marL="0" indent="0" algn="just">
              <a:buNone/>
            </a:pPr>
            <a:endParaRPr lang="en-US" dirty="0"/>
          </a:p>
        </p:txBody>
      </p:sp>
      <p:graphicFrame>
        <p:nvGraphicFramePr>
          <p:cNvPr id="3" name="Table 2">
            <a:extLst>
              <a:ext uri="{FF2B5EF4-FFF2-40B4-BE49-F238E27FC236}">
                <a16:creationId xmlns:a16="http://schemas.microsoft.com/office/drawing/2014/main" id="{A04D64ED-CE37-F2C1-8F8E-2E685675BE19}"/>
              </a:ext>
            </a:extLst>
          </p:cNvPr>
          <p:cNvGraphicFramePr>
            <a:graphicFrameLocks noGrp="1"/>
          </p:cNvGraphicFramePr>
          <p:nvPr/>
        </p:nvGraphicFramePr>
        <p:xfrm>
          <a:off x="1158240" y="1652629"/>
          <a:ext cx="10048239" cy="4454848"/>
        </p:xfrm>
        <a:graphic>
          <a:graphicData uri="http://schemas.openxmlformats.org/drawingml/2006/table">
            <a:tbl>
              <a:tblPr firstRow="1" firstCol="1" bandRow="1">
                <a:tableStyleId>{5C22544A-7EE6-4342-B048-85BDC9FD1C3A}</a:tableStyleId>
              </a:tblPr>
              <a:tblGrid>
                <a:gridCol w="2458720">
                  <a:extLst>
                    <a:ext uri="{9D8B030D-6E8A-4147-A177-3AD203B41FA5}">
                      <a16:colId xmlns:a16="http://schemas.microsoft.com/office/drawing/2014/main" val="392610072"/>
                    </a:ext>
                  </a:extLst>
                </a:gridCol>
                <a:gridCol w="3820160">
                  <a:extLst>
                    <a:ext uri="{9D8B030D-6E8A-4147-A177-3AD203B41FA5}">
                      <a16:colId xmlns:a16="http://schemas.microsoft.com/office/drawing/2014/main" val="1054051666"/>
                    </a:ext>
                  </a:extLst>
                </a:gridCol>
                <a:gridCol w="3769359">
                  <a:extLst>
                    <a:ext uri="{9D8B030D-6E8A-4147-A177-3AD203B41FA5}">
                      <a16:colId xmlns:a16="http://schemas.microsoft.com/office/drawing/2014/main" val="3629061716"/>
                    </a:ext>
                  </a:extLst>
                </a:gridCol>
              </a:tblGrid>
              <a:tr h="557833">
                <a:tc>
                  <a:txBody>
                    <a:bodyPr/>
                    <a:lstStyle/>
                    <a:p>
                      <a:pPr algn="ctr">
                        <a:lnSpc>
                          <a:spcPct val="107000"/>
                        </a:lnSpc>
                        <a:spcAft>
                          <a:spcPts val="800"/>
                        </a:spcAft>
                      </a:pPr>
                      <a:r>
                        <a:rPr lang="en-US" sz="2000" kern="0" dirty="0">
                          <a:effectLst/>
                          <a:latin typeface="Times New Roman" panose="02020603050405020304" pitchFamily="18" charset="0"/>
                          <a:cs typeface="Times New Roman" panose="02020603050405020304" pitchFamily="18" charset="0"/>
                        </a:rPr>
                        <a:t>Aspect</a:t>
                      </a:r>
                      <a:endParaRPr lang="en-US" sz="2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2000" kern="0" dirty="0">
                          <a:effectLst/>
                          <a:latin typeface="Times New Roman" panose="02020603050405020304" pitchFamily="18" charset="0"/>
                          <a:cs typeface="Times New Roman" panose="02020603050405020304" pitchFamily="18" charset="0"/>
                        </a:rPr>
                        <a:t>Threat Hunting</a:t>
                      </a:r>
                      <a:endParaRPr lang="en-US" sz="2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07000"/>
                        </a:lnSpc>
                        <a:spcAft>
                          <a:spcPts val="800"/>
                        </a:spcAft>
                      </a:pPr>
                      <a:r>
                        <a:rPr lang="en-US" sz="2000" kern="0" dirty="0">
                          <a:effectLst/>
                          <a:latin typeface="Times New Roman" panose="02020603050405020304" pitchFamily="18" charset="0"/>
                          <a:cs typeface="Times New Roman" panose="02020603050405020304" pitchFamily="18" charset="0"/>
                        </a:rPr>
                        <a:t>Threat Intelligence</a:t>
                      </a:r>
                      <a:endParaRPr lang="en-US" sz="20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02744002"/>
                  </a:ext>
                </a:extLst>
              </a:tr>
              <a:tr h="779403">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Definition</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dirty="0">
                          <a:effectLst/>
                          <a:latin typeface="Times New Roman" panose="02020603050405020304" pitchFamily="18" charset="0"/>
                          <a:cs typeface="Times New Roman" panose="02020603050405020304" pitchFamily="18" charset="0"/>
                        </a:rPr>
                        <a:t>Proactive approach to identifying and mitigating threats</a:t>
                      </a:r>
                      <a:endParaRPr lang="en-US" sz="18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Proactively collected, analyzed, and disseminated data on threats</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31136537"/>
                  </a:ext>
                </a:extLst>
              </a:tr>
              <a:tr h="779403">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Focus</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Identifying and neutralizing active threats</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Gathering information about potential and emerging threats</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1112258"/>
                  </a:ext>
                </a:extLst>
              </a:tr>
              <a:tr h="779403">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Methodology</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Involves actively searching for signs of compromise</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dirty="0">
                          <a:effectLst/>
                          <a:latin typeface="Times New Roman" panose="02020603050405020304" pitchFamily="18" charset="0"/>
                          <a:cs typeface="Times New Roman" panose="02020603050405020304" pitchFamily="18" charset="0"/>
                        </a:rPr>
                        <a:t>Involves collecting, analyzing, and interpreting data</a:t>
                      </a:r>
                      <a:endParaRPr lang="en-US" sz="18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0145215"/>
                  </a:ext>
                </a:extLst>
              </a:tr>
              <a:tr h="779403">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Timeframe</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Typically done in real-time or near-real-time</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Ongoing process, with information collected over time</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84712652"/>
                  </a:ext>
                </a:extLst>
              </a:tr>
              <a:tr h="779403">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Output</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a:effectLst/>
                          <a:latin typeface="Times New Roman" panose="02020603050405020304" pitchFamily="18" charset="0"/>
                          <a:cs typeface="Times New Roman" panose="02020603050405020304" pitchFamily="18" charset="0"/>
                        </a:rPr>
                        <a:t>Directly actionable insights and findings</a:t>
                      </a:r>
                      <a:endParaRPr lang="en-US" sz="1800" kern="10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800"/>
                        </a:spcAft>
                      </a:pPr>
                      <a:r>
                        <a:rPr lang="en-US" sz="1800" kern="0" dirty="0">
                          <a:effectLst/>
                          <a:latin typeface="Times New Roman" panose="02020603050405020304" pitchFamily="18" charset="0"/>
                          <a:cs typeface="Times New Roman" panose="02020603050405020304" pitchFamily="18" charset="0"/>
                        </a:rPr>
                        <a:t>Strategic reports, indicators of compromise, and advisories</a:t>
                      </a:r>
                      <a:endParaRPr lang="en-US" sz="1800" kern="100" dirty="0">
                        <a:solidFill>
                          <a:srgbClr val="FFFFFF"/>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5479806"/>
                  </a:ext>
                </a:extLst>
              </a:tr>
            </a:tbl>
          </a:graphicData>
        </a:graphic>
      </p:graphicFrame>
    </p:spTree>
    <p:extLst>
      <p:ext uri="{BB962C8B-B14F-4D97-AF65-F5344CB8AC3E}">
        <p14:creationId xmlns:p14="http://schemas.microsoft.com/office/powerpoint/2010/main" val="27526298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E92DE-485A-F71A-A7CA-8EF835D64A38}"/>
              </a:ext>
            </a:extLst>
          </p:cNvPr>
          <p:cNvSpPr>
            <a:spLocks noGrp="1"/>
          </p:cNvSpPr>
          <p:nvPr>
            <p:ph type="title"/>
          </p:nvPr>
        </p:nvSpPr>
        <p:spPr/>
        <p:txBody>
          <a:bodyPr/>
          <a:lstStyle/>
          <a:p>
            <a:r>
              <a:rPr lang="en-US" sz="1200" dirty="0">
                <a:latin typeface="Aptos"/>
              </a:rPr>
              <a:t>Threat Hunting using Yara</a:t>
            </a:r>
            <a:endParaRPr lang="en-US" dirty="0"/>
          </a:p>
        </p:txBody>
      </p:sp>
      <p:sp>
        <p:nvSpPr>
          <p:cNvPr id="3" name="Content Placeholder 2">
            <a:extLst>
              <a:ext uri="{FF2B5EF4-FFF2-40B4-BE49-F238E27FC236}">
                <a16:creationId xmlns:a16="http://schemas.microsoft.com/office/drawing/2014/main" id="{96F1A4C2-FC27-43A6-24E9-3B6DD43F2794}"/>
              </a:ext>
            </a:extLst>
          </p:cNvPr>
          <p:cNvSpPr>
            <a:spLocks noGrp="1"/>
          </p:cNvSpPr>
          <p:nvPr>
            <p:ph idx="1"/>
          </p:nvPr>
        </p:nvSpPr>
        <p:spPr/>
        <p:txBody>
          <a:bodyPr vert="horz" lIns="91440" tIns="45720" rIns="91440" bIns="45720" rtlCol="0" anchor="t">
            <a:normAutofit/>
          </a:bodyPr>
          <a:lstStyle/>
          <a:p>
            <a:endParaRPr lang="en-US" sz="1200" dirty="0">
              <a:latin typeface="Aptos"/>
            </a:endParaRPr>
          </a:p>
          <a:p>
            <a:endParaRPr lang="en-US" sz="1200" dirty="0">
              <a:latin typeface="Aptos"/>
            </a:endParaRPr>
          </a:p>
          <a:p>
            <a:r>
              <a:rPr lang="en-US" sz="1200" u="sng" dirty="0">
                <a:latin typeface="Aptos"/>
                <a:hlinkClick r:id="rId2"/>
              </a:rPr>
              <a:t>https://www.geeksforgeeks.org/threat-hunting-using-yara/</a:t>
            </a:r>
            <a:endParaRPr lang="en-US" sz="1200" dirty="0">
              <a:latin typeface="Aptos"/>
            </a:endParaRPr>
          </a:p>
          <a:p>
            <a:r>
              <a:rPr lang="en-US" sz="1200" u="sng" dirty="0">
                <a:latin typeface="Aptos"/>
                <a:hlinkClick r:id="rId3"/>
              </a:rPr>
              <a:t>https://support.phishingtackle.com/hc/en-gb/articles/4410170814609-YARA-Rule-Examples</a:t>
            </a:r>
            <a:endParaRPr lang="en-US" sz="1200" dirty="0">
              <a:latin typeface="Aptos"/>
            </a:endParaRPr>
          </a:p>
          <a:p>
            <a:r>
              <a:rPr lang="en-US" sz="1200" u="sng" dirty="0">
                <a:latin typeface="Aptos"/>
                <a:hlinkClick r:id="rId4"/>
              </a:rPr>
              <a:t>Example 1 - Detect messages with a demand for money </a:t>
            </a:r>
            <a:endParaRPr lang="en-US" sz="1200" dirty="0">
              <a:latin typeface="Aptos"/>
            </a:endParaRPr>
          </a:p>
          <a:p>
            <a:r>
              <a:rPr lang="en-US" sz="1200" u="sng" dirty="0">
                <a:latin typeface="Aptos"/>
                <a:hlinkClick r:id="rId5"/>
              </a:rPr>
              <a:t>Example 2 - Prevent specific website links or names</a:t>
            </a:r>
            <a:endParaRPr lang="en-US" sz="1200" dirty="0">
              <a:latin typeface="Aptos"/>
            </a:endParaRPr>
          </a:p>
          <a:p>
            <a:r>
              <a:rPr lang="en-US" sz="1200" u="sng" dirty="0">
                <a:latin typeface="Aptos"/>
                <a:hlinkClick r:id="rId6"/>
              </a:rPr>
              <a:t>Example 3 - Hexadecimal strings for file signatures</a:t>
            </a:r>
            <a:endParaRPr lang="en-US" sz="1200" dirty="0">
              <a:latin typeface="Aptos"/>
            </a:endParaRPr>
          </a:p>
          <a:p>
            <a:r>
              <a:rPr lang="en-US" sz="1200" u="sng" dirty="0">
                <a:latin typeface="Aptos"/>
                <a:hlinkClick r:id="rId7"/>
              </a:rPr>
              <a:t>Example 4 - Using Regular expression to detect URLs</a:t>
            </a:r>
            <a:endParaRPr lang="en-US" sz="1200" dirty="0">
              <a:latin typeface="Aptos"/>
            </a:endParaRPr>
          </a:p>
          <a:p>
            <a:r>
              <a:rPr lang="en-US" sz="1200" u="sng" dirty="0">
                <a:latin typeface="Aptos"/>
                <a:hlinkClick r:id="rId8"/>
              </a:rPr>
              <a:t>Example 5 - Using multiple conditions to improve matches</a:t>
            </a:r>
            <a:endParaRPr lang="en-US" sz="1200" dirty="0">
              <a:latin typeface="Aptos"/>
            </a:endParaRPr>
          </a:p>
          <a:p>
            <a:endParaRPr lang="en-US" dirty="0"/>
          </a:p>
        </p:txBody>
      </p:sp>
    </p:spTree>
    <p:extLst>
      <p:ext uri="{BB962C8B-B14F-4D97-AF65-F5344CB8AC3E}">
        <p14:creationId xmlns:p14="http://schemas.microsoft.com/office/powerpoint/2010/main" val="17819911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CB2E1-121E-777F-1EFA-A314C5A04918}"/>
              </a:ext>
            </a:extLst>
          </p:cNvPr>
          <p:cNvSpPr>
            <a:spLocks noGrp="1"/>
          </p:cNvSpPr>
          <p:nvPr>
            <p:ph type="title"/>
          </p:nvPr>
        </p:nvSpPr>
        <p:spPr/>
        <p:txBody>
          <a:bodyPr/>
          <a:lstStyle/>
          <a:p>
            <a:r>
              <a:rPr lang="en-US"/>
              <a:t>Activity - </a:t>
            </a:r>
            <a:r>
              <a:rPr lang="en-US">
                <a:solidFill>
                  <a:srgbClr val="000000"/>
                </a:solidFill>
              </a:rPr>
              <a:t>ATT&amp;CK Navigator</a:t>
            </a:r>
          </a:p>
        </p:txBody>
      </p:sp>
      <p:sp>
        <p:nvSpPr>
          <p:cNvPr id="3" name="Content Placeholder 2">
            <a:extLst>
              <a:ext uri="{FF2B5EF4-FFF2-40B4-BE49-F238E27FC236}">
                <a16:creationId xmlns:a16="http://schemas.microsoft.com/office/drawing/2014/main" id="{C512A183-87B7-E62F-6C99-ADCE804FB867}"/>
              </a:ext>
            </a:extLst>
          </p:cNvPr>
          <p:cNvSpPr>
            <a:spLocks noGrp="1"/>
          </p:cNvSpPr>
          <p:nvPr>
            <p:ph idx="1"/>
          </p:nvPr>
        </p:nvSpPr>
        <p:spPr/>
        <p:txBody>
          <a:bodyPr vert="horz" lIns="91440" tIns="45720" rIns="91440" bIns="45720" rtlCol="0" anchor="t">
            <a:normAutofit/>
          </a:bodyPr>
          <a:lstStyle/>
          <a:p>
            <a:r>
              <a:rPr lang="en-US" sz="1100" dirty="0">
                <a:solidFill>
                  <a:srgbClr val="495057"/>
                </a:solidFill>
                <a:ea typeface="+mn-lt"/>
                <a:cs typeface="+mn-lt"/>
              </a:rPr>
              <a:t>The ATT&amp;CK Navigator is a web-based tool for annotating and exploring ATT&amp;CK matrices. It can be used to visualize defensive coverage, red/blue team planning, the frequency of detected techniques, and more.</a:t>
            </a:r>
            <a:br>
              <a:rPr lang="en-US" sz="1100" dirty="0">
                <a:solidFill>
                  <a:srgbClr val="495057"/>
                </a:solidFill>
                <a:ea typeface="+mn-lt"/>
                <a:cs typeface="+mn-lt"/>
              </a:rPr>
            </a:br>
            <a:endParaRPr lang="en-US" sz="1100" dirty="0">
              <a:solidFill>
                <a:srgbClr val="495057"/>
              </a:solidFill>
              <a:ea typeface="+mn-lt"/>
              <a:cs typeface="+mn-lt"/>
            </a:endParaRPr>
          </a:p>
          <a:p>
            <a:r>
              <a:rPr lang="en-US" sz="1100" dirty="0">
                <a:solidFill>
                  <a:srgbClr val="495057"/>
                </a:solidFill>
                <a:ea typeface="+mn-lt"/>
                <a:cs typeface="+mn-lt"/>
                <a:hlinkClick r:id="rId2"/>
              </a:rPr>
              <a:t>https://www.youtube.com/watch?v=78RIsFqo9pM</a:t>
            </a:r>
            <a:br>
              <a:rPr lang="en-US" sz="1100" dirty="0">
                <a:solidFill>
                  <a:srgbClr val="495057"/>
                </a:solidFill>
                <a:ea typeface="+mn-lt"/>
                <a:cs typeface="+mn-lt"/>
              </a:rPr>
            </a:br>
            <a:endParaRPr lang="en-US" sz="1100" dirty="0">
              <a:solidFill>
                <a:srgbClr val="495057"/>
              </a:solidFill>
              <a:ea typeface="+mn-lt"/>
              <a:cs typeface="+mn-lt"/>
            </a:endParaRPr>
          </a:p>
          <a:p>
            <a:r>
              <a:rPr lang="en-US" sz="1100" dirty="0">
                <a:solidFill>
                  <a:srgbClr val="2A338E"/>
                </a:solidFill>
                <a:ea typeface="+mn-lt"/>
                <a:cs typeface="+mn-lt"/>
                <a:hlinkClick r:id="rId3"/>
              </a:rPr>
              <a:t>ATT&amp;CK® Navigator (mitre-attack.github.io)</a:t>
            </a:r>
            <a:endParaRPr lang="en-US"/>
          </a:p>
          <a:p>
            <a:r>
              <a:rPr lang="en-US" sz="1100" dirty="0">
                <a:solidFill>
                  <a:srgbClr val="2A338E"/>
                </a:solidFill>
                <a:ea typeface="+mn-lt"/>
                <a:cs typeface="+mn-lt"/>
                <a:hlinkClick r:id="rId4"/>
              </a:rPr>
              <a:t>Example Flows — Attack Flow v2.1.7 documentation (center-for-threat-informed-defense.github.io)</a:t>
            </a:r>
            <a:endParaRPr lang="en-US"/>
          </a:p>
          <a:p>
            <a:endParaRPr lang="en-US" sz="1100" dirty="0">
              <a:solidFill>
                <a:srgbClr val="495057"/>
              </a:solidFill>
              <a:latin typeface="Segoe UI"/>
              <a:cs typeface="Segoe UI"/>
            </a:endParaRPr>
          </a:p>
        </p:txBody>
      </p:sp>
    </p:spTree>
    <p:extLst>
      <p:ext uri="{BB962C8B-B14F-4D97-AF65-F5344CB8AC3E}">
        <p14:creationId xmlns:p14="http://schemas.microsoft.com/office/powerpoint/2010/main" val="955997081"/>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5B96C54-0A27-4F08-9C0C-1866F81CC976}" vid="{FD9DF39B-C2CC-4318-B2DC-E4DB3D62B6BC}"/>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969DC3C-6296-461B-A225-8BF2084AC6A8}"/>
</file>

<file path=customXml/itemProps2.xml><?xml version="1.0" encoding="utf-8"?>
<ds:datastoreItem xmlns:ds="http://schemas.openxmlformats.org/officeDocument/2006/customXml" ds:itemID="{C073D881-D764-4E8A-8FEF-DB314A77565F}">
  <ds:schemaRefs>
    <ds:schemaRef ds:uri="http://schemas.microsoft.com/sharepoint/v3/contenttype/forms"/>
  </ds:schemaRefs>
</ds:datastoreItem>
</file>

<file path=customXml/itemProps3.xml><?xml version="1.0" encoding="utf-8"?>
<ds:datastoreItem xmlns:ds="http://schemas.openxmlformats.org/officeDocument/2006/customXml" ds:itemID="{EF375319-3ADA-4C99-BE34-4E4785DD0A48}">
  <ds:schemaRefs>
    <ds:schemaRef ds:uri="http://www.w3.org/XML/1998/namespace"/>
    <ds:schemaRef ds:uri="http://purl.org/dc/terms/"/>
    <ds:schemaRef ds:uri="http://purl.org/dc/dcmitype/"/>
    <ds:schemaRef ds:uri="http://schemas.microsoft.com/office/2006/metadata/properties"/>
    <ds:schemaRef ds:uri="http://schemas.microsoft.com/office/2006/documentManagement/types"/>
    <ds:schemaRef ds:uri="http://schemas.microsoft.com/office/infopath/2007/PartnerControls"/>
    <ds:schemaRef ds:uri="f1656a58-f635-43f4-9c49-b466eae26e3c"/>
    <ds:schemaRef ds:uri="http://schemas.openxmlformats.org/package/2006/metadata/core-properties"/>
    <ds:schemaRef ds:uri="d5f44108-e3fb-463f-993b-c9b3a842b725"/>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Primary Colors-UTAS</Template>
  <TotalTime>1983</TotalTime>
  <Words>4626</Words>
  <Application>Microsoft Office PowerPoint</Application>
  <PresentationFormat>Widescreen</PresentationFormat>
  <Paragraphs>276</Paragraphs>
  <Slides>39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39</vt:i4>
      </vt:variant>
    </vt:vector>
  </HeadingPairs>
  <TitlesOfParts>
    <vt:vector size="51" baseType="lpstr">
      <vt:lpstr>Aptos</vt:lpstr>
      <vt:lpstr>Arial</vt:lpstr>
      <vt:lpstr>Calibri</vt:lpstr>
      <vt:lpstr>CiscoSansTT</vt:lpstr>
      <vt:lpstr>PT Sans</vt:lpstr>
      <vt:lpstr>Segoe UI</vt:lpstr>
      <vt:lpstr>Symbol</vt:lpstr>
      <vt:lpstr>Times New Roman</vt:lpstr>
      <vt:lpstr>Trebuchet MS</vt:lpstr>
      <vt:lpstr>var(--headings-font-family)</vt:lpstr>
      <vt:lpstr>Wingdings</vt:lpstr>
      <vt:lpstr>Office Theme</vt:lpstr>
      <vt:lpstr>Lecture 6</vt:lpstr>
      <vt:lpstr>6. Threat Intelligence and Threat Hunting  </vt:lpstr>
      <vt:lpstr>Objectives</vt:lpstr>
      <vt:lpstr>6. Threat Intelligence and Threat Hunting  </vt:lpstr>
      <vt:lpstr>What is Threat intelligence?</vt:lpstr>
      <vt:lpstr> Why is Threat Intelligence Important? </vt:lpstr>
      <vt:lpstr>Roll of Threat intelligence in SOC operations.</vt:lpstr>
      <vt:lpstr>PowerPoint Presentation</vt:lpstr>
      <vt:lpstr>Threat intelligence lifecycle</vt:lpstr>
      <vt:lpstr>   How Threat Intelligence is Used in a SOC?   </vt:lpstr>
      <vt:lpstr>    Challenges in Implementing Threat Intelligence in a SOC:    </vt:lpstr>
      <vt:lpstr>    Merits and Demerits of Threat Intelligence in a SOC    </vt:lpstr>
      <vt:lpstr>   Incorporating threat intelligence into incident response.   </vt:lpstr>
      <vt:lpstr>    Incorporating threat intelligence into incident response    </vt:lpstr>
      <vt:lpstr>6. Threat Intelligence and Threat Hunting  </vt:lpstr>
      <vt:lpstr>Network Intelligence Communities</vt:lpstr>
      <vt:lpstr>PowerPoint Presentation</vt:lpstr>
      <vt:lpstr>Threat Intelligence Services</vt:lpstr>
      <vt:lpstr>PowerPoint Presentation</vt:lpstr>
      <vt:lpstr>PowerPoint Presentation</vt:lpstr>
      <vt:lpstr>PowerPoint Presentation</vt:lpstr>
      <vt:lpstr>Sources of Threat Intelligence data</vt:lpstr>
      <vt:lpstr>6. Threat Intelligence and Threat Hunting  </vt:lpstr>
      <vt:lpstr> What is threat hunting? </vt:lpstr>
      <vt:lpstr>Cyber threat hunting  Methods, Tools, Techniques &amp; Frameworks</vt:lpstr>
      <vt:lpstr>Cyber Threat Hunting Activities</vt:lpstr>
      <vt:lpstr> Effective Threat hunting process </vt:lpstr>
      <vt:lpstr>PowerPoint Presentation</vt:lpstr>
      <vt:lpstr>6. Threat Intelligence and Threat Hunting  </vt:lpstr>
      <vt:lpstr>  Threat hunting methodologies and techniques:  </vt:lpstr>
      <vt:lpstr>PowerPoint Presentation</vt:lpstr>
      <vt:lpstr> Threat hunting methodologies and techniques: </vt:lpstr>
      <vt:lpstr>PowerPoint Presentation</vt:lpstr>
      <vt:lpstr>   Threat Hunting Tools   </vt:lpstr>
      <vt:lpstr>Threat Hunting Frameworks</vt:lpstr>
      <vt:lpstr>Threat Hunting Process:</vt:lpstr>
      <vt:lpstr>  What is Difference between Threat hunting vs Threat Intelligence? </vt:lpstr>
      <vt:lpstr>Threat Hunting using Yara</vt:lpstr>
      <vt:lpstr>Activity - ATT&amp;CK Navigator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lastModifiedBy>Mary Amirtha Sagayee</cp:lastModifiedBy>
  <cp:revision>39</cp:revision>
  <dcterms:created xsi:type="dcterms:W3CDTF">2024-01-08T13:56:07Z</dcterms:created>
  <dcterms:modified xsi:type="dcterms:W3CDTF">2025-10-25T20:27:46Z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2024-03-15T14:08:50Z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0cb1b2ee-55d8-497c-800c-df65dc91d952</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y fmtid="{D5CDD505-2E9C-101B-9397-08002B2CF9AE}" pid="10" name="MediaServiceImageTags">
    <vt:lpwstr/>
  </property>
</Properties>
</file>