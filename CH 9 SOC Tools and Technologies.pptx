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8"/>
  </p:notesMasterIdLst>
  <p:sldIdLst>
    <p:sldId id="257" r:id="rId5"/>
    <p:sldId id="258" r:id="rId6"/>
    <p:sldId id="289" r:id="rId7"/>
    <p:sldId id="290" r:id="rId8"/>
    <p:sldId id="319" r:id="rId9"/>
    <p:sldId id="320" r:id="rId10"/>
    <p:sldId id="321" r:id="rId11"/>
    <p:sldId id="322" r:id="rId12"/>
    <p:sldId id="323" r:id="rId13"/>
    <p:sldId id="308" r:id="rId14"/>
    <p:sldId id="291" r:id="rId15"/>
    <p:sldId id="293" r:id="rId16"/>
    <p:sldId id="294" r:id="rId17"/>
    <p:sldId id="295" r:id="rId18"/>
    <p:sldId id="296" r:id="rId19"/>
    <p:sldId id="297" r:id="rId20"/>
    <p:sldId id="307" r:id="rId21"/>
    <p:sldId id="299" r:id="rId22"/>
    <p:sldId id="301" r:id="rId23"/>
    <p:sldId id="302" r:id="rId24"/>
    <p:sldId id="309" r:id="rId25"/>
    <p:sldId id="303" r:id="rId26"/>
    <p:sldId id="304" r:id="rId27"/>
    <p:sldId id="305" r:id="rId28"/>
    <p:sldId id="306" r:id="rId29"/>
    <p:sldId id="318" r:id="rId30"/>
    <p:sldId id="310" r:id="rId31"/>
    <p:sldId id="311" r:id="rId32"/>
    <p:sldId id="312" r:id="rId33"/>
    <p:sldId id="313" r:id="rId34"/>
    <p:sldId id="314" r:id="rId35"/>
    <p:sldId id="315" r:id="rId36"/>
    <p:sldId id="31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AA774C-8938-B2C3-CDD4-959C7AB6F42F}" v="1" dt="2025-11-29T15:24:36.7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E48C05A-0B82-31AB-662C-0CE896B997B9}"/>
    <pc:docChg chg="modSld">
      <pc:chgData name="" userId="" providerId="" clId="Web-{9E48C05A-0B82-31AB-662C-0CE896B997B9}" dt="2025-11-16T09:49:41.984" v="0" actId="20577"/>
      <pc:docMkLst>
        <pc:docMk/>
      </pc:docMkLst>
      <pc:sldChg chg="modSp">
        <pc:chgData name="" userId="" providerId="" clId="Web-{9E48C05A-0B82-31AB-662C-0CE896B997B9}" dt="2025-11-16T09:49:41.984" v="0" actId="20577"/>
        <pc:sldMkLst>
          <pc:docMk/>
          <pc:sldMk cId="0" sldId="257"/>
        </pc:sldMkLst>
        <pc:spChg chg="mod">
          <ac:chgData name="" userId="" providerId="" clId="Web-{9E48C05A-0B82-31AB-662C-0CE896B997B9}" dt="2025-11-16T09:49:41.984" v="0" actId="20577"/>
          <ac:spMkLst>
            <pc:docMk/>
            <pc:sldMk cId="0" sldId="257"/>
            <ac:spMk id="2" creationId="{00000000-0000-0000-0000-000000000000}"/>
          </ac:spMkLst>
        </pc:spChg>
      </pc:sldChg>
    </pc:docChg>
  </pc:docChgLst>
  <pc:docChgLst>
    <pc:chgData name="Arwa Said Salim Al Shanfari" userId="S::arwa.alshanfari@utas.edu.om::9c079c79-4ee4-4f20-bc65-49ce63929ea8" providerId="AD" clId="Web-{F8AA774C-8938-B2C3-CDD4-959C7AB6F42F}"/>
    <pc:docChg chg="modSld">
      <pc:chgData name="Arwa Said Salim Al Shanfari" userId="S::arwa.alshanfari@utas.edu.om::9c079c79-4ee4-4f20-bc65-49ce63929ea8" providerId="AD" clId="Web-{F8AA774C-8938-B2C3-CDD4-959C7AB6F42F}" dt="2025-11-29T15:24:36.756" v="0" actId="20577"/>
      <pc:docMkLst>
        <pc:docMk/>
      </pc:docMkLst>
      <pc:sldChg chg="modSp">
        <pc:chgData name="Arwa Said Salim Al Shanfari" userId="S::arwa.alshanfari@utas.edu.om::9c079c79-4ee4-4f20-bc65-49ce63929ea8" providerId="AD" clId="Web-{F8AA774C-8938-B2C3-CDD4-959C7AB6F42F}" dt="2025-11-29T15:24:36.756" v="0" actId="20577"/>
        <pc:sldMkLst>
          <pc:docMk/>
          <pc:sldMk cId="0" sldId="257"/>
        </pc:sldMkLst>
        <pc:spChg chg="mod">
          <ac:chgData name="Arwa Said Salim Al Shanfari" userId="S::arwa.alshanfari@utas.edu.om::9c079c79-4ee4-4f20-bc65-49ce63929ea8" providerId="AD" clId="Web-{F8AA774C-8938-B2C3-CDD4-959C7AB6F42F}" dt="2025-11-29T15:24:36.756" v="0" actId="20577"/>
          <ac:spMkLst>
            <pc:docMk/>
            <pc:sldMk cId="0"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A99E76-3D3D-4653-BD7E-AB8198DEA359}"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1DAF92-6704-4139-9863-BB9FC786B9C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C1DAF92-6704-4139-9863-BB9FC786B9C7}"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17487/RFC4301" TargetMode="External"/><Relationship Id="rId13" Type="http://schemas.openxmlformats.org/officeDocument/2006/relationships/hyperlink" Target="https://doi.org/10.6028/NIST.IR.8011" TargetMode="External"/><Relationship Id="rId18" Type="http://schemas.openxmlformats.org/officeDocument/2006/relationships/hyperlink" Target="https://www.snort.org/documents" TargetMode="External"/><Relationship Id="rId3" Type="http://schemas.openxmlformats.org/officeDocument/2006/relationships/hyperlink" Target="https://www.forrester.com/report/The-Forrester-Wave-Enterprise-Firewalls-Q1-2025" TargetMode="External"/><Relationship Id="rId7" Type="http://schemas.openxmlformats.org/officeDocument/2006/relationships/hyperlink" Target="https://www.iso.org/standard/27001" TargetMode="External"/><Relationship Id="rId12" Type="http://schemas.openxmlformats.org/officeDocument/2006/relationships/hyperlink" Target="https://doi.org/10.6028/NIST.SP.800-207" TargetMode="External"/><Relationship Id="rId17" Type="http://schemas.openxmlformats.org/officeDocument/2006/relationships/hyperlink" Target="https://doi.org/10.6028/NIST.SP.800-94" TargetMode="External"/><Relationship Id="rId2" Type="http://schemas.openxmlformats.org/officeDocument/2006/relationships/hyperlink" Target="https://www.crowdstrike.com/global-threat-report/" TargetMode="External"/><Relationship Id="rId16" Type="http://schemas.openxmlformats.org/officeDocument/2006/relationships/hyperlink" Target="https://www.sans.org/reading-room/whitepapers/incident" TargetMode="External"/><Relationship Id="rId1" Type="http://schemas.openxmlformats.org/officeDocument/2006/relationships/slideLayout" Target="../slideLayouts/slideLayout3.xml"/><Relationship Id="rId6" Type="http://schemas.openxmlformats.org/officeDocument/2006/relationships/hyperlink" Target="https://www.gartner.com/en/documents/4001234" TargetMode="External"/><Relationship Id="rId11" Type="http://schemas.openxmlformats.org/officeDocument/2006/relationships/hyperlink" Target="https://doi.org/10.6028/NIST.SP.800-41r1" TargetMode="External"/><Relationship Id="rId5" Type="http://schemas.openxmlformats.org/officeDocument/2006/relationships/hyperlink" Target="https://www.gartner.com/en/documents/4012345" TargetMode="External"/><Relationship Id="rId15" Type="http://schemas.openxmlformats.org/officeDocument/2006/relationships/hyperlink" Target="https://www.sans.org/reading-room/whitepapers/intrusion" TargetMode="External"/><Relationship Id="rId10" Type="http://schemas.openxmlformats.org/officeDocument/2006/relationships/hyperlink" Target="https://doi.org/10.6028/NIST.SP.800-92" TargetMode="External"/><Relationship Id="rId4" Type="http://schemas.openxmlformats.org/officeDocument/2006/relationships/hyperlink" Target="https://www.gartner.com/en/information-technology/glossary/next-generation-firewall-ngfw" TargetMode="External"/><Relationship Id="rId9" Type="http://schemas.openxmlformats.org/officeDocument/2006/relationships/hyperlink" Target="https://attack.mitre.org/" TargetMode="External"/><Relationship Id="rId14" Type="http://schemas.openxmlformats.org/officeDocument/2006/relationships/hyperlink" Target="https://suricata.readthedocs.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solidFill>
                  <a:schemeClr val="accent3"/>
                </a:solidFill>
                <a:latin typeface="Times New Roman"/>
                <a:cs typeface="Times New Roman"/>
              </a:rPr>
              <a:t>Lecture 9</a:t>
            </a:r>
            <a:endParaRPr lang="en-US" b="1">
              <a:solidFill>
                <a:schemeClr val="accent3"/>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380763" y="4514849"/>
            <a:ext cx="8657439" cy="865187"/>
          </a:xfrm>
        </p:spPr>
        <p:txBody>
          <a:bodyPr>
            <a:normAutofit/>
          </a:bodyPr>
          <a:lstStyle/>
          <a:p>
            <a:pPr fontAlgn="base"/>
            <a:r>
              <a:rPr lang="en-GB" sz="4400" b="1">
                <a:effectLst/>
                <a:latin typeface="Times New Roman" panose="02020603050405020304" pitchFamily="18" charset="0"/>
                <a:ea typeface="Times New Roman" panose="02020603050405020304" pitchFamily="18" charset="0"/>
              </a:rPr>
              <a:t>SOC Tools and Technologies</a:t>
            </a:r>
            <a:r>
              <a:rPr lang="en-US" sz="5400"/>
              <a:t> </a:t>
            </a:r>
          </a:p>
          <a:p>
            <a:pPr fontAlgn="base"/>
            <a:endParaRPr 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838200" y="1504612"/>
            <a:ext cx="11078183" cy="4351338"/>
          </a:xfrm>
        </p:spPr>
        <p:txBody>
          <a:bodyPr>
            <a:normAutofit/>
          </a:bodyPr>
          <a:lstStyle/>
          <a:p>
            <a:pPr marL="0" indent="0">
              <a:buNone/>
            </a:pPr>
            <a:r>
              <a:rPr lang="en-US" sz="3200">
                <a:effectLst/>
                <a:latin typeface="Times New Roman" panose="02020603050405020304" pitchFamily="18" charset="0"/>
                <a:cs typeface="Times New Roman" panose="02020603050405020304" pitchFamily="18" charset="0"/>
              </a:rPr>
              <a:t>After completing this chapter, you should be able to:</a:t>
            </a:r>
          </a:p>
          <a:p>
            <a:r>
              <a:rPr lang="en-US" sz="3200">
                <a:solidFill>
                  <a:schemeClr val="accent3"/>
                </a:solidFill>
                <a:latin typeface="Times New Roman" panose="02020603050405020304" pitchFamily="18" charset="0"/>
                <a:cs typeface="Times New Roman" panose="02020603050405020304" pitchFamily="18" charset="0"/>
              </a:rPr>
              <a:t>What SIEM, EDR, IDS/IPS, and Firewalls do.</a:t>
            </a:r>
          </a:p>
          <a:p>
            <a:r>
              <a:rPr lang="en-US" sz="3200">
                <a:solidFill>
                  <a:schemeClr val="accent3"/>
                </a:solidFill>
                <a:latin typeface="Times New Roman" panose="02020603050405020304" pitchFamily="18" charset="0"/>
                <a:cs typeface="Times New Roman" panose="02020603050405020304" pitchFamily="18" charset="0"/>
              </a:rPr>
              <a:t>Collect key logs in a SIEM and clean/standardize them.</a:t>
            </a:r>
          </a:p>
          <a:p>
            <a:r>
              <a:rPr lang="en-US" sz="3200">
                <a:solidFill>
                  <a:schemeClr val="accent3"/>
                </a:solidFill>
                <a:latin typeface="Times New Roman" panose="02020603050405020304" pitchFamily="18" charset="0"/>
                <a:cs typeface="Times New Roman" panose="02020603050405020304" pitchFamily="18" charset="0"/>
              </a:rPr>
              <a:t>Link events from many sources to spot real attacks.</a:t>
            </a:r>
          </a:p>
          <a:p>
            <a:r>
              <a:rPr lang="en-US" sz="3200">
                <a:solidFill>
                  <a:schemeClr val="accent3"/>
                </a:solidFill>
                <a:latin typeface="Times New Roman" panose="02020603050405020304" pitchFamily="18" charset="0"/>
                <a:cs typeface="Times New Roman" panose="02020603050405020304" pitchFamily="18" charset="0"/>
              </a:rPr>
              <a:t>Build a simple dashboard with useful charts and drill-downs.</a:t>
            </a:r>
          </a:p>
          <a:p>
            <a:r>
              <a:rPr lang="en-US" sz="3200">
                <a:solidFill>
                  <a:schemeClr val="accent3"/>
                </a:solidFill>
                <a:latin typeface="Times New Roman" panose="02020603050405020304" pitchFamily="18" charset="0"/>
                <a:cs typeface="Times New Roman" panose="02020603050405020304" pitchFamily="18" charset="0"/>
              </a:rPr>
              <a:t>Track and improve basics: MTTD, MTTR, coverage, accuracy.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2894B-BDD8-4BCE-95B5-2ACFB7705ADD}"/>
              </a:ext>
            </a:extLst>
          </p:cNvPr>
          <p:cNvSpPr>
            <a:spLocks noGrp="1"/>
          </p:cNvSpPr>
          <p:nvPr>
            <p:ph type="title"/>
          </p:nvPr>
        </p:nvSpPr>
        <p:spPr>
          <a:xfrm>
            <a:off x="946688" y="681037"/>
            <a:ext cx="10515600" cy="1325563"/>
          </a:xfrm>
        </p:spPr>
        <p:txBody>
          <a:bodyPr/>
          <a:lstStyle/>
          <a:p>
            <a:r>
              <a:rPr lang="en-US" sz="3200" b="1">
                <a:solidFill>
                  <a:srgbClr val="0070C0"/>
                </a:solidFill>
                <a:latin typeface="Times New Roman" panose="02020603050405020304" pitchFamily="18" charset="0"/>
                <a:cs typeface="Times New Roman" panose="02020603050405020304" pitchFamily="18" charset="0"/>
              </a:rPr>
              <a:t>SOC Tools &amp; Technologies</a:t>
            </a:r>
            <a:br>
              <a:rPr lang="en-US"/>
            </a:br>
            <a:endParaRPr lang="en-US"/>
          </a:p>
        </p:txBody>
      </p:sp>
      <p:sp>
        <p:nvSpPr>
          <p:cNvPr id="3" name="Content Placeholder 2">
            <a:extLst>
              <a:ext uri="{FF2B5EF4-FFF2-40B4-BE49-F238E27FC236}">
                <a16:creationId xmlns:a16="http://schemas.microsoft.com/office/drawing/2014/main" id="{FD95AD2B-D105-4B94-B568-FF3204E09618}"/>
              </a:ext>
            </a:extLst>
          </p:cNvPr>
          <p:cNvSpPr>
            <a:spLocks noGrp="1"/>
          </p:cNvSpPr>
          <p:nvPr>
            <p:ph idx="1"/>
          </p:nvPr>
        </p:nvSpPr>
        <p:spPr>
          <a:xfrm>
            <a:off x="838199" y="1410346"/>
            <a:ext cx="10816525" cy="4766617"/>
          </a:xfrm>
        </p:spPr>
        <p:txBody>
          <a:bodyPr>
            <a:normAutofit/>
          </a:bodyPr>
          <a:lstStyle/>
          <a:p>
            <a:pPr algn="just"/>
            <a:r>
              <a:rPr lang="en-US" sz="2600">
                <a:latin typeface="Times New Roman" panose="02020603050405020304" pitchFamily="18" charset="0"/>
                <a:cs typeface="Times New Roman" panose="02020603050405020304" pitchFamily="18" charset="0"/>
              </a:rPr>
              <a:t>Security Operations Center (SOC) tools and technologies deliver the visibility, detection, and response capabilities essential for defending modern digital environments at scale.</a:t>
            </a:r>
          </a:p>
          <a:p>
            <a:pPr algn="just"/>
            <a:r>
              <a:rPr lang="en-US" sz="2600">
                <a:latin typeface="Times New Roman" panose="02020603050405020304" pitchFamily="18" charset="0"/>
                <a:cs typeface="Times New Roman" panose="02020603050405020304" pitchFamily="18" charset="0"/>
              </a:rPr>
              <a:t>These solutions aggregate telemetry from </a:t>
            </a:r>
            <a:r>
              <a:rPr lang="en-US" sz="2600" b="1">
                <a:latin typeface="Times New Roman" panose="02020603050405020304" pitchFamily="18" charset="0"/>
                <a:cs typeface="Times New Roman" panose="02020603050405020304" pitchFamily="18" charset="0"/>
              </a:rPr>
              <a:t>endpoints, networks, cloud services, identities, and applications</a:t>
            </a:r>
            <a:r>
              <a:rPr lang="en-US" sz="2600">
                <a:latin typeface="Times New Roman" panose="02020603050405020304" pitchFamily="18" charset="0"/>
                <a:cs typeface="Times New Roman" panose="02020603050405020304" pitchFamily="18" charset="0"/>
              </a:rPr>
              <a:t>. Core platforms </a:t>
            </a:r>
            <a:r>
              <a:rPr lang="en-US" sz="2600" b="1">
                <a:latin typeface="Times New Roman" panose="02020603050405020304" pitchFamily="18" charset="0"/>
                <a:cs typeface="Times New Roman" panose="02020603050405020304" pitchFamily="18" charset="0"/>
              </a:rPr>
              <a:t>SIEM</a:t>
            </a:r>
            <a:r>
              <a:rPr lang="en-US" sz="2600">
                <a:latin typeface="Times New Roman" panose="02020603050405020304" pitchFamily="18" charset="0"/>
                <a:cs typeface="Times New Roman" panose="02020603050405020304" pitchFamily="18" charset="0"/>
              </a:rPr>
              <a:t> (Security Information and Event Management) and </a:t>
            </a:r>
            <a:r>
              <a:rPr lang="en-US" sz="2600" b="1">
                <a:latin typeface="Times New Roman" panose="02020603050405020304" pitchFamily="18" charset="0"/>
                <a:cs typeface="Times New Roman" panose="02020603050405020304" pitchFamily="18" charset="0"/>
              </a:rPr>
              <a:t>XDR</a:t>
            </a:r>
            <a:r>
              <a:rPr lang="en-US" sz="2600">
                <a:latin typeface="Times New Roman" panose="02020603050405020304" pitchFamily="18" charset="0"/>
                <a:cs typeface="Times New Roman" panose="02020603050405020304" pitchFamily="18" charset="0"/>
              </a:rPr>
              <a:t> (Extended Detection and Response) perform </a:t>
            </a:r>
            <a:r>
              <a:rPr lang="en-US" sz="2600" b="1">
                <a:latin typeface="Times New Roman" panose="02020603050405020304" pitchFamily="18" charset="0"/>
                <a:cs typeface="Times New Roman" panose="02020603050405020304" pitchFamily="18" charset="0"/>
              </a:rPr>
              <a:t>real-time correlation, threat analytics, and contextual enrichment</a:t>
            </a:r>
            <a:r>
              <a:rPr lang="en-US" sz="2600">
                <a:latin typeface="Times New Roman" panose="02020603050405020304" pitchFamily="18" charset="0"/>
                <a:cs typeface="Times New Roman" panose="02020603050405020304" pitchFamily="18" charset="0"/>
              </a:rPr>
              <a:t> to identify anomalies and prioritize risks.</a:t>
            </a:r>
          </a:p>
          <a:p>
            <a:pPr algn="just"/>
            <a:r>
              <a:rPr lang="en-US" sz="2600" b="1">
                <a:latin typeface="Times New Roman" panose="02020603050405020304" pitchFamily="18" charset="0"/>
                <a:cs typeface="Times New Roman" panose="02020603050405020304" pitchFamily="18" charset="0"/>
              </a:rPr>
              <a:t>SOAR</a:t>
            </a:r>
            <a:r>
              <a:rPr lang="en-US" sz="2600">
                <a:latin typeface="Times New Roman" panose="02020603050405020304" pitchFamily="18" charset="0"/>
                <a:cs typeface="Times New Roman" panose="02020603050405020304" pitchFamily="18" charset="0"/>
              </a:rPr>
              <a:t> (Security Orchestration, Automation, and Response) accelerates incident handling by executing </a:t>
            </a:r>
            <a:r>
              <a:rPr lang="en-US" sz="2600" b="1">
                <a:latin typeface="Times New Roman" panose="02020603050405020304" pitchFamily="18" charset="0"/>
                <a:cs typeface="Times New Roman" panose="02020603050405020304" pitchFamily="18" charset="0"/>
              </a:rPr>
              <a:t>automated playbooks</a:t>
            </a:r>
            <a:r>
              <a:rPr lang="en-US" sz="2600">
                <a:latin typeface="Times New Roman" panose="02020603050405020304" pitchFamily="18" charset="0"/>
                <a:cs typeface="Times New Roman" panose="02020603050405020304" pitchFamily="18" charset="0"/>
              </a:rPr>
              <a:t> that isolate compromised assets, contain threats, and manage cases significantly reducing </a:t>
            </a:r>
            <a:r>
              <a:rPr lang="en-US" sz="2600" b="1">
                <a:latin typeface="Times New Roman" panose="02020603050405020304" pitchFamily="18" charset="0"/>
                <a:cs typeface="Times New Roman" panose="02020603050405020304" pitchFamily="18" charset="0"/>
              </a:rPr>
              <a:t>MTTD</a:t>
            </a:r>
            <a:r>
              <a:rPr lang="en-US" sz="2600">
                <a:latin typeface="Times New Roman" panose="02020603050405020304" pitchFamily="18" charset="0"/>
                <a:cs typeface="Times New Roman" panose="02020603050405020304" pitchFamily="18" charset="0"/>
              </a:rPr>
              <a:t> (mean time to detect) and </a:t>
            </a:r>
            <a:r>
              <a:rPr lang="en-US" sz="2600" b="1">
                <a:latin typeface="Times New Roman" panose="02020603050405020304" pitchFamily="18" charset="0"/>
                <a:cs typeface="Times New Roman" panose="02020603050405020304" pitchFamily="18" charset="0"/>
              </a:rPr>
              <a:t>MTTR</a:t>
            </a:r>
            <a:r>
              <a:rPr lang="en-US" sz="2600">
                <a:latin typeface="Times New Roman" panose="02020603050405020304" pitchFamily="18" charset="0"/>
                <a:cs typeface="Times New Roman" panose="02020603050405020304" pitchFamily="18" charset="0"/>
              </a:rPr>
              <a:t> (mean time to respond).</a:t>
            </a:r>
          </a:p>
          <a:p>
            <a:endParaRPr lang="en-US"/>
          </a:p>
        </p:txBody>
      </p:sp>
    </p:spTree>
    <p:extLst>
      <p:ext uri="{BB962C8B-B14F-4D97-AF65-F5344CB8AC3E}">
        <p14:creationId xmlns:p14="http://schemas.microsoft.com/office/powerpoint/2010/main" val="2497819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AAC5D-6C9D-42B1-BF3D-D10E90C6DDE1}"/>
              </a:ext>
            </a:extLst>
          </p:cNvPr>
          <p:cNvSpPr>
            <a:spLocks noGrp="1"/>
          </p:cNvSpPr>
          <p:nvPr>
            <p:ph type="title"/>
          </p:nvPr>
        </p:nvSpPr>
        <p:spPr>
          <a:xfrm>
            <a:off x="993184" y="836020"/>
            <a:ext cx="10515600" cy="874738"/>
          </a:xfrm>
        </p:spPr>
        <p:txBody>
          <a:bodyPr>
            <a:normAutofit fontScale="90000"/>
          </a:bodyPr>
          <a:lstStyle/>
          <a:p>
            <a:r>
              <a:rPr lang="en-US" sz="3600" b="1">
                <a:solidFill>
                  <a:schemeClr val="accent3"/>
                </a:solidFill>
                <a:latin typeface="Times New Roman" panose="02020603050405020304" pitchFamily="18" charset="0"/>
                <a:cs typeface="Times New Roman" panose="02020603050405020304" pitchFamily="18" charset="0"/>
              </a:rPr>
              <a:t>Supporting capabilities include</a:t>
            </a:r>
            <a:r>
              <a:rPr lang="en-US" sz="3600" b="1">
                <a:solidFill>
                  <a:srgbClr val="0070C0"/>
                </a:solidFill>
                <a:latin typeface="Times New Roman" panose="02020603050405020304" pitchFamily="18" charset="0"/>
                <a:cs typeface="Times New Roman" panose="02020603050405020304" pitchFamily="18" charset="0"/>
              </a:rPr>
              <a:t>: SOC Tools &amp; Technologies</a:t>
            </a:r>
            <a:br>
              <a:rPr lang="en-US"/>
            </a:br>
            <a:endParaRPr lang="en-US"/>
          </a:p>
        </p:txBody>
      </p:sp>
      <p:sp>
        <p:nvSpPr>
          <p:cNvPr id="3" name="Content Placeholder 2">
            <a:extLst>
              <a:ext uri="{FF2B5EF4-FFF2-40B4-BE49-F238E27FC236}">
                <a16:creationId xmlns:a16="http://schemas.microsoft.com/office/drawing/2014/main" id="{731EB150-9FE5-49E7-8EE5-17C7C4282070}"/>
              </a:ext>
            </a:extLst>
          </p:cNvPr>
          <p:cNvSpPr>
            <a:spLocks noGrp="1"/>
          </p:cNvSpPr>
          <p:nvPr>
            <p:ph idx="1"/>
          </p:nvPr>
        </p:nvSpPr>
        <p:spPr>
          <a:xfrm>
            <a:off x="838199" y="1394847"/>
            <a:ext cx="10785529" cy="4782116"/>
          </a:xfrm>
        </p:spPr>
        <p:txBody>
          <a:bodyPr>
            <a:normAutofit/>
          </a:bodyPr>
          <a:lstStyle/>
          <a:p>
            <a:r>
              <a:rPr lang="en-US" sz="2400" b="1">
                <a:latin typeface="Times New Roman" panose="02020603050405020304" pitchFamily="18" charset="0"/>
                <a:cs typeface="Times New Roman" panose="02020603050405020304" pitchFamily="18" charset="0"/>
              </a:rPr>
              <a:t>Threat intelligence</a:t>
            </a:r>
            <a:r>
              <a:rPr lang="en-US" sz="2400">
                <a:latin typeface="Times New Roman" panose="02020603050405020304" pitchFamily="18" charset="0"/>
                <a:cs typeface="Times New Roman" panose="02020603050405020304" pitchFamily="18" charset="0"/>
              </a:rPr>
              <a:t> for proactive threat awareness</a:t>
            </a:r>
          </a:p>
          <a:p>
            <a:r>
              <a:rPr lang="en-US" sz="2400" b="1">
                <a:latin typeface="Times New Roman" panose="02020603050405020304" pitchFamily="18" charset="0"/>
                <a:cs typeface="Times New Roman" panose="02020603050405020304" pitchFamily="18" charset="0"/>
              </a:rPr>
              <a:t>Vulnerability and configuration management</a:t>
            </a:r>
            <a:r>
              <a:rPr lang="en-US" sz="2400">
                <a:latin typeface="Times New Roman" panose="02020603050405020304" pitchFamily="18" charset="0"/>
                <a:cs typeface="Times New Roman" panose="02020603050405020304" pitchFamily="18" charset="0"/>
              </a:rPr>
              <a:t> to close security gaps</a:t>
            </a:r>
          </a:p>
          <a:p>
            <a:r>
              <a:rPr lang="en-US" sz="2400" b="1">
                <a:latin typeface="Times New Roman" panose="02020603050405020304" pitchFamily="18" charset="0"/>
                <a:cs typeface="Times New Roman" panose="02020603050405020304" pitchFamily="18" charset="0"/>
              </a:rPr>
              <a:t>Identity security</a:t>
            </a:r>
            <a:r>
              <a:rPr lang="en-US" sz="2400">
                <a:latin typeface="Times New Roman" panose="02020603050405020304" pitchFamily="18" charset="0"/>
                <a:cs typeface="Times New Roman" panose="02020603050405020304" pitchFamily="18" charset="0"/>
              </a:rPr>
              <a:t> to prevent unauthorized access</a:t>
            </a:r>
          </a:p>
          <a:p>
            <a:r>
              <a:rPr lang="en-US" sz="2400" b="1">
                <a:latin typeface="Times New Roman" panose="02020603050405020304" pitchFamily="18" charset="0"/>
                <a:cs typeface="Times New Roman" panose="02020603050405020304" pitchFamily="18" charset="0"/>
              </a:rPr>
              <a:t>Data loss prevention (DLP)</a:t>
            </a:r>
            <a:r>
              <a:rPr lang="en-US" sz="2400">
                <a:latin typeface="Times New Roman" panose="02020603050405020304" pitchFamily="18" charset="0"/>
                <a:cs typeface="Times New Roman" panose="02020603050405020304" pitchFamily="18" charset="0"/>
              </a:rPr>
              <a:t> to protect sensitive information</a:t>
            </a:r>
          </a:p>
          <a:p>
            <a:r>
              <a:rPr lang="en-US" sz="2400" b="1">
                <a:latin typeface="Times New Roman" panose="02020603050405020304" pitchFamily="18" charset="0"/>
                <a:cs typeface="Times New Roman" panose="02020603050405020304" pitchFamily="18" charset="0"/>
              </a:rPr>
              <a:t>Digital forensics</a:t>
            </a:r>
            <a:r>
              <a:rPr lang="en-US" sz="2400">
                <a:latin typeface="Times New Roman" panose="02020603050405020304" pitchFamily="18" charset="0"/>
                <a:cs typeface="Times New Roman" panose="02020603050405020304" pitchFamily="18" charset="0"/>
              </a:rPr>
              <a:t> for post-incident investigation</a:t>
            </a:r>
          </a:p>
          <a:p>
            <a:r>
              <a:rPr lang="en-US" sz="2400">
                <a:latin typeface="Times New Roman" panose="02020603050405020304" pitchFamily="18" charset="0"/>
                <a:cs typeface="Times New Roman" panose="02020603050405020304" pitchFamily="18" charset="0"/>
              </a:rPr>
              <a:t>Collectively, these technologies convert raw security data into </a:t>
            </a:r>
            <a:r>
              <a:rPr lang="en-US" sz="2400" b="1">
                <a:latin typeface="Times New Roman" panose="02020603050405020304" pitchFamily="18" charset="0"/>
                <a:cs typeface="Times New Roman" panose="02020603050405020304" pitchFamily="18" charset="0"/>
              </a:rPr>
              <a:t>prioritized, auditable actions</a:t>
            </a:r>
            <a:r>
              <a:rPr lang="en-US" sz="2400">
                <a:latin typeface="Times New Roman" panose="02020603050405020304" pitchFamily="18" charset="0"/>
                <a:cs typeface="Times New Roman" panose="02020603050405020304" pitchFamily="18" charset="0"/>
              </a:rPr>
              <a:t>, strengthening resilience, ensuring compliance with standards such as </a:t>
            </a:r>
            <a:r>
              <a:rPr lang="en-US" sz="2400" b="1">
                <a:latin typeface="Times New Roman" panose="02020603050405020304" pitchFamily="18" charset="0"/>
                <a:cs typeface="Times New Roman" panose="02020603050405020304" pitchFamily="18" charset="0"/>
              </a:rPr>
              <a:t>ISO 27001, SOC 2, and GDPR</a:t>
            </a:r>
            <a:r>
              <a:rPr lang="en-US" sz="2400">
                <a:latin typeface="Times New Roman" panose="02020603050405020304" pitchFamily="18" charset="0"/>
                <a:cs typeface="Times New Roman" panose="02020603050405020304" pitchFamily="18" charset="0"/>
              </a:rPr>
              <a:t>, and enabling continuous, effective security operations across </a:t>
            </a:r>
            <a:r>
              <a:rPr lang="en-US" sz="2400" b="1">
                <a:latin typeface="Times New Roman" panose="02020603050405020304" pitchFamily="18" charset="0"/>
                <a:cs typeface="Times New Roman" panose="02020603050405020304" pitchFamily="18" charset="0"/>
              </a:rPr>
              <a:t>hybrid and cloud-native infrastructures</a:t>
            </a:r>
            <a:r>
              <a:rPr lang="en-US" sz="2400">
                <a:latin typeface="Times New Roman" panose="02020603050405020304" pitchFamily="18" charset="0"/>
                <a:cs typeface="Times New Roman" panose="02020603050405020304" pitchFamily="18" charset="0"/>
              </a:rPr>
              <a:t>.</a:t>
            </a:r>
          </a:p>
          <a:p>
            <a:endParaRPr lang="en-US"/>
          </a:p>
        </p:txBody>
      </p:sp>
    </p:spTree>
    <p:extLst>
      <p:ext uri="{BB962C8B-B14F-4D97-AF65-F5344CB8AC3E}">
        <p14:creationId xmlns:p14="http://schemas.microsoft.com/office/powerpoint/2010/main" val="136397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3EC2-5A69-4F73-BE0E-BA3E08145B8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3272BD02-290B-4773-BDFE-BE6D5E8E50AA}"/>
              </a:ext>
            </a:extLst>
          </p:cNvPr>
          <p:cNvPicPr>
            <a:picLocks noGrp="1" noChangeAspect="1"/>
          </p:cNvPicPr>
          <p:nvPr>
            <p:ph idx="1"/>
          </p:nvPr>
        </p:nvPicPr>
        <p:blipFill>
          <a:blip r:embed="rId2"/>
          <a:stretch>
            <a:fillRect/>
          </a:stretch>
        </p:blipFill>
        <p:spPr>
          <a:xfrm>
            <a:off x="0" y="-1"/>
            <a:ext cx="12204626" cy="6858001"/>
          </a:xfrm>
          <a:prstGeom prst="rect">
            <a:avLst/>
          </a:prstGeom>
        </p:spPr>
      </p:pic>
    </p:spTree>
    <p:extLst>
      <p:ext uri="{BB962C8B-B14F-4D97-AF65-F5344CB8AC3E}">
        <p14:creationId xmlns:p14="http://schemas.microsoft.com/office/powerpoint/2010/main" val="2313177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D526-9800-43D0-B935-EEDC18E1AF7E}"/>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SOC Tools List</a:t>
            </a:r>
          </a:p>
        </p:txBody>
      </p:sp>
      <p:sp>
        <p:nvSpPr>
          <p:cNvPr id="3" name="Content Placeholder 2">
            <a:extLst>
              <a:ext uri="{FF2B5EF4-FFF2-40B4-BE49-F238E27FC236}">
                <a16:creationId xmlns:a16="http://schemas.microsoft.com/office/drawing/2014/main" id="{47827833-4EBB-462B-AFBD-BB39190B866E}"/>
              </a:ext>
            </a:extLst>
          </p:cNvPr>
          <p:cNvSpPr>
            <a:spLocks noGrp="1"/>
          </p:cNvSpPr>
          <p:nvPr>
            <p:ph idx="1"/>
          </p:nvPr>
        </p:nvSpPr>
        <p:spPr>
          <a:xfrm>
            <a:off x="667378" y="1386673"/>
            <a:ext cx="10515600" cy="4873450"/>
          </a:xfrm>
        </p:spPr>
        <p:txBody>
          <a:bodyPr>
            <a:normAutofit fontScale="70000" lnSpcReduction="20000"/>
          </a:bodyPr>
          <a:lstStyle/>
          <a:p>
            <a:r>
              <a:rPr lang="en-US" b="1">
                <a:solidFill>
                  <a:schemeClr val="accent3"/>
                </a:solidFill>
                <a:latin typeface="Times New Roman" panose="02020603050405020304" pitchFamily="18" charset="0"/>
                <a:cs typeface="Times New Roman" panose="02020603050405020304" pitchFamily="18" charset="0"/>
              </a:rPr>
              <a:t>SIEM / Log Management</a:t>
            </a:r>
          </a:p>
          <a:p>
            <a:pPr lvl="0"/>
            <a:r>
              <a:rPr lang="en-US">
                <a:latin typeface="Times New Roman" panose="02020603050405020304" pitchFamily="18" charset="0"/>
                <a:cs typeface="Times New Roman" panose="02020603050405020304" pitchFamily="18" charset="0"/>
              </a:rPr>
              <a:t>Microsoft Sentinel, Splunk, IBM QRadar, Sumo Logic, Elastic</a:t>
            </a:r>
          </a:p>
          <a:p>
            <a:pPr lvl="0"/>
            <a:r>
              <a:rPr lang="en-US">
                <a:latin typeface="Times New Roman" panose="02020603050405020304" pitchFamily="18" charset="0"/>
                <a:cs typeface="Times New Roman" panose="02020603050405020304" pitchFamily="18" charset="0"/>
              </a:rPr>
              <a:t>Open-source: Elastic Stack, Wazuh, Graylog</a:t>
            </a:r>
          </a:p>
          <a:p>
            <a:r>
              <a:rPr lang="en-US" b="1">
                <a:solidFill>
                  <a:schemeClr val="accent3"/>
                </a:solidFill>
                <a:latin typeface="Times New Roman" panose="02020603050405020304" pitchFamily="18" charset="0"/>
                <a:cs typeface="Times New Roman" panose="02020603050405020304" pitchFamily="18" charset="0"/>
              </a:rPr>
              <a:t>EDR / XDR (Endpoint)</a:t>
            </a:r>
          </a:p>
          <a:p>
            <a:pPr lvl="0"/>
            <a:r>
              <a:rPr lang="en-US">
                <a:latin typeface="Times New Roman" panose="02020603050405020304" pitchFamily="18" charset="0"/>
                <a:cs typeface="Times New Roman" panose="02020603050405020304" pitchFamily="18" charset="0"/>
              </a:rPr>
              <a:t>Microsoft Defender for Endpoint, CrowdStrike, SentinelOne, Trellix, Tanium</a:t>
            </a:r>
          </a:p>
          <a:p>
            <a:pPr lvl="0"/>
            <a:r>
              <a:rPr lang="en-US">
                <a:latin typeface="Times New Roman" panose="02020603050405020304" pitchFamily="18" charset="0"/>
                <a:cs typeface="Times New Roman" panose="02020603050405020304" pitchFamily="18" charset="0"/>
              </a:rPr>
              <a:t>Open-source: Wazuh agent, osquery</a:t>
            </a:r>
          </a:p>
          <a:p>
            <a:r>
              <a:rPr lang="en-US" b="1">
                <a:solidFill>
                  <a:schemeClr val="accent3"/>
                </a:solidFill>
                <a:latin typeface="Times New Roman" panose="02020603050405020304" pitchFamily="18" charset="0"/>
                <a:cs typeface="Times New Roman" panose="02020603050405020304" pitchFamily="18" charset="0"/>
              </a:rPr>
              <a:t>NDR / IDS/IPS (Network)</a:t>
            </a:r>
          </a:p>
          <a:p>
            <a:pPr lvl="0"/>
            <a:r>
              <a:rPr lang="en-US">
                <a:latin typeface="Times New Roman" panose="02020603050405020304" pitchFamily="18" charset="0"/>
                <a:cs typeface="Times New Roman" panose="02020603050405020304" pitchFamily="18" charset="0"/>
              </a:rPr>
              <a:t>Palo Alto (Threat Prevention), Cisco Secure IPS, Fortinet, Vectra, Darktrace</a:t>
            </a:r>
          </a:p>
          <a:p>
            <a:pPr lvl="0"/>
            <a:r>
              <a:rPr lang="en-US">
                <a:latin typeface="Times New Roman" panose="02020603050405020304" pitchFamily="18" charset="0"/>
                <a:cs typeface="Times New Roman" panose="02020603050405020304" pitchFamily="18" charset="0"/>
              </a:rPr>
              <a:t>Open-source: Zeek, Suricata, Snort</a:t>
            </a:r>
          </a:p>
          <a:p>
            <a:r>
              <a:rPr lang="en-US" b="1">
                <a:solidFill>
                  <a:schemeClr val="accent3"/>
                </a:solidFill>
                <a:latin typeface="Times New Roman" panose="02020603050405020304" pitchFamily="18" charset="0"/>
                <a:cs typeface="Times New Roman" panose="02020603050405020304" pitchFamily="18" charset="0"/>
              </a:rPr>
              <a:t>SOAR / Automation</a:t>
            </a:r>
          </a:p>
          <a:p>
            <a:pPr lvl="0"/>
            <a:r>
              <a:rPr lang="en-US">
                <a:latin typeface="Times New Roman" panose="02020603050405020304" pitchFamily="18" charset="0"/>
                <a:cs typeface="Times New Roman" panose="02020603050405020304" pitchFamily="18" charset="0"/>
              </a:rPr>
              <a:t>Cortex XSOAR, Microsoft Sentinel SOAR, Splunk SOAR, Swimlane, Tines</a:t>
            </a:r>
          </a:p>
          <a:p>
            <a:pPr lvl="0"/>
            <a:r>
              <a:rPr lang="en-US">
                <a:latin typeface="Times New Roman" panose="02020603050405020304" pitchFamily="18" charset="0"/>
                <a:cs typeface="Times New Roman" panose="02020603050405020304" pitchFamily="18" charset="0"/>
              </a:rPr>
              <a:t>Open-source: Shuffle</a:t>
            </a:r>
          </a:p>
          <a:p>
            <a:r>
              <a:rPr lang="en-US" b="1">
                <a:solidFill>
                  <a:schemeClr val="accent3"/>
                </a:solidFill>
                <a:latin typeface="Times New Roman" panose="02020603050405020304" pitchFamily="18" charset="0"/>
                <a:cs typeface="Times New Roman" panose="02020603050405020304" pitchFamily="18" charset="0"/>
              </a:rPr>
              <a:t>Case Management / IR</a:t>
            </a:r>
          </a:p>
          <a:p>
            <a:pPr lvl="0"/>
            <a:r>
              <a:rPr lang="en-US">
                <a:latin typeface="Times New Roman" panose="02020603050405020304" pitchFamily="18" charset="0"/>
                <a:cs typeface="Times New Roman" panose="02020603050405020304" pitchFamily="18" charset="0"/>
              </a:rPr>
              <a:t>TheHive, ServiceNow SecOps, Jira Service Management, IBM Resilient</a:t>
            </a:r>
          </a:p>
          <a:p>
            <a:endParaRPr lang="en-US"/>
          </a:p>
        </p:txBody>
      </p:sp>
    </p:spTree>
    <p:extLst>
      <p:ext uri="{BB962C8B-B14F-4D97-AF65-F5344CB8AC3E}">
        <p14:creationId xmlns:p14="http://schemas.microsoft.com/office/powerpoint/2010/main" val="350514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17876-8769-4D87-B6C5-06704AAAC4F8}"/>
              </a:ext>
            </a:extLst>
          </p:cNvPr>
          <p:cNvSpPr>
            <a:spLocks noGrp="1"/>
          </p:cNvSpPr>
          <p:nvPr>
            <p:ph type="title"/>
          </p:nvPr>
        </p:nvSpPr>
        <p:spPr/>
        <p:txBody>
          <a:bodyPr/>
          <a:lstStyle/>
          <a:p>
            <a:r>
              <a:rPr lang="en-US" b="1">
                <a:solidFill>
                  <a:srgbClr val="0070C0"/>
                </a:solidFill>
                <a:latin typeface="Times New Roman" panose="02020603050405020304" pitchFamily="18" charset="0"/>
                <a:cs typeface="Times New Roman" panose="02020603050405020304" pitchFamily="18" charset="0"/>
              </a:rPr>
              <a:t>SOC Tools List</a:t>
            </a:r>
            <a:endParaRPr lang="en-US"/>
          </a:p>
        </p:txBody>
      </p:sp>
      <p:sp>
        <p:nvSpPr>
          <p:cNvPr id="3" name="Content Placeholder 2">
            <a:extLst>
              <a:ext uri="{FF2B5EF4-FFF2-40B4-BE49-F238E27FC236}">
                <a16:creationId xmlns:a16="http://schemas.microsoft.com/office/drawing/2014/main" id="{4CB458D6-6899-4E48-964E-E38893B60681}"/>
              </a:ext>
            </a:extLst>
          </p:cNvPr>
          <p:cNvSpPr>
            <a:spLocks noGrp="1"/>
          </p:cNvSpPr>
          <p:nvPr>
            <p:ph idx="1"/>
          </p:nvPr>
        </p:nvSpPr>
        <p:spPr>
          <a:xfrm>
            <a:off x="838200" y="1386673"/>
            <a:ext cx="10515600" cy="4790290"/>
          </a:xfrm>
        </p:spPr>
        <p:txBody>
          <a:bodyPr>
            <a:normAutofit fontScale="62500" lnSpcReduction="20000"/>
          </a:bodyPr>
          <a:lstStyle/>
          <a:p>
            <a:r>
              <a:rPr lang="en-US" sz="3200" b="1">
                <a:solidFill>
                  <a:schemeClr val="accent3"/>
                </a:solidFill>
                <a:latin typeface="Times New Roman" panose="02020603050405020304" pitchFamily="18" charset="0"/>
                <a:cs typeface="Times New Roman" panose="02020603050405020304" pitchFamily="18" charset="0"/>
              </a:rPr>
              <a:t>Threat Intelligence (TIP / Feeds / Sandbox)</a:t>
            </a:r>
          </a:p>
          <a:p>
            <a:pPr lvl="0"/>
            <a:r>
              <a:rPr lang="en-US" sz="3200">
                <a:latin typeface="Times New Roman" panose="02020603050405020304" pitchFamily="18" charset="0"/>
                <a:cs typeface="Times New Roman" panose="02020603050405020304" pitchFamily="18" charset="0"/>
              </a:rPr>
              <a:t>Anomali, ThreatConnect, Recorded Future, Mandiant</a:t>
            </a:r>
          </a:p>
          <a:p>
            <a:pPr lvl="0"/>
            <a:r>
              <a:rPr lang="en-US" sz="3200">
                <a:latin typeface="Times New Roman" panose="02020603050405020304" pitchFamily="18" charset="0"/>
                <a:cs typeface="Times New Roman" panose="02020603050405020304" pitchFamily="18" charset="0"/>
              </a:rPr>
              <a:t>Open-source: MISP, OpenCTI; Sandboxes: Cuckoo, Hybrid Analysis</a:t>
            </a:r>
          </a:p>
          <a:p>
            <a:r>
              <a:rPr lang="en-US" sz="3200" b="1">
                <a:solidFill>
                  <a:schemeClr val="accent3"/>
                </a:solidFill>
                <a:latin typeface="Times New Roman" panose="02020603050405020304" pitchFamily="18" charset="0"/>
                <a:cs typeface="Times New Roman" panose="02020603050405020304" pitchFamily="18" charset="0"/>
              </a:rPr>
              <a:t>Email &amp; Messaging Security</a:t>
            </a:r>
          </a:p>
          <a:p>
            <a:pPr lvl="0"/>
            <a:r>
              <a:rPr lang="en-US" sz="3200">
                <a:latin typeface="Times New Roman" panose="02020603050405020304" pitchFamily="18" charset="0"/>
                <a:cs typeface="Times New Roman" panose="02020603050405020304" pitchFamily="18" charset="0"/>
              </a:rPr>
              <a:t>Proofpoint, Mimecast, Microsoft Defender for Office 365, Google Workspace Security</a:t>
            </a:r>
          </a:p>
          <a:p>
            <a:r>
              <a:rPr lang="en-US" sz="3200" b="1">
                <a:solidFill>
                  <a:schemeClr val="accent3"/>
                </a:solidFill>
                <a:latin typeface="Times New Roman" panose="02020603050405020304" pitchFamily="18" charset="0"/>
                <a:cs typeface="Times New Roman" panose="02020603050405020304" pitchFamily="18" charset="0"/>
              </a:rPr>
              <a:t>Identity Security (IAM / MFA / PAM / UEBA)</a:t>
            </a:r>
          </a:p>
          <a:p>
            <a:pPr lvl="0"/>
            <a:r>
              <a:rPr lang="en-US" sz="3200">
                <a:latin typeface="Times New Roman" panose="02020603050405020304" pitchFamily="18" charset="0"/>
                <a:cs typeface="Times New Roman" panose="02020603050405020304" pitchFamily="18" charset="0"/>
              </a:rPr>
              <a:t>Okta, Duo, Ping Identity, CyberArk, BeyondTrust</a:t>
            </a:r>
          </a:p>
          <a:p>
            <a:pPr lvl="0"/>
            <a:r>
              <a:rPr lang="en-US" sz="3200">
                <a:latin typeface="Times New Roman" panose="02020603050405020304" pitchFamily="18" charset="0"/>
                <a:cs typeface="Times New Roman" panose="02020603050405020304" pitchFamily="18" charset="0"/>
              </a:rPr>
              <a:t>UEBA in SIEM/XDR: Sentinel, Splunk UBA</a:t>
            </a:r>
          </a:p>
          <a:p>
            <a:r>
              <a:rPr lang="en-US" sz="3200" b="1">
                <a:solidFill>
                  <a:schemeClr val="accent3"/>
                </a:solidFill>
                <a:latin typeface="Times New Roman" panose="02020603050405020304" pitchFamily="18" charset="0"/>
                <a:cs typeface="Times New Roman" panose="02020603050405020304" pitchFamily="18" charset="0"/>
              </a:rPr>
              <a:t>Cloud Security (CSPM / CWPP / CIEM / CDR)</a:t>
            </a:r>
          </a:p>
          <a:p>
            <a:pPr lvl="0"/>
            <a:r>
              <a:rPr lang="en-US" sz="3200">
                <a:latin typeface="Times New Roman" panose="02020603050405020304" pitchFamily="18" charset="0"/>
                <a:cs typeface="Times New Roman" panose="02020603050405020304" pitchFamily="18" charset="0"/>
              </a:rPr>
              <a:t>Wiz, Palo Alto Prisma Cloud, Microsoft Defender for Cloud, Lacework, Check Point CloudGuard</a:t>
            </a:r>
          </a:p>
          <a:p>
            <a:r>
              <a:rPr lang="en-US" sz="3200" b="1">
                <a:solidFill>
                  <a:schemeClr val="accent3"/>
                </a:solidFill>
                <a:latin typeface="Times New Roman" panose="02020603050405020304" pitchFamily="18" charset="0"/>
                <a:cs typeface="Times New Roman" panose="02020603050405020304" pitchFamily="18" charset="0"/>
              </a:rPr>
              <a:t>Vulnerability &amp; Exposure Management</a:t>
            </a:r>
          </a:p>
          <a:p>
            <a:pPr lvl="0"/>
            <a:r>
              <a:rPr lang="en-US" sz="3200">
                <a:latin typeface="Times New Roman" panose="02020603050405020304" pitchFamily="18" charset="0"/>
                <a:cs typeface="Times New Roman" panose="02020603050405020304" pitchFamily="18" charset="0"/>
              </a:rPr>
              <a:t>Tenable, Qualys, Rapid7</a:t>
            </a:r>
          </a:p>
          <a:p>
            <a:pPr lvl="0"/>
            <a:r>
              <a:rPr lang="en-US" sz="3200">
                <a:latin typeface="Times New Roman" panose="02020603050405020304" pitchFamily="18" charset="0"/>
                <a:cs typeface="Times New Roman" panose="02020603050405020304" pitchFamily="18" charset="0"/>
              </a:rPr>
              <a:t>Open-source: OpenVAS/Greenbone</a:t>
            </a:r>
          </a:p>
          <a:p>
            <a:endParaRPr lang="en-US"/>
          </a:p>
        </p:txBody>
      </p:sp>
    </p:spTree>
    <p:extLst>
      <p:ext uri="{BB962C8B-B14F-4D97-AF65-F5344CB8AC3E}">
        <p14:creationId xmlns:p14="http://schemas.microsoft.com/office/powerpoint/2010/main" val="1923158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FC3D-1F1C-4D5F-ADE2-19D92B3D8B03}"/>
              </a:ext>
            </a:extLst>
          </p:cNvPr>
          <p:cNvSpPr>
            <a:spLocks noGrp="1"/>
          </p:cNvSpPr>
          <p:nvPr>
            <p:ph type="title"/>
          </p:nvPr>
        </p:nvSpPr>
        <p:spPr/>
        <p:txBody>
          <a:bodyPr/>
          <a:lstStyle/>
          <a:p>
            <a:r>
              <a:rPr lang="en-US" b="1">
                <a:solidFill>
                  <a:srgbClr val="0070C0"/>
                </a:solidFill>
                <a:latin typeface="Times New Roman" panose="02020603050405020304" pitchFamily="18" charset="0"/>
                <a:cs typeface="Times New Roman" panose="02020603050405020304" pitchFamily="18" charset="0"/>
              </a:rPr>
              <a:t>SOC Tools List</a:t>
            </a:r>
            <a:endParaRPr lang="en-US"/>
          </a:p>
        </p:txBody>
      </p:sp>
      <p:sp>
        <p:nvSpPr>
          <p:cNvPr id="3" name="Content Placeholder 2">
            <a:extLst>
              <a:ext uri="{FF2B5EF4-FFF2-40B4-BE49-F238E27FC236}">
                <a16:creationId xmlns:a16="http://schemas.microsoft.com/office/drawing/2014/main" id="{7FE4D49F-3C8A-4E1D-9AE2-E55051F382CA}"/>
              </a:ext>
            </a:extLst>
          </p:cNvPr>
          <p:cNvSpPr>
            <a:spLocks noGrp="1"/>
          </p:cNvSpPr>
          <p:nvPr>
            <p:ph idx="1"/>
          </p:nvPr>
        </p:nvSpPr>
        <p:spPr>
          <a:xfrm>
            <a:off x="838200" y="1276140"/>
            <a:ext cx="10515600" cy="5064369"/>
          </a:xfrm>
        </p:spPr>
        <p:txBody>
          <a:bodyPr>
            <a:normAutofit fontScale="47500" lnSpcReduction="20000"/>
          </a:bodyPr>
          <a:lstStyle/>
          <a:p>
            <a:r>
              <a:rPr lang="en-US" sz="3600" b="1">
                <a:solidFill>
                  <a:schemeClr val="accent3"/>
                </a:solidFill>
                <a:latin typeface="Times New Roman" panose="02020603050405020304" pitchFamily="18" charset="0"/>
                <a:cs typeface="Times New Roman" panose="02020603050405020304" pitchFamily="18" charset="0"/>
              </a:rPr>
              <a:t>Attack Surface Management / CAASM</a:t>
            </a:r>
          </a:p>
          <a:p>
            <a:pPr lvl="0"/>
            <a:r>
              <a:rPr lang="en-US" sz="3600">
                <a:latin typeface="Times New Roman" panose="02020603050405020304" pitchFamily="18" charset="0"/>
                <a:cs typeface="Times New Roman" panose="02020603050405020304" pitchFamily="18" charset="0"/>
              </a:rPr>
              <a:t>Palo Alto Xpanse, Randori, JupiterOne, Axonius</a:t>
            </a:r>
          </a:p>
          <a:p>
            <a:pPr lvl="0"/>
            <a:r>
              <a:rPr lang="en-US" sz="3600">
                <a:latin typeface="Times New Roman" panose="02020603050405020304" pitchFamily="18" charset="0"/>
                <a:cs typeface="Times New Roman" panose="02020603050405020304" pitchFamily="18" charset="0"/>
              </a:rPr>
              <a:t>Open-source: amass</a:t>
            </a:r>
          </a:p>
          <a:p>
            <a:r>
              <a:rPr lang="en-US" sz="3600" b="1">
                <a:solidFill>
                  <a:schemeClr val="accent3"/>
                </a:solidFill>
                <a:latin typeface="Times New Roman" panose="02020603050405020304" pitchFamily="18" charset="0"/>
                <a:cs typeface="Times New Roman" panose="02020603050405020304" pitchFamily="18" charset="0"/>
              </a:rPr>
              <a:t>Data Loss Prevention &amp; Insider Risk</a:t>
            </a:r>
          </a:p>
          <a:p>
            <a:pPr lvl="0"/>
            <a:r>
              <a:rPr lang="en-US" sz="3600">
                <a:latin typeface="Times New Roman" panose="02020603050405020304" pitchFamily="18" charset="0"/>
                <a:cs typeface="Times New Roman" panose="02020603050405020304" pitchFamily="18" charset="0"/>
              </a:rPr>
              <a:t>Microsoft Purview DLP, Symantec DLP, Forcepoint, Proofpoint ITM</a:t>
            </a:r>
          </a:p>
          <a:p>
            <a:pPr lvl="0"/>
            <a:r>
              <a:rPr lang="en-US" sz="3600">
                <a:latin typeface="Times New Roman" panose="02020603050405020304" pitchFamily="18" charset="0"/>
                <a:cs typeface="Times New Roman" panose="02020603050405020304" pitchFamily="18" charset="0"/>
              </a:rPr>
              <a:t>Open-source: OpenDLP (limited)</a:t>
            </a:r>
          </a:p>
          <a:p>
            <a:r>
              <a:rPr lang="en-US" sz="3600" b="1">
                <a:solidFill>
                  <a:schemeClr val="accent3"/>
                </a:solidFill>
                <a:latin typeface="Times New Roman" panose="02020603050405020304" pitchFamily="18" charset="0"/>
                <a:cs typeface="Times New Roman" panose="02020603050405020304" pitchFamily="18" charset="0"/>
              </a:rPr>
              <a:t>Deception / Honeytokens</a:t>
            </a:r>
          </a:p>
          <a:p>
            <a:pPr lvl="0"/>
            <a:r>
              <a:rPr lang="en-US" sz="3600">
                <a:latin typeface="Times New Roman" panose="02020603050405020304" pitchFamily="18" charset="0"/>
                <a:cs typeface="Times New Roman" panose="02020603050405020304" pitchFamily="18" charset="0"/>
              </a:rPr>
              <a:t>Attivo/Illusive, Acalvio</a:t>
            </a:r>
          </a:p>
          <a:p>
            <a:pPr lvl="0"/>
            <a:r>
              <a:rPr lang="en-US" sz="3600">
                <a:latin typeface="Times New Roman" panose="02020603050405020304" pitchFamily="18" charset="0"/>
                <a:cs typeface="Times New Roman" panose="02020603050405020304" pitchFamily="18" charset="0"/>
              </a:rPr>
              <a:t>DIY/Free: Canarytokens.org</a:t>
            </a:r>
          </a:p>
          <a:p>
            <a:r>
              <a:rPr lang="en-US" sz="3600" b="1">
                <a:solidFill>
                  <a:schemeClr val="accent3"/>
                </a:solidFill>
                <a:latin typeface="Times New Roman" panose="02020603050405020304" pitchFamily="18" charset="0"/>
                <a:cs typeface="Times New Roman" panose="02020603050405020304" pitchFamily="18" charset="0"/>
              </a:rPr>
              <a:t>Forensics &amp; Incident Response (Endpoint/Memory)</a:t>
            </a:r>
          </a:p>
          <a:p>
            <a:pPr lvl="0"/>
            <a:r>
              <a:rPr lang="en-US" sz="3600">
                <a:latin typeface="Times New Roman" panose="02020603050405020304" pitchFamily="18" charset="0"/>
                <a:cs typeface="Times New Roman" panose="02020603050405020304" pitchFamily="18" charset="0"/>
              </a:rPr>
              <a:t>Velociraptor, EnCase, FTK</a:t>
            </a:r>
          </a:p>
          <a:p>
            <a:pPr lvl="0"/>
            <a:r>
              <a:rPr lang="en-US" sz="3600">
                <a:latin typeface="Times New Roman" panose="02020603050405020304" pitchFamily="18" charset="0"/>
                <a:cs typeface="Times New Roman" panose="02020603050405020304" pitchFamily="18" charset="0"/>
              </a:rPr>
              <a:t>Open-source: Volatility, KAPE, Autopsy</a:t>
            </a:r>
          </a:p>
          <a:p>
            <a:r>
              <a:rPr lang="en-US" sz="3600" b="1">
                <a:solidFill>
                  <a:schemeClr val="accent3"/>
                </a:solidFill>
                <a:latin typeface="Times New Roman" panose="02020603050405020304" pitchFamily="18" charset="0"/>
                <a:cs typeface="Times New Roman" panose="02020603050405020304" pitchFamily="18" charset="0"/>
              </a:rPr>
              <a:t>Network Forensics / PCAP</a:t>
            </a:r>
          </a:p>
          <a:p>
            <a:pPr lvl="0"/>
            <a:r>
              <a:rPr lang="en-US" sz="3600">
                <a:latin typeface="Times New Roman" panose="02020603050405020304" pitchFamily="18" charset="0"/>
                <a:cs typeface="Times New Roman" panose="02020603050405020304" pitchFamily="18" charset="0"/>
              </a:rPr>
              <a:t>NetWitness, Cisco Secure Network Analytics</a:t>
            </a:r>
          </a:p>
          <a:p>
            <a:pPr lvl="0"/>
            <a:r>
              <a:rPr lang="en-US" sz="3600">
                <a:latin typeface="Times New Roman" panose="02020603050405020304" pitchFamily="18" charset="0"/>
                <a:cs typeface="Times New Roman" panose="02020603050405020304" pitchFamily="18" charset="0"/>
              </a:rPr>
              <a:t>Open-source: Wireshark, Arkime (Moloch), Zeek PCAP</a:t>
            </a:r>
          </a:p>
          <a:p>
            <a:endParaRPr lang="en-US"/>
          </a:p>
        </p:txBody>
      </p:sp>
    </p:spTree>
    <p:extLst>
      <p:ext uri="{BB962C8B-B14F-4D97-AF65-F5344CB8AC3E}">
        <p14:creationId xmlns:p14="http://schemas.microsoft.com/office/powerpoint/2010/main" val="4014325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AB165-6497-4AEC-B139-74B1DCF359A9}"/>
              </a:ext>
            </a:extLst>
          </p:cNvPr>
          <p:cNvSpPr>
            <a:spLocks noGrp="1"/>
          </p:cNvSpPr>
          <p:nvPr>
            <p:ph type="title"/>
          </p:nvPr>
        </p:nvSpPr>
        <p:spPr/>
        <p:txBody>
          <a:bodyPr/>
          <a:lstStyle/>
          <a:p>
            <a:r>
              <a:rPr lang="en-US" b="1">
                <a:solidFill>
                  <a:srgbClr val="0070C0"/>
                </a:solidFill>
                <a:latin typeface="Times New Roman" panose="02020603050405020304" pitchFamily="18" charset="0"/>
                <a:cs typeface="Times New Roman" panose="02020603050405020304" pitchFamily="18" charset="0"/>
              </a:rPr>
              <a:t>SOC Tools List</a:t>
            </a:r>
            <a:endParaRPr lang="en-US"/>
          </a:p>
        </p:txBody>
      </p:sp>
      <p:sp>
        <p:nvSpPr>
          <p:cNvPr id="3" name="Content Placeholder 2">
            <a:extLst>
              <a:ext uri="{FF2B5EF4-FFF2-40B4-BE49-F238E27FC236}">
                <a16:creationId xmlns:a16="http://schemas.microsoft.com/office/drawing/2014/main" id="{C9BCC497-C79C-48F8-84FC-360684CDEA17}"/>
              </a:ext>
            </a:extLst>
          </p:cNvPr>
          <p:cNvSpPr>
            <a:spLocks noGrp="1"/>
          </p:cNvSpPr>
          <p:nvPr>
            <p:ph idx="1"/>
          </p:nvPr>
        </p:nvSpPr>
        <p:spPr>
          <a:xfrm>
            <a:off x="838200" y="1356527"/>
            <a:ext cx="10515600" cy="4820436"/>
          </a:xfrm>
        </p:spPr>
        <p:txBody>
          <a:bodyPr>
            <a:normAutofit fontScale="70000" lnSpcReduction="20000"/>
          </a:bodyPr>
          <a:lstStyle/>
          <a:p>
            <a:r>
              <a:rPr lang="en-US" b="1">
                <a:solidFill>
                  <a:schemeClr val="accent3"/>
                </a:solidFill>
                <a:latin typeface="Times New Roman" panose="02020603050405020304" pitchFamily="18" charset="0"/>
                <a:cs typeface="Times New Roman" panose="02020603050405020304" pitchFamily="18" charset="0"/>
              </a:rPr>
              <a:t>Web/App Security</a:t>
            </a:r>
          </a:p>
          <a:p>
            <a:pPr lvl="0"/>
            <a:r>
              <a:rPr lang="en-US">
                <a:latin typeface="Times New Roman" panose="02020603050405020304" pitchFamily="18" charset="0"/>
                <a:cs typeface="Times New Roman" panose="02020603050405020304" pitchFamily="18" charset="0"/>
              </a:rPr>
              <a:t>WAF: F5, Cloudflare, AWS WAF</a:t>
            </a:r>
          </a:p>
          <a:p>
            <a:pPr lvl="0"/>
            <a:r>
              <a:rPr lang="en-US">
                <a:latin typeface="Times New Roman" panose="02020603050405020304" pitchFamily="18" charset="0"/>
                <a:cs typeface="Times New Roman" panose="02020603050405020304" pitchFamily="18" charset="0"/>
              </a:rPr>
              <a:t>DAST: Burp Suite, OWASP ZAP</a:t>
            </a:r>
          </a:p>
          <a:p>
            <a:pPr lvl="0"/>
            <a:r>
              <a:rPr lang="en-US">
                <a:latin typeface="Times New Roman" panose="02020603050405020304" pitchFamily="18" charset="0"/>
                <a:cs typeface="Times New Roman" panose="02020603050405020304" pitchFamily="18" charset="0"/>
              </a:rPr>
              <a:t>SAST/SCA: GitHub Advanced Security, Snyk</a:t>
            </a:r>
          </a:p>
          <a:p>
            <a:r>
              <a:rPr lang="en-US" b="1">
                <a:solidFill>
                  <a:schemeClr val="accent3"/>
                </a:solidFill>
                <a:latin typeface="Times New Roman" panose="02020603050405020304" pitchFamily="18" charset="0"/>
                <a:cs typeface="Times New Roman" panose="02020603050405020304" pitchFamily="18" charset="0"/>
              </a:rPr>
              <a:t>Observability (useful to SOC)</a:t>
            </a:r>
          </a:p>
          <a:p>
            <a:pPr lvl="0"/>
            <a:r>
              <a:rPr lang="en-US">
                <a:latin typeface="Times New Roman" panose="02020603050405020304" pitchFamily="18" charset="0"/>
                <a:cs typeface="Times New Roman" panose="02020603050405020304" pitchFamily="18" charset="0"/>
              </a:rPr>
              <a:t>Prometheus, Grafana, OpenTelemetry, Elastic APM</a:t>
            </a:r>
          </a:p>
          <a:p>
            <a:r>
              <a:rPr lang="en-US" b="1">
                <a:solidFill>
                  <a:schemeClr val="accent3"/>
                </a:solidFill>
                <a:latin typeface="Times New Roman" panose="02020603050405020304" pitchFamily="18" charset="0"/>
                <a:cs typeface="Times New Roman" panose="02020603050405020304" pitchFamily="18" charset="0"/>
              </a:rPr>
              <a:t>Collectors &amp; Agents</a:t>
            </a:r>
          </a:p>
          <a:p>
            <a:pPr lvl="0"/>
            <a:r>
              <a:rPr lang="en-US">
                <a:latin typeface="Times New Roman" panose="02020603050405020304" pitchFamily="18" charset="0"/>
                <a:cs typeface="Times New Roman" panose="02020603050405020304" pitchFamily="18" charset="0"/>
              </a:rPr>
              <a:t>Syslog-ng, Rsyslog, Fluent Bit/Fluentd, Beats, Windows Event Forwarding, osquery</a:t>
            </a:r>
          </a:p>
          <a:p>
            <a:r>
              <a:rPr lang="en-US" b="1">
                <a:solidFill>
                  <a:schemeClr val="accent3"/>
                </a:solidFill>
                <a:latin typeface="Times New Roman" panose="02020603050405020304" pitchFamily="18" charset="0"/>
                <a:cs typeface="Times New Roman" panose="02020603050405020304" pitchFamily="18" charset="0"/>
              </a:rPr>
              <a:t>Quick Starter Stacks</a:t>
            </a:r>
          </a:p>
          <a:p>
            <a:pPr lvl="0"/>
            <a:r>
              <a:rPr lang="en-US">
                <a:latin typeface="Times New Roman" panose="02020603050405020304" pitchFamily="18" charset="0"/>
                <a:cs typeface="Times New Roman" panose="02020603050405020304" pitchFamily="18" charset="0"/>
              </a:rPr>
              <a:t>Budget/Lab: Wazuh (SIEM/EDR-lite) + Zeek/Suricata (IDS) + pfSense/OPNsense (FW) + TheHive + Shuffle + MISP</a:t>
            </a:r>
          </a:p>
          <a:p>
            <a:pPr lvl="0"/>
            <a:r>
              <a:rPr lang="en-US">
                <a:latin typeface="Times New Roman" panose="02020603050405020304" pitchFamily="18" charset="0"/>
                <a:cs typeface="Times New Roman" panose="02020603050405020304" pitchFamily="18" charset="0"/>
              </a:rPr>
              <a:t>Cloud-first: Microsoft Defender (XDR) + Sentinel (SIEM/SOAR) + native cloud logs + NGFW at edges</a:t>
            </a:r>
          </a:p>
          <a:p>
            <a:pPr lvl="0"/>
            <a:r>
              <a:rPr lang="en-US">
                <a:latin typeface="Times New Roman" panose="02020603050405020304" pitchFamily="18" charset="0"/>
                <a:cs typeface="Times New Roman" panose="02020603050405020304" pitchFamily="18" charset="0"/>
              </a:rPr>
              <a:t>Enterprise: Splunk/QRadar/Elastic SIEM + CrowdStrike/SentinelOne EDR + NGFW/IPS + NDR + XSOAR/Swimlane + TIP (MISP/Recorded Future)</a:t>
            </a:r>
          </a:p>
          <a:p>
            <a:endParaRPr lang="en-US"/>
          </a:p>
        </p:txBody>
      </p:sp>
    </p:spTree>
    <p:extLst>
      <p:ext uri="{BB962C8B-B14F-4D97-AF65-F5344CB8AC3E}">
        <p14:creationId xmlns:p14="http://schemas.microsoft.com/office/powerpoint/2010/main" val="155046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DCCA-4D53-4D5F-B984-000A2840BD7E}"/>
              </a:ext>
            </a:extLst>
          </p:cNvPr>
          <p:cNvSpPr>
            <a:spLocks noGrp="1"/>
          </p:cNvSpPr>
          <p:nvPr>
            <p:ph type="title"/>
          </p:nvPr>
        </p:nvSpPr>
        <p:spPr>
          <a:xfrm>
            <a:off x="272375" y="2766218"/>
            <a:ext cx="11334345" cy="1325563"/>
          </a:xfrm>
        </p:spPr>
        <p:txBody>
          <a:bodyPr>
            <a:noAutofit/>
          </a:bodyPr>
          <a:lstStyle/>
          <a:p>
            <a:pPr algn="ctr"/>
            <a:r>
              <a:rPr lang="en-GB" sz="4800" b="1">
                <a:solidFill>
                  <a:schemeClr val="accent3"/>
                </a:solidFill>
                <a:latin typeface="Times New Roman" panose="02020603050405020304" pitchFamily="18" charset="0"/>
                <a:cs typeface="Times New Roman" panose="02020603050405020304" pitchFamily="18" charset="0"/>
              </a:rPr>
              <a:t>Standard SOC tools: </a:t>
            </a:r>
            <a:br>
              <a:rPr lang="en-GB" sz="4800" b="1">
                <a:solidFill>
                  <a:schemeClr val="accent3"/>
                </a:solidFill>
                <a:latin typeface="Times New Roman" panose="02020603050405020304" pitchFamily="18" charset="0"/>
                <a:cs typeface="Times New Roman" panose="02020603050405020304" pitchFamily="18" charset="0"/>
              </a:rPr>
            </a:br>
            <a:r>
              <a:rPr lang="en-GB" sz="4800" b="1">
                <a:solidFill>
                  <a:schemeClr val="accent3"/>
                </a:solidFill>
                <a:latin typeface="Times New Roman" panose="02020603050405020304" pitchFamily="18" charset="0"/>
                <a:cs typeface="Times New Roman" panose="02020603050405020304" pitchFamily="18" charset="0"/>
              </a:rPr>
              <a:t>SIEM, EDR, IDS/IPS, firewalls</a:t>
            </a:r>
            <a:endParaRPr lang="en-US" sz="4800" b="1">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246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C61E-02BE-4EE9-BDC1-B96A0AF37684}"/>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Standard SOC Tools</a:t>
            </a:r>
            <a:endParaRPr lang="en-US" sz="320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D7F3F7-59A8-4AF6-A7C4-80E094D2B98F}"/>
              </a:ext>
            </a:extLst>
          </p:cNvPr>
          <p:cNvSpPr>
            <a:spLocks noGrp="1"/>
          </p:cNvSpPr>
          <p:nvPr>
            <p:ph idx="1"/>
          </p:nvPr>
        </p:nvSpPr>
        <p:spPr>
          <a:xfrm>
            <a:off x="838200" y="1494155"/>
            <a:ext cx="10515600" cy="4351338"/>
          </a:xfrm>
        </p:spPr>
        <p:txBody>
          <a:bodyPr/>
          <a:lstStyle/>
          <a:p>
            <a:pPr>
              <a:lnSpc>
                <a:spcPct val="150000"/>
              </a:lnSpc>
            </a:pPr>
            <a:r>
              <a:rPr lang="en-US" sz="2400" b="1">
                <a:solidFill>
                  <a:schemeClr val="accent3"/>
                </a:solidFill>
                <a:latin typeface="Times New Roman" panose="02020603050405020304" pitchFamily="18" charset="0"/>
                <a:cs typeface="Times New Roman" panose="02020603050405020304" pitchFamily="18" charset="0"/>
              </a:rPr>
              <a:t>SIEM, EDR, IDS/IPS, and Firewalls</a:t>
            </a:r>
            <a:endParaRPr lang="en-US" sz="2400">
              <a:solidFill>
                <a:schemeClr val="accent3"/>
              </a:solidFill>
              <a:latin typeface="Times New Roman" panose="02020603050405020304" pitchFamily="18" charset="0"/>
              <a:cs typeface="Times New Roman" panose="02020603050405020304" pitchFamily="18" charset="0"/>
            </a:endParaRPr>
          </a:p>
          <a:p>
            <a:pPr>
              <a:lnSpc>
                <a:spcPct val="150000"/>
              </a:lnSpc>
            </a:pPr>
            <a:r>
              <a:rPr lang="en-US" sz="2400">
                <a:latin typeface="Times New Roman" panose="02020603050405020304" pitchFamily="18" charset="0"/>
                <a:cs typeface="Times New Roman" panose="02020603050405020304" pitchFamily="18" charset="0"/>
              </a:rPr>
              <a:t>These four tools, </a:t>
            </a:r>
            <a:r>
              <a:rPr lang="en-US" sz="2400" b="1">
                <a:latin typeface="Times New Roman" panose="02020603050405020304" pitchFamily="18" charset="0"/>
                <a:cs typeface="Times New Roman" panose="02020603050405020304" pitchFamily="18" charset="0"/>
              </a:rPr>
              <a:t>SIEM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EDR</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IDS/IPS</a:t>
            </a:r>
            <a:r>
              <a:rPr lang="en-US" sz="2400">
                <a:latin typeface="Times New Roman" panose="02020603050405020304" pitchFamily="18" charset="0"/>
                <a:cs typeface="Times New Roman" panose="02020603050405020304" pitchFamily="18" charset="0"/>
              </a:rPr>
              <a:t>, and </a:t>
            </a:r>
            <a:r>
              <a:rPr lang="en-US" sz="2400" b="1">
                <a:latin typeface="Times New Roman" panose="02020603050405020304" pitchFamily="18" charset="0"/>
                <a:cs typeface="Times New Roman" panose="02020603050405020304" pitchFamily="18" charset="0"/>
              </a:rPr>
              <a:t>firewalls, </a:t>
            </a:r>
            <a:r>
              <a:rPr lang="en-US" sz="2400">
                <a:latin typeface="Times New Roman" panose="02020603050405020304" pitchFamily="18" charset="0"/>
                <a:cs typeface="Times New Roman" panose="02020603050405020304" pitchFamily="18" charset="0"/>
              </a:rPr>
              <a:t>are the </a:t>
            </a:r>
            <a:r>
              <a:rPr lang="en-US" sz="2400" b="1">
                <a:latin typeface="Times New Roman" panose="02020603050405020304" pitchFamily="18" charset="0"/>
                <a:cs typeface="Times New Roman" panose="02020603050405020304" pitchFamily="18" charset="0"/>
              </a:rPr>
              <a:t>cornerstone of every Security Operations Centre (SOC)</a:t>
            </a:r>
            <a:r>
              <a:rPr lang="en-US" sz="2400">
                <a:latin typeface="Times New Roman" panose="02020603050405020304" pitchFamily="18" charset="0"/>
                <a:cs typeface="Times New Roman" panose="02020603050405020304" pitchFamily="18" charset="0"/>
              </a:rPr>
              <a:t>. They work together to provide </a:t>
            </a:r>
            <a:r>
              <a:rPr lang="en-US" sz="2400" b="1">
                <a:latin typeface="Times New Roman" panose="02020603050405020304" pitchFamily="18" charset="0"/>
                <a:cs typeface="Times New Roman" panose="02020603050405020304" pitchFamily="18" charset="0"/>
              </a:rPr>
              <a:t>visibility, prevention, detection, and response</a:t>
            </a:r>
            <a:r>
              <a:rPr lang="en-US" sz="2400">
                <a:latin typeface="Times New Roman" panose="02020603050405020304" pitchFamily="18" charset="0"/>
                <a:cs typeface="Times New Roman" panose="02020603050405020304" pitchFamily="18" charset="0"/>
              </a:rPr>
              <a:t> across endpoints, networks, and perimeters.</a:t>
            </a:r>
          </a:p>
          <a:p>
            <a:endParaRPr lang="en-US"/>
          </a:p>
        </p:txBody>
      </p:sp>
    </p:spTree>
    <p:extLst>
      <p:ext uri="{BB962C8B-B14F-4D97-AF65-F5344CB8AC3E}">
        <p14:creationId xmlns:p14="http://schemas.microsoft.com/office/powerpoint/2010/main" val="4121005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FE83-B31C-41CF-9518-F88E9F382A6D}"/>
              </a:ext>
            </a:extLst>
          </p:cNvPr>
          <p:cNvSpPr>
            <a:spLocks noGrp="1"/>
          </p:cNvSpPr>
          <p:nvPr>
            <p:ph type="title"/>
          </p:nvPr>
        </p:nvSpPr>
        <p:spPr>
          <a:xfrm>
            <a:off x="1032510" y="689252"/>
            <a:ext cx="10515600" cy="1325563"/>
          </a:xfrm>
        </p:spPr>
        <p:txBody>
          <a:bodyPr>
            <a:normAutofit fontScale="90000"/>
          </a:bodyPr>
          <a:lstStyle/>
          <a:p>
            <a:r>
              <a:rPr lang="en-US" sz="3600" b="1">
                <a:solidFill>
                  <a:srgbClr val="0070C0"/>
                </a:solidFill>
              </a:rPr>
              <a:t>SIEM – Security Information and Event Management</a:t>
            </a:r>
            <a:br>
              <a:rPr lang="en-US" sz="3600" b="1">
                <a:solidFill>
                  <a:srgbClr val="0070C0"/>
                </a:solidFill>
              </a:rPr>
            </a:br>
            <a:r>
              <a:rPr lang="en-US" sz="2700">
                <a:latin typeface="Times New Roman" panose="02020603050405020304" pitchFamily="18" charset="0"/>
                <a:cs typeface="Times New Roman" panose="02020603050405020304" pitchFamily="18" charset="0"/>
              </a:rPr>
              <a:t>The "Brain" of the SOC</a:t>
            </a:r>
            <a:br>
              <a:rPr lang="en-US"/>
            </a:br>
            <a:endParaRPr lang="en-US"/>
          </a:p>
        </p:txBody>
      </p:sp>
      <p:graphicFrame>
        <p:nvGraphicFramePr>
          <p:cNvPr id="4" name="Content Placeholder 3">
            <a:extLst>
              <a:ext uri="{FF2B5EF4-FFF2-40B4-BE49-F238E27FC236}">
                <a16:creationId xmlns:a16="http://schemas.microsoft.com/office/drawing/2014/main" id="{DA1FB0EC-5F5C-422D-B36B-746FE64A003E}"/>
              </a:ext>
            </a:extLst>
          </p:cNvPr>
          <p:cNvGraphicFramePr>
            <a:graphicFrameLocks noGrp="1"/>
          </p:cNvGraphicFramePr>
          <p:nvPr>
            <p:ph idx="1"/>
            <p:extLst>
              <p:ext uri="{D42A27DB-BD31-4B8C-83A1-F6EECF244321}">
                <p14:modId xmlns:p14="http://schemas.microsoft.com/office/powerpoint/2010/main" val="537794716"/>
              </p:ext>
            </p:extLst>
          </p:nvPr>
        </p:nvGraphicFramePr>
        <p:xfrm>
          <a:off x="838200" y="1808834"/>
          <a:ext cx="10797540" cy="4250915"/>
        </p:xfrm>
        <a:graphic>
          <a:graphicData uri="http://schemas.openxmlformats.org/drawingml/2006/table">
            <a:tbl>
              <a:tblPr/>
              <a:tblGrid>
                <a:gridCol w="2638927">
                  <a:extLst>
                    <a:ext uri="{9D8B030D-6E8A-4147-A177-3AD203B41FA5}">
                      <a16:colId xmlns:a16="http://schemas.microsoft.com/office/drawing/2014/main" val="1995230632"/>
                    </a:ext>
                  </a:extLst>
                </a:gridCol>
                <a:gridCol w="8158613">
                  <a:extLst>
                    <a:ext uri="{9D8B030D-6E8A-4147-A177-3AD203B41FA5}">
                      <a16:colId xmlns:a16="http://schemas.microsoft.com/office/drawing/2014/main" val="363471428"/>
                    </a:ext>
                  </a:extLst>
                </a:gridCol>
              </a:tblGrid>
              <a:tr h="308517">
                <a:tc>
                  <a:txBody>
                    <a:bodyPr/>
                    <a:lstStyle/>
                    <a:p>
                      <a:r>
                        <a:rPr lang="en-US" sz="1600" b="1">
                          <a:solidFill>
                            <a:schemeClr val="accent3"/>
                          </a:solidFill>
                        </a:rPr>
                        <a:t>Aspect</a:t>
                      </a:r>
                    </a:p>
                  </a:txBody>
                  <a:tcPr marL="80580" marR="80580" marT="40290" marB="40290" anchor="ctr">
                    <a:lnL>
                      <a:noFill/>
                    </a:lnL>
                    <a:lnR>
                      <a:noFill/>
                    </a:lnR>
                    <a:lnT>
                      <a:noFill/>
                    </a:lnT>
                    <a:lnB>
                      <a:noFill/>
                    </a:lnB>
                  </a:tcPr>
                </a:tc>
                <a:tc>
                  <a:txBody>
                    <a:bodyPr/>
                    <a:lstStyle/>
                    <a:p>
                      <a:r>
                        <a:rPr lang="en-US" sz="1600" b="1">
                          <a:solidFill>
                            <a:schemeClr val="accent3"/>
                          </a:solidFill>
                        </a:rPr>
                        <a:t>Details</a:t>
                      </a:r>
                    </a:p>
                  </a:txBody>
                  <a:tcPr marL="80580" marR="80580" marT="40290" marB="40290" anchor="ctr">
                    <a:lnL>
                      <a:noFill/>
                    </a:lnL>
                    <a:lnR>
                      <a:noFill/>
                    </a:lnR>
                    <a:lnT>
                      <a:noFill/>
                    </a:lnT>
                    <a:lnB>
                      <a:noFill/>
                    </a:lnB>
                  </a:tcPr>
                </a:tc>
                <a:extLst>
                  <a:ext uri="{0D108BD9-81ED-4DB2-BD59-A6C34878D82A}">
                    <a16:rowId xmlns:a16="http://schemas.microsoft.com/office/drawing/2014/main" val="678091946"/>
                  </a:ext>
                </a:extLst>
              </a:tr>
              <a:tr h="766762">
                <a:tc>
                  <a:txBody>
                    <a:bodyPr/>
                    <a:lstStyle/>
                    <a:p>
                      <a:r>
                        <a:rPr lang="en-US" sz="1800" b="1">
                          <a:solidFill>
                            <a:srgbClr val="0070C0"/>
                          </a:solidFill>
                          <a:latin typeface="Times New Roman" panose="02020603050405020304" pitchFamily="18" charset="0"/>
                          <a:cs typeface="Times New Roman" panose="02020603050405020304" pitchFamily="18" charset="0"/>
                        </a:rPr>
                        <a:t>What it does</a:t>
                      </a:r>
                      <a:endParaRPr lang="en-US" sz="1800">
                        <a:solidFill>
                          <a:srgbClr val="0070C0"/>
                        </a:solidFill>
                        <a:latin typeface="Times New Roman" panose="02020603050405020304" pitchFamily="18" charset="0"/>
                        <a:cs typeface="Times New Roman" panose="02020603050405020304" pitchFamily="18" charset="0"/>
                      </a:endParaRPr>
                    </a:p>
                  </a:txBody>
                  <a:tcPr marL="80580" marR="80580" marT="40290" marB="4029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Collects, stores, normalizes, and correlates </a:t>
                      </a:r>
                      <a:r>
                        <a:rPr lang="en-US" sz="1800" b="1">
                          <a:latin typeface="Times New Roman" panose="02020603050405020304" pitchFamily="18" charset="0"/>
                          <a:cs typeface="Times New Roman" panose="02020603050405020304" pitchFamily="18" charset="0"/>
                        </a:rPr>
                        <a:t>logs and events</a:t>
                      </a:r>
                      <a:r>
                        <a:rPr lang="en-US" sz="1800">
                          <a:latin typeface="Times New Roman" panose="02020603050405020304" pitchFamily="18" charset="0"/>
                          <a:cs typeface="Times New Roman" panose="02020603050405020304" pitchFamily="18" charset="0"/>
                        </a:rPr>
                        <a:t> from </a:t>
                      </a:r>
                      <a:r>
                        <a:rPr lang="en-US" sz="1800" b="1">
                          <a:latin typeface="Times New Roman" panose="02020603050405020304" pitchFamily="18" charset="0"/>
                          <a:cs typeface="Times New Roman" panose="02020603050405020304" pitchFamily="18" charset="0"/>
                        </a:rPr>
                        <a:t>every device and system</a:t>
                      </a:r>
                      <a:r>
                        <a:rPr lang="en-US" sz="1800">
                          <a:latin typeface="Times New Roman" panose="02020603050405020304" pitchFamily="18" charset="0"/>
                          <a:cs typeface="Times New Roman" panose="02020603050405020304" pitchFamily="18" charset="0"/>
                        </a:rPr>
                        <a:t> (servers, firewalls, apps, cloud services, etc.).</a:t>
                      </a:r>
                    </a:p>
                  </a:txBody>
                  <a:tcPr marL="80580" marR="80580" marT="40290" marB="40290" anchor="ctr">
                    <a:lnL>
                      <a:noFill/>
                    </a:lnL>
                    <a:lnR>
                      <a:noFill/>
                    </a:lnR>
                    <a:lnT>
                      <a:noFill/>
                    </a:lnT>
                    <a:lnB>
                      <a:noFill/>
                    </a:lnB>
                  </a:tcPr>
                </a:tc>
                <a:extLst>
                  <a:ext uri="{0D108BD9-81ED-4DB2-BD59-A6C34878D82A}">
                    <a16:rowId xmlns:a16="http://schemas.microsoft.com/office/drawing/2014/main" val="3178234797"/>
                  </a:ext>
                </a:extLst>
              </a:tr>
              <a:tr h="996989">
                <a:tc>
                  <a:txBody>
                    <a:bodyPr/>
                    <a:lstStyle/>
                    <a:p>
                      <a:r>
                        <a:rPr lang="en-US" sz="1800" b="1">
                          <a:solidFill>
                            <a:srgbClr val="0070C0"/>
                          </a:solidFill>
                          <a:latin typeface="Times New Roman" panose="02020603050405020304" pitchFamily="18" charset="0"/>
                          <a:cs typeface="Times New Roman" panose="02020603050405020304" pitchFamily="18" charset="0"/>
                        </a:rPr>
                        <a:t>Core Functions</a:t>
                      </a:r>
                      <a:endParaRPr lang="en-US" sz="1800">
                        <a:solidFill>
                          <a:srgbClr val="0070C0"/>
                        </a:solidFill>
                        <a:latin typeface="Times New Roman" panose="02020603050405020304" pitchFamily="18" charset="0"/>
                        <a:cs typeface="Times New Roman" panose="02020603050405020304" pitchFamily="18" charset="0"/>
                      </a:endParaRPr>
                    </a:p>
                  </a:txBody>
                  <a:tcPr marL="80580" marR="80580" marT="40290" marB="40290"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Real-time alerting</a:t>
                      </a:r>
                      <a:r>
                        <a:rPr lang="en-US" sz="1800">
                          <a:latin typeface="Times New Roman" panose="02020603050405020304" pitchFamily="18" charset="0"/>
                          <a:cs typeface="Times New Roman" panose="02020603050405020304" pitchFamily="18" charset="0"/>
                        </a:rPr>
                        <a:t> on suspicious patterns - </a:t>
                      </a:r>
                      <a:r>
                        <a:rPr lang="en-US" sz="1800" b="1">
                          <a:latin typeface="Times New Roman" panose="02020603050405020304" pitchFamily="18" charset="0"/>
                          <a:cs typeface="Times New Roman" panose="02020603050405020304" pitchFamily="18" charset="0"/>
                        </a:rPr>
                        <a:t>Historical search &amp; forensics</a:t>
                      </a:r>
                      <a:r>
                        <a:rPr lang="en-US" sz="1800">
                          <a:latin typeface="Times New Roman" panose="02020603050405020304" pitchFamily="18" charset="0"/>
                          <a:cs typeface="Times New Roman" panose="02020603050405020304" pitchFamily="18" charset="0"/>
                        </a:rPr>
                        <a:t> (e.g., “Who logged in at 3 AM?”) - </a:t>
                      </a:r>
                      <a:r>
                        <a:rPr lang="en-US" sz="1800" b="1">
                          <a:latin typeface="Times New Roman" panose="02020603050405020304" pitchFamily="18" charset="0"/>
                          <a:cs typeface="Times New Roman" panose="02020603050405020304" pitchFamily="18" charset="0"/>
                        </a:rPr>
                        <a:t>Compliance reporting</a:t>
                      </a:r>
                      <a:r>
                        <a:rPr lang="en-US" sz="1800">
                          <a:latin typeface="Times New Roman" panose="02020603050405020304" pitchFamily="18" charset="0"/>
                          <a:cs typeface="Times New Roman" panose="02020603050405020304" pitchFamily="18" charset="0"/>
                        </a:rPr>
                        <a:t> (PCI DSS, HIPAA, GDPR, etc.)</a:t>
                      </a:r>
                    </a:p>
                  </a:txBody>
                  <a:tcPr marL="80580" marR="80580" marT="40290" marB="40290" anchor="ctr">
                    <a:lnL>
                      <a:noFill/>
                    </a:lnL>
                    <a:lnR>
                      <a:noFill/>
                    </a:lnR>
                    <a:lnT>
                      <a:noFill/>
                    </a:lnT>
                    <a:lnB>
                      <a:noFill/>
                    </a:lnB>
                  </a:tcPr>
                </a:tc>
                <a:extLst>
                  <a:ext uri="{0D108BD9-81ED-4DB2-BD59-A6C34878D82A}">
                    <a16:rowId xmlns:a16="http://schemas.microsoft.com/office/drawing/2014/main" val="584533860"/>
                  </a:ext>
                </a:extLst>
              </a:tr>
              <a:tr h="996989">
                <a:tc>
                  <a:txBody>
                    <a:bodyPr/>
                    <a:lstStyle/>
                    <a:p>
                      <a:r>
                        <a:rPr lang="en-US" sz="1800" b="1">
                          <a:solidFill>
                            <a:srgbClr val="0070C0"/>
                          </a:solidFill>
                          <a:latin typeface="Times New Roman" panose="02020603050405020304" pitchFamily="18" charset="0"/>
                          <a:cs typeface="Times New Roman" panose="02020603050405020304" pitchFamily="18" charset="0"/>
                        </a:rPr>
                        <a:t>How it detects threats</a:t>
                      </a:r>
                      <a:endParaRPr lang="en-US" sz="1800">
                        <a:solidFill>
                          <a:srgbClr val="0070C0"/>
                        </a:solidFill>
                        <a:latin typeface="Times New Roman" panose="02020603050405020304" pitchFamily="18" charset="0"/>
                        <a:cs typeface="Times New Roman" panose="02020603050405020304" pitchFamily="18" charset="0"/>
                      </a:endParaRPr>
                    </a:p>
                  </a:txBody>
                  <a:tcPr marL="80580" marR="80580" marT="40290" marB="4029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Uses </a:t>
                      </a:r>
                      <a:r>
                        <a:rPr lang="en-US" sz="1800" b="1">
                          <a:latin typeface="Times New Roman" panose="02020603050405020304" pitchFamily="18" charset="0"/>
                          <a:cs typeface="Times New Roman" panose="02020603050405020304" pitchFamily="18" charset="0"/>
                        </a:rPr>
                        <a:t>rules, correlation engines, and behavioral analytics</a:t>
                      </a:r>
                      <a:r>
                        <a:rPr lang="en-US" sz="1800">
                          <a:latin typeface="Times New Roman" panose="02020603050405020304" pitchFamily="18" charset="0"/>
                          <a:cs typeface="Times New Roman" panose="02020603050405020304" pitchFamily="18" charset="0"/>
                        </a:rPr>
                        <a:t> to spot anomalies like: → Multiple failed logins + data export → Malware beaconing to C2 servers</a:t>
                      </a:r>
                    </a:p>
                  </a:txBody>
                  <a:tcPr marL="80580" marR="80580" marT="40290" marB="40290" anchor="ctr">
                    <a:lnL>
                      <a:noFill/>
                    </a:lnL>
                    <a:lnR>
                      <a:noFill/>
                    </a:lnR>
                    <a:lnT>
                      <a:noFill/>
                    </a:lnT>
                    <a:lnB>
                      <a:noFill/>
                    </a:lnB>
                  </a:tcPr>
                </a:tc>
                <a:extLst>
                  <a:ext uri="{0D108BD9-81ED-4DB2-BD59-A6C34878D82A}">
                    <a16:rowId xmlns:a16="http://schemas.microsoft.com/office/drawing/2014/main" val="3552724579"/>
                  </a:ext>
                </a:extLst>
              </a:tr>
              <a:tr h="540405">
                <a:tc>
                  <a:txBody>
                    <a:bodyPr/>
                    <a:lstStyle/>
                    <a:p>
                      <a:r>
                        <a:rPr lang="en-US" sz="1800" b="1">
                          <a:solidFill>
                            <a:srgbClr val="0070C0"/>
                          </a:solidFill>
                          <a:latin typeface="Times New Roman" panose="02020603050405020304" pitchFamily="18" charset="0"/>
                          <a:cs typeface="Times New Roman" panose="02020603050405020304" pitchFamily="18" charset="0"/>
                        </a:rPr>
                        <a:t>Example Alert</a:t>
                      </a:r>
                      <a:endParaRPr lang="en-US" sz="1800">
                        <a:solidFill>
                          <a:srgbClr val="0070C0"/>
                        </a:solidFill>
                        <a:latin typeface="Times New Roman" panose="02020603050405020304" pitchFamily="18" charset="0"/>
                        <a:cs typeface="Times New Roman" panose="02020603050405020304" pitchFamily="18" charset="0"/>
                      </a:endParaRPr>
                    </a:p>
                  </a:txBody>
                  <a:tcPr marL="80580" marR="80580" marT="40290" marB="4029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“User ‘jdoe’ downloaded 2 GB from HR server at 2:14 AM after 47 failed logins from Russia.”</a:t>
                      </a:r>
                    </a:p>
                  </a:txBody>
                  <a:tcPr marL="80580" marR="80580" marT="40290" marB="40290" anchor="ctr">
                    <a:lnL>
                      <a:noFill/>
                    </a:lnL>
                    <a:lnR>
                      <a:noFill/>
                    </a:lnR>
                    <a:lnT>
                      <a:noFill/>
                    </a:lnT>
                    <a:lnB>
                      <a:noFill/>
                    </a:lnB>
                  </a:tcPr>
                </a:tc>
                <a:extLst>
                  <a:ext uri="{0D108BD9-81ED-4DB2-BD59-A6C34878D82A}">
                    <a16:rowId xmlns:a16="http://schemas.microsoft.com/office/drawing/2014/main" val="3390966905"/>
                  </a:ext>
                </a:extLst>
              </a:tr>
              <a:tr h="536535">
                <a:tc>
                  <a:txBody>
                    <a:bodyPr/>
                    <a:lstStyle/>
                    <a:p>
                      <a:r>
                        <a:rPr lang="en-US" sz="1800" b="1">
                          <a:solidFill>
                            <a:srgbClr val="0070C0"/>
                          </a:solidFill>
                          <a:latin typeface="Times New Roman" panose="02020603050405020304" pitchFamily="18" charset="0"/>
                          <a:cs typeface="Times New Roman" panose="02020603050405020304" pitchFamily="18" charset="0"/>
                        </a:rPr>
                        <a:t>Popular Tools</a:t>
                      </a:r>
                      <a:endParaRPr lang="en-US" sz="1800">
                        <a:solidFill>
                          <a:srgbClr val="0070C0"/>
                        </a:solidFill>
                        <a:latin typeface="Times New Roman" panose="02020603050405020304" pitchFamily="18" charset="0"/>
                        <a:cs typeface="Times New Roman" panose="02020603050405020304" pitchFamily="18" charset="0"/>
                      </a:endParaRPr>
                    </a:p>
                  </a:txBody>
                  <a:tcPr marL="80580" marR="80580" marT="40290" marB="4029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Splunk, Elastic SIEM, Microsoft Sentinel, IBM QRadar, Exabeam</a:t>
                      </a:r>
                    </a:p>
                  </a:txBody>
                  <a:tcPr marL="80580" marR="80580" marT="40290" marB="40290" anchor="ctr">
                    <a:lnL>
                      <a:noFill/>
                    </a:lnL>
                    <a:lnR>
                      <a:noFill/>
                    </a:lnR>
                    <a:lnT>
                      <a:noFill/>
                    </a:lnT>
                    <a:lnB>
                      <a:noFill/>
                    </a:lnB>
                  </a:tcPr>
                </a:tc>
                <a:extLst>
                  <a:ext uri="{0D108BD9-81ED-4DB2-BD59-A6C34878D82A}">
                    <a16:rowId xmlns:a16="http://schemas.microsoft.com/office/drawing/2014/main" val="4143072066"/>
                  </a:ext>
                </a:extLst>
              </a:tr>
            </a:tbl>
          </a:graphicData>
        </a:graphic>
      </p:graphicFrame>
      <p:sp>
        <p:nvSpPr>
          <p:cNvPr id="6" name="TextBox 5">
            <a:extLst>
              <a:ext uri="{FF2B5EF4-FFF2-40B4-BE49-F238E27FC236}">
                <a16:creationId xmlns:a16="http://schemas.microsoft.com/office/drawing/2014/main" id="{EA8D65F7-4428-4205-9B73-86320F0010CC}"/>
              </a:ext>
            </a:extLst>
          </p:cNvPr>
          <p:cNvSpPr txBox="1"/>
          <p:nvPr/>
        </p:nvSpPr>
        <p:spPr>
          <a:xfrm>
            <a:off x="838200" y="5998789"/>
            <a:ext cx="9366731" cy="646331"/>
          </a:xfrm>
          <a:prstGeom prst="rect">
            <a:avLst/>
          </a:prstGeom>
          <a:noFill/>
        </p:spPr>
        <p:txBody>
          <a:bodyPr wrap="none" rtlCol="0">
            <a:spAutoFit/>
          </a:bodyPr>
          <a:lstStyle/>
          <a:p>
            <a:r>
              <a:rPr lang="en-US">
                <a:solidFill>
                  <a:schemeClr val="accent3"/>
                </a:solidFill>
                <a:latin typeface="Times New Roman" panose="02020603050405020304" pitchFamily="18" charset="0"/>
                <a:cs typeface="Times New Roman" panose="02020603050405020304" pitchFamily="18" charset="0"/>
              </a:rPr>
              <a:t>SIEM is like a security camera system with AI that watches everything and flags unusual behaviour.</a:t>
            </a:r>
          </a:p>
          <a:p>
            <a:endParaRPr lang="en-US"/>
          </a:p>
        </p:txBody>
      </p:sp>
    </p:spTree>
    <p:extLst>
      <p:ext uri="{BB962C8B-B14F-4D97-AF65-F5344CB8AC3E}">
        <p14:creationId xmlns:p14="http://schemas.microsoft.com/office/powerpoint/2010/main" val="1710536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B5DCB-1DE6-45A9-AFE2-AA569A50ADA5}"/>
              </a:ext>
            </a:extLst>
          </p:cNvPr>
          <p:cNvSpPr>
            <a:spLocks noGrp="1"/>
          </p:cNvSpPr>
          <p:nvPr>
            <p:ph type="title"/>
          </p:nvPr>
        </p:nvSpPr>
        <p:spPr>
          <a:xfrm>
            <a:off x="918210" y="913766"/>
            <a:ext cx="10515600" cy="1325563"/>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EDR – Endpoint Detection and Response</a:t>
            </a:r>
            <a:br>
              <a:rPr lang="en-US" sz="3200" b="1">
                <a:solidFill>
                  <a:srgbClr val="0070C0"/>
                </a:solidFill>
                <a:latin typeface="Times New Roman" panose="02020603050405020304" pitchFamily="18" charset="0"/>
                <a:cs typeface="Times New Roman" panose="02020603050405020304" pitchFamily="18" charset="0"/>
              </a:rPr>
            </a:br>
            <a:r>
              <a:rPr lang="en-US" sz="2700">
                <a:latin typeface="Times New Roman" panose="02020603050405020304" pitchFamily="18" charset="0"/>
                <a:cs typeface="Times New Roman" panose="02020603050405020304" pitchFamily="18" charset="0"/>
              </a:rPr>
              <a:t>The "Immune System" for Laptops, Servers, and Workstations</a:t>
            </a:r>
            <a:br>
              <a:rPr lang="en-US" sz="3200"/>
            </a:br>
            <a:br>
              <a:rPr lang="en-US" sz="3200">
                <a:solidFill>
                  <a:srgbClr val="0070C0"/>
                </a:solidFill>
                <a:latin typeface="Times New Roman" panose="02020603050405020304" pitchFamily="18" charset="0"/>
                <a:cs typeface="Times New Roman" panose="02020603050405020304" pitchFamily="18" charset="0"/>
              </a:rPr>
            </a:br>
            <a:endParaRPr lang="en-US" sz="3200">
              <a:solidFill>
                <a:srgbClr val="0070C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EB8ECBAE-7775-4859-B33D-5F18CD4AB97D}"/>
              </a:ext>
            </a:extLst>
          </p:cNvPr>
          <p:cNvGraphicFramePr>
            <a:graphicFrameLocks noGrp="1"/>
          </p:cNvGraphicFramePr>
          <p:nvPr>
            <p:ph idx="1"/>
            <p:extLst>
              <p:ext uri="{D42A27DB-BD31-4B8C-83A1-F6EECF244321}">
                <p14:modId xmlns:p14="http://schemas.microsoft.com/office/powerpoint/2010/main" val="1722561312"/>
              </p:ext>
            </p:extLst>
          </p:nvPr>
        </p:nvGraphicFramePr>
        <p:xfrm>
          <a:off x="838200" y="1577182"/>
          <a:ext cx="11083290" cy="4367052"/>
        </p:xfrm>
        <a:graphic>
          <a:graphicData uri="http://schemas.openxmlformats.org/drawingml/2006/table">
            <a:tbl>
              <a:tblPr/>
              <a:tblGrid>
                <a:gridCol w="2465630">
                  <a:extLst>
                    <a:ext uri="{9D8B030D-6E8A-4147-A177-3AD203B41FA5}">
                      <a16:colId xmlns:a16="http://schemas.microsoft.com/office/drawing/2014/main" val="2165134088"/>
                    </a:ext>
                  </a:extLst>
                </a:gridCol>
                <a:gridCol w="8617660">
                  <a:extLst>
                    <a:ext uri="{9D8B030D-6E8A-4147-A177-3AD203B41FA5}">
                      <a16:colId xmlns:a16="http://schemas.microsoft.com/office/drawing/2014/main" val="1812555327"/>
                    </a:ext>
                  </a:extLst>
                </a:gridCol>
              </a:tblGrid>
              <a:tr h="334852">
                <a:tc>
                  <a:txBody>
                    <a:bodyPr/>
                    <a:lstStyle/>
                    <a:p>
                      <a:r>
                        <a:rPr lang="en-US" sz="1800" b="1">
                          <a:solidFill>
                            <a:schemeClr val="accent3"/>
                          </a:solidFill>
                        </a:rPr>
                        <a:t>Aspect</a:t>
                      </a:r>
                    </a:p>
                  </a:txBody>
                  <a:tcPr marL="72522" marR="72522" marT="36261" marB="36261" anchor="ctr">
                    <a:lnL>
                      <a:noFill/>
                    </a:lnL>
                    <a:lnR>
                      <a:noFill/>
                    </a:lnR>
                    <a:lnT>
                      <a:noFill/>
                    </a:lnT>
                    <a:lnB>
                      <a:noFill/>
                    </a:lnB>
                  </a:tcPr>
                </a:tc>
                <a:tc>
                  <a:txBody>
                    <a:bodyPr/>
                    <a:lstStyle/>
                    <a:p>
                      <a:r>
                        <a:rPr lang="en-US" sz="1800" b="1">
                          <a:solidFill>
                            <a:schemeClr val="accent3"/>
                          </a:solidFill>
                        </a:rPr>
                        <a:t>Details</a:t>
                      </a:r>
                    </a:p>
                  </a:txBody>
                  <a:tcPr marL="72522" marR="72522" marT="36261" marB="36261" anchor="ctr">
                    <a:lnL>
                      <a:noFill/>
                    </a:lnL>
                    <a:lnR>
                      <a:noFill/>
                    </a:lnR>
                    <a:lnT>
                      <a:noFill/>
                    </a:lnT>
                    <a:lnB>
                      <a:noFill/>
                    </a:lnB>
                  </a:tcPr>
                </a:tc>
                <a:extLst>
                  <a:ext uri="{0D108BD9-81ED-4DB2-BD59-A6C34878D82A}">
                    <a16:rowId xmlns:a16="http://schemas.microsoft.com/office/drawing/2014/main" val="3998553627"/>
                  </a:ext>
                </a:extLst>
              </a:tr>
              <a:tr h="677269">
                <a:tc>
                  <a:txBody>
                    <a:bodyPr/>
                    <a:lstStyle/>
                    <a:p>
                      <a:r>
                        <a:rPr lang="en-US" sz="2000" b="1">
                          <a:solidFill>
                            <a:srgbClr val="0070C0"/>
                          </a:solidFill>
                          <a:latin typeface="Times New Roman" panose="02020603050405020304" pitchFamily="18" charset="0"/>
                          <a:cs typeface="Times New Roman" panose="02020603050405020304" pitchFamily="18" charset="0"/>
                        </a:rPr>
                        <a:t>What it does</a:t>
                      </a:r>
                      <a:endParaRPr lang="en-US" sz="2000">
                        <a:solidFill>
                          <a:srgbClr val="0070C0"/>
                        </a:solidFill>
                        <a:latin typeface="Times New Roman" panose="02020603050405020304" pitchFamily="18" charset="0"/>
                        <a:cs typeface="Times New Roman" panose="02020603050405020304" pitchFamily="18" charset="0"/>
                      </a:endParaRPr>
                    </a:p>
                  </a:txBody>
                  <a:tcPr marL="72522" marR="72522" marT="36261" marB="36261"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Installs a </a:t>
                      </a:r>
                      <a:r>
                        <a:rPr lang="en-US" sz="2000" b="1">
                          <a:latin typeface="Times New Roman" panose="02020603050405020304" pitchFamily="18" charset="0"/>
                          <a:cs typeface="Times New Roman" panose="02020603050405020304" pitchFamily="18" charset="0"/>
                        </a:rPr>
                        <a:t>lightweight agent</a:t>
                      </a:r>
                      <a:r>
                        <a:rPr lang="en-US" sz="2000">
                          <a:latin typeface="Times New Roman" panose="02020603050405020304" pitchFamily="18" charset="0"/>
                          <a:cs typeface="Times New Roman" panose="02020603050405020304" pitchFamily="18" charset="0"/>
                        </a:rPr>
                        <a:t> on every endpoint (Windows, macOS, Linux, servers). Continuously records </a:t>
                      </a:r>
                      <a:r>
                        <a:rPr lang="en-US" sz="2000" b="1">
                          <a:latin typeface="Times New Roman" panose="02020603050405020304" pitchFamily="18" charset="0"/>
                          <a:cs typeface="Times New Roman" panose="02020603050405020304" pitchFamily="18" charset="0"/>
                        </a:rPr>
                        <a:t>process, file, registry, and network activity</a:t>
                      </a:r>
                      <a:r>
                        <a:rPr lang="en-US" sz="2000">
                          <a:latin typeface="Times New Roman" panose="02020603050405020304" pitchFamily="18" charset="0"/>
                          <a:cs typeface="Times New Roman" panose="02020603050405020304" pitchFamily="18" charset="0"/>
                        </a:rPr>
                        <a:t>.</a:t>
                      </a:r>
                    </a:p>
                  </a:txBody>
                  <a:tcPr marL="72522" marR="72522" marT="36261" marB="36261" anchor="ctr">
                    <a:lnL>
                      <a:noFill/>
                    </a:lnL>
                    <a:lnR>
                      <a:noFill/>
                    </a:lnR>
                    <a:lnT>
                      <a:noFill/>
                    </a:lnT>
                    <a:lnB>
                      <a:noFill/>
                    </a:lnB>
                  </a:tcPr>
                </a:tc>
                <a:extLst>
                  <a:ext uri="{0D108BD9-81ED-4DB2-BD59-A6C34878D82A}">
                    <a16:rowId xmlns:a16="http://schemas.microsoft.com/office/drawing/2014/main" val="1466265731"/>
                  </a:ext>
                </a:extLst>
              </a:tr>
              <a:tr h="1247070">
                <a:tc>
                  <a:txBody>
                    <a:bodyPr/>
                    <a:lstStyle/>
                    <a:p>
                      <a:r>
                        <a:rPr lang="en-US" sz="2000" b="1">
                          <a:solidFill>
                            <a:srgbClr val="0070C0"/>
                          </a:solidFill>
                          <a:latin typeface="Times New Roman" panose="02020603050405020304" pitchFamily="18" charset="0"/>
                          <a:cs typeface="Times New Roman" panose="02020603050405020304" pitchFamily="18" charset="0"/>
                        </a:rPr>
                        <a:t>Core Functions</a:t>
                      </a:r>
                      <a:endParaRPr lang="en-US" sz="2000">
                        <a:solidFill>
                          <a:srgbClr val="0070C0"/>
                        </a:solidFill>
                        <a:latin typeface="Times New Roman" panose="02020603050405020304" pitchFamily="18" charset="0"/>
                        <a:cs typeface="Times New Roman" panose="02020603050405020304" pitchFamily="18" charset="0"/>
                      </a:endParaRPr>
                    </a:p>
                  </a:txBody>
                  <a:tcPr marL="72522" marR="72522" marT="36261" marB="36261" anchor="ctr">
                    <a:lnL>
                      <a:noFill/>
                    </a:lnL>
                    <a:lnR>
                      <a:noFill/>
                    </a:lnR>
                    <a:lnT>
                      <a:noFill/>
                    </a:lnT>
                    <a:lnB>
                      <a:noFill/>
                    </a:lnB>
                  </a:tcPr>
                </a:tc>
                <a:tc>
                  <a:txBody>
                    <a:bodyPr/>
                    <a:lstStyle/>
                    <a:p>
                      <a:endParaRPr lang="en-US" sz="2000" b="1">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Behavioral threat detection</a:t>
                      </a:r>
                      <a:r>
                        <a:rPr lang="en-US" sz="2000">
                          <a:latin typeface="Times New Roman" panose="02020603050405020304" pitchFamily="18" charset="0"/>
                          <a:cs typeface="Times New Roman" panose="02020603050405020304" pitchFamily="18" charset="0"/>
                        </a:rPr>
                        <a:t> (e.g., ransomware encrypting files) - </a:t>
                      </a:r>
                      <a:r>
                        <a:rPr lang="en-US" sz="2000" b="1">
                          <a:latin typeface="Times New Roman" panose="02020603050405020304" pitchFamily="18" charset="0"/>
                          <a:cs typeface="Times New Roman" panose="02020603050405020304" pitchFamily="18" charset="0"/>
                        </a:rPr>
                        <a:t>Live investigation</a:t>
                      </a:r>
                      <a:r>
                        <a:rPr lang="en-US" sz="2000">
                          <a:latin typeface="Times New Roman" panose="02020603050405020304" pitchFamily="18" charset="0"/>
                          <a:cs typeface="Times New Roman" panose="02020603050405020304" pitchFamily="18" charset="0"/>
                        </a:rPr>
                        <a:t> (remote shell, memory dump) - </a:t>
                      </a:r>
                      <a:r>
                        <a:rPr lang="en-US" sz="2000" b="1">
                          <a:latin typeface="Times New Roman" panose="02020603050405020304" pitchFamily="18" charset="0"/>
                          <a:cs typeface="Times New Roman" panose="02020603050405020304" pitchFamily="18" charset="0"/>
                        </a:rPr>
                        <a:t>One-click containment</a:t>
                      </a:r>
                      <a:r>
                        <a:rPr lang="en-US" sz="2000">
                          <a:latin typeface="Times New Roman" panose="02020603050405020304" pitchFamily="18" charset="0"/>
                          <a:cs typeface="Times New Roman" panose="02020603050405020304" pitchFamily="18" charset="0"/>
                        </a:rPr>
                        <a:t> (kill process, isolate device)</a:t>
                      </a:r>
                    </a:p>
                  </a:txBody>
                  <a:tcPr marL="72522" marR="72522" marT="36261" marB="36261" anchor="ctr">
                    <a:lnL>
                      <a:noFill/>
                    </a:lnL>
                    <a:lnR>
                      <a:noFill/>
                    </a:lnR>
                    <a:lnT>
                      <a:noFill/>
                    </a:lnT>
                    <a:lnB>
                      <a:noFill/>
                    </a:lnB>
                  </a:tcPr>
                </a:tc>
                <a:extLst>
                  <a:ext uri="{0D108BD9-81ED-4DB2-BD59-A6C34878D82A}">
                    <a16:rowId xmlns:a16="http://schemas.microsoft.com/office/drawing/2014/main" val="3442536381"/>
                  </a:ext>
                </a:extLst>
              </a:tr>
              <a:tr h="677269">
                <a:tc>
                  <a:txBody>
                    <a:bodyPr/>
                    <a:lstStyle/>
                    <a:p>
                      <a:r>
                        <a:rPr lang="en-US" sz="2000" b="1">
                          <a:solidFill>
                            <a:srgbClr val="0070C0"/>
                          </a:solidFill>
                          <a:latin typeface="Times New Roman" panose="02020603050405020304" pitchFamily="18" charset="0"/>
                          <a:cs typeface="Times New Roman" panose="02020603050405020304" pitchFamily="18" charset="0"/>
                        </a:rPr>
                        <a:t>How it detects threats</a:t>
                      </a:r>
                      <a:endParaRPr lang="en-US" sz="2000">
                        <a:solidFill>
                          <a:srgbClr val="0070C0"/>
                        </a:solidFill>
                        <a:latin typeface="Times New Roman" panose="02020603050405020304" pitchFamily="18" charset="0"/>
                        <a:cs typeface="Times New Roman" panose="02020603050405020304" pitchFamily="18" charset="0"/>
                      </a:endParaRPr>
                    </a:p>
                  </a:txBody>
                  <a:tcPr marL="72522" marR="72522" marT="36261" marB="36261"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Watches for </a:t>
                      </a:r>
                      <a:r>
                        <a:rPr lang="en-US" sz="2000" b="1">
                          <a:latin typeface="Times New Roman" panose="02020603050405020304" pitchFamily="18" charset="0"/>
                          <a:cs typeface="Times New Roman" panose="02020603050405020304" pitchFamily="18" charset="0"/>
                        </a:rPr>
                        <a:t>malicious behaviors</a:t>
                      </a:r>
                      <a:r>
                        <a:rPr lang="en-US" sz="2000">
                          <a:latin typeface="Times New Roman" panose="02020603050405020304" pitchFamily="18" charset="0"/>
                          <a:cs typeface="Times New Roman" panose="02020603050405020304" pitchFamily="18" charset="0"/>
                        </a:rPr>
                        <a:t>, not just known malware: → PowerShell downloading .exe → Fileless attack in memory → Living-off-the-land techniques</a:t>
                      </a:r>
                    </a:p>
                  </a:txBody>
                  <a:tcPr marL="72522" marR="72522" marT="36261" marB="36261" anchor="ctr">
                    <a:lnL>
                      <a:noFill/>
                    </a:lnL>
                    <a:lnR>
                      <a:noFill/>
                    </a:lnR>
                    <a:lnT>
                      <a:noFill/>
                    </a:lnT>
                    <a:lnB>
                      <a:noFill/>
                    </a:lnB>
                  </a:tcPr>
                </a:tc>
                <a:extLst>
                  <a:ext uri="{0D108BD9-81ED-4DB2-BD59-A6C34878D82A}">
                    <a16:rowId xmlns:a16="http://schemas.microsoft.com/office/drawing/2014/main" val="318928613"/>
                  </a:ext>
                </a:extLst>
              </a:tr>
              <a:tr h="658542">
                <a:tc>
                  <a:txBody>
                    <a:bodyPr/>
                    <a:lstStyle/>
                    <a:p>
                      <a:r>
                        <a:rPr lang="en-US" sz="2000" b="1">
                          <a:solidFill>
                            <a:srgbClr val="0070C0"/>
                          </a:solidFill>
                          <a:latin typeface="Times New Roman" panose="02020603050405020304" pitchFamily="18" charset="0"/>
                          <a:cs typeface="Times New Roman" panose="02020603050405020304" pitchFamily="18" charset="0"/>
                        </a:rPr>
                        <a:t>Response Actions</a:t>
                      </a:r>
                      <a:endParaRPr lang="en-US" sz="2000">
                        <a:solidFill>
                          <a:srgbClr val="0070C0"/>
                        </a:solidFill>
                        <a:latin typeface="Times New Roman" panose="02020603050405020304" pitchFamily="18" charset="0"/>
                        <a:cs typeface="Times New Roman" panose="02020603050405020304" pitchFamily="18" charset="0"/>
                      </a:endParaRPr>
                    </a:p>
                  </a:txBody>
                  <a:tcPr marL="72522" marR="72522" marT="36261" marB="36261"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Block process → Quarantine file → Isolate endpoint from network → Wipe &amp; reimage</a:t>
                      </a:r>
                    </a:p>
                  </a:txBody>
                  <a:tcPr marL="72522" marR="72522" marT="36261" marB="36261" anchor="ctr">
                    <a:lnL>
                      <a:noFill/>
                    </a:lnL>
                    <a:lnR>
                      <a:noFill/>
                    </a:lnR>
                    <a:lnT>
                      <a:noFill/>
                    </a:lnT>
                    <a:lnB>
                      <a:noFill/>
                    </a:lnB>
                  </a:tcPr>
                </a:tc>
                <a:extLst>
                  <a:ext uri="{0D108BD9-81ED-4DB2-BD59-A6C34878D82A}">
                    <a16:rowId xmlns:a16="http://schemas.microsoft.com/office/drawing/2014/main" val="3419387097"/>
                  </a:ext>
                </a:extLst>
              </a:tr>
              <a:tr h="658542">
                <a:tc>
                  <a:txBody>
                    <a:bodyPr/>
                    <a:lstStyle/>
                    <a:p>
                      <a:r>
                        <a:rPr lang="en-US" sz="2000" b="1">
                          <a:solidFill>
                            <a:srgbClr val="0070C0"/>
                          </a:solidFill>
                          <a:latin typeface="Times New Roman" panose="02020603050405020304" pitchFamily="18" charset="0"/>
                          <a:cs typeface="Times New Roman" panose="02020603050405020304" pitchFamily="18" charset="0"/>
                        </a:rPr>
                        <a:t>Popular Tools</a:t>
                      </a:r>
                      <a:endParaRPr lang="en-US" sz="2000">
                        <a:solidFill>
                          <a:srgbClr val="0070C0"/>
                        </a:solidFill>
                        <a:latin typeface="Times New Roman" panose="02020603050405020304" pitchFamily="18" charset="0"/>
                        <a:cs typeface="Times New Roman" panose="02020603050405020304" pitchFamily="18" charset="0"/>
                      </a:endParaRPr>
                    </a:p>
                  </a:txBody>
                  <a:tcPr marL="72522" marR="72522" marT="36261" marB="36261"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CrowdStrike Falcon, Microsoft Defender for Endpoint, SentinelOne, Carbon Black, Palo Alto Cortex XDR</a:t>
                      </a:r>
                    </a:p>
                  </a:txBody>
                  <a:tcPr marL="72522" marR="72522" marT="36261" marB="36261" anchor="ctr">
                    <a:lnL>
                      <a:noFill/>
                    </a:lnL>
                    <a:lnR>
                      <a:noFill/>
                    </a:lnR>
                    <a:lnT>
                      <a:noFill/>
                    </a:lnT>
                    <a:lnB>
                      <a:noFill/>
                    </a:lnB>
                  </a:tcPr>
                </a:tc>
                <a:extLst>
                  <a:ext uri="{0D108BD9-81ED-4DB2-BD59-A6C34878D82A}">
                    <a16:rowId xmlns:a16="http://schemas.microsoft.com/office/drawing/2014/main" val="2477354023"/>
                  </a:ext>
                </a:extLst>
              </a:tr>
            </a:tbl>
          </a:graphicData>
        </a:graphic>
      </p:graphicFrame>
      <p:sp>
        <p:nvSpPr>
          <p:cNvPr id="5" name="TextBox 4">
            <a:extLst>
              <a:ext uri="{FF2B5EF4-FFF2-40B4-BE49-F238E27FC236}">
                <a16:creationId xmlns:a16="http://schemas.microsoft.com/office/drawing/2014/main" id="{36BFF848-8326-4DCE-B29B-7C9FE250831C}"/>
              </a:ext>
            </a:extLst>
          </p:cNvPr>
          <p:cNvSpPr txBox="1"/>
          <p:nvPr/>
        </p:nvSpPr>
        <p:spPr>
          <a:xfrm>
            <a:off x="838200" y="5946328"/>
            <a:ext cx="10469533" cy="677108"/>
          </a:xfrm>
          <a:prstGeom prst="rect">
            <a:avLst/>
          </a:prstGeom>
          <a:noFill/>
        </p:spPr>
        <p:txBody>
          <a:bodyPr wrap="none" rtlCol="0">
            <a:spAutoFit/>
          </a:bodyPr>
          <a:lstStyle/>
          <a:p>
            <a:r>
              <a:rPr lang="en-US" sz="2000">
                <a:solidFill>
                  <a:schemeClr val="accent3"/>
                </a:solidFill>
                <a:latin typeface="Times New Roman" panose="02020603050405020304" pitchFamily="18" charset="0"/>
                <a:cs typeface="Times New Roman" panose="02020603050405020304" pitchFamily="18" charset="0"/>
              </a:rPr>
              <a:t>EDR is a smart bodyguard on every device—watching, reacting, and neutralizing threats in seconds.</a:t>
            </a:r>
          </a:p>
          <a:p>
            <a:endParaRPr lang="en-US"/>
          </a:p>
        </p:txBody>
      </p:sp>
    </p:spTree>
    <p:extLst>
      <p:ext uri="{BB962C8B-B14F-4D97-AF65-F5344CB8AC3E}">
        <p14:creationId xmlns:p14="http://schemas.microsoft.com/office/powerpoint/2010/main" val="1224595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68D95-AC91-4226-9579-5F1F242B2549}"/>
              </a:ext>
            </a:extLst>
          </p:cNvPr>
          <p:cNvSpPr>
            <a:spLocks noGrp="1"/>
          </p:cNvSpPr>
          <p:nvPr>
            <p:ph type="title"/>
          </p:nvPr>
        </p:nvSpPr>
        <p:spPr>
          <a:xfrm>
            <a:off x="838200" y="845186"/>
            <a:ext cx="10515600" cy="1325563"/>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IDS/IPS – Intrusion Detection / Prevention System</a:t>
            </a:r>
            <a:br>
              <a:rPr lang="en-US" sz="3600" b="1">
                <a:latin typeface="Times New Roman" panose="02020603050405020304" pitchFamily="18" charset="0"/>
                <a:cs typeface="Times New Roman" panose="02020603050405020304" pitchFamily="18" charset="0"/>
              </a:rPr>
            </a:br>
            <a:r>
              <a:rPr lang="en-US" sz="2200" b="1" i="1">
                <a:latin typeface="Times New Roman" panose="02020603050405020304" pitchFamily="18" charset="0"/>
                <a:cs typeface="Times New Roman" panose="02020603050405020304" pitchFamily="18" charset="0"/>
              </a:rPr>
              <a:t>The "Traffic Cop" of the Network</a:t>
            </a:r>
            <a:br>
              <a:rPr lang="en-US" b="1"/>
            </a:br>
            <a:endParaRPr lang="en-US"/>
          </a:p>
        </p:txBody>
      </p:sp>
      <p:graphicFrame>
        <p:nvGraphicFramePr>
          <p:cNvPr id="4" name="Content Placeholder 3">
            <a:extLst>
              <a:ext uri="{FF2B5EF4-FFF2-40B4-BE49-F238E27FC236}">
                <a16:creationId xmlns:a16="http://schemas.microsoft.com/office/drawing/2014/main" id="{4689B466-C5DB-4E10-8E98-9CD1A4B21800}"/>
              </a:ext>
            </a:extLst>
          </p:cNvPr>
          <p:cNvGraphicFramePr>
            <a:graphicFrameLocks noGrp="1"/>
          </p:cNvGraphicFramePr>
          <p:nvPr>
            <p:ph idx="1"/>
            <p:extLst>
              <p:ext uri="{D42A27DB-BD31-4B8C-83A1-F6EECF244321}">
                <p14:modId xmlns:p14="http://schemas.microsoft.com/office/powerpoint/2010/main" val="3737762207"/>
              </p:ext>
            </p:extLst>
          </p:nvPr>
        </p:nvGraphicFramePr>
        <p:xfrm>
          <a:off x="989838" y="1642745"/>
          <a:ext cx="10212324" cy="4150766"/>
        </p:xfrm>
        <a:graphic>
          <a:graphicData uri="http://schemas.openxmlformats.org/drawingml/2006/table">
            <a:tbl>
              <a:tblPr/>
              <a:tblGrid>
                <a:gridCol w="2244852">
                  <a:extLst>
                    <a:ext uri="{9D8B030D-6E8A-4147-A177-3AD203B41FA5}">
                      <a16:colId xmlns:a16="http://schemas.microsoft.com/office/drawing/2014/main" val="1176471037"/>
                    </a:ext>
                  </a:extLst>
                </a:gridCol>
                <a:gridCol w="7967472">
                  <a:extLst>
                    <a:ext uri="{9D8B030D-6E8A-4147-A177-3AD203B41FA5}">
                      <a16:colId xmlns:a16="http://schemas.microsoft.com/office/drawing/2014/main" val="907094914"/>
                    </a:ext>
                  </a:extLst>
                </a:gridCol>
              </a:tblGrid>
              <a:tr h="417079">
                <a:tc>
                  <a:txBody>
                    <a:bodyPr/>
                    <a:lstStyle/>
                    <a:p>
                      <a:r>
                        <a:rPr lang="en-US" sz="1800" b="1">
                          <a:solidFill>
                            <a:schemeClr val="accent3"/>
                          </a:solidFill>
                        </a:rPr>
                        <a:t>Aspect</a:t>
                      </a:r>
                    </a:p>
                  </a:txBody>
                  <a:tcPr marL="88803" marR="88803" marT="44401" marB="44401" anchor="ctr">
                    <a:lnL>
                      <a:noFill/>
                    </a:lnL>
                    <a:lnR>
                      <a:noFill/>
                    </a:lnR>
                    <a:lnT>
                      <a:noFill/>
                    </a:lnT>
                    <a:lnB>
                      <a:noFill/>
                    </a:lnB>
                  </a:tcPr>
                </a:tc>
                <a:tc>
                  <a:txBody>
                    <a:bodyPr/>
                    <a:lstStyle/>
                    <a:p>
                      <a:r>
                        <a:rPr lang="en-US" sz="1800" b="1">
                          <a:solidFill>
                            <a:schemeClr val="accent3"/>
                          </a:solidFill>
                        </a:rPr>
                        <a:t>Details</a:t>
                      </a:r>
                    </a:p>
                  </a:txBody>
                  <a:tcPr marL="88803" marR="88803" marT="44401" marB="44401" anchor="ctr">
                    <a:lnL>
                      <a:noFill/>
                    </a:lnL>
                    <a:lnR>
                      <a:noFill/>
                    </a:lnR>
                    <a:lnT>
                      <a:noFill/>
                    </a:lnT>
                    <a:lnB>
                      <a:noFill/>
                    </a:lnB>
                  </a:tcPr>
                </a:tc>
                <a:extLst>
                  <a:ext uri="{0D108BD9-81ED-4DB2-BD59-A6C34878D82A}">
                    <a16:rowId xmlns:a16="http://schemas.microsoft.com/office/drawing/2014/main" val="213912751"/>
                  </a:ext>
                </a:extLst>
              </a:tr>
              <a:tr h="570361">
                <a:tc>
                  <a:txBody>
                    <a:bodyPr/>
                    <a:lstStyle/>
                    <a:p>
                      <a:r>
                        <a:rPr lang="en-US" sz="1800" b="1">
                          <a:solidFill>
                            <a:srgbClr val="0070C0"/>
                          </a:solidFill>
                          <a:latin typeface="Times New Roman" panose="02020603050405020304" pitchFamily="18" charset="0"/>
                          <a:cs typeface="Times New Roman" panose="02020603050405020304" pitchFamily="18" charset="0"/>
                        </a:rPr>
                        <a:t>What it does</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Monitors network traffic</a:t>
                      </a:r>
                      <a:r>
                        <a:rPr lang="en-US" sz="1800">
                          <a:latin typeface="Times New Roman" panose="02020603050405020304" pitchFamily="18" charset="0"/>
                          <a:cs typeface="Times New Roman" panose="02020603050405020304" pitchFamily="18" charset="0"/>
                        </a:rPr>
                        <a:t> in real time (inline or out-of-band).</a:t>
                      </a:r>
                    </a:p>
                  </a:txBody>
                  <a:tcPr marL="88803" marR="88803" marT="44401" marB="44401" anchor="ctr">
                    <a:lnL>
                      <a:noFill/>
                    </a:lnL>
                    <a:lnR>
                      <a:noFill/>
                    </a:lnR>
                    <a:lnT>
                      <a:noFill/>
                    </a:lnT>
                    <a:lnB>
                      <a:noFill/>
                    </a:lnB>
                  </a:tcPr>
                </a:tc>
                <a:extLst>
                  <a:ext uri="{0D108BD9-81ED-4DB2-BD59-A6C34878D82A}">
                    <a16:rowId xmlns:a16="http://schemas.microsoft.com/office/drawing/2014/main" val="2839444351"/>
                  </a:ext>
                </a:extLst>
              </a:tr>
              <a:tr h="570361">
                <a:tc>
                  <a:txBody>
                    <a:bodyPr/>
                    <a:lstStyle/>
                    <a:p>
                      <a:r>
                        <a:rPr lang="en-US" sz="1800" b="1">
                          <a:solidFill>
                            <a:srgbClr val="0070C0"/>
                          </a:solidFill>
                          <a:latin typeface="Times New Roman" panose="02020603050405020304" pitchFamily="18" charset="0"/>
                          <a:cs typeface="Times New Roman" panose="02020603050405020304" pitchFamily="18" charset="0"/>
                        </a:rPr>
                        <a:t>IDS vs IPS</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endParaRPr lang="en-US" sz="1800" b="1">
                        <a:latin typeface="Times New Roman" panose="02020603050405020304" pitchFamily="18" charset="0"/>
                        <a:cs typeface="Times New Roman" panose="02020603050405020304" pitchFamily="18" charset="0"/>
                      </a:endParaRPr>
                    </a:p>
                    <a:p>
                      <a:r>
                        <a:rPr lang="en-US" sz="1800" b="1">
                          <a:latin typeface="Times New Roman" panose="02020603050405020304" pitchFamily="18" charset="0"/>
                          <a:cs typeface="Times New Roman" panose="02020603050405020304" pitchFamily="18" charset="0"/>
                        </a:rPr>
                        <a:t>IDS</a:t>
                      </a:r>
                      <a:r>
                        <a:rPr lang="en-US" sz="1800">
                          <a:latin typeface="Times New Roman" panose="02020603050405020304" pitchFamily="18" charset="0"/>
                          <a:cs typeface="Times New Roman" panose="02020603050405020304" pitchFamily="18" charset="0"/>
                        </a:rPr>
                        <a:t>: </a:t>
                      </a:r>
                      <a:r>
                        <a:rPr lang="en-US" sz="1800" i="1">
                          <a:latin typeface="Times New Roman" panose="02020603050405020304" pitchFamily="18" charset="0"/>
                          <a:cs typeface="Times New Roman" panose="02020603050405020304" pitchFamily="18" charset="0"/>
                        </a:rPr>
                        <a:t>Detects</a:t>
                      </a:r>
                      <a:r>
                        <a:rPr lang="en-US" sz="1800">
                          <a:latin typeface="Times New Roman" panose="02020603050405020304" pitchFamily="18" charset="0"/>
                          <a:cs typeface="Times New Roman" panose="02020603050405020304" pitchFamily="18" charset="0"/>
                        </a:rPr>
                        <a:t> and </a:t>
                      </a:r>
                      <a:r>
                        <a:rPr lang="en-US" sz="1800" b="1">
                          <a:latin typeface="Times New Roman" panose="02020603050405020304" pitchFamily="18" charset="0"/>
                          <a:cs typeface="Times New Roman" panose="02020603050405020304" pitchFamily="18" charset="0"/>
                        </a:rPr>
                        <a:t>alerts</a:t>
                      </a:r>
                      <a:r>
                        <a:rPr lang="en-US" sz="1800">
                          <a:latin typeface="Times New Roman" panose="02020603050405020304" pitchFamily="18" charset="0"/>
                          <a:cs typeface="Times New Roman" panose="02020603050405020304" pitchFamily="18" charset="0"/>
                        </a:rPr>
                        <a:t> (passive) - </a:t>
                      </a:r>
                      <a:r>
                        <a:rPr lang="en-US" sz="1800" b="1">
                          <a:latin typeface="Times New Roman" panose="02020603050405020304" pitchFamily="18" charset="0"/>
                          <a:cs typeface="Times New Roman" panose="02020603050405020304" pitchFamily="18" charset="0"/>
                        </a:rPr>
                        <a:t>IPS</a:t>
                      </a:r>
                      <a:r>
                        <a:rPr lang="en-US" sz="1800">
                          <a:latin typeface="Times New Roman" panose="02020603050405020304" pitchFamily="18" charset="0"/>
                          <a:cs typeface="Times New Roman" panose="02020603050405020304" pitchFamily="18" charset="0"/>
                        </a:rPr>
                        <a:t>: </a:t>
                      </a:r>
                      <a:r>
                        <a:rPr lang="en-US" sz="1800" i="1">
                          <a:latin typeface="Times New Roman" panose="02020603050405020304" pitchFamily="18" charset="0"/>
                          <a:cs typeface="Times New Roman" panose="02020603050405020304" pitchFamily="18" charset="0"/>
                        </a:rPr>
                        <a:t>Detects + blocks</a:t>
                      </a:r>
                      <a:r>
                        <a:rPr lang="en-US" sz="1800">
                          <a:latin typeface="Times New Roman" panose="02020603050405020304" pitchFamily="18" charset="0"/>
                          <a:cs typeface="Times New Roman" panose="02020603050405020304" pitchFamily="18" charset="0"/>
                        </a:rPr>
                        <a:t> (active, sits inline)</a:t>
                      </a:r>
                    </a:p>
                  </a:txBody>
                  <a:tcPr marL="88803" marR="88803" marT="44401" marB="44401" anchor="ctr">
                    <a:lnL>
                      <a:noFill/>
                    </a:lnL>
                    <a:lnR>
                      <a:noFill/>
                    </a:lnR>
                    <a:lnT>
                      <a:noFill/>
                    </a:lnT>
                    <a:lnB>
                      <a:noFill/>
                    </a:lnB>
                  </a:tcPr>
                </a:tc>
                <a:extLst>
                  <a:ext uri="{0D108BD9-81ED-4DB2-BD59-A6C34878D82A}">
                    <a16:rowId xmlns:a16="http://schemas.microsoft.com/office/drawing/2014/main" val="686005367"/>
                  </a:ext>
                </a:extLst>
              </a:tr>
              <a:tr h="814801">
                <a:tc>
                  <a:txBody>
                    <a:bodyPr/>
                    <a:lstStyle/>
                    <a:p>
                      <a:r>
                        <a:rPr lang="en-US" sz="1800" b="1">
                          <a:solidFill>
                            <a:srgbClr val="0070C0"/>
                          </a:solidFill>
                          <a:latin typeface="Times New Roman" panose="02020603050405020304" pitchFamily="18" charset="0"/>
                          <a:cs typeface="Times New Roman" panose="02020603050405020304" pitchFamily="18" charset="0"/>
                        </a:rPr>
                        <a:t>Detection Methods</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Signature-based</a:t>
                      </a:r>
                      <a:r>
                        <a:rPr lang="en-US" sz="1800">
                          <a:latin typeface="Times New Roman" panose="02020603050405020304" pitchFamily="18" charset="0"/>
                          <a:cs typeface="Times New Roman" panose="02020603050405020304" pitchFamily="18" charset="0"/>
                        </a:rPr>
                        <a:t>: Matches known attack patterns (like antivirus) - </a:t>
                      </a:r>
                      <a:r>
                        <a:rPr lang="en-US" sz="1800" b="1">
                          <a:latin typeface="Times New Roman" panose="02020603050405020304" pitchFamily="18" charset="0"/>
                          <a:cs typeface="Times New Roman" panose="02020603050405020304" pitchFamily="18" charset="0"/>
                        </a:rPr>
                        <a:t>Anomaly-based</a:t>
                      </a:r>
                      <a:r>
                        <a:rPr lang="en-US" sz="1800">
                          <a:latin typeface="Times New Roman" panose="02020603050405020304" pitchFamily="18" charset="0"/>
                          <a:cs typeface="Times New Roman" panose="02020603050405020304" pitchFamily="18" charset="0"/>
                        </a:rPr>
                        <a:t>: Flags unusual traffic (e.g., 10 GB outbound at night)</a:t>
                      </a:r>
                    </a:p>
                  </a:txBody>
                  <a:tcPr marL="88803" marR="88803" marT="44401" marB="44401" anchor="ctr">
                    <a:lnL>
                      <a:noFill/>
                    </a:lnL>
                    <a:lnR>
                      <a:noFill/>
                    </a:lnR>
                    <a:lnT>
                      <a:noFill/>
                    </a:lnT>
                    <a:lnB>
                      <a:noFill/>
                    </a:lnB>
                  </a:tcPr>
                </a:tc>
                <a:extLst>
                  <a:ext uri="{0D108BD9-81ED-4DB2-BD59-A6C34878D82A}">
                    <a16:rowId xmlns:a16="http://schemas.microsoft.com/office/drawing/2014/main" val="3549766111"/>
                  </a:ext>
                </a:extLst>
              </a:tr>
              <a:tr h="570361">
                <a:tc>
                  <a:txBody>
                    <a:bodyPr/>
                    <a:lstStyle/>
                    <a:p>
                      <a:r>
                        <a:rPr lang="en-US" sz="1800" b="1">
                          <a:solidFill>
                            <a:srgbClr val="0070C0"/>
                          </a:solidFill>
                          <a:latin typeface="Times New Roman" panose="02020603050405020304" pitchFamily="18" charset="0"/>
                          <a:cs typeface="Times New Roman" panose="02020603050405020304" pitchFamily="18" charset="0"/>
                        </a:rPr>
                        <a:t>Common Detections</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SQL injection, buffer overflow, DDoS, C2 communication, port scans</a:t>
                      </a:r>
                    </a:p>
                  </a:txBody>
                  <a:tcPr marL="88803" marR="88803" marT="44401" marB="44401" anchor="ctr">
                    <a:lnL>
                      <a:noFill/>
                    </a:lnL>
                    <a:lnR>
                      <a:noFill/>
                    </a:lnR>
                    <a:lnT>
                      <a:noFill/>
                    </a:lnT>
                    <a:lnB>
                      <a:noFill/>
                    </a:lnB>
                  </a:tcPr>
                </a:tc>
                <a:extLst>
                  <a:ext uri="{0D108BD9-81ED-4DB2-BD59-A6C34878D82A}">
                    <a16:rowId xmlns:a16="http://schemas.microsoft.com/office/drawing/2014/main" val="1602071541"/>
                  </a:ext>
                </a:extLst>
              </a:tr>
              <a:tr h="570361">
                <a:tc>
                  <a:txBody>
                    <a:bodyPr/>
                    <a:lstStyle/>
                    <a:p>
                      <a:r>
                        <a:rPr lang="en-US" sz="1800" b="1">
                          <a:solidFill>
                            <a:srgbClr val="0070C0"/>
                          </a:solidFill>
                          <a:latin typeface="Times New Roman" panose="02020603050405020304" pitchFamily="18" charset="0"/>
                          <a:cs typeface="Times New Roman" panose="02020603050405020304" pitchFamily="18" charset="0"/>
                        </a:rPr>
                        <a:t>Placement</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Between internet &amp; firewall, or between network segments</a:t>
                      </a:r>
                    </a:p>
                  </a:txBody>
                  <a:tcPr marL="88803" marR="88803" marT="44401" marB="44401" anchor="ctr">
                    <a:lnL>
                      <a:noFill/>
                    </a:lnL>
                    <a:lnR>
                      <a:noFill/>
                    </a:lnR>
                    <a:lnT>
                      <a:noFill/>
                    </a:lnT>
                    <a:lnB>
                      <a:noFill/>
                    </a:lnB>
                  </a:tcPr>
                </a:tc>
                <a:extLst>
                  <a:ext uri="{0D108BD9-81ED-4DB2-BD59-A6C34878D82A}">
                    <a16:rowId xmlns:a16="http://schemas.microsoft.com/office/drawing/2014/main" val="4055319963"/>
                  </a:ext>
                </a:extLst>
              </a:tr>
              <a:tr h="570361">
                <a:tc>
                  <a:txBody>
                    <a:bodyPr/>
                    <a:lstStyle/>
                    <a:p>
                      <a:r>
                        <a:rPr lang="en-US" sz="1800" b="1">
                          <a:solidFill>
                            <a:srgbClr val="0070C0"/>
                          </a:solidFill>
                          <a:latin typeface="Times New Roman" panose="02020603050405020304" pitchFamily="18" charset="0"/>
                          <a:cs typeface="Times New Roman" panose="02020603050405020304" pitchFamily="18" charset="0"/>
                        </a:rPr>
                        <a:t>Popular Tools</a:t>
                      </a:r>
                      <a:endParaRPr lang="en-US" sz="1800">
                        <a:solidFill>
                          <a:srgbClr val="0070C0"/>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Snort, Suricata, Cisco Secure IPS, Palo Alto NGFW (with IPS), TippingPoint</a:t>
                      </a:r>
                    </a:p>
                  </a:txBody>
                  <a:tcPr marL="88803" marR="88803" marT="44401" marB="44401" anchor="ctr">
                    <a:lnL>
                      <a:noFill/>
                    </a:lnL>
                    <a:lnR>
                      <a:noFill/>
                    </a:lnR>
                    <a:lnT>
                      <a:noFill/>
                    </a:lnT>
                    <a:lnB>
                      <a:noFill/>
                    </a:lnB>
                  </a:tcPr>
                </a:tc>
                <a:extLst>
                  <a:ext uri="{0D108BD9-81ED-4DB2-BD59-A6C34878D82A}">
                    <a16:rowId xmlns:a16="http://schemas.microsoft.com/office/drawing/2014/main" val="3242108544"/>
                  </a:ext>
                </a:extLst>
              </a:tr>
            </a:tbl>
          </a:graphicData>
        </a:graphic>
      </p:graphicFrame>
      <p:sp>
        <p:nvSpPr>
          <p:cNvPr id="5" name="TextBox 4">
            <a:extLst>
              <a:ext uri="{FF2B5EF4-FFF2-40B4-BE49-F238E27FC236}">
                <a16:creationId xmlns:a16="http://schemas.microsoft.com/office/drawing/2014/main" id="{91E6F1FE-D02D-4629-85BC-AE1BBC350E33}"/>
              </a:ext>
            </a:extLst>
          </p:cNvPr>
          <p:cNvSpPr txBox="1"/>
          <p:nvPr/>
        </p:nvSpPr>
        <p:spPr>
          <a:xfrm>
            <a:off x="989838" y="5945064"/>
            <a:ext cx="10118476" cy="646331"/>
          </a:xfrm>
          <a:prstGeom prst="rect">
            <a:avLst/>
          </a:prstGeom>
          <a:noFill/>
        </p:spPr>
        <p:txBody>
          <a:bodyPr wrap="none" rtlCol="0">
            <a:spAutoFit/>
          </a:bodyPr>
          <a:lstStyle/>
          <a:p>
            <a:r>
              <a:rPr lang="en-US">
                <a:solidFill>
                  <a:schemeClr val="accent3"/>
                </a:solidFill>
              </a:rPr>
              <a:t>IDS/IPS is a highway patrol car scanning every packet—pulling over (blocking) dangerous traffic.</a:t>
            </a:r>
          </a:p>
          <a:p>
            <a:endParaRPr lang="en-US"/>
          </a:p>
        </p:txBody>
      </p:sp>
    </p:spTree>
    <p:extLst>
      <p:ext uri="{BB962C8B-B14F-4D97-AF65-F5344CB8AC3E}">
        <p14:creationId xmlns:p14="http://schemas.microsoft.com/office/powerpoint/2010/main" val="1496613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C84B-044B-4D25-BE31-E5FE8498A62E}"/>
              </a:ext>
            </a:extLst>
          </p:cNvPr>
          <p:cNvSpPr>
            <a:spLocks noGrp="1"/>
          </p:cNvSpPr>
          <p:nvPr>
            <p:ph type="title"/>
          </p:nvPr>
        </p:nvSpPr>
        <p:spPr>
          <a:xfrm>
            <a:off x="883460" y="776606"/>
            <a:ext cx="10515600" cy="1325563"/>
          </a:xfrm>
        </p:spPr>
        <p:txBody>
          <a:bodyPr>
            <a:normAutofit/>
          </a:bodyPr>
          <a:lstStyle/>
          <a:p>
            <a:r>
              <a:rPr lang="en-US" sz="3600" b="1">
                <a:solidFill>
                  <a:srgbClr val="0070C0"/>
                </a:solidFill>
                <a:latin typeface="Times New Roman" panose="02020603050405020304" pitchFamily="18" charset="0"/>
                <a:cs typeface="Times New Roman" panose="02020603050405020304" pitchFamily="18" charset="0"/>
              </a:rPr>
              <a:t>Firewalls – The "Gatekeeper"</a:t>
            </a:r>
            <a:br>
              <a:rPr lang="en-US" sz="3600" b="1">
                <a:latin typeface="Times New Roman" panose="02020603050405020304" pitchFamily="18" charset="0"/>
                <a:cs typeface="Times New Roman" panose="02020603050405020304" pitchFamily="18" charset="0"/>
              </a:rPr>
            </a:br>
            <a:r>
              <a:rPr lang="en-US" sz="2200" b="1" i="1">
                <a:latin typeface="Times New Roman" panose="02020603050405020304" pitchFamily="18" charset="0"/>
                <a:cs typeface="Times New Roman" panose="02020603050405020304" pitchFamily="18" charset="0"/>
              </a:rPr>
              <a:t>The First and Last Line of Network Defense</a:t>
            </a:r>
            <a:br>
              <a:rPr lang="en-US" sz="2200" b="1">
                <a:latin typeface="Times New Roman" panose="02020603050405020304" pitchFamily="18" charset="0"/>
                <a:cs typeface="Times New Roman" panose="02020603050405020304" pitchFamily="18" charset="0"/>
              </a:rPr>
            </a:br>
            <a:endParaRPr lang="en-US" sz="220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A08D055E-1163-421A-9389-7E4D530EE810}"/>
              </a:ext>
            </a:extLst>
          </p:cNvPr>
          <p:cNvGraphicFramePr>
            <a:graphicFrameLocks noGrp="1"/>
          </p:cNvGraphicFramePr>
          <p:nvPr>
            <p:ph idx="1"/>
            <p:extLst>
              <p:ext uri="{D42A27DB-BD31-4B8C-83A1-F6EECF244321}">
                <p14:modId xmlns:p14="http://schemas.microsoft.com/office/powerpoint/2010/main" val="1319760481"/>
              </p:ext>
            </p:extLst>
          </p:nvPr>
        </p:nvGraphicFramePr>
        <p:xfrm>
          <a:off x="883460" y="1809098"/>
          <a:ext cx="10425080" cy="4238000"/>
        </p:xfrm>
        <a:graphic>
          <a:graphicData uri="http://schemas.openxmlformats.org/drawingml/2006/table">
            <a:tbl>
              <a:tblPr/>
              <a:tblGrid>
                <a:gridCol w="2214070">
                  <a:extLst>
                    <a:ext uri="{9D8B030D-6E8A-4147-A177-3AD203B41FA5}">
                      <a16:colId xmlns:a16="http://schemas.microsoft.com/office/drawing/2014/main" val="2965525695"/>
                    </a:ext>
                  </a:extLst>
                </a:gridCol>
                <a:gridCol w="8211010">
                  <a:extLst>
                    <a:ext uri="{9D8B030D-6E8A-4147-A177-3AD203B41FA5}">
                      <a16:colId xmlns:a16="http://schemas.microsoft.com/office/drawing/2014/main" val="2947868010"/>
                    </a:ext>
                  </a:extLst>
                </a:gridCol>
              </a:tblGrid>
              <a:tr h="370474">
                <a:tc>
                  <a:txBody>
                    <a:bodyPr/>
                    <a:lstStyle/>
                    <a:p>
                      <a:r>
                        <a:rPr lang="en-US" sz="2000" b="1">
                          <a:solidFill>
                            <a:schemeClr val="accent3"/>
                          </a:solidFill>
                          <a:latin typeface="Times New Roman" panose="02020603050405020304" pitchFamily="18" charset="0"/>
                          <a:cs typeface="Times New Roman" panose="02020603050405020304" pitchFamily="18" charset="0"/>
                        </a:rPr>
                        <a:t>Aspect</a:t>
                      </a:r>
                    </a:p>
                  </a:txBody>
                  <a:tcPr marL="90653" marR="90653" marT="45326" marB="45326" anchor="ctr">
                    <a:lnL>
                      <a:noFill/>
                    </a:lnL>
                    <a:lnR>
                      <a:noFill/>
                    </a:lnR>
                    <a:lnT>
                      <a:noFill/>
                    </a:lnT>
                    <a:lnB>
                      <a:noFill/>
                    </a:lnB>
                  </a:tcPr>
                </a:tc>
                <a:tc>
                  <a:txBody>
                    <a:bodyPr/>
                    <a:lstStyle/>
                    <a:p>
                      <a:r>
                        <a:rPr lang="en-US" sz="2000" b="1">
                          <a:solidFill>
                            <a:schemeClr val="accent3"/>
                          </a:solidFill>
                          <a:latin typeface="Times New Roman" panose="02020603050405020304" pitchFamily="18" charset="0"/>
                          <a:cs typeface="Times New Roman" panose="02020603050405020304" pitchFamily="18" charset="0"/>
                        </a:rPr>
                        <a:t>Details</a:t>
                      </a:r>
                    </a:p>
                  </a:txBody>
                  <a:tcPr marL="90653" marR="90653" marT="45326" marB="45326" anchor="ctr">
                    <a:lnL>
                      <a:noFill/>
                    </a:lnL>
                    <a:lnR>
                      <a:noFill/>
                    </a:lnR>
                    <a:lnT>
                      <a:noFill/>
                    </a:lnT>
                    <a:lnB>
                      <a:noFill/>
                    </a:lnB>
                  </a:tcPr>
                </a:tc>
                <a:extLst>
                  <a:ext uri="{0D108BD9-81ED-4DB2-BD59-A6C34878D82A}">
                    <a16:rowId xmlns:a16="http://schemas.microsoft.com/office/drawing/2014/main" val="1626803828"/>
                  </a:ext>
                </a:extLst>
              </a:tr>
              <a:tr h="594488">
                <a:tc>
                  <a:txBody>
                    <a:bodyPr/>
                    <a:lstStyle/>
                    <a:p>
                      <a:r>
                        <a:rPr lang="en-US" sz="1800" b="1">
                          <a:solidFill>
                            <a:srgbClr val="0070C0"/>
                          </a:solidFill>
                          <a:latin typeface="Times New Roman" panose="02020603050405020304" pitchFamily="18" charset="0"/>
                          <a:cs typeface="Times New Roman" panose="02020603050405020304" pitchFamily="18" charset="0"/>
                        </a:rPr>
                        <a:t>What it does</a:t>
                      </a:r>
                      <a:endParaRPr lang="en-US" sz="1800">
                        <a:solidFill>
                          <a:srgbClr val="0070C0"/>
                        </a:solidFill>
                        <a:latin typeface="Times New Roman" panose="02020603050405020304" pitchFamily="18" charset="0"/>
                        <a:cs typeface="Times New Roman" panose="02020603050405020304" pitchFamily="18" charset="0"/>
                      </a:endParaRPr>
                    </a:p>
                  </a:txBody>
                  <a:tcPr marL="90653" marR="90653" marT="45326" marB="45326" anchor="ctr">
                    <a:lnL>
                      <a:noFill/>
                    </a:lnL>
                    <a:lnR>
                      <a:noFill/>
                    </a:lnR>
                    <a:lnT>
                      <a:noFill/>
                    </a:lnT>
                    <a:lnB>
                      <a:noFill/>
                    </a:lnB>
                  </a:tcPr>
                </a:tc>
                <a:tc>
                  <a:txBody>
                    <a:bodyPr/>
                    <a:lstStyle/>
                    <a:p>
                      <a:r>
                        <a:rPr lang="en-US" sz="2000" b="1">
                          <a:latin typeface="Times New Roman" panose="02020603050405020304" pitchFamily="18" charset="0"/>
                          <a:cs typeface="Times New Roman" panose="02020603050405020304" pitchFamily="18" charset="0"/>
                        </a:rPr>
                        <a:t>Filters traffic</a:t>
                      </a:r>
                      <a:r>
                        <a:rPr lang="en-US" sz="2000">
                          <a:latin typeface="Times New Roman" panose="02020603050405020304" pitchFamily="18" charset="0"/>
                          <a:cs typeface="Times New Roman" panose="02020603050405020304" pitchFamily="18" charset="0"/>
                        </a:rPr>
                        <a:t> based on </a:t>
                      </a:r>
                      <a:r>
                        <a:rPr lang="en-US" sz="2000" b="1">
                          <a:latin typeface="Times New Roman" panose="02020603050405020304" pitchFamily="18" charset="0"/>
                          <a:cs typeface="Times New Roman" panose="02020603050405020304" pitchFamily="18" charset="0"/>
                        </a:rPr>
                        <a:t>rules</a:t>
                      </a:r>
                      <a:r>
                        <a:rPr lang="en-US" sz="2000">
                          <a:latin typeface="Times New Roman" panose="02020603050405020304" pitchFamily="18" charset="0"/>
                          <a:cs typeface="Times New Roman" panose="02020603050405020304" pitchFamily="18" charset="0"/>
                        </a:rPr>
                        <a:t> (source, destination, port, protocol).</a:t>
                      </a:r>
                    </a:p>
                  </a:txBody>
                  <a:tcPr marL="90653" marR="90653" marT="45326" marB="45326" anchor="ctr">
                    <a:lnL>
                      <a:noFill/>
                    </a:lnL>
                    <a:lnR>
                      <a:noFill/>
                    </a:lnR>
                    <a:lnT>
                      <a:noFill/>
                    </a:lnT>
                    <a:lnB>
                      <a:noFill/>
                    </a:lnB>
                  </a:tcPr>
                </a:tc>
                <a:extLst>
                  <a:ext uri="{0D108BD9-81ED-4DB2-BD59-A6C34878D82A}">
                    <a16:rowId xmlns:a16="http://schemas.microsoft.com/office/drawing/2014/main" val="2505948713"/>
                  </a:ext>
                </a:extLst>
              </a:tr>
              <a:tr h="849270">
                <a:tc>
                  <a:txBody>
                    <a:bodyPr/>
                    <a:lstStyle/>
                    <a:p>
                      <a:r>
                        <a:rPr lang="en-US" sz="1800" b="1">
                          <a:solidFill>
                            <a:srgbClr val="0070C0"/>
                          </a:solidFill>
                          <a:latin typeface="Times New Roman" panose="02020603050405020304" pitchFamily="18" charset="0"/>
                          <a:cs typeface="Times New Roman" panose="02020603050405020304" pitchFamily="18" charset="0"/>
                        </a:rPr>
                        <a:t>Types</a:t>
                      </a:r>
                      <a:endParaRPr lang="en-US" sz="1800">
                        <a:solidFill>
                          <a:srgbClr val="0070C0"/>
                        </a:solidFill>
                        <a:latin typeface="Times New Roman" panose="02020603050405020304" pitchFamily="18" charset="0"/>
                        <a:cs typeface="Times New Roman" panose="02020603050405020304" pitchFamily="18" charset="0"/>
                      </a:endParaRPr>
                    </a:p>
                  </a:txBody>
                  <a:tcPr marL="90653" marR="90653" marT="45326" marB="45326" anchor="ctr">
                    <a:lnL>
                      <a:noFill/>
                    </a:lnL>
                    <a:lnR>
                      <a:noFill/>
                    </a:lnR>
                    <a:lnT>
                      <a:noFill/>
                    </a:lnT>
                    <a:lnB>
                      <a:noFill/>
                    </a:lnB>
                  </a:tcPr>
                </a:tc>
                <a:tc>
                  <a:txBody>
                    <a:bodyPr/>
                    <a:lstStyle/>
                    <a:p>
                      <a:r>
                        <a:rPr lang="en-US" sz="2000" b="1">
                          <a:latin typeface="Times New Roman" panose="02020603050405020304" pitchFamily="18" charset="0"/>
                          <a:cs typeface="Times New Roman" panose="02020603050405020304" pitchFamily="18" charset="0"/>
                        </a:rPr>
                        <a:t>Stateless</a:t>
                      </a:r>
                      <a:r>
                        <a:rPr lang="en-US" sz="2000">
                          <a:latin typeface="Times New Roman" panose="02020603050405020304" pitchFamily="18" charset="0"/>
                          <a:cs typeface="Times New Roman" panose="02020603050405020304" pitchFamily="18" charset="0"/>
                        </a:rPr>
                        <a:t> (basic packet filtering) - </a:t>
                      </a:r>
                      <a:r>
                        <a:rPr lang="en-US" sz="2000" b="1">
                          <a:latin typeface="Times New Roman" panose="02020603050405020304" pitchFamily="18" charset="0"/>
                          <a:cs typeface="Times New Roman" panose="02020603050405020304" pitchFamily="18" charset="0"/>
                        </a:rPr>
                        <a:t>Stateful</a:t>
                      </a:r>
                      <a:r>
                        <a:rPr lang="en-US" sz="2000">
                          <a:latin typeface="Times New Roman" panose="02020603050405020304" pitchFamily="18" charset="0"/>
                          <a:cs typeface="Times New Roman" panose="02020603050405020304" pitchFamily="18" charset="0"/>
                        </a:rPr>
                        <a:t> (tracks connection state) - </a:t>
                      </a:r>
                      <a:r>
                        <a:rPr lang="en-US" sz="2000" b="1">
                          <a:latin typeface="Times New Roman" panose="02020603050405020304" pitchFamily="18" charset="0"/>
                          <a:cs typeface="Times New Roman" panose="02020603050405020304" pitchFamily="18" charset="0"/>
                        </a:rPr>
                        <a:t>Next-Gen (NGFW)</a:t>
                      </a:r>
                      <a:r>
                        <a:rPr lang="en-US" sz="2000">
                          <a:latin typeface="Times New Roman" panose="02020603050405020304" pitchFamily="18" charset="0"/>
                          <a:cs typeface="Times New Roman" panose="02020603050405020304" pitchFamily="18" charset="0"/>
                        </a:rPr>
                        <a:t>: Adds app awareness, user ID, threat intelligence</a:t>
                      </a:r>
                    </a:p>
                  </a:txBody>
                  <a:tcPr marL="90653" marR="90653" marT="45326" marB="45326" anchor="ctr">
                    <a:lnL>
                      <a:noFill/>
                    </a:lnL>
                    <a:lnR>
                      <a:noFill/>
                    </a:lnR>
                    <a:lnT>
                      <a:noFill/>
                    </a:lnT>
                    <a:lnB>
                      <a:noFill/>
                    </a:lnB>
                  </a:tcPr>
                </a:tc>
                <a:extLst>
                  <a:ext uri="{0D108BD9-81ED-4DB2-BD59-A6C34878D82A}">
                    <a16:rowId xmlns:a16="http://schemas.microsoft.com/office/drawing/2014/main" val="184356330"/>
                  </a:ext>
                </a:extLst>
              </a:tr>
              <a:tr h="1104050">
                <a:tc>
                  <a:txBody>
                    <a:bodyPr/>
                    <a:lstStyle/>
                    <a:p>
                      <a:r>
                        <a:rPr lang="en-US" sz="1800" b="1">
                          <a:solidFill>
                            <a:srgbClr val="0070C0"/>
                          </a:solidFill>
                          <a:latin typeface="Times New Roman" panose="02020603050405020304" pitchFamily="18" charset="0"/>
                          <a:cs typeface="Times New Roman" panose="02020603050405020304" pitchFamily="18" charset="0"/>
                        </a:rPr>
                        <a:t>Core Functions</a:t>
                      </a:r>
                      <a:endParaRPr lang="en-US" sz="1800">
                        <a:solidFill>
                          <a:srgbClr val="0070C0"/>
                        </a:solidFill>
                        <a:latin typeface="Times New Roman" panose="02020603050405020304" pitchFamily="18" charset="0"/>
                        <a:cs typeface="Times New Roman" panose="02020603050405020304" pitchFamily="18" charset="0"/>
                      </a:endParaRPr>
                    </a:p>
                  </a:txBody>
                  <a:tcPr marL="90653" marR="90653" marT="45326" marB="45326"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Block inbound threats (e.g., no RDP from internet) - Prevent data exfiltration (e.g., block Dropbox on corp network) - Segment internal networks (DMZ, finance, guest Wi-Fi)</a:t>
                      </a:r>
                    </a:p>
                  </a:txBody>
                  <a:tcPr marL="90653" marR="90653" marT="45326" marB="45326" anchor="ctr">
                    <a:lnL>
                      <a:noFill/>
                    </a:lnL>
                    <a:lnR>
                      <a:noFill/>
                    </a:lnR>
                    <a:lnT>
                      <a:noFill/>
                    </a:lnT>
                    <a:lnB>
                      <a:noFill/>
                    </a:lnB>
                  </a:tcPr>
                </a:tc>
                <a:extLst>
                  <a:ext uri="{0D108BD9-81ED-4DB2-BD59-A6C34878D82A}">
                    <a16:rowId xmlns:a16="http://schemas.microsoft.com/office/drawing/2014/main" val="1624975604"/>
                  </a:ext>
                </a:extLst>
              </a:tr>
              <a:tr h="594488">
                <a:tc>
                  <a:txBody>
                    <a:bodyPr/>
                    <a:lstStyle/>
                    <a:p>
                      <a:r>
                        <a:rPr lang="en-US" sz="1800" b="1">
                          <a:solidFill>
                            <a:srgbClr val="0070C0"/>
                          </a:solidFill>
                          <a:latin typeface="Times New Roman" panose="02020603050405020304" pitchFamily="18" charset="0"/>
                          <a:cs typeface="Times New Roman" panose="02020603050405020304" pitchFamily="18" charset="0"/>
                        </a:rPr>
                        <a:t>NGFW Extras</a:t>
                      </a:r>
                      <a:endParaRPr lang="en-US" sz="1800">
                        <a:solidFill>
                          <a:srgbClr val="0070C0"/>
                        </a:solidFill>
                        <a:latin typeface="Times New Roman" panose="02020603050405020304" pitchFamily="18" charset="0"/>
                        <a:cs typeface="Times New Roman" panose="02020603050405020304" pitchFamily="18" charset="0"/>
                      </a:endParaRPr>
                    </a:p>
                  </a:txBody>
                  <a:tcPr marL="90653" marR="90653" marT="45326" marB="45326"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Deep packet inspection, SSL decryption, URL filtering, sandboxing</a:t>
                      </a:r>
                    </a:p>
                  </a:txBody>
                  <a:tcPr marL="90653" marR="90653" marT="45326" marB="45326" anchor="ctr">
                    <a:lnL>
                      <a:noFill/>
                    </a:lnL>
                    <a:lnR>
                      <a:noFill/>
                    </a:lnR>
                    <a:lnT>
                      <a:noFill/>
                    </a:lnT>
                    <a:lnB>
                      <a:noFill/>
                    </a:lnB>
                  </a:tcPr>
                </a:tc>
                <a:extLst>
                  <a:ext uri="{0D108BD9-81ED-4DB2-BD59-A6C34878D82A}">
                    <a16:rowId xmlns:a16="http://schemas.microsoft.com/office/drawing/2014/main" val="2489542515"/>
                  </a:ext>
                </a:extLst>
              </a:tr>
              <a:tr h="656022">
                <a:tc>
                  <a:txBody>
                    <a:bodyPr/>
                    <a:lstStyle/>
                    <a:p>
                      <a:r>
                        <a:rPr lang="en-US" sz="1800" b="1">
                          <a:solidFill>
                            <a:srgbClr val="0070C0"/>
                          </a:solidFill>
                          <a:latin typeface="Times New Roman" panose="02020603050405020304" pitchFamily="18" charset="0"/>
                          <a:cs typeface="Times New Roman" panose="02020603050405020304" pitchFamily="18" charset="0"/>
                        </a:rPr>
                        <a:t>Popular Tools</a:t>
                      </a:r>
                      <a:endParaRPr lang="en-US" sz="1800">
                        <a:solidFill>
                          <a:srgbClr val="0070C0"/>
                        </a:solidFill>
                        <a:latin typeface="Times New Roman" panose="02020603050405020304" pitchFamily="18" charset="0"/>
                        <a:cs typeface="Times New Roman" panose="02020603050405020304" pitchFamily="18" charset="0"/>
                      </a:endParaRPr>
                    </a:p>
                  </a:txBody>
                  <a:tcPr marL="90653" marR="90653" marT="45326" marB="45326"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Palo Alto, Fortinet, Cisco Firepower, Check Point, pfSense, AWS Network Firewall</a:t>
                      </a:r>
                    </a:p>
                  </a:txBody>
                  <a:tcPr marL="90653" marR="90653" marT="45326" marB="45326" anchor="ctr">
                    <a:lnL>
                      <a:noFill/>
                    </a:lnL>
                    <a:lnR>
                      <a:noFill/>
                    </a:lnR>
                    <a:lnT>
                      <a:noFill/>
                    </a:lnT>
                    <a:lnB>
                      <a:noFill/>
                    </a:lnB>
                  </a:tcPr>
                </a:tc>
                <a:extLst>
                  <a:ext uri="{0D108BD9-81ED-4DB2-BD59-A6C34878D82A}">
                    <a16:rowId xmlns:a16="http://schemas.microsoft.com/office/drawing/2014/main" val="1667470666"/>
                  </a:ext>
                </a:extLst>
              </a:tr>
            </a:tbl>
          </a:graphicData>
        </a:graphic>
      </p:graphicFrame>
      <p:sp>
        <p:nvSpPr>
          <p:cNvPr id="5" name="TextBox 4">
            <a:extLst>
              <a:ext uri="{FF2B5EF4-FFF2-40B4-BE49-F238E27FC236}">
                <a16:creationId xmlns:a16="http://schemas.microsoft.com/office/drawing/2014/main" id="{81135972-CFD4-49CF-AA1D-132E6F4CE538}"/>
              </a:ext>
            </a:extLst>
          </p:cNvPr>
          <p:cNvSpPr txBox="1"/>
          <p:nvPr/>
        </p:nvSpPr>
        <p:spPr>
          <a:xfrm>
            <a:off x="1005840" y="6047098"/>
            <a:ext cx="9174756" cy="677108"/>
          </a:xfrm>
          <a:prstGeom prst="rect">
            <a:avLst/>
          </a:prstGeom>
          <a:noFill/>
        </p:spPr>
        <p:txBody>
          <a:bodyPr wrap="none" rtlCol="0">
            <a:spAutoFit/>
          </a:bodyPr>
          <a:lstStyle/>
          <a:p>
            <a:r>
              <a:rPr lang="en-US" sz="2000">
                <a:solidFill>
                  <a:schemeClr val="accent3"/>
                </a:solidFill>
                <a:latin typeface="Times New Roman" panose="02020603050405020304" pitchFamily="18" charset="0"/>
                <a:cs typeface="Times New Roman" panose="02020603050405020304" pitchFamily="18" charset="0"/>
              </a:rPr>
              <a:t>A firewall is a bouncer at a club—checking IDs and only letting approved traffic inside.</a:t>
            </a:r>
          </a:p>
          <a:p>
            <a:endParaRPr lang="en-US"/>
          </a:p>
        </p:txBody>
      </p:sp>
    </p:spTree>
    <p:extLst>
      <p:ext uri="{BB962C8B-B14F-4D97-AF65-F5344CB8AC3E}">
        <p14:creationId xmlns:p14="http://schemas.microsoft.com/office/powerpoint/2010/main" val="3659359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BE7D7-AB6F-457E-ADF7-8F0A65ADAC66}"/>
              </a:ext>
            </a:extLst>
          </p:cNvPr>
          <p:cNvSpPr>
            <a:spLocks noGrp="1"/>
          </p:cNvSpPr>
          <p:nvPr>
            <p:ph type="title"/>
          </p:nvPr>
        </p:nvSpPr>
        <p:spPr>
          <a:xfrm>
            <a:off x="838200" y="376556"/>
            <a:ext cx="10515600" cy="1325563"/>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Work Together</a:t>
            </a:r>
          </a:p>
        </p:txBody>
      </p:sp>
      <p:graphicFrame>
        <p:nvGraphicFramePr>
          <p:cNvPr id="4" name="Content Placeholder 3">
            <a:extLst>
              <a:ext uri="{FF2B5EF4-FFF2-40B4-BE49-F238E27FC236}">
                <a16:creationId xmlns:a16="http://schemas.microsoft.com/office/drawing/2014/main" id="{B2320DCF-2E8A-4633-BBCA-C4A1D74046A1}"/>
              </a:ext>
            </a:extLst>
          </p:cNvPr>
          <p:cNvGraphicFramePr>
            <a:graphicFrameLocks noGrp="1"/>
          </p:cNvGraphicFramePr>
          <p:nvPr>
            <p:ph idx="1"/>
            <p:extLst>
              <p:ext uri="{D42A27DB-BD31-4B8C-83A1-F6EECF244321}">
                <p14:modId xmlns:p14="http://schemas.microsoft.com/office/powerpoint/2010/main" val="2548280456"/>
              </p:ext>
            </p:extLst>
          </p:nvPr>
        </p:nvGraphicFramePr>
        <p:xfrm>
          <a:off x="598170" y="1364562"/>
          <a:ext cx="10515600" cy="4405552"/>
        </p:xfrm>
        <a:graphic>
          <a:graphicData uri="http://schemas.openxmlformats.org/drawingml/2006/table">
            <a:tbl>
              <a:tblPr/>
              <a:tblGrid>
                <a:gridCol w="3505200">
                  <a:extLst>
                    <a:ext uri="{9D8B030D-6E8A-4147-A177-3AD203B41FA5}">
                      <a16:colId xmlns:a16="http://schemas.microsoft.com/office/drawing/2014/main" val="2069394711"/>
                    </a:ext>
                  </a:extLst>
                </a:gridCol>
                <a:gridCol w="1760446">
                  <a:extLst>
                    <a:ext uri="{9D8B030D-6E8A-4147-A177-3AD203B41FA5}">
                      <a16:colId xmlns:a16="http://schemas.microsoft.com/office/drawing/2014/main" val="544057045"/>
                    </a:ext>
                  </a:extLst>
                </a:gridCol>
                <a:gridCol w="5249954">
                  <a:extLst>
                    <a:ext uri="{9D8B030D-6E8A-4147-A177-3AD203B41FA5}">
                      <a16:colId xmlns:a16="http://schemas.microsoft.com/office/drawing/2014/main" val="2225235998"/>
                    </a:ext>
                  </a:extLst>
                </a:gridCol>
              </a:tblGrid>
              <a:tr h="355211">
                <a:tc>
                  <a:txBody>
                    <a:bodyPr/>
                    <a:lstStyle/>
                    <a:p>
                      <a:r>
                        <a:rPr lang="en-US" sz="2000" b="1">
                          <a:solidFill>
                            <a:schemeClr val="accent3"/>
                          </a:solidFill>
                          <a:latin typeface="Times New Roman" panose="02020603050405020304" pitchFamily="18" charset="0"/>
                          <a:cs typeface="Times New Roman" panose="02020603050405020304" pitchFamily="18" charset="0"/>
                        </a:rPr>
                        <a:t>Stage</a:t>
                      </a:r>
                    </a:p>
                  </a:txBody>
                  <a:tcPr marL="88803" marR="88803" marT="44401" marB="44401" anchor="ctr">
                    <a:lnL>
                      <a:noFill/>
                    </a:lnL>
                    <a:lnR>
                      <a:noFill/>
                    </a:lnR>
                    <a:lnT>
                      <a:noFill/>
                    </a:lnT>
                    <a:lnB>
                      <a:noFill/>
                    </a:lnB>
                  </a:tcPr>
                </a:tc>
                <a:tc>
                  <a:txBody>
                    <a:bodyPr/>
                    <a:lstStyle/>
                    <a:p>
                      <a:r>
                        <a:rPr lang="en-US" sz="2000" b="1">
                          <a:solidFill>
                            <a:schemeClr val="accent3"/>
                          </a:solidFill>
                          <a:latin typeface="Times New Roman" panose="02020603050405020304" pitchFamily="18" charset="0"/>
                          <a:cs typeface="Times New Roman" panose="02020603050405020304" pitchFamily="18" charset="0"/>
                        </a:rPr>
                        <a:t>Tool</a:t>
                      </a:r>
                    </a:p>
                  </a:txBody>
                  <a:tcPr marL="88803" marR="88803" marT="44401" marB="44401" anchor="ctr">
                    <a:lnL>
                      <a:noFill/>
                    </a:lnL>
                    <a:lnR>
                      <a:noFill/>
                    </a:lnR>
                    <a:lnT>
                      <a:noFill/>
                    </a:lnT>
                    <a:lnB>
                      <a:noFill/>
                    </a:lnB>
                  </a:tcPr>
                </a:tc>
                <a:tc>
                  <a:txBody>
                    <a:bodyPr/>
                    <a:lstStyle/>
                    <a:p>
                      <a:r>
                        <a:rPr lang="en-US" sz="2000" b="1">
                          <a:solidFill>
                            <a:schemeClr val="accent3"/>
                          </a:solidFill>
                          <a:latin typeface="Times New Roman" panose="02020603050405020304" pitchFamily="18" charset="0"/>
                          <a:cs typeface="Times New Roman" panose="02020603050405020304" pitchFamily="18" charset="0"/>
                        </a:rPr>
                        <a:t>Action</a:t>
                      </a:r>
                    </a:p>
                  </a:txBody>
                  <a:tcPr marL="88803" marR="88803" marT="44401" marB="44401" anchor="ctr">
                    <a:lnL>
                      <a:noFill/>
                    </a:lnL>
                    <a:lnR>
                      <a:noFill/>
                    </a:lnR>
                    <a:lnT>
                      <a:noFill/>
                    </a:lnT>
                    <a:lnB>
                      <a:noFill/>
                    </a:lnB>
                  </a:tcPr>
                </a:tc>
                <a:extLst>
                  <a:ext uri="{0D108BD9-81ED-4DB2-BD59-A6C34878D82A}">
                    <a16:rowId xmlns:a16="http://schemas.microsoft.com/office/drawing/2014/main" val="3506483558"/>
                  </a:ext>
                </a:extLst>
              </a:tr>
              <a:tr h="621620">
                <a:tc>
                  <a:txBody>
                    <a:bodyPr/>
                    <a:lstStyle/>
                    <a:p>
                      <a:r>
                        <a:rPr lang="en-US" sz="1800" b="1">
                          <a:solidFill>
                            <a:srgbClr val="0070C0"/>
                          </a:solidFill>
                          <a:latin typeface="Times New Roman" panose="02020603050405020304" pitchFamily="18" charset="0"/>
                          <a:cs typeface="Times New Roman" panose="02020603050405020304" pitchFamily="18" charset="0"/>
                        </a:rPr>
                        <a:t>1. Phishing email delivered</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Firewall</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Allows port 443 (HTTPS) – can’t block all email</a:t>
                      </a:r>
                    </a:p>
                  </a:txBody>
                  <a:tcPr marL="88803" marR="88803" marT="44401" marB="44401" anchor="ctr">
                    <a:lnL>
                      <a:noFill/>
                    </a:lnL>
                    <a:lnR>
                      <a:noFill/>
                    </a:lnR>
                    <a:lnT>
                      <a:noFill/>
                    </a:lnT>
                    <a:lnB>
                      <a:noFill/>
                    </a:lnB>
                  </a:tcPr>
                </a:tc>
                <a:extLst>
                  <a:ext uri="{0D108BD9-81ED-4DB2-BD59-A6C34878D82A}">
                    <a16:rowId xmlns:a16="http://schemas.microsoft.com/office/drawing/2014/main" val="670337015"/>
                  </a:ext>
                </a:extLst>
              </a:tr>
              <a:tr h="621620">
                <a:tc>
                  <a:txBody>
                    <a:bodyPr/>
                    <a:lstStyle/>
                    <a:p>
                      <a:r>
                        <a:rPr lang="en-US" sz="1800" b="1">
                          <a:solidFill>
                            <a:srgbClr val="0070C0"/>
                          </a:solidFill>
                          <a:latin typeface="Times New Roman" panose="02020603050405020304" pitchFamily="18" charset="0"/>
                          <a:cs typeface="Times New Roman" panose="02020603050405020304" pitchFamily="18" charset="0"/>
                        </a:rPr>
                        <a:t>2. User clicks link → Malware downloaded</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EDR</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Detects suspicious .exe, blocks execution, alerts SOC</a:t>
                      </a:r>
                    </a:p>
                  </a:txBody>
                  <a:tcPr marL="88803" marR="88803" marT="44401" marB="44401" anchor="ctr">
                    <a:lnL>
                      <a:noFill/>
                    </a:lnL>
                    <a:lnR>
                      <a:noFill/>
                    </a:lnR>
                    <a:lnT>
                      <a:noFill/>
                    </a:lnT>
                    <a:lnB>
                      <a:noFill/>
                    </a:lnB>
                  </a:tcPr>
                </a:tc>
                <a:extLst>
                  <a:ext uri="{0D108BD9-81ED-4DB2-BD59-A6C34878D82A}">
                    <a16:rowId xmlns:a16="http://schemas.microsoft.com/office/drawing/2014/main" val="3660245157"/>
                  </a:ext>
                </a:extLst>
              </a:tr>
              <a:tr h="621620">
                <a:tc>
                  <a:txBody>
                    <a:bodyPr/>
                    <a:lstStyle/>
                    <a:p>
                      <a:r>
                        <a:rPr lang="en-US" sz="1800" b="1">
                          <a:solidFill>
                            <a:srgbClr val="0070C0"/>
                          </a:solidFill>
                          <a:latin typeface="Times New Roman" panose="02020603050405020304" pitchFamily="18" charset="0"/>
                          <a:cs typeface="Times New Roman" panose="02020603050405020304" pitchFamily="18" charset="0"/>
                        </a:rPr>
                        <a:t>3. Malware tries to call C2 server</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IDS/IPS</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Sees known C2 IP → </a:t>
                      </a:r>
                      <a:r>
                        <a:rPr lang="en-US" sz="1800" b="1">
                          <a:latin typeface="Times New Roman" panose="02020603050405020304" pitchFamily="18" charset="0"/>
                          <a:cs typeface="Times New Roman" panose="02020603050405020304" pitchFamily="18" charset="0"/>
                        </a:rPr>
                        <a:t>blocks outbound traffic</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extLst>
                  <a:ext uri="{0D108BD9-81ED-4DB2-BD59-A6C34878D82A}">
                    <a16:rowId xmlns:a16="http://schemas.microsoft.com/office/drawing/2014/main" val="2665591668"/>
                  </a:ext>
                </a:extLst>
              </a:tr>
              <a:tr h="888028">
                <a:tc>
                  <a:txBody>
                    <a:bodyPr/>
                    <a:lstStyle/>
                    <a:p>
                      <a:r>
                        <a:rPr lang="en-US" sz="1800" b="1">
                          <a:solidFill>
                            <a:srgbClr val="0070C0"/>
                          </a:solidFill>
                          <a:latin typeface="Times New Roman" panose="02020603050405020304" pitchFamily="18" charset="0"/>
                          <a:cs typeface="Times New Roman" panose="02020603050405020304" pitchFamily="18" charset="0"/>
                        </a:rPr>
                        <a:t>4. SOC gets alert</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SIEM</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Correlates EDR + IPS logs → “High-severity incident: Ransomware attempt”</a:t>
                      </a:r>
                    </a:p>
                  </a:txBody>
                  <a:tcPr marL="88803" marR="88803" marT="44401" marB="44401" anchor="ctr">
                    <a:lnL>
                      <a:noFill/>
                    </a:lnL>
                    <a:lnR>
                      <a:noFill/>
                    </a:lnR>
                    <a:lnT>
                      <a:noFill/>
                    </a:lnT>
                    <a:lnB>
                      <a:noFill/>
                    </a:lnB>
                  </a:tcPr>
                </a:tc>
                <a:extLst>
                  <a:ext uri="{0D108BD9-81ED-4DB2-BD59-A6C34878D82A}">
                    <a16:rowId xmlns:a16="http://schemas.microsoft.com/office/drawing/2014/main" val="2637254392"/>
                  </a:ext>
                </a:extLst>
              </a:tr>
              <a:tr h="621620">
                <a:tc>
                  <a:txBody>
                    <a:bodyPr/>
                    <a:lstStyle/>
                    <a:p>
                      <a:r>
                        <a:rPr lang="en-US" sz="1800" b="1">
                          <a:solidFill>
                            <a:srgbClr val="0070C0"/>
                          </a:solidFill>
                          <a:latin typeface="Times New Roman" panose="02020603050405020304" pitchFamily="18" charset="0"/>
                          <a:cs typeface="Times New Roman" panose="02020603050405020304" pitchFamily="18" charset="0"/>
                        </a:rPr>
                        <a:t>5. Analyst investigates</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EDR + SIEM</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Traces patient zero, scope of breach</a:t>
                      </a:r>
                    </a:p>
                  </a:txBody>
                  <a:tcPr marL="88803" marR="88803" marT="44401" marB="44401" anchor="ctr">
                    <a:lnL>
                      <a:noFill/>
                    </a:lnL>
                    <a:lnR>
                      <a:noFill/>
                    </a:lnR>
                    <a:lnT>
                      <a:noFill/>
                    </a:lnT>
                    <a:lnB>
                      <a:noFill/>
                    </a:lnB>
                  </a:tcPr>
                </a:tc>
                <a:extLst>
                  <a:ext uri="{0D108BD9-81ED-4DB2-BD59-A6C34878D82A}">
                    <a16:rowId xmlns:a16="http://schemas.microsoft.com/office/drawing/2014/main" val="3860339882"/>
                  </a:ext>
                </a:extLst>
              </a:tr>
              <a:tr h="621620">
                <a:tc>
                  <a:txBody>
                    <a:bodyPr/>
                    <a:lstStyle/>
                    <a:p>
                      <a:r>
                        <a:rPr lang="en-US" sz="1800" b="1">
                          <a:solidFill>
                            <a:srgbClr val="0070C0"/>
                          </a:solidFill>
                          <a:latin typeface="Times New Roman" panose="02020603050405020304" pitchFamily="18" charset="0"/>
                          <a:cs typeface="Times New Roman" panose="02020603050405020304" pitchFamily="18" charset="0"/>
                        </a:rPr>
                        <a:t>6. Containment</a:t>
                      </a:r>
                    </a:p>
                  </a:txBody>
                  <a:tcPr marL="88803" marR="88803" marT="44401" marB="44401" anchor="ctr">
                    <a:lnL>
                      <a:noFill/>
                    </a:lnL>
                    <a:lnR>
                      <a:noFill/>
                    </a:lnR>
                    <a:lnT>
                      <a:noFill/>
                    </a:lnT>
                    <a:lnB>
                      <a:noFill/>
                    </a:lnB>
                  </a:tcPr>
                </a:tc>
                <a:tc>
                  <a:txBody>
                    <a:bodyPr/>
                    <a:lstStyle/>
                    <a:p>
                      <a:r>
                        <a:rPr lang="en-US" sz="1800" b="1">
                          <a:latin typeface="Times New Roman" panose="02020603050405020304" pitchFamily="18" charset="0"/>
                          <a:cs typeface="Times New Roman" panose="02020603050405020304" pitchFamily="18" charset="0"/>
                        </a:rPr>
                        <a:t>EDR + Firewall</a:t>
                      </a:r>
                      <a:endParaRPr lang="en-US" sz="1800">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Isolates endpoint, blocks C2 domain globally</a:t>
                      </a:r>
                    </a:p>
                  </a:txBody>
                  <a:tcPr marL="88803" marR="88803" marT="44401" marB="44401" anchor="ctr">
                    <a:lnL>
                      <a:noFill/>
                    </a:lnL>
                    <a:lnR>
                      <a:noFill/>
                    </a:lnR>
                    <a:lnT>
                      <a:noFill/>
                    </a:lnT>
                    <a:lnB>
                      <a:noFill/>
                    </a:lnB>
                  </a:tcPr>
                </a:tc>
                <a:extLst>
                  <a:ext uri="{0D108BD9-81ED-4DB2-BD59-A6C34878D82A}">
                    <a16:rowId xmlns:a16="http://schemas.microsoft.com/office/drawing/2014/main" val="2502211984"/>
                  </a:ext>
                </a:extLst>
              </a:tr>
            </a:tbl>
          </a:graphicData>
        </a:graphic>
      </p:graphicFrame>
    </p:spTree>
    <p:extLst>
      <p:ext uri="{BB962C8B-B14F-4D97-AF65-F5344CB8AC3E}">
        <p14:creationId xmlns:p14="http://schemas.microsoft.com/office/powerpoint/2010/main" val="218663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CFE9-16A9-4B49-855A-65C5CA65C51B}"/>
              </a:ext>
            </a:extLst>
          </p:cNvPr>
          <p:cNvSpPr>
            <a:spLocks noGrp="1"/>
          </p:cNvSpPr>
          <p:nvPr>
            <p:ph type="title"/>
          </p:nvPr>
        </p:nvSpPr>
        <p:spPr>
          <a:xfrm>
            <a:off x="1799615" y="2505211"/>
            <a:ext cx="9602821" cy="1325563"/>
          </a:xfrm>
        </p:spPr>
        <p:txBody>
          <a:bodyPr>
            <a:normAutofit/>
          </a:bodyPr>
          <a:lstStyle/>
          <a:p>
            <a:r>
              <a:rPr lang="en-GB" sz="4800" b="1">
                <a:solidFill>
                  <a:schemeClr val="accent3"/>
                </a:solidFill>
                <a:latin typeface="Times New Roman" panose="02020603050405020304" pitchFamily="18" charset="0"/>
                <a:cs typeface="Times New Roman" panose="02020603050405020304" pitchFamily="18" charset="0"/>
              </a:rPr>
              <a:t>Log management and analytics </a:t>
            </a:r>
            <a:endParaRPr lang="en-US" sz="4800" b="1">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3314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033A4-73EE-4900-BB85-AA3110A5E17A}"/>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Log Management &amp; Analytics</a:t>
            </a:r>
          </a:p>
        </p:txBody>
      </p:sp>
      <p:sp>
        <p:nvSpPr>
          <p:cNvPr id="3" name="Content Placeholder 2">
            <a:extLst>
              <a:ext uri="{FF2B5EF4-FFF2-40B4-BE49-F238E27FC236}">
                <a16:creationId xmlns:a16="http://schemas.microsoft.com/office/drawing/2014/main" id="{596F3CB8-FA4A-4F96-8639-182F6A7A698F}"/>
              </a:ext>
            </a:extLst>
          </p:cNvPr>
          <p:cNvSpPr>
            <a:spLocks noGrp="1"/>
          </p:cNvSpPr>
          <p:nvPr>
            <p:ph idx="1"/>
          </p:nvPr>
        </p:nvSpPr>
        <p:spPr>
          <a:xfrm>
            <a:off x="678180" y="1402714"/>
            <a:ext cx="10980420" cy="4609465"/>
          </a:xfrm>
        </p:spPr>
        <p:txBody>
          <a:bodyPr>
            <a:noAutofit/>
          </a:bodyPr>
          <a:lstStyle/>
          <a:p>
            <a:pPr marL="0" indent="0" algn="just">
              <a:lnSpc>
                <a:spcPct val="150000"/>
              </a:lnSpc>
              <a:buNone/>
            </a:pPr>
            <a:r>
              <a:rPr lang="en-US" sz="2400">
                <a:latin typeface="Times New Roman" panose="02020603050405020304" pitchFamily="18" charset="0"/>
                <a:cs typeface="Times New Roman" panose="02020603050405020304" pitchFamily="18" charset="0"/>
              </a:rPr>
              <a:t>Log Management &amp; Analytics collects security logs from endpoints, networks, cloud, identities, and apps into one searchable platform (usually a SIEM). It normalizes and enriches data (asset owner, GeoIP, threat intel) and correlates events to spot risky patterns like failed logins → new country login → PowerShell spawn so teams detect attacks sooner and investigate faster. Tiered retention and tamper-evident storage provide auditable records for standards like ISO 27001 and SOC 2. Integrations with SOAR and ticketing turn alerts into repeatable actions (isolate host, block IP, disable account), reducing MTTD/MTTR and overall risk.</a:t>
            </a:r>
          </a:p>
        </p:txBody>
      </p:sp>
    </p:spTree>
    <p:extLst>
      <p:ext uri="{BB962C8B-B14F-4D97-AF65-F5344CB8AC3E}">
        <p14:creationId xmlns:p14="http://schemas.microsoft.com/office/powerpoint/2010/main" val="3992834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61FF-EC2E-4250-B74C-39711E36B3F4}"/>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Log Management </a:t>
            </a:r>
          </a:p>
        </p:txBody>
      </p:sp>
      <p:sp>
        <p:nvSpPr>
          <p:cNvPr id="3" name="Content Placeholder 2">
            <a:extLst>
              <a:ext uri="{FF2B5EF4-FFF2-40B4-BE49-F238E27FC236}">
                <a16:creationId xmlns:a16="http://schemas.microsoft.com/office/drawing/2014/main" id="{F2B32FC3-8C07-439C-9A1C-4AAF9FFCB890}"/>
              </a:ext>
            </a:extLst>
          </p:cNvPr>
          <p:cNvSpPr>
            <a:spLocks noGrp="1"/>
          </p:cNvSpPr>
          <p:nvPr>
            <p:ph idx="1"/>
          </p:nvPr>
        </p:nvSpPr>
        <p:spPr>
          <a:xfrm>
            <a:off x="838200" y="1446246"/>
            <a:ext cx="10515600" cy="4351338"/>
          </a:xfrm>
        </p:spPr>
        <p:txBody>
          <a:bodyPr>
            <a:normAutofit/>
          </a:bodyPr>
          <a:lstStyle/>
          <a:p>
            <a:pPr marL="0" indent="0" algn="just">
              <a:buNone/>
            </a:pPr>
            <a:r>
              <a:rPr lang="en-US" sz="2400">
                <a:solidFill>
                  <a:schemeClr val="accent3"/>
                </a:solidFill>
                <a:latin typeface="Times New Roman" panose="02020603050405020304" pitchFamily="18" charset="0"/>
                <a:cs typeface="Times New Roman" panose="02020603050405020304" pitchFamily="18" charset="0"/>
              </a:rPr>
              <a:t>Log Management </a:t>
            </a:r>
            <a:r>
              <a:rPr lang="en-US" sz="2400">
                <a:latin typeface="Times New Roman" panose="02020603050405020304" pitchFamily="18" charset="0"/>
                <a:cs typeface="Times New Roman" panose="02020603050405020304" pitchFamily="18" charset="0"/>
              </a:rPr>
              <a:t>is the process of handling the entire lifecycle of log data generated by every device, system, and application across an organization's IT infrastructure.</a:t>
            </a:r>
          </a:p>
          <a:p>
            <a:pPr marL="0" indent="0" algn="just">
              <a:buNone/>
            </a:pPr>
            <a:r>
              <a:rPr lang="en-US" sz="2400" b="1">
                <a:solidFill>
                  <a:srgbClr val="0070C0"/>
                </a:solidFill>
                <a:latin typeface="Times New Roman" panose="02020603050405020304" pitchFamily="18" charset="0"/>
                <a:cs typeface="Times New Roman" panose="02020603050405020304" pitchFamily="18" charset="0"/>
              </a:rPr>
              <a:t>The main steps typically include:</a:t>
            </a:r>
          </a:p>
          <a:p>
            <a:pPr algn="just"/>
            <a:r>
              <a:rPr lang="en-US" sz="2400">
                <a:solidFill>
                  <a:schemeClr val="accent3"/>
                </a:solidFill>
                <a:latin typeface="Times New Roman" panose="02020603050405020304" pitchFamily="18" charset="0"/>
                <a:cs typeface="Times New Roman" panose="02020603050405020304" pitchFamily="18" charset="0"/>
              </a:rPr>
              <a:t>Collection:</a:t>
            </a:r>
            <a:r>
              <a:rPr lang="en-US" sz="2400">
                <a:latin typeface="Times New Roman" panose="02020603050405020304" pitchFamily="18" charset="0"/>
                <a:cs typeface="Times New Roman" panose="02020603050405020304" pitchFamily="18" charset="0"/>
              </a:rPr>
              <a:t>Gathering logs from diverse sources (e.g., servers, firewalls, operating systems, applications).</a:t>
            </a:r>
          </a:p>
          <a:p>
            <a:pPr algn="just"/>
            <a:r>
              <a:rPr lang="en-US" sz="2400">
                <a:solidFill>
                  <a:schemeClr val="accent3"/>
                </a:solidFill>
                <a:latin typeface="Times New Roman" panose="02020603050405020304" pitchFamily="18" charset="0"/>
                <a:cs typeface="Times New Roman" panose="02020603050405020304" pitchFamily="18" charset="0"/>
              </a:rPr>
              <a:t>Aggregation and Normalization: </a:t>
            </a:r>
            <a:r>
              <a:rPr lang="en-US" sz="2400">
                <a:latin typeface="Times New Roman" panose="02020603050405020304" pitchFamily="18" charset="0"/>
                <a:cs typeface="Times New Roman" panose="02020603050405020304" pitchFamily="18" charset="0"/>
              </a:rPr>
              <a:t>Centralizing all the collected logs into a single repository, often a Security Information and Event Management (SIEM) system, and converting them into a common, standardized format for easier analysis.Storage and Retention: Storing the normalized logs securely for required periods (often dictated by regulatory compliance).</a:t>
            </a:r>
          </a:p>
        </p:txBody>
      </p:sp>
    </p:spTree>
    <p:extLst>
      <p:ext uri="{BB962C8B-B14F-4D97-AF65-F5344CB8AC3E}">
        <p14:creationId xmlns:p14="http://schemas.microsoft.com/office/powerpoint/2010/main" val="40972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76524-A303-4354-BBD5-97E190B6B90E}"/>
              </a:ext>
            </a:extLst>
          </p:cNvPr>
          <p:cNvSpPr>
            <a:spLocks noGrp="1"/>
          </p:cNvSpPr>
          <p:nvPr>
            <p:ph type="title"/>
          </p:nvPr>
        </p:nvSpPr>
        <p:spPr>
          <a:xfrm>
            <a:off x="916021" y="277577"/>
            <a:ext cx="10515600" cy="1325563"/>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Log Analytics </a:t>
            </a:r>
          </a:p>
        </p:txBody>
      </p:sp>
      <p:sp>
        <p:nvSpPr>
          <p:cNvPr id="3" name="Content Placeholder 2">
            <a:extLst>
              <a:ext uri="{FF2B5EF4-FFF2-40B4-BE49-F238E27FC236}">
                <a16:creationId xmlns:a16="http://schemas.microsoft.com/office/drawing/2014/main" id="{D77A1D69-13D0-40C8-908E-4C744ECA3EB4}"/>
              </a:ext>
            </a:extLst>
          </p:cNvPr>
          <p:cNvSpPr>
            <a:spLocks noGrp="1"/>
          </p:cNvSpPr>
          <p:nvPr>
            <p:ph idx="1"/>
          </p:nvPr>
        </p:nvSpPr>
        <p:spPr>
          <a:xfrm>
            <a:off x="760379" y="1185236"/>
            <a:ext cx="10971178" cy="4466533"/>
          </a:xfrm>
        </p:spPr>
        <p:txBody>
          <a:bodyPr>
            <a:noAutofit/>
          </a:bodyPr>
          <a:lstStyle/>
          <a:p>
            <a:pPr marL="0" indent="0" algn="just">
              <a:buNone/>
            </a:pPr>
            <a:r>
              <a:rPr lang="en-US" sz="2200" b="1">
                <a:solidFill>
                  <a:schemeClr val="accent3"/>
                </a:solidFill>
                <a:latin typeface="Times New Roman" panose="02020603050405020304" pitchFamily="18" charset="0"/>
                <a:cs typeface="Times New Roman" panose="02020603050405020304" pitchFamily="18" charset="0"/>
              </a:rPr>
              <a:t>Log Analytics </a:t>
            </a:r>
            <a:r>
              <a:rPr lang="en-US" sz="2200">
                <a:latin typeface="Times New Roman" panose="02020603050405020304" pitchFamily="18" charset="0"/>
                <a:cs typeface="Times New Roman" panose="02020603050405020304" pitchFamily="18" charset="0"/>
              </a:rPr>
              <a:t>is the process of examining the collected and normalized log data to find valuable insights, primarily focused on security events and anomalies.</a:t>
            </a:r>
          </a:p>
          <a:p>
            <a:pPr marL="0" indent="0" algn="just">
              <a:buNone/>
            </a:pPr>
            <a:r>
              <a:rPr lang="en-US" sz="2200" b="1">
                <a:solidFill>
                  <a:srgbClr val="0070C0"/>
                </a:solidFill>
                <a:latin typeface="Times New Roman" panose="02020603050405020304" pitchFamily="18" charset="0"/>
                <a:cs typeface="Times New Roman" panose="02020603050405020304" pitchFamily="18" charset="0"/>
              </a:rPr>
              <a:t>This process typically involves</a:t>
            </a:r>
          </a:p>
          <a:p>
            <a:pPr algn="just"/>
            <a:r>
              <a:rPr lang="en-US" sz="2200" b="1">
                <a:solidFill>
                  <a:schemeClr val="accent3"/>
                </a:solidFill>
                <a:latin typeface="Times New Roman" panose="02020603050405020304" pitchFamily="18" charset="0"/>
                <a:cs typeface="Times New Roman" panose="02020603050405020304" pitchFamily="18" charset="0"/>
              </a:rPr>
              <a:t>Monitoring and Search: </a:t>
            </a:r>
            <a:r>
              <a:rPr lang="en-US" sz="2200">
                <a:latin typeface="Times New Roman" panose="02020603050405020304" pitchFamily="18" charset="0"/>
                <a:cs typeface="Times New Roman" panose="02020603050405020304" pitchFamily="18" charset="0"/>
              </a:rPr>
              <a:t>Continuously monitoring the log stream in real-time and using powerful search tools to investigate specific events.</a:t>
            </a:r>
          </a:p>
          <a:p>
            <a:pPr algn="just"/>
            <a:r>
              <a:rPr lang="en-US" sz="2200" b="1">
                <a:solidFill>
                  <a:schemeClr val="accent3"/>
                </a:solidFill>
                <a:latin typeface="Times New Roman" panose="02020603050405020304" pitchFamily="18" charset="0"/>
                <a:cs typeface="Times New Roman" panose="02020603050405020304" pitchFamily="18" charset="0"/>
              </a:rPr>
              <a:t>Correlation: </a:t>
            </a:r>
            <a:r>
              <a:rPr lang="en-US" sz="2200">
                <a:latin typeface="Times New Roman" panose="02020603050405020304" pitchFamily="18" charset="0"/>
                <a:cs typeface="Times New Roman" panose="02020603050405020304" pitchFamily="18" charset="0"/>
              </a:rPr>
              <a:t>Connecting seemingly unrelated events from different log sources to identify a pattern that suggests a larger attack or security incident (e.g., a failed login on one system followed by a successful login attempt on another).</a:t>
            </a:r>
          </a:p>
          <a:p>
            <a:pPr algn="just"/>
            <a:r>
              <a:rPr lang="en-US" sz="2200" b="1">
                <a:solidFill>
                  <a:schemeClr val="accent3"/>
                </a:solidFill>
                <a:latin typeface="Times New Roman" panose="02020603050405020304" pitchFamily="18" charset="0"/>
                <a:cs typeface="Times New Roman" panose="02020603050405020304" pitchFamily="18" charset="0"/>
              </a:rPr>
              <a:t>Alerting and Reporting: </a:t>
            </a:r>
            <a:r>
              <a:rPr lang="en-US" sz="2200">
                <a:latin typeface="Times New Roman" panose="02020603050405020304" pitchFamily="18" charset="0"/>
                <a:cs typeface="Times New Roman" panose="02020603050405020304" pitchFamily="18" charset="0"/>
              </a:rPr>
              <a:t>Generating immediate alerts for suspicious activities and creating reports for compliance and post-incident analysis. Modern SOCs often use machine learning and behavioral analytics tools (like User and Entity Behavior Analytics, or UEBA) to automate this detection process.</a:t>
            </a:r>
          </a:p>
        </p:txBody>
      </p:sp>
    </p:spTree>
    <p:extLst>
      <p:ext uri="{BB962C8B-B14F-4D97-AF65-F5344CB8AC3E}">
        <p14:creationId xmlns:p14="http://schemas.microsoft.com/office/powerpoint/2010/main" val="3885609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1F7D6-0D45-4C14-A44A-330CEAA530EB}"/>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Key Menus in SOC Tools for Log Management &amp; Analytics</a:t>
            </a:r>
          </a:p>
        </p:txBody>
      </p:sp>
      <p:graphicFrame>
        <p:nvGraphicFramePr>
          <p:cNvPr id="4" name="Content Placeholder 3">
            <a:extLst>
              <a:ext uri="{FF2B5EF4-FFF2-40B4-BE49-F238E27FC236}">
                <a16:creationId xmlns:a16="http://schemas.microsoft.com/office/drawing/2014/main" id="{11D817CD-023E-4EFC-90E4-EC3DC0CA6880}"/>
              </a:ext>
            </a:extLst>
          </p:cNvPr>
          <p:cNvGraphicFramePr>
            <a:graphicFrameLocks noGrp="1"/>
          </p:cNvGraphicFramePr>
          <p:nvPr>
            <p:ph idx="1"/>
            <p:extLst>
              <p:ext uri="{D42A27DB-BD31-4B8C-83A1-F6EECF244321}">
                <p14:modId xmlns:p14="http://schemas.microsoft.com/office/powerpoint/2010/main" val="3793231486"/>
              </p:ext>
            </p:extLst>
          </p:nvPr>
        </p:nvGraphicFramePr>
        <p:xfrm>
          <a:off x="838200" y="1606886"/>
          <a:ext cx="10640438" cy="4825698"/>
        </p:xfrm>
        <a:graphic>
          <a:graphicData uri="http://schemas.openxmlformats.org/drawingml/2006/table">
            <a:tbl>
              <a:tblPr/>
              <a:tblGrid>
                <a:gridCol w="4739103">
                  <a:extLst>
                    <a:ext uri="{9D8B030D-6E8A-4147-A177-3AD203B41FA5}">
                      <a16:colId xmlns:a16="http://schemas.microsoft.com/office/drawing/2014/main" val="2939176855"/>
                    </a:ext>
                  </a:extLst>
                </a:gridCol>
                <a:gridCol w="5901335">
                  <a:extLst>
                    <a:ext uri="{9D8B030D-6E8A-4147-A177-3AD203B41FA5}">
                      <a16:colId xmlns:a16="http://schemas.microsoft.com/office/drawing/2014/main" val="1863636407"/>
                    </a:ext>
                  </a:extLst>
                </a:gridCol>
              </a:tblGrid>
              <a:tr h="214881">
                <a:tc>
                  <a:txBody>
                    <a:bodyPr/>
                    <a:lstStyle/>
                    <a:p>
                      <a:pPr algn="just"/>
                      <a:r>
                        <a:rPr lang="en-US" sz="2000" b="1">
                          <a:solidFill>
                            <a:schemeClr val="accent3"/>
                          </a:solidFill>
                          <a:latin typeface="Times New Roman" panose="02020603050405020304" pitchFamily="18" charset="0"/>
                          <a:cs typeface="Times New Roman" panose="02020603050405020304" pitchFamily="18" charset="0"/>
                        </a:rPr>
                        <a:t>Menu Name</a:t>
                      </a:r>
                      <a:endParaRPr lang="en-US" sz="2000">
                        <a:solidFill>
                          <a:schemeClr val="accent3"/>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2000" b="1">
                          <a:solidFill>
                            <a:schemeClr val="accent3"/>
                          </a:solidFill>
                          <a:latin typeface="Times New Roman" panose="02020603050405020304" pitchFamily="18" charset="0"/>
                          <a:cs typeface="Times New Roman" panose="02020603050405020304" pitchFamily="18" charset="0"/>
                        </a:rPr>
                        <a:t>Functionality</a:t>
                      </a:r>
                      <a:endParaRPr lang="en-US" sz="2000">
                        <a:solidFill>
                          <a:schemeClr val="accent3"/>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extLst>
                  <a:ext uri="{0D108BD9-81ED-4DB2-BD59-A6C34878D82A}">
                    <a16:rowId xmlns:a16="http://schemas.microsoft.com/office/drawing/2014/main" val="862924431"/>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Dashboard</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Visual summary of alerts, log volume, threat trends, and system health.</a:t>
                      </a:r>
                    </a:p>
                  </a:txBody>
                  <a:tcPr marL="53720" marR="53720" marT="26860" marB="26860" anchor="ctr">
                    <a:lnL>
                      <a:noFill/>
                    </a:lnL>
                    <a:lnR>
                      <a:noFill/>
                    </a:lnR>
                    <a:lnT>
                      <a:noFill/>
                    </a:lnT>
                    <a:lnB>
                      <a:noFill/>
                    </a:lnB>
                  </a:tcPr>
                </a:tc>
                <a:extLst>
                  <a:ext uri="{0D108BD9-81ED-4DB2-BD59-A6C34878D82A}">
                    <a16:rowId xmlns:a16="http://schemas.microsoft.com/office/drawing/2014/main" val="4207686196"/>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Log Viewer / Log Search</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Browse and search raw logs from endpoints, servers, firewalls, etc.</a:t>
                      </a:r>
                    </a:p>
                  </a:txBody>
                  <a:tcPr marL="53720" marR="53720" marT="26860" marB="26860" anchor="ctr">
                    <a:lnL>
                      <a:noFill/>
                    </a:lnL>
                    <a:lnR>
                      <a:noFill/>
                    </a:lnR>
                    <a:lnT>
                      <a:noFill/>
                    </a:lnT>
                    <a:lnB>
                      <a:noFill/>
                    </a:lnB>
                  </a:tcPr>
                </a:tc>
                <a:extLst>
                  <a:ext uri="{0D108BD9-81ED-4DB2-BD59-A6C34878D82A}">
                    <a16:rowId xmlns:a16="http://schemas.microsoft.com/office/drawing/2014/main" val="2372131513"/>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Analytics / Query Builder</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Run custom queries to detect patterns, anomalies, or specific events.</a:t>
                      </a:r>
                    </a:p>
                  </a:txBody>
                  <a:tcPr marL="53720" marR="53720" marT="26860" marB="26860" anchor="ctr">
                    <a:lnL>
                      <a:noFill/>
                    </a:lnL>
                    <a:lnR>
                      <a:noFill/>
                    </a:lnR>
                    <a:lnT>
                      <a:noFill/>
                    </a:lnT>
                    <a:lnB>
                      <a:noFill/>
                    </a:lnB>
                  </a:tcPr>
                </a:tc>
                <a:extLst>
                  <a:ext uri="{0D108BD9-81ED-4DB2-BD59-A6C34878D82A}">
                    <a16:rowId xmlns:a16="http://schemas.microsoft.com/office/drawing/2014/main" val="207544260"/>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Alerts / Notable Events</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View and manage alerts triggered by detection rules or thresholds.</a:t>
                      </a:r>
                    </a:p>
                  </a:txBody>
                  <a:tcPr marL="53720" marR="53720" marT="26860" marB="26860" anchor="ctr">
                    <a:lnL>
                      <a:noFill/>
                    </a:lnL>
                    <a:lnR>
                      <a:noFill/>
                    </a:lnR>
                    <a:lnT>
                      <a:noFill/>
                    </a:lnT>
                    <a:lnB>
                      <a:noFill/>
                    </a:lnB>
                  </a:tcPr>
                </a:tc>
                <a:extLst>
                  <a:ext uri="{0D108BD9-81ED-4DB2-BD59-A6C34878D82A}">
                    <a16:rowId xmlns:a16="http://schemas.microsoft.com/office/drawing/2014/main" val="2962937649"/>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Correlation Rules / Use Cases</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Define logic to link multiple log events into meaningful threat indicators.</a:t>
                      </a:r>
                    </a:p>
                  </a:txBody>
                  <a:tcPr marL="53720" marR="53720" marT="26860" marB="26860" anchor="ctr">
                    <a:lnL>
                      <a:noFill/>
                    </a:lnL>
                    <a:lnR>
                      <a:noFill/>
                    </a:lnR>
                    <a:lnT>
                      <a:noFill/>
                    </a:lnT>
                    <a:lnB>
                      <a:noFill/>
                    </a:lnB>
                  </a:tcPr>
                </a:tc>
                <a:extLst>
                  <a:ext uri="{0D108BD9-81ED-4DB2-BD59-A6C34878D82A}">
                    <a16:rowId xmlns:a16="http://schemas.microsoft.com/office/drawing/2014/main" val="1409508636"/>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Threat Intelligence</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Integrate external threat feeds (IP reputation, malware signatures).</a:t>
                      </a:r>
                    </a:p>
                  </a:txBody>
                  <a:tcPr marL="53720" marR="53720" marT="26860" marB="26860" anchor="ctr">
                    <a:lnL>
                      <a:noFill/>
                    </a:lnL>
                    <a:lnR>
                      <a:noFill/>
                    </a:lnR>
                    <a:lnT>
                      <a:noFill/>
                    </a:lnT>
                    <a:lnB>
                      <a:noFill/>
                    </a:lnB>
                  </a:tcPr>
                </a:tc>
                <a:extLst>
                  <a:ext uri="{0D108BD9-81ED-4DB2-BD59-A6C34878D82A}">
                    <a16:rowId xmlns:a16="http://schemas.microsoft.com/office/drawing/2014/main" val="2336886850"/>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Incident Management / Case Management</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Track and document investigations, assign tasks, and store evidence.</a:t>
                      </a:r>
                    </a:p>
                  </a:txBody>
                  <a:tcPr marL="53720" marR="53720" marT="26860" marB="26860" anchor="ctr">
                    <a:lnL>
                      <a:noFill/>
                    </a:lnL>
                    <a:lnR>
                      <a:noFill/>
                    </a:lnR>
                    <a:lnT>
                      <a:noFill/>
                    </a:lnT>
                    <a:lnB>
                      <a:noFill/>
                    </a:lnB>
                  </a:tcPr>
                </a:tc>
                <a:extLst>
                  <a:ext uri="{0D108BD9-81ED-4DB2-BD59-A6C34878D82A}">
                    <a16:rowId xmlns:a16="http://schemas.microsoft.com/office/drawing/2014/main" val="2123897912"/>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User Behavior Analytics (UBA)</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Detect abnormal user activity based on log patterns.</a:t>
                      </a:r>
                    </a:p>
                  </a:txBody>
                  <a:tcPr marL="53720" marR="53720" marT="26860" marB="26860" anchor="ctr">
                    <a:lnL>
                      <a:noFill/>
                    </a:lnL>
                    <a:lnR>
                      <a:noFill/>
                    </a:lnR>
                    <a:lnT>
                      <a:noFill/>
                    </a:lnT>
                    <a:lnB>
                      <a:noFill/>
                    </a:lnB>
                  </a:tcPr>
                </a:tc>
                <a:extLst>
                  <a:ext uri="{0D108BD9-81ED-4DB2-BD59-A6C34878D82A}">
                    <a16:rowId xmlns:a16="http://schemas.microsoft.com/office/drawing/2014/main" val="3271435184"/>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Asset Inventory</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View logs by device, user, or application to understand context.</a:t>
                      </a:r>
                    </a:p>
                  </a:txBody>
                  <a:tcPr marL="53720" marR="53720" marT="26860" marB="26860" anchor="ctr">
                    <a:lnL>
                      <a:noFill/>
                    </a:lnL>
                    <a:lnR>
                      <a:noFill/>
                    </a:lnR>
                    <a:lnT>
                      <a:noFill/>
                    </a:lnT>
                    <a:lnB>
                      <a:noFill/>
                    </a:lnB>
                  </a:tcPr>
                </a:tc>
                <a:extLst>
                  <a:ext uri="{0D108BD9-81ED-4DB2-BD59-A6C34878D82A}">
                    <a16:rowId xmlns:a16="http://schemas.microsoft.com/office/drawing/2014/main" val="1857368802"/>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Reporting / Compliance</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Generate reports for audits, compliance, and executive summaries.</a:t>
                      </a:r>
                    </a:p>
                  </a:txBody>
                  <a:tcPr marL="53720" marR="53720" marT="26860" marB="26860" anchor="ctr">
                    <a:lnL>
                      <a:noFill/>
                    </a:lnL>
                    <a:lnR>
                      <a:noFill/>
                    </a:lnR>
                    <a:lnT>
                      <a:noFill/>
                    </a:lnT>
                    <a:lnB>
                      <a:noFill/>
                    </a:lnB>
                  </a:tcPr>
                </a:tc>
                <a:extLst>
                  <a:ext uri="{0D108BD9-81ED-4DB2-BD59-A6C34878D82A}">
                    <a16:rowId xmlns:a16="http://schemas.microsoft.com/office/drawing/2014/main" val="1598638140"/>
                  </a:ext>
                </a:extLst>
              </a:tr>
              <a:tr h="376042">
                <a:tc>
                  <a:txBody>
                    <a:bodyPr/>
                    <a:lstStyle/>
                    <a:p>
                      <a:pPr algn="just"/>
                      <a:r>
                        <a:rPr lang="en-US" sz="1800" b="1">
                          <a:solidFill>
                            <a:srgbClr val="0070C0"/>
                          </a:solidFill>
                          <a:latin typeface="Times New Roman" panose="02020603050405020304" pitchFamily="18" charset="0"/>
                          <a:cs typeface="Times New Roman" panose="02020603050405020304" pitchFamily="18" charset="0"/>
                        </a:rPr>
                        <a:t>Settings / Data Sources</a:t>
                      </a:r>
                      <a:endParaRPr lang="en-US" sz="1800">
                        <a:solidFill>
                          <a:srgbClr val="0070C0"/>
                        </a:solidFill>
                        <a:latin typeface="Times New Roman" panose="02020603050405020304" pitchFamily="18" charset="0"/>
                        <a:cs typeface="Times New Roman" panose="02020603050405020304" pitchFamily="18" charset="0"/>
                      </a:endParaRPr>
                    </a:p>
                  </a:txBody>
                  <a:tcPr marL="53720" marR="53720" marT="26860" marB="26860" anchor="ctr">
                    <a:lnL>
                      <a:noFill/>
                    </a:lnL>
                    <a:lnR>
                      <a:noFill/>
                    </a:lnR>
                    <a:lnT>
                      <a:noFill/>
                    </a:lnT>
                    <a:lnB>
                      <a:noFill/>
                    </a:lnB>
                  </a:tcPr>
                </a:tc>
                <a:tc>
                  <a:txBody>
                    <a:bodyPr/>
                    <a:lstStyle/>
                    <a:p>
                      <a:pPr algn="just"/>
                      <a:r>
                        <a:rPr lang="en-US" sz="1600">
                          <a:latin typeface="Times New Roman" panose="02020603050405020304" pitchFamily="18" charset="0"/>
                          <a:cs typeface="Times New Roman" panose="02020603050405020304" pitchFamily="18" charset="0"/>
                        </a:rPr>
                        <a:t>Configure log sources, retention policies, and integrations.</a:t>
                      </a:r>
                    </a:p>
                  </a:txBody>
                  <a:tcPr marL="53720" marR="53720" marT="26860" marB="26860" anchor="ctr">
                    <a:lnL>
                      <a:noFill/>
                    </a:lnL>
                    <a:lnR>
                      <a:noFill/>
                    </a:lnR>
                    <a:lnT>
                      <a:noFill/>
                    </a:lnT>
                    <a:lnB>
                      <a:noFill/>
                    </a:lnB>
                  </a:tcPr>
                </a:tc>
                <a:extLst>
                  <a:ext uri="{0D108BD9-81ED-4DB2-BD59-A6C34878D82A}">
                    <a16:rowId xmlns:a16="http://schemas.microsoft.com/office/drawing/2014/main" val="2149683728"/>
                  </a:ext>
                </a:extLst>
              </a:tr>
            </a:tbl>
          </a:graphicData>
        </a:graphic>
      </p:graphicFrame>
    </p:spTree>
    <p:extLst>
      <p:ext uri="{BB962C8B-B14F-4D97-AF65-F5344CB8AC3E}">
        <p14:creationId xmlns:p14="http://schemas.microsoft.com/office/powerpoint/2010/main" val="3986731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1FAF-89DC-46EF-BAFF-D42BF0D14BDB}"/>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Example Scenario 1</a:t>
            </a:r>
            <a:endParaRPr lang="en-US" sz="320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A4895D-4016-4710-98E6-5392CCF1B65A}"/>
              </a:ext>
            </a:extLst>
          </p:cNvPr>
          <p:cNvSpPr>
            <a:spLocks noGrp="1"/>
          </p:cNvSpPr>
          <p:nvPr>
            <p:ph idx="1"/>
          </p:nvPr>
        </p:nvSpPr>
        <p:spPr>
          <a:xfrm>
            <a:off x="838199" y="1426791"/>
            <a:ext cx="10912813" cy="4448715"/>
          </a:xfrm>
        </p:spPr>
        <p:txBody>
          <a:bodyPr>
            <a:normAutofit fontScale="85000" lnSpcReduction="10000"/>
          </a:bodyPr>
          <a:lstStyle/>
          <a:p>
            <a:pPr algn="just"/>
            <a:r>
              <a:rPr lang="en-US" sz="3100" b="1">
                <a:latin typeface="Times New Roman" panose="02020603050405020304" pitchFamily="18" charset="0"/>
                <a:cs typeface="Times New Roman" panose="02020603050405020304" pitchFamily="18" charset="0"/>
              </a:rPr>
              <a:t>Company:</a:t>
            </a:r>
            <a:r>
              <a:rPr lang="en-US" sz="3100">
                <a:latin typeface="Times New Roman" panose="02020603050405020304" pitchFamily="18" charset="0"/>
                <a:cs typeface="Times New Roman" panose="02020603050405020304" pitchFamily="18" charset="0"/>
              </a:rPr>
              <a:t> SecureBank </a:t>
            </a:r>
          </a:p>
          <a:p>
            <a:pPr algn="just"/>
            <a:r>
              <a:rPr lang="en-US" sz="3100" b="1">
                <a:latin typeface="Times New Roman" panose="02020603050405020304" pitchFamily="18" charset="0"/>
                <a:cs typeface="Times New Roman" panose="02020603050405020304" pitchFamily="18" charset="0"/>
              </a:rPr>
              <a:t>SOC Tool:</a:t>
            </a:r>
            <a:r>
              <a:rPr lang="en-US" sz="3100">
                <a:latin typeface="Times New Roman" panose="02020603050405020304" pitchFamily="18" charset="0"/>
                <a:cs typeface="Times New Roman" panose="02020603050405020304" pitchFamily="18" charset="0"/>
              </a:rPr>
              <a:t> Splunk (SIEM platform)</a:t>
            </a:r>
          </a:p>
          <a:p>
            <a:pPr algn="just"/>
            <a:r>
              <a:rPr lang="en-US" sz="3100" b="1">
                <a:latin typeface="Times New Roman" panose="02020603050405020304" pitchFamily="18" charset="0"/>
                <a:cs typeface="Times New Roman" panose="02020603050405020304" pitchFamily="18" charset="0"/>
              </a:rPr>
              <a:t>Incident:</a:t>
            </a:r>
            <a:r>
              <a:rPr lang="en-US" sz="3100">
                <a:latin typeface="Times New Roman" panose="02020603050405020304" pitchFamily="18" charset="0"/>
                <a:cs typeface="Times New Roman" panose="02020603050405020304" pitchFamily="18" charset="0"/>
              </a:rPr>
              <a:t> Suspicious login activity</a:t>
            </a:r>
          </a:p>
          <a:p>
            <a:pPr algn="just"/>
            <a:r>
              <a:rPr lang="en-US" sz="3100">
                <a:latin typeface="Times New Roman" panose="02020603050405020304" pitchFamily="18" charset="0"/>
                <a:cs typeface="Times New Roman" panose="02020603050405020304" pitchFamily="18" charset="0"/>
              </a:rPr>
              <a:t>SecureBank’s SOC team collects logs from all systems  servers, firewalls, and employee laptops. One day, the SIEM shows:</a:t>
            </a:r>
          </a:p>
          <a:p>
            <a:pPr algn="just"/>
            <a:r>
              <a:rPr lang="en-US" sz="3100" b="1">
                <a:latin typeface="Times New Roman" panose="02020603050405020304" pitchFamily="18" charset="0"/>
                <a:cs typeface="Times New Roman" panose="02020603050405020304" pitchFamily="18" charset="0"/>
              </a:rPr>
              <a:t>Windows Event Logs</a:t>
            </a:r>
            <a:r>
              <a:rPr lang="en-US" sz="3100">
                <a:latin typeface="Times New Roman" panose="02020603050405020304" pitchFamily="18" charset="0"/>
                <a:cs typeface="Times New Roman" panose="02020603050405020304" pitchFamily="18" charset="0"/>
              </a:rPr>
              <a:t>: 30 failed login attempts (Event ID 4625) from a single external IP within 10 minutes.</a:t>
            </a:r>
          </a:p>
          <a:p>
            <a:pPr algn="just"/>
            <a:r>
              <a:rPr lang="en-US" sz="3100" b="1">
                <a:latin typeface="Times New Roman" panose="02020603050405020304" pitchFamily="18" charset="0"/>
                <a:cs typeface="Times New Roman" panose="02020603050405020304" pitchFamily="18" charset="0"/>
              </a:rPr>
              <a:t>Firewall Logs</a:t>
            </a:r>
            <a:r>
              <a:rPr lang="en-US" sz="3100">
                <a:latin typeface="Times New Roman" panose="02020603050405020304" pitchFamily="18" charset="0"/>
                <a:cs typeface="Times New Roman" panose="02020603050405020304" pitchFamily="18" charset="0"/>
              </a:rPr>
              <a:t>: The same IP is trying to access multiple restricted ports.</a:t>
            </a:r>
          </a:p>
          <a:p>
            <a:pPr algn="just"/>
            <a:r>
              <a:rPr lang="en-US" sz="3100">
                <a:latin typeface="Times New Roman" panose="02020603050405020304" pitchFamily="18" charset="0"/>
                <a:cs typeface="Times New Roman" panose="02020603050405020304" pitchFamily="18" charset="0"/>
              </a:rPr>
              <a:t>The SOC analysts correlate these logs and realize it’s a </a:t>
            </a:r>
            <a:r>
              <a:rPr lang="en-US" sz="3100" b="1">
                <a:latin typeface="Times New Roman" panose="02020603050405020304" pitchFamily="18" charset="0"/>
                <a:cs typeface="Times New Roman" panose="02020603050405020304" pitchFamily="18" charset="0"/>
              </a:rPr>
              <a:t>brute-force attack attempt</a:t>
            </a:r>
            <a:r>
              <a:rPr lang="en-US" sz="3100">
                <a:latin typeface="Times New Roman" panose="02020603050405020304" pitchFamily="18" charset="0"/>
                <a:cs typeface="Times New Roman" panose="02020603050405020304" pitchFamily="18" charset="0"/>
              </a:rPr>
              <a:t>. They block the IP, check if any accounts were compromised, and document the incident.</a:t>
            </a:r>
          </a:p>
          <a:p>
            <a:endParaRPr lang="en-US"/>
          </a:p>
        </p:txBody>
      </p:sp>
    </p:spTree>
    <p:extLst>
      <p:ext uri="{BB962C8B-B14F-4D97-AF65-F5344CB8AC3E}">
        <p14:creationId xmlns:p14="http://schemas.microsoft.com/office/powerpoint/2010/main" val="3034070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972BF-2047-482D-8560-4CCBA8E6A38D}"/>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Q&amp;A </a:t>
            </a:r>
          </a:p>
        </p:txBody>
      </p:sp>
      <p:sp>
        <p:nvSpPr>
          <p:cNvPr id="3" name="Content Placeholder 2">
            <a:extLst>
              <a:ext uri="{FF2B5EF4-FFF2-40B4-BE49-F238E27FC236}">
                <a16:creationId xmlns:a16="http://schemas.microsoft.com/office/drawing/2014/main" id="{DF6DB129-FC34-4047-B609-BD4ACCE564AE}"/>
              </a:ext>
            </a:extLst>
          </p:cNvPr>
          <p:cNvSpPr>
            <a:spLocks noGrp="1"/>
          </p:cNvSpPr>
          <p:nvPr>
            <p:ph idx="1"/>
          </p:nvPr>
        </p:nvSpPr>
        <p:spPr>
          <a:xfrm>
            <a:off x="672829" y="1544774"/>
            <a:ext cx="11019817" cy="4351338"/>
          </a:xfrm>
        </p:spPr>
        <p:txBody>
          <a:bodyPr>
            <a:normAutofit fontScale="92500" lnSpcReduction="20000"/>
          </a:bodyPr>
          <a:lstStyle/>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Q1: What is log management in SOC?</a:t>
            </a:r>
            <a:r>
              <a:rPr lang="en-US" sz="2600">
                <a:solidFill>
                  <a:schemeClr val="accent3"/>
                </a:solidFill>
                <a:latin typeface="Times New Roman" panose="02020603050405020304" pitchFamily="18" charset="0"/>
                <a:cs typeface="Times New Roman" panose="02020603050405020304" pitchFamily="18" charset="0"/>
              </a:rPr>
              <a:t> </a:t>
            </a:r>
          </a:p>
          <a:p>
            <a:pPr marL="0" indent="0" algn="just">
              <a:buNone/>
            </a:pPr>
            <a:r>
              <a:rPr lang="en-US" sz="2600">
                <a:latin typeface="Times New Roman" panose="02020603050405020304" pitchFamily="18" charset="0"/>
                <a:cs typeface="Times New Roman" panose="02020603050405020304" pitchFamily="18" charset="0"/>
              </a:rPr>
              <a:t>A1: It’s the process of </a:t>
            </a:r>
            <a:r>
              <a:rPr lang="en-US" sz="2600" b="1">
                <a:latin typeface="Times New Roman" panose="02020603050405020304" pitchFamily="18" charset="0"/>
                <a:cs typeface="Times New Roman" panose="02020603050405020304" pitchFamily="18" charset="0"/>
              </a:rPr>
              <a:t>collecting and storing logs</a:t>
            </a:r>
            <a:r>
              <a:rPr lang="en-US" sz="2600">
                <a:latin typeface="Times New Roman" panose="02020603050405020304" pitchFamily="18" charset="0"/>
                <a:cs typeface="Times New Roman" panose="02020603050405020304" pitchFamily="18" charset="0"/>
              </a:rPr>
              <a:t> from different systems (servers, firewalls, applications) in one central place for monitoring and compliance.</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Q2: What is log analytics in SOC?</a:t>
            </a:r>
          </a:p>
          <a:p>
            <a:pPr marL="0" indent="0" algn="just">
              <a:buNone/>
            </a:pPr>
            <a:r>
              <a:rPr lang="en-US" sz="2600">
                <a:latin typeface="Times New Roman" panose="02020603050405020304" pitchFamily="18" charset="0"/>
                <a:cs typeface="Times New Roman" panose="02020603050405020304" pitchFamily="18" charset="0"/>
              </a:rPr>
              <a:t>A2: It’s the process of </a:t>
            </a:r>
            <a:r>
              <a:rPr lang="en-US" sz="2600" b="1">
                <a:latin typeface="Times New Roman" panose="02020603050405020304" pitchFamily="18" charset="0"/>
                <a:cs typeface="Times New Roman" panose="02020603050405020304" pitchFamily="18" charset="0"/>
              </a:rPr>
              <a:t>analyzing logs to detect suspicious patterns, anomalies, and correlations</a:t>
            </a:r>
            <a:r>
              <a:rPr lang="en-US" sz="2600">
                <a:latin typeface="Times New Roman" panose="02020603050405020304" pitchFamily="18" charset="0"/>
                <a:cs typeface="Times New Roman" panose="02020603050405020304" pitchFamily="18" charset="0"/>
              </a:rPr>
              <a:t> that may indicate security threats.</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Q3: What happened in the SecureBank example?</a:t>
            </a:r>
          </a:p>
          <a:p>
            <a:pPr marL="0" indent="0" algn="just">
              <a:buNone/>
            </a:pPr>
            <a:r>
              <a:rPr lang="en-US" sz="2600">
                <a:latin typeface="Times New Roman" panose="02020603050405020304" pitchFamily="18" charset="0"/>
                <a:cs typeface="Times New Roman" panose="02020603050405020304" pitchFamily="18" charset="0"/>
              </a:rPr>
              <a:t>A3: Logs showed </a:t>
            </a:r>
            <a:r>
              <a:rPr lang="en-US" sz="2600" b="1">
                <a:latin typeface="Times New Roman" panose="02020603050405020304" pitchFamily="18" charset="0"/>
                <a:cs typeface="Times New Roman" panose="02020603050405020304" pitchFamily="18" charset="0"/>
              </a:rPr>
              <a:t>multiple failed logins</a:t>
            </a:r>
            <a:r>
              <a:rPr lang="en-US" sz="2600">
                <a:latin typeface="Times New Roman" panose="02020603050405020304" pitchFamily="18" charset="0"/>
                <a:cs typeface="Times New Roman" panose="02020603050405020304" pitchFamily="18" charset="0"/>
              </a:rPr>
              <a:t> and </a:t>
            </a:r>
            <a:r>
              <a:rPr lang="en-US" sz="2600" b="1">
                <a:latin typeface="Times New Roman" panose="02020603050405020304" pitchFamily="18" charset="0"/>
                <a:cs typeface="Times New Roman" panose="02020603050405020304" pitchFamily="18" charset="0"/>
              </a:rPr>
              <a:t>port scanning</a:t>
            </a:r>
            <a:r>
              <a:rPr lang="en-US" sz="2600">
                <a:latin typeface="Times New Roman" panose="02020603050405020304" pitchFamily="18" charset="0"/>
                <a:cs typeface="Times New Roman" panose="02020603050405020304" pitchFamily="18" charset="0"/>
              </a:rPr>
              <a:t> from the same IP. Analytics correlated these events to detect a </a:t>
            </a:r>
            <a:r>
              <a:rPr lang="en-US" sz="2600" b="1">
                <a:latin typeface="Times New Roman" panose="02020603050405020304" pitchFamily="18" charset="0"/>
                <a:cs typeface="Times New Roman" panose="02020603050405020304" pitchFamily="18" charset="0"/>
              </a:rPr>
              <a:t>brute-force attack attempt</a:t>
            </a:r>
            <a:r>
              <a:rPr lang="en-US" sz="2600">
                <a:latin typeface="Times New Roman" panose="02020603050405020304" pitchFamily="18" charset="0"/>
                <a:cs typeface="Times New Roman" panose="02020603050405020304" pitchFamily="18" charset="0"/>
              </a:rPr>
              <a:t>.</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Q4: How did the SOC respond? </a:t>
            </a:r>
          </a:p>
          <a:p>
            <a:pPr marL="0" indent="0" algn="just">
              <a:buNone/>
            </a:pPr>
            <a:r>
              <a:rPr lang="en-US" sz="2600">
                <a:latin typeface="Times New Roman" panose="02020603050405020304" pitchFamily="18" charset="0"/>
                <a:cs typeface="Times New Roman" panose="02020603050405020304" pitchFamily="18" charset="0"/>
              </a:rPr>
              <a:t>A4: The SOC </a:t>
            </a:r>
            <a:r>
              <a:rPr lang="en-US" sz="2600" b="1">
                <a:latin typeface="Times New Roman" panose="02020603050405020304" pitchFamily="18" charset="0"/>
                <a:cs typeface="Times New Roman" panose="02020603050405020304" pitchFamily="18" charset="0"/>
              </a:rPr>
              <a:t>blocked the attacker’s IP</a:t>
            </a:r>
            <a:r>
              <a:rPr lang="en-US" sz="2600">
                <a:latin typeface="Times New Roman" panose="02020603050405020304" pitchFamily="18" charset="0"/>
                <a:cs typeface="Times New Roman" panose="02020603050405020304" pitchFamily="18" charset="0"/>
              </a:rPr>
              <a:t>, investigated for compromised accounts, and created a report for compliance and prevention.</a:t>
            </a:r>
          </a:p>
          <a:p>
            <a:endParaRPr lang="en-US"/>
          </a:p>
        </p:txBody>
      </p:sp>
    </p:spTree>
    <p:extLst>
      <p:ext uri="{BB962C8B-B14F-4D97-AF65-F5344CB8AC3E}">
        <p14:creationId xmlns:p14="http://schemas.microsoft.com/office/powerpoint/2010/main" val="1455223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A0427-66C3-42C5-81B2-9238C92DDC7C}"/>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Example Scenario 2</a:t>
            </a:r>
            <a:endParaRPr lang="en-US" sz="3200"/>
          </a:p>
        </p:txBody>
      </p:sp>
      <p:sp>
        <p:nvSpPr>
          <p:cNvPr id="3" name="Content Placeholder 2">
            <a:extLst>
              <a:ext uri="{FF2B5EF4-FFF2-40B4-BE49-F238E27FC236}">
                <a16:creationId xmlns:a16="http://schemas.microsoft.com/office/drawing/2014/main" id="{03299F3F-541A-43C7-B571-4D2B1291A6E0}"/>
              </a:ext>
            </a:extLst>
          </p:cNvPr>
          <p:cNvSpPr>
            <a:spLocks noGrp="1"/>
          </p:cNvSpPr>
          <p:nvPr>
            <p:ph idx="1"/>
          </p:nvPr>
        </p:nvSpPr>
        <p:spPr>
          <a:xfrm>
            <a:off x="838200" y="1533795"/>
            <a:ext cx="10515600" cy="4351338"/>
          </a:xfrm>
        </p:spPr>
        <p:txBody>
          <a:bodyPr>
            <a:noAutofit/>
          </a:bodyPr>
          <a:lstStyle/>
          <a:p>
            <a:pPr algn="just"/>
            <a:r>
              <a:rPr lang="en-US" sz="2000" b="1">
                <a:latin typeface="Times New Roman" panose="02020603050405020304" pitchFamily="18" charset="0"/>
                <a:cs typeface="Times New Roman" panose="02020603050405020304" pitchFamily="18" charset="0"/>
              </a:rPr>
              <a:t>Company:</a:t>
            </a:r>
            <a:r>
              <a:rPr lang="en-US" sz="2000">
                <a:latin typeface="Times New Roman" panose="02020603050405020304" pitchFamily="18" charset="0"/>
                <a:cs typeface="Times New Roman" panose="02020603050405020304" pitchFamily="18" charset="0"/>
              </a:rPr>
              <a:t> MedTech Solutions</a:t>
            </a:r>
          </a:p>
          <a:p>
            <a:pPr algn="just"/>
            <a:r>
              <a:rPr lang="en-US" sz="2000" b="1">
                <a:latin typeface="Times New Roman" panose="02020603050405020304" pitchFamily="18" charset="0"/>
                <a:cs typeface="Times New Roman" panose="02020603050405020304" pitchFamily="18" charset="0"/>
              </a:rPr>
              <a:t>SOC Tool:</a:t>
            </a:r>
            <a:r>
              <a:rPr lang="en-US" sz="2000">
                <a:latin typeface="Times New Roman" panose="02020603050405020304" pitchFamily="18" charset="0"/>
                <a:cs typeface="Times New Roman" panose="02020603050405020304" pitchFamily="18" charset="0"/>
              </a:rPr>
              <a:t> QRadar (SIEM platform) </a:t>
            </a:r>
          </a:p>
          <a:p>
            <a:pPr algn="just"/>
            <a:r>
              <a:rPr lang="en-US" sz="2000" b="1">
                <a:latin typeface="Times New Roman" panose="02020603050405020304" pitchFamily="18" charset="0"/>
                <a:cs typeface="Times New Roman" panose="02020603050405020304" pitchFamily="18" charset="0"/>
              </a:rPr>
              <a:t>Incident:</a:t>
            </a:r>
            <a:r>
              <a:rPr lang="en-US" sz="2000">
                <a:latin typeface="Times New Roman" panose="02020603050405020304" pitchFamily="18" charset="0"/>
                <a:cs typeface="Times New Roman" panose="02020603050405020304" pitchFamily="18" charset="0"/>
              </a:rPr>
              <a:t> Malware infection detected on an employee workstation</a:t>
            </a:r>
          </a:p>
          <a:p>
            <a:pPr algn="just"/>
            <a:r>
              <a:rPr lang="en-US" sz="2000">
                <a:latin typeface="Times New Roman" panose="02020603050405020304" pitchFamily="18" charset="0"/>
                <a:cs typeface="Times New Roman" panose="02020603050405020304" pitchFamily="18" charset="0"/>
              </a:rPr>
              <a:t>MedTech’s SOC collects logs from endpoint security software, Windows Event Logs, and network traffic monitors</a:t>
            </a:r>
          </a:p>
          <a:p>
            <a:pPr marL="0" indent="0" algn="just">
              <a:buNone/>
            </a:pPr>
            <a:r>
              <a:rPr lang="en-US" sz="2000" b="1">
                <a:solidFill>
                  <a:srgbClr val="0070C0"/>
                </a:solidFill>
                <a:latin typeface="Times New Roman" panose="02020603050405020304" pitchFamily="18" charset="0"/>
                <a:cs typeface="Times New Roman" panose="02020603050405020304" pitchFamily="18" charset="0"/>
              </a:rPr>
              <a:t>One day, the SIEM shows</a:t>
            </a:r>
            <a:r>
              <a:rPr lang="en-US" sz="2000">
                <a:latin typeface="Times New Roman" panose="02020603050405020304" pitchFamily="18" charset="0"/>
                <a:cs typeface="Times New Roman" panose="02020603050405020304" pitchFamily="18" charset="0"/>
              </a:rPr>
              <a:t>:</a:t>
            </a:r>
          </a:p>
          <a:p>
            <a:pPr algn="just"/>
            <a:r>
              <a:rPr lang="en-US" sz="2000" b="1">
                <a:solidFill>
                  <a:schemeClr val="accent3"/>
                </a:solidFill>
                <a:latin typeface="Times New Roman" panose="02020603050405020304" pitchFamily="18" charset="0"/>
                <a:cs typeface="Times New Roman" panose="02020603050405020304" pitchFamily="18" charset="0"/>
              </a:rPr>
              <a:t>Endpoint logs: </a:t>
            </a:r>
            <a:r>
              <a:rPr lang="en-US" sz="2000">
                <a:latin typeface="Times New Roman" panose="02020603050405020304" pitchFamily="18" charset="0"/>
                <a:cs typeface="Times New Roman" panose="02020603050405020304" pitchFamily="18" charset="0"/>
              </a:rPr>
              <a:t>A suspicious executable (invoice_update.exe) was launched by a user.</a:t>
            </a:r>
          </a:p>
          <a:p>
            <a:pPr algn="just"/>
            <a:r>
              <a:rPr lang="en-US" sz="2000" b="1">
                <a:solidFill>
                  <a:schemeClr val="accent3"/>
                </a:solidFill>
                <a:latin typeface="Times New Roman" panose="02020603050405020304" pitchFamily="18" charset="0"/>
                <a:cs typeface="Times New Roman" panose="02020603050405020304" pitchFamily="18" charset="0"/>
              </a:rPr>
              <a:t>Windows Event Logs: </a:t>
            </a:r>
            <a:r>
              <a:rPr lang="en-US" sz="2000">
                <a:latin typeface="Times New Roman" panose="02020603050405020304" pitchFamily="18" charset="0"/>
                <a:cs typeface="Times New Roman" panose="02020603050405020304" pitchFamily="18" charset="0"/>
              </a:rPr>
              <a:t>The process created multiple registry changes and attempted to disable antivirus services.</a:t>
            </a:r>
          </a:p>
          <a:p>
            <a:pPr algn="just"/>
            <a:r>
              <a:rPr lang="en-US" sz="2000" b="1">
                <a:solidFill>
                  <a:schemeClr val="accent3"/>
                </a:solidFill>
                <a:latin typeface="Times New Roman" panose="02020603050405020304" pitchFamily="18" charset="0"/>
                <a:cs typeface="Times New Roman" panose="02020603050405020304" pitchFamily="18" charset="0"/>
              </a:rPr>
              <a:t>Network logs: </a:t>
            </a:r>
            <a:r>
              <a:rPr lang="en-US" sz="2000">
                <a:latin typeface="Times New Roman" panose="02020603050405020304" pitchFamily="18" charset="0"/>
                <a:cs typeface="Times New Roman" panose="02020603050405020304" pitchFamily="18" charset="0"/>
              </a:rPr>
              <a:t>The infected machine started sending large amounts of outbound traffic to an unknown IP address.</a:t>
            </a:r>
          </a:p>
          <a:p>
            <a:pPr algn="just"/>
            <a:r>
              <a:rPr lang="en-US" sz="2000">
                <a:latin typeface="Times New Roman" panose="02020603050405020304" pitchFamily="18" charset="0"/>
                <a:cs typeface="Times New Roman" panose="02020603050405020304" pitchFamily="18" charset="0"/>
              </a:rPr>
              <a:t>The SOC analysts correlate these logs and realize it’s a malware infection attempting data exfiltration. They isolate the workstation, block the malicious IP, and begin forensic analysis.</a:t>
            </a:r>
          </a:p>
        </p:txBody>
      </p:sp>
    </p:spTree>
    <p:extLst>
      <p:ext uri="{BB962C8B-B14F-4D97-AF65-F5344CB8AC3E}">
        <p14:creationId xmlns:p14="http://schemas.microsoft.com/office/powerpoint/2010/main" val="786629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D7A57-7F43-49FD-87C9-87F43E65198C}"/>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Q&amp;A </a:t>
            </a:r>
          </a:p>
        </p:txBody>
      </p:sp>
      <p:sp>
        <p:nvSpPr>
          <p:cNvPr id="3" name="Content Placeholder 2">
            <a:extLst>
              <a:ext uri="{FF2B5EF4-FFF2-40B4-BE49-F238E27FC236}">
                <a16:creationId xmlns:a16="http://schemas.microsoft.com/office/drawing/2014/main" id="{6BAB194E-5C7D-45D6-B0EA-FD0A7E8A0E33}"/>
              </a:ext>
            </a:extLst>
          </p:cNvPr>
          <p:cNvSpPr>
            <a:spLocks noGrp="1"/>
          </p:cNvSpPr>
          <p:nvPr>
            <p:ph idx="1"/>
          </p:nvPr>
        </p:nvSpPr>
        <p:spPr>
          <a:xfrm>
            <a:off x="731195" y="1358698"/>
            <a:ext cx="10515600" cy="4351338"/>
          </a:xfrm>
        </p:spPr>
        <p:txBody>
          <a:bodyPr>
            <a:normAutofit fontScale="85000" lnSpcReduction="20000"/>
          </a:bodyPr>
          <a:lstStyle/>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Q1: What is log management in SOC?</a:t>
            </a:r>
            <a:r>
              <a:rPr lang="en-US" sz="2600">
                <a:solidFill>
                  <a:schemeClr val="accent3"/>
                </a:solidFill>
                <a:latin typeface="Times New Roman" panose="02020603050405020304" pitchFamily="18" charset="0"/>
                <a:cs typeface="Times New Roman" panose="02020603050405020304" pitchFamily="18" charset="0"/>
              </a:rPr>
              <a:t> </a:t>
            </a:r>
          </a:p>
          <a:p>
            <a:pPr marL="0" indent="0" algn="just">
              <a:buNone/>
            </a:pPr>
            <a:r>
              <a:rPr lang="en-US" sz="2600">
                <a:latin typeface="Times New Roman" panose="02020603050405020304" pitchFamily="18" charset="0"/>
                <a:cs typeface="Times New Roman" panose="02020603050405020304" pitchFamily="18" charset="0"/>
              </a:rPr>
              <a:t>A1: It’s the process of </a:t>
            </a:r>
            <a:r>
              <a:rPr lang="en-US" sz="2600" b="1">
                <a:latin typeface="Times New Roman" panose="02020603050405020304" pitchFamily="18" charset="0"/>
                <a:cs typeface="Times New Roman" panose="02020603050405020304" pitchFamily="18" charset="0"/>
              </a:rPr>
              <a:t>collecting and storing logs</a:t>
            </a:r>
            <a:r>
              <a:rPr lang="en-US" sz="2600">
                <a:latin typeface="Times New Roman" panose="02020603050405020304" pitchFamily="18" charset="0"/>
                <a:cs typeface="Times New Roman" panose="02020603050405020304" pitchFamily="18" charset="0"/>
              </a:rPr>
              <a:t> from systems like endpoints, servers, and networks in one central platform.</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Q2: What is log analytics in SOC?</a:t>
            </a:r>
          </a:p>
          <a:p>
            <a:pPr marL="0" indent="0" algn="just">
              <a:buNone/>
            </a:pPr>
            <a:r>
              <a:rPr lang="en-US" sz="2600">
                <a:solidFill>
                  <a:schemeClr val="accent3"/>
                </a:solidFill>
                <a:latin typeface="Times New Roman" panose="02020603050405020304" pitchFamily="18" charset="0"/>
                <a:cs typeface="Times New Roman" panose="02020603050405020304" pitchFamily="18" charset="0"/>
              </a:rPr>
              <a:t> </a:t>
            </a:r>
            <a:r>
              <a:rPr lang="en-US" sz="2600">
                <a:latin typeface="Times New Roman" panose="02020603050405020304" pitchFamily="18" charset="0"/>
                <a:cs typeface="Times New Roman" panose="02020603050405020304" pitchFamily="18" charset="0"/>
              </a:rPr>
              <a:t>A2: It’s the process of </a:t>
            </a:r>
            <a:r>
              <a:rPr lang="en-US" sz="2600" b="1">
                <a:latin typeface="Times New Roman" panose="02020603050405020304" pitchFamily="18" charset="0"/>
                <a:cs typeface="Times New Roman" panose="02020603050405020304" pitchFamily="18" charset="0"/>
              </a:rPr>
              <a:t>analyzing logs to detect suspicious behaviors, anomalies, and correlations</a:t>
            </a:r>
            <a:r>
              <a:rPr lang="en-US" sz="2600">
                <a:latin typeface="Times New Roman" panose="02020603050405020304" pitchFamily="18" charset="0"/>
                <a:cs typeface="Times New Roman" panose="02020603050405020304" pitchFamily="18" charset="0"/>
              </a:rPr>
              <a:t> that may indicate threats.</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Q3: What happened in the MedTech malware case? </a:t>
            </a:r>
          </a:p>
          <a:p>
            <a:pPr marL="0" indent="0" algn="just">
              <a:buNone/>
            </a:pPr>
            <a:r>
              <a:rPr lang="en-US" sz="2600">
                <a:latin typeface="Times New Roman" panose="02020603050405020304" pitchFamily="18" charset="0"/>
                <a:cs typeface="Times New Roman" panose="02020603050405020304" pitchFamily="18" charset="0"/>
              </a:rPr>
              <a:t>A3: Logs showed a suspicious file execution, registry changes, and unusual outbound traffic. Analytics correlated these events to identify a </a:t>
            </a:r>
            <a:r>
              <a:rPr lang="en-US" sz="2600" b="1">
                <a:latin typeface="Times New Roman" panose="02020603050405020304" pitchFamily="18" charset="0"/>
                <a:cs typeface="Times New Roman" panose="02020603050405020304" pitchFamily="18" charset="0"/>
              </a:rPr>
              <a:t>malware infection with data exfiltration attempts</a:t>
            </a:r>
            <a:r>
              <a:rPr lang="en-US" sz="2600">
                <a:latin typeface="Times New Roman" panose="02020603050405020304" pitchFamily="18" charset="0"/>
                <a:cs typeface="Times New Roman" panose="02020603050405020304" pitchFamily="18" charset="0"/>
              </a:rPr>
              <a:t>.</a:t>
            </a:r>
          </a:p>
          <a:p>
            <a:pPr marL="0" indent="0" algn="just">
              <a:buNone/>
            </a:pPr>
            <a:r>
              <a:rPr lang="en-US" sz="2600" b="1">
                <a:solidFill>
                  <a:schemeClr val="accent3"/>
                </a:solidFill>
                <a:latin typeface="Times New Roman" panose="02020603050405020304" pitchFamily="18" charset="0"/>
                <a:cs typeface="Times New Roman" panose="02020603050405020304" pitchFamily="18" charset="0"/>
              </a:rPr>
              <a:t>Q4: How did the SOC respond? </a:t>
            </a:r>
          </a:p>
          <a:p>
            <a:pPr marL="0" indent="0" algn="just">
              <a:buNone/>
            </a:pPr>
            <a:r>
              <a:rPr lang="en-US" sz="2600">
                <a:latin typeface="Times New Roman" panose="02020603050405020304" pitchFamily="18" charset="0"/>
                <a:cs typeface="Times New Roman" panose="02020603050405020304" pitchFamily="18" charset="0"/>
              </a:rPr>
              <a:t>A4: The SOC </a:t>
            </a:r>
            <a:r>
              <a:rPr lang="en-US" sz="2600" b="1">
                <a:latin typeface="Times New Roman" panose="02020603050405020304" pitchFamily="18" charset="0"/>
                <a:cs typeface="Times New Roman" panose="02020603050405020304" pitchFamily="18" charset="0"/>
              </a:rPr>
              <a:t>isolated the infected workstation</a:t>
            </a:r>
            <a:r>
              <a:rPr lang="en-US" sz="2600">
                <a:latin typeface="Times New Roman" panose="02020603050405020304" pitchFamily="18" charset="0"/>
                <a:cs typeface="Times New Roman" panose="02020603050405020304" pitchFamily="18" charset="0"/>
              </a:rPr>
              <a:t>, blocked the malicious IP, investigated the malware, and documented the incident for compliance and prevention.</a:t>
            </a:r>
          </a:p>
          <a:p>
            <a:endParaRPr lang="en-US"/>
          </a:p>
        </p:txBody>
      </p:sp>
    </p:spTree>
    <p:extLst>
      <p:ext uri="{BB962C8B-B14F-4D97-AF65-F5344CB8AC3E}">
        <p14:creationId xmlns:p14="http://schemas.microsoft.com/office/powerpoint/2010/main" val="883898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5EDE1-C8D3-48B2-AFCC-5A7EBAB77702}"/>
              </a:ext>
            </a:extLst>
          </p:cNvPr>
          <p:cNvSpPr>
            <a:spLocks noGrp="1"/>
          </p:cNvSpPr>
          <p:nvPr>
            <p:ph type="title"/>
          </p:nvPr>
        </p:nvSpPr>
        <p:spPr>
          <a:xfrm>
            <a:off x="1011677" y="3030505"/>
            <a:ext cx="10964694" cy="1325563"/>
          </a:xfrm>
        </p:spPr>
        <p:txBody>
          <a:bodyPr>
            <a:normAutofit/>
          </a:bodyPr>
          <a:lstStyle/>
          <a:p>
            <a:pPr algn="ctr"/>
            <a:r>
              <a:rPr lang="en-GB" b="1">
                <a:solidFill>
                  <a:schemeClr val="accent3"/>
                </a:solidFill>
                <a:latin typeface="Times New Roman" panose="02020603050405020304" pitchFamily="18" charset="0"/>
                <a:cs typeface="Times New Roman" panose="02020603050405020304" pitchFamily="18" charset="0"/>
              </a:rPr>
              <a:t>Security dashboards and visualization </a:t>
            </a:r>
            <a:endParaRPr lang="en-US" b="1">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3437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B8BA-686D-4B98-A425-4453DA70EB09}"/>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Dashboards and Visualization in the SOC</a:t>
            </a:r>
          </a:p>
        </p:txBody>
      </p:sp>
      <p:sp>
        <p:nvSpPr>
          <p:cNvPr id="6" name="Content Placeholder 5">
            <a:extLst>
              <a:ext uri="{FF2B5EF4-FFF2-40B4-BE49-F238E27FC236}">
                <a16:creationId xmlns:a16="http://schemas.microsoft.com/office/drawing/2014/main" id="{E4FBB13D-A747-41EB-A1AB-50FA2160BC07}"/>
              </a:ext>
            </a:extLst>
          </p:cNvPr>
          <p:cNvSpPr>
            <a:spLocks noGrp="1"/>
          </p:cNvSpPr>
          <p:nvPr>
            <p:ph idx="1"/>
          </p:nvPr>
        </p:nvSpPr>
        <p:spPr>
          <a:xfrm>
            <a:off x="614464" y="1407336"/>
            <a:ext cx="11107366" cy="4351338"/>
          </a:xfrm>
        </p:spPr>
        <p:txBody>
          <a:bodyPr>
            <a:normAutofit/>
          </a:bodyPr>
          <a:lstStyle/>
          <a:p>
            <a:pPr algn="just"/>
            <a:r>
              <a:rPr lang="en-US" sz="2400">
                <a:latin typeface="Times New Roman" panose="02020603050405020304" pitchFamily="18" charset="0"/>
                <a:cs typeface="Times New Roman" panose="02020603050405020304" pitchFamily="18" charset="0"/>
              </a:rPr>
              <a:t>Security dashboards and visualizations are </a:t>
            </a:r>
            <a:r>
              <a:rPr lang="en-US" sz="2400" b="1">
                <a:latin typeface="Times New Roman" panose="02020603050405020304" pitchFamily="18" charset="0"/>
                <a:cs typeface="Times New Roman" panose="02020603050405020304" pitchFamily="18" charset="0"/>
              </a:rPr>
              <a:t>indispensable components</a:t>
            </a:r>
            <a:r>
              <a:rPr lang="en-US" sz="2400">
                <a:latin typeface="Times New Roman" panose="02020603050405020304" pitchFamily="18" charset="0"/>
                <a:cs typeface="Times New Roman" panose="02020603050405020304" pitchFamily="18" charset="0"/>
              </a:rPr>
              <a:t> of a modern Security Operations Center (SOC). They serve as the critical interface that translates the massive, complex streams of log data generated by the log management and analytics infrastructure (primarily the SIEM) into </a:t>
            </a:r>
            <a:r>
              <a:rPr lang="en-US" sz="2400" b="1">
                <a:latin typeface="Times New Roman" panose="02020603050405020304" pitchFamily="18" charset="0"/>
                <a:cs typeface="Times New Roman" panose="02020603050405020304" pitchFamily="18" charset="0"/>
              </a:rPr>
              <a:t>immediate, actionable intelligence</a:t>
            </a:r>
            <a:r>
              <a:rPr lang="en-US" sz="2400">
                <a:latin typeface="Times New Roman" panose="02020603050405020304" pitchFamily="18" charset="0"/>
                <a:cs typeface="Times New Roman" panose="02020603050405020304" pitchFamily="18" charset="0"/>
              </a:rPr>
              <a:t> for security analysts and leadership.</a:t>
            </a:r>
          </a:p>
          <a:p>
            <a:pPr algn="just"/>
            <a:r>
              <a:rPr lang="en-US" sz="2400">
                <a:latin typeface="Times New Roman" panose="02020603050405020304" pitchFamily="18" charset="0"/>
                <a:cs typeface="Times New Roman" panose="02020603050405020304" pitchFamily="18" charset="0"/>
              </a:rPr>
              <a:t>The core function of visualization is to </a:t>
            </a:r>
            <a:r>
              <a:rPr lang="en-US" sz="2400" b="1">
                <a:latin typeface="Times New Roman" panose="02020603050405020304" pitchFamily="18" charset="0"/>
                <a:cs typeface="Times New Roman" panose="02020603050405020304" pitchFamily="18" charset="0"/>
              </a:rPr>
              <a:t>reduce cognitive load</a:t>
            </a:r>
            <a:r>
              <a:rPr lang="en-US" sz="2400">
                <a:latin typeface="Times New Roman" panose="02020603050405020304" pitchFamily="18" charset="0"/>
                <a:cs typeface="Times New Roman" panose="02020603050405020304" pitchFamily="18" charset="0"/>
              </a:rPr>
              <a:t> and minimize the </a:t>
            </a:r>
            <a:r>
              <a:rPr lang="en-US" sz="2400" b="1">
                <a:latin typeface="Times New Roman" panose="02020603050405020304" pitchFamily="18" charset="0"/>
                <a:cs typeface="Times New Roman" panose="02020603050405020304" pitchFamily="18" charset="0"/>
              </a:rPr>
              <a:t>Mean Time To Detect (MTTD)</a:t>
            </a:r>
            <a:r>
              <a:rPr lang="en-US" sz="2400">
                <a:latin typeface="Times New Roman" panose="02020603050405020304" pitchFamily="18" charset="0"/>
                <a:cs typeface="Times New Roman" panose="02020603050405020304" pitchFamily="18" charset="0"/>
              </a:rPr>
              <a:t> threats by offering </a:t>
            </a:r>
            <a:r>
              <a:rPr lang="en-US" sz="2400" b="1">
                <a:latin typeface="Times New Roman" panose="02020603050405020304" pitchFamily="18" charset="0"/>
                <a:cs typeface="Times New Roman" panose="02020603050405020304" pitchFamily="18" charset="0"/>
              </a:rPr>
              <a:t>situational awareness at a glance.</a:t>
            </a:r>
            <a:r>
              <a:rPr lang="en-US" sz="2400">
                <a:latin typeface="Times New Roman" panose="02020603050405020304" pitchFamily="18" charset="0"/>
                <a:cs typeface="Times New Roman" panose="02020603050405020304" pitchFamily="18" charset="0"/>
              </a:rPr>
              <a:t> Instead of sifting through raw text logs, analysts rely on visual representations—such as heatmaps, timelines, attack graphs, and severity-categorized pie charts—to quickly:</a:t>
            </a:r>
          </a:p>
          <a:p>
            <a:endParaRPr lang="en-US"/>
          </a:p>
          <a:p>
            <a:endParaRPr lang="en-US"/>
          </a:p>
        </p:txBody>
      </p:sp>
    </p:spTree>
    <p:extLst>
      <p:ext uri="{BB962C8B-B14F-4D97-AF65-F5344CB8AC3E}">
        <p14:creationId xmlns:p14="http://schemas.microsoft.com/office/powerpoint/2010/main" val="2175858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849F-76EE-48B3-A430-52FA4A2D0DD8}"/>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Primary security functions and benefits</a:t>
            </a:r>
            <a:r>
              <a:rPr lang="en-US" sz="3200">
                <a:solidFill>
                  <a:srgbClr val="0070C0"/>
                </a:solidFill>
                <a:latin typeface="Times New Roman" panose="02020603050405020304" pitchFamily="18" charset="0"/>
                <a:cs typeface="Times New Roman" panose="02020603050405020304" pitchFamily="18" charset="0"/>
              </a:rPr>
              <a:t> of using </a:t>
            </a:r>
            <a:r>
              <a:rPr lang="en-US" sz="3200" b="1">
                <a:solidFill>
                  <a:srgbClr val="0070C0"/>
                </a:solidFill>
                <a:latin typeface="Times New Roman" panose="02020603050405020304" pitchFamily="18" charset="0"/>
                <a:cs typeface="Times New Roman" panose="02020603050405020304" pitchFamily="18" charset="0"/>
              </a:rPr>
              <a:t>Dashboards and Visualizations</a:t>
            </a:r>
            <a:r>
              <a:rPr lang="en-US" sz="3200">
                <a:solidFill>
                  <a:srgbClr val="0070C0"/>
                </a:solidFill>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D467B40-F311-463D-8151-470E92BC0DB1}"/>
              </a:ext>
            </a:extLst>
          </p:cNvPr>
          <p:cNvSpPr>
            <a:spLocks noGrp="1"/>
          </p:cNvSpPr>
          <p:nvPr>
            <p:ph idx="1"/>
          </p:nvPr>
        </p:nvSpPr>
        <p:spPr>
          <a:xfrm>
            <a:off x="993842" y="1644024"/>
            <a:ext cx="10951723" cy="4426035"/>
          </a:xfrm>
        </p:spPr>
        <p:txBody>
          <a:bodyPr>
            <a:normAutofit/>
          </a:bodyPr>
          <a:lstStyle/>
          <a:p>
            <a:pPr algn="just"/>
            <a:r>
              <a:rPr lang="en-US" sz="2400" b="1">
                <a:solidFill>
                  <a:schemeClr val="accent3"/>
                </a:solidFill>
                <a:latin typeface="Times New Roman" panose="02020603050405020304" pitchFamily="18" charset="0"/>
                <a:cs typeface="Times New Roman" panose="02020603050405020304" pitchFamily="18" charset="0"/>
              </a:rPr>
              <a:t>Prioritise Incidents: </a:t>
            </a:r>
            <a:r>
              <a:rPr lang="en-US" sz="2400">
                <a:latin typeface="Times New Roman" panose="02020603050405020304" pitchFamily="18" charset="0"/>
                <a:cs typeface="Times New Roman" panose="02020603050405020304" pitchFamily="18" charset="0"/>
              </a:rPr>
              <a:t>Dashboards clearly display the breakdown of active alerts by severity, allowing analysts to instantly focus on Critical and High-risk events.</a:t>
            </a:r>
          </a:p>
          <a:p>
            <a:pPr algn="just"/>
            <a:r>
              <a:rPr lang="en-US" sz="2400" b="1">
                <a:solidFill>
                  <a:schemeClr val="accent3"/>
                </a:solidFill>
                <a:latin typeface="Times New Roman" panose="02020603050405020304" pitchFamily="18" charset="0"/>
                <a:cs typeface="Times New Roman" panose="02020603050405020304" pitchFamily="18" charset="0"/>
              </a:rPr>
              <a:t>Detect Anomalies: </a:t>
            </a:r>
            <a:r>
              <a:rPr lang="en-US" sz="2400">
                <a:latin typeface="Times New Roman" panose="02020603050405020304" pitchFamily="18" charset="0"/>
                <a:cs typeface="Times New Roman" panose="02020603050405020304" pitchFamily="18" charset="0"/>
              </a:rPr>
              <a:t>Advanced visualizations, often powered by User and Entity Behavior Analytics (UEBA), highlight deviations from a behavioral baseline (e.g., login from a new country, massive data transfer) that would be invisible in a standard log list.</a:t>
            </a:r>
          </a:p>
          <a:p>
            <a:pPr algn="just"/>
            <a:r>
              <a:rPr lang="en-US" sz="2400" b="1">
                <a:solidFill>
                  <a:schemeClr val="accent3"/>
                </a:solidFill>
                <a:latin typeface="Times New Roman" panose="02020603050405020304" pitchFamily="18" charset="0"/>
                <a:cs typeface="Times New Roman" panose="02020603050405020304" pitchFamily="18" charset="0"/>
              </a:rPr>
              <a:t>Correlate Events: </a:t>
            </a:r>
            <a:r>
              <a:rPr lang="en-US" sz="2400">
                <a:latin typeface="Times New Roman" panose="02020603050405020304" pitchFamily="18" charset="0"/>
                <a:cs typeface="Times New Roman" panose="02020603050405020304" pitchFamily="18" charset="0"/>
              </a:rPr>
              <a:t>Timelines and attack graphs map the sequence and relationship between events from disparate sources (e.g., firewall, server, endpoint), allowing the analyst to trace the full kill chain of a multi-stage attack.</a:t>
            </a:r>
          </a:p>
          <a:p>
            <a:pPr algn="just"/>
            <a:r>
              <a:rPr lang="en-US" sz="2400" b="1">
                <a:solidFill>
                  <a:schemeClr val="accent3"/>
                </a:solidFill>
                <a:latin typeface="Times New Roman" panose="02020603050405020304" pitchFamily="18" charset="0"/>
                <a:cs typeface="Times New Roman" panose="02020603050405020304" pitchFamily="18" charset="0"/>
              </a:rPr>
              <a:t>Track Performance: </a:t>
            </a:r>
            <a:r>
              <a:rPr lang="en-US" sz="2400">
                <a:latin typeface="Times New Roman" panose="02020603050405020304" pitchFamily="18" charset="0"/>
                <a:cs typeface="Times New Roman" panose="02020603050405020304" pitchFamily="18" charset="0"/>
              </a:rPr>
              <a:t>Metrics like MTTD, MTTR (Mean Time To Respond), and False Positive rates are visualized to measure the efficiency of the SOC team and inform strategic improvements.</a:t>
            </a:r>
          </a:p>
        </p:txBody>
      </p:sp>
    </p:spTree>
    <p:extLst>
      <p:ext uri="{BB962C8B-B14F-4D97-AF65-F5344CB8AC3E}">
        <p14:creationId xmlns:p14="http://schemas.microsoft.com/office/powerpoint/2010/main" val="3243902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3177E-4D8F-4BBF-A808-BD7B66922E3C}"/>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Real-Time Threat Landscape Dashboard</a:t>
            </a:r>
          </a:p>
        </p:txBody>
      </p:sp>
      <p:graphicFrame>
        <p:nvGraphicFramePr>
          <p:cNvPr id="4" name="Content Placeholder 3">
            <a:extLst>
              <a:ext uri="{FF2B5EF4-FFF2-40B4-BE49-F238E27FC236}">
                <a16:creationId xmlns:a16="http://schemas.microsoft.com/office/drawing/2014/main" id="{7FEF9F76-0CB4-4039-B230-69710E4A1878}"/>
              </a:ext>
            </a:extLst>
          </p:cNvPr>
          <p:cNvGraphicFramePr>
            <a:graphicFrameLocks noGrp="1"/>
          </p:cNvGraphicFramePr>
          <p:nvPr>
            <p:ph idx="1"/>
            <p:extLst>
              <p:ext uri="{D42A27DB-BD31-4B8C-83A1-F6EECF244321}">
                <p14:modId xmlns:p14="http://schemas.microsoft.com/office/powerpoint/2010/main" val="1527034907"/>
              </p:ext>
            </p:extLst>
          </p:nvPr>
        </p:nvGraphicFramePr>
        <p:xfrm>
          <a:off x="838200" y="1953188"/>
          <a:ext cx="10747443" cy="4407221"/>
        </p:xfrm>
        <a:graphic>
          <a:graphicData uri="http://schemas.openxmlformats.org/drawingml/2006/table">
            <a:tbl>
              <a:tblPr/>
              <a:tblGrid>
                <a:gridCol w="1659002">
                  <a:extLst>
                    <a:ext uri="{9D8B030D-6E8A-4147-A177-3AD203B41FA5}">
                      <a16:colId xmlns:a16="http://schemas.microsoft.com/office/drawing/2014/main" val="2928179900"/>
                    </a:ext>
                  </a:extLst>
                </a:gridCol>
                <a:gridCol w="3328307">
                  <a:extLst>
                    <a:ext uri="{9D8B030D-6E8A-4147-A177-3AD203B41FA5}">
                      <a16:colId xmlns:a16="http://schemas.microsoft.com/office/drawing/2014/main" val="1769157846"/>
                    </a:ext>
                  </a:extLst>
                </a:gridCol>
                <a:gridCol w="5760134">
                  <a:extLst>
                    <a:ext uri="{9D8B030D-6E8A-4147-A177-3AD203B41FA5}">
                      <a16:colId xmlns:a16="http://schemas.microsoft.com/office/drawing/2014/main" val="3228015227"/>
                    </a:ext>
                  </a:extLst>
                </a:gridCol>
              </a:tblGrid>
              <a:tr h="267963">
                <a:tc>
                  <a:txBody>
                    <a:bodyPr/>
                    <a:lstStyle/>
                    <a:p>
                      <a:pPr rtl="0"/>
                      <a:r>
                        <a:rPr lang="en-US" sz="1400" b="1">
                          <a:solidFill>
                            <a:schemeClr val="accent3"/>
                          </a:solidFill>
                          <a:effectLst/>
                          <a:latin typeface="Times New Roman" panose="02020603050405020304" pitchFamily="18" charset="0"/>
                          <a:cs typeface="Times New Roman" panose="02020603050405020304" pitchFamily="18" charset="0"/>
                        </a:rPr>
                        <a:t>Visualization Type</a:t>
                      </a:r>
                      <a:endParaRPr lang="en-US" sz="1400">
                        <a:solidFill>
                          <a:schemeClr val="accent3"/>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400" b="1">
                          <a:solidFill>
                            <a:schemeClr val="accent3"/>
                          </a:solidFill>
                          <a:effectLst/>
                          <a:latin typeface="Times New Roman" panose="02020603050405020304" pitchFamily="18" charset="0"/>
                          <a:cs typeface="Times New Roman" panose="02020603050405020304" pitchFamily="18" charset="0"/>
                        </a:rPr>
                        <a:t>Key Metric/Focus</a:t>
                      </a:r>
                      <a:endParaRPr lang="en-US" sz="1400">
                        <a:solidFill>
                          <a:schemeClr val="accent3"/>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400" b="1">
                          <a:solidFill>
                            <a:schemeClr val="accent3"/>
                          </a:solidFill>
                          <a:effectLst/>
                          <a:latin typeface="Times New Roman" panose="02020603050405020304" pitchFamily="18" charset="0"/>
                          <a:cs typeface="Times New Roman" panose="02020603050405020304" pitchFamily="18" charset="0"/>
                        </a:rPr>
                        <a:t>Why It's Used</a:t>
                      </a:r>
                      <a:endParaRPr lang="en-US" sz="1400">
                        <a:solidFill>
                          <a:schemeClr val="accent3"/>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95855498"/>
                  </a:ext>
                </a:extLst>
              </a:tr>
              <a:tr h="603681">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Single Value Metrics</a:t>
                      </a:r>
                      <a:endParaRPr lang="en-US" sz="1600">
                        <a:solidFill>
                          <a:srgbClr val="0070C0"/>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Total Open Incidents, MTTD, MTTR</a:t>
                      </a:r>
                      <a:r>
                        <a:rPr lang="en-US" sz="1600">
                          <a:solidFill>
                            <a:srgbClr val="1B1C1D"/>
                          </a:solidFill>
                          <a:effectLst/>
                          <a:latin typeface="Times New Roman" panose="02020603050405020304" pitchFamily="18" charset="0"/>
                          <a:cs typeface="Times New Roman" panose="02020603050405020304" pitchFamily="18" charset="0"/>
                        </a:rPr>
                        <a:t> (Mean Time To Respond/Resolve).</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Provides immediate operational health metrics to management and analysts.</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73712598"/>
                  </a:ext>
                </a:extLst>
              </a:tr>
              <a:tr h="773466">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Pie/Donut Chart</a:t>
                      </a:r>
                      <a:endParaRPr lang="en-US" sz="1600">
                        <a:solidFill>
                          <a:srgbClr val="0070C0"/>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Active Threats by Severity</a:t>
                      </a:r>
                      <a:r>
                        <a:rPr lang="en-US" sz="1600">
                          <a:solidFill>
                            <a:srgbClr val="1B1C1D"/>
                          </a:solidFill>
                          <a:effectLst/>
                          <a:latin typeface="Times New Roman" panose="02020603050405020304" pitchFamily="18" charset="0"/>
                          <a:cs typeface="Times New Roman" panose="02020603050405020304" pitchFamily="18" charset="0"/>
                        </a:rPr>
                        <a:t> (Critical, High, Medium, Low).</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Helps analysts prioritize their work queue instantly. The largest slice dictates where resources are focused first.</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03711753"/>
                  </a:ext>
                </a:extLst>
              </a:tr>
              <a:tr h="773466">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Heatmap/Geo-Map</a:t>
                      </a:r>
                      <a:endParaRPr lang="en-US" sz="1600">
                        <a:solidFill>
                          <a:srgbClr val="0070C0"/>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Geographic Source of Attacks</a:t>
                      </a:r>
                      <a:r>
                        <a:rPr lang="en-US" sz="1600">
                          <a:solidFill>
                            <a:srgbClr val="1B1C1D"/>
                          </a:solidFill>
                          <a:effectLst/>
                          <a:latin typeface="Times New Roman" panose="02020603050405020304" pitchFamily="18" charset="0"/>
                          <a:cs typeface="Times New Roman" panose="02020603050405020304" pitchFamily="18" charset="0"/>
                        </a:rPr>
                        <a:t> or </a:t>
                      </a:r>
                      <a:r>
                        <a:rPr lang="en-US" sz="1600" b="1">
                          <a:solidFill>
                            <a:srgbClr val="1B1C1D"/>
                          </a:solidFill>
                          <a:effectLst/>
                          <a:latin typeface="Times New Roman" panose="02020603050405020304" pitchFamily="18" charset="0"/>
                          <a:cs typeface="Times New Roman" panose="02020603050405020304" pitchFamily="18" charset="0"/>
                        </a:rPr>
                        <a:t>Suspicious Logins</a:t>
                      </a:r>
                      <a:r>
                        <a:rPr lang="en-US" sz="1600">
                          <a:solidFill>
                            <a:srgbClr val="1B1C1D"/>
                          </a:solidFill>
                          <a:effectLst/>
                          <a:latin typeface="Times New Roman" panose="02020603050405020304" pitchFamily="18" charset="0"/>
                          <a:cs typeface="Times New Roman" panose="02020603050405020304" pitchFamily="18" charset="0"/>
                        </a:rPr>
                        <a:t>.</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Quickly spots activity from unusual or blocklisted countries. A large red block on the map indicates a major foreign threat source.</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10220242"/>
                  </a:ext>
                </a:extLst>
              </a:tr>
              <a:tr h="773466">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Bar Chart</a:t>
                      </a:r>
                      <a:endParaRPr lang="en-US" sz="1600">
                        <a:solidFill>
                          <a:srgbClr val="0070C0"/>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Top 10 Attacked Assets</a:t>
                      </a:r>
                      <a:r>
                        <a:rPr lang="en-US" sz="1600">
                          <a:solidFill>
                            <a:srgbClr val="1B1C1D"/>
                          </a:solidFill>
                          <a:effectLst/>
                          <a:latin typeface="Times New Roman" panose="02020603050405020304" pitchFamily="18" charset="0"/>
                          <a:cs typeface="Times New Roman" panose="02020603050405020304" pitchFamily="18" charset="0"/>
                        </a:rPr>
                        <a:t> or </a:t>
                      </a:r>
                      <a:r>
                        <a:rPr lang="en-US" sz="1600" b="1">
                          <a:solidFill>
                            <a:srgbClr val="1B1C1D"/>
                          </a:solidFill>
                          <a:effectLst/>
                          <a:latin typeface="Times New Roman" panose="02020603050405020304" pitchFamily="18" charset="0"/>
                          <a:cs typeface="Times New Roman" panose="02020603050405020304" pitchFamily="18" charset="0"/>
                        </a:rPr>
                        <a:t>Top 10 Alert Sources</a:t>
                      </a:r>
                      <a:r>
                        <a:rPr lang="en-US" sz="1600">
                          <a:solidFill>
                            <a:srgbClr val="1B1C1D"/>
                          </a:solidFill>
                          <a:effectLst/>
                          <a:latin typeface="Times New Roman" panose="02020603050405020304" pitchFamily="18" charset="0"/>
                          <a:cs typeface="Times New Roman" panose="02020603050405020304" pitchFamily="18" charset="0"/>
                        </a:rPr>
                        <a:t>.</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Identifies the systems or data sources that are being targeted most frequently, guiding patching and hardening efforts.</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25904823"/>
                  </a:ext>
                </a:extLst>
              </a:tr>
              <a:tr h="943251">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Line Graph</a:t>
                      </a:r>
                      <a:endParaRPr lang="en-US" sz="1600">
                        <a:solidFill>
                          <a:srgbClr val="0070C0"/>
                        </a:solidFill>
                        <a:effectLst/>
                        <a:latin typeface="Times New Roman" panose="02020603050405020304" pitchFamily="18" charset="0"/>
                        <a:cs typeface="Times New Roman" panose="02020603050405020304" pitchFamily="18" charset="0"/>
                      </a:endParaRP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Events Over Time</a:t>
                      </a:r>
                      <a:r>
                        <a:rPr lang="en-US" sz="1600">
                          <a:solidFill>
                            <a:srgbClr val="1B1C1D"/>
                          </a:solidFill>
                          <a:effectLst/>
                          <a:latin typeface="Times New Roman" panose="02020603050405020304" pitchFamily="18" charset="0"/>
                          <a:cs typeface="Times New Roman" panose="02020603050405020304" pitchFamily="18" charset="0"/>
                        </a:rPr>
                        <a:t> (especially log volume).</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Used for baseline monitoring. A sudden, massive spike in event volume (noise) could indicate a denial-of-service (DoS) attack or a system malfunction.</a:t>
                      </a:r>
                    </a:p>
                  </a:txBody>
                  <a:tcPr marL="74509" marR="74509" marT="49673" marB="496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16954514"/>
                  </a:ext>
                </a:extLst>
              </a:tr>
            </a:tbl>
          </a:graphicData>
        </a:graphic>
      </p:graphicFrame>
      <p:sp>
        <p:nvSpPr>
          <p:cNvPr id="5" name="TextBox 4">
            <a:extLst>
              <a:ext uri="{FF2B5EF4-FFF2-40B4-BE49-F238E27FC236}">
                <a16:creationId xmlns:a16="http://schemas.microsoft.com/office/drawing/2014/main" id="{F79A041D-8689-49D6-B526-25A395AAC83A}"/>
              </a:ext>
            </a:extLst>
          </p:cNvPr>
          <p:cNvSpPr txBox="1"/>
          <p:nvPr/>
        </p:nvSpPr>
        <p:spPr>
          <a:xfrm>
            <a:off x="943584" y="1327348"/>
            <a:ext cx="11108986"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This dashboard is the </a:t>
            </a:r>
            <a:r>
              <a:rPr lang="en-US" b="1">
                <a:latin typeface="Times New Roman" panose="02020603050405020304" pitchFamily="18" charset="0"/>
                <a:cs typeface="Times New Roman" panose="02020603050405020304" pitchFamily="18" charset="0"/>
              </a:rPr>
              <a:t>"mission control"</a:t>
            </a:r>
            <a:r>
              <a:rPr lang="en-US">
                <a:latin typeface="Times New Roman" panose="02020603050405020304" pitchFamily="18" charset="0"/>
                <a:cs typeface="Times New Roman" panose="02020603050405020304" pitchFamily="18" charset="0"/>
              </a:rPr>
              <a:t> for the SOC analyst. It focuses on immediate threats, prioritization, and operational status.</a:t>
            </a:r>
          </a:p>
        </p:txBody>
      </p:sp>
    </p:spTree>
    <p:extLst>
      <p:ext uri="{BB962C8B-B14F-4D97-AF65-F5344CB8AC3E}">
        <p14:creationId xmlns:p14="http://schemas.microsoft.com/office/powerpoint/2010/main" val="101494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8CFC-9A72-4062-9FAF-06A0CC37E527}"/>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User &amp; Entity Behavior Analytics (UEBA) Dashboard</a:t>
            </a:r>
          </a:p>
        </p:txBody>
      </p:sp>
      <p:graphicFrame>
        <p:nvGraphicFramePr>
          <p:cNvPr id="7" name="Content Placeholder 6">
            <a:extLst>
              <a:ext uri="{FF2B5EF4-FFF2-40B4-BE49-F238E27FC236}">
                <a16:creationId xmlns:a16="http://schemas.microsoft.com/office/drawing/2014/main" id="{FDC0CDBB-2EC6-4E42-B93D-F24E8F8BB9A1}"/>
              </a:ext>
            </a:extLst>
          </p:cNvPr>
          <p:cNvGraphicFramePr>
            <a:graphicFrameLocks noGrp="1"/>
          </p:cNvGraphicFramePr>
          <p:nvPr>
            <p:ph idx="1"/>
            <p:extLst>
              <p:ext uri="{D42A27DB-BD31-4B8C-83A1-F6EECF244321}">
                <p14:modId xmlns:p14="http://schemas.microsoft.com/office/powerpoint/2010/main" val="444540008"/>
              </p:ext>
            </p:extLst>
          </p:nvPr>
        </p:nvGraphicFramePr>
        <p:xfrm>
          <a:off x="838199" y="2023017"/>
          <a:ext cx="10787976" cy="4661093"/>
        </p:xfrm>
        <a:graphic>
          <a:graphicData uri="http://schemas.openxmlformats.org/drawingml/2006/table">
            <a:tbl>
              <a:tblPr/>
              <a:tblGrid>
                <a:gridCol w="1934184">
                  <a:extLst>
                    <a:ext uri="{9D8B030D-6E8A-4147-A177-3AD203B41FA5}">
                      <a16:colId xmlns:a16="http://schemas.microsoft.com/office/drawing/2014/main" val="119056636"/>
                    </a:ext>
                  </a:extLst>
                </a:gridCol>
                <a:gridCol w="3073940">
                  <a:extLst>
                    <a:ext uri="{9D8B030D-6E8A-4147-A177-3AD203B41FA5}">
                      <a16:colId xmlns:a16="http://schemas.microsoft.com/office/drawing/2014/main" val="1899584054"/>
                    </a:ext>
                  </a:extLst>
                </a:gridCol>
                <a:gridCol w="5779852">
                  <a:extLst>
                    <a:ext uri="{9D8B030D-6E8A-4147-A177-3AD203B41FA5}">
                      <a16:colId xmlns:a16="http://schemas.microsoft.com/office/drawing/2014/main" val="2384533420"/>
                    </a:ext>
                  </a:extLst>
                </a:gridCol>
              </a:tblGrid>
              <a:tr h="325769">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Visualization Type</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Key Metric/Focus</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Why It's Used</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60166989"/>
                  </a:ext>
                </a:extLst>
              </a:tr>
              <a:tr h="744614">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Risk Score Gauge</a:t>
                      </a:r>
                      <a:endParaRPr lang="en-US" sz="1600">
                        <a:solidFill>
                          <a:srgbClr val="0070C0"/>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High-Risk Users</a:t>
                      </a:r>
                      <a:r>
                        <a:rPr lang="en-US" sz="1600">
                          <a:solidFill>
                            <a:srgbClr val="1B1C1D"/>
                          </a:solidFill>
                          <a:effectLst/>
                          <a:latin typeface="Times New Roman" panose="02020603050405020304" pitchFamily="18" charset="0"/>
                          <a:cs typeface="Times New Roman" panose="02020603050405020304" pitchFamily="18" charset="0"/>
                        </a:rPr>
                        <a:t> (Users whose activity is far outside the normal baseline).</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Quantifies the risk for a specific user. A sudden spike from 5 to 95 is an immediate alert.</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73610170"/>
                  </a:ext>
                </a:extLst>
              </a:tr>
              <a:tr h="954036">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Activity Timeline</a:t>
                      </a:r>
                      <a:endParaRPr lang="en-US" sz="1600">
                        <a:solidFill>
                          <a:srgbClr val="0070C0"/>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User Logon Activity vs. Time of Day</a:t>
                      </a:r>
                      <a:r>
                        <a:rPr lang="en-US" sz="1600">
                          <a:solidFill>
                            <a:srgbClr val="1B1C1D"/>
                          </a:solidFill>
                          <a:effectLst/>
                          <a:latin typeface="Times New Roman" panose="02020603050405020304" pitchFamily="18" charset="0"/>
                          <a:cs typeface="Times New Roman" panose="02020603050405020304" pitchFamily="18" charset="0"/>
                        </a:rPr>
                        <a:t> or </a:t>
                      </a:r>
                      <a:r>
                        <a:rPr lang="en-US" sz="1600" b="1">
                          <a:solidFill>
                            <a:srgbClr val="1B1C1D"/>
                          </a:solidFill>
                          <a:effectLst/>
                          <a:latin typeface="Times New Roman" panose="02020603050405020304" pitchFamily="18" charset="0"/>
                          <a:cs typeface="Times New Roman" panose="02020603050405020304" pitchFamily="18" charset="0"/>
                        </a:rPr>
                        <a:t>Successful Logins from New Geo-Locations</a:t>
                      </a:r>
                      <a:r>
                        <a:rPr lang="en-US" sz="1600">
                          <a:solidFill>
                            <a:srgbClr val="1B1C1D"/>
                          </a:solidFill>
                          <a:effectLst/>
                          <a:latin typeface="Times New Roman" panose="02020603050405020304" pitchFamily="18" charset="0"/>
                          <a:cs typeface="Times New Roman" panose="02020603050405020304" pitchFamily="18" charset="0"/>
                        </a:rPr>
                        <a:t>.</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Reveals activities like logging in at 3:00 AM or accessing a critical server for the first time, suggesting account compromise.</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53890997"/>
                  </a:ext>
                </a:extLst>
              </a:tr>
              <a:tr h="1163459">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Treemap</a:t>
                      </a:r>
                      <a:endParaRPr lang="en-US" sz="1600">
                        <a:solidFill>
                          <a:srgbClr val="0070C0"/>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Data Access by Department/User</a:t>
                      </a:r>
                      <a:r>
                        <a:rPr lang="en-US" sz="1600">
                          <a:solidFill>
                            <a:srgbClr val="1B1C1D"/>
                          </a:solidFill>
                          <a:effectLst/>
                          <a:latin typeface="Times New Roman" panose="02020603050405020304" pitchFamily="18" charset="0"/>
                          <a:cs typeface="Times New Roman" panose="02020603050405020304" pitchFamily="18" charset="0"/>
                        </a:rPr>
                        <a:t> (e.g., file shares accessed).</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Visually compares the normal data access patterns across the organization. Sudden access to finance files by an HR user is highly visible.</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31384479"/>
                  </a:ext>
                </a:extLst>
              </a:tr>
              <a:tr h="1163459">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List/Table</a:t>
                      </a:r>
                      <a:endParaRPr lang="en-US" sz="1600">
                        <a:solidFill>
                          <a:srgbClr val="0070C0"/>
                        </a:solidFill>
                        <a:effectLst/>
                        <a:latin typeface="Times New Roman" panose="02020603050405020304" pitchFamily="18" charset="0"/>
                        <a:cs typeface="Times New Roman" panose="02020603050405020304" pitchFamily="18" charset="0"/>
                      </a:endParaRP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Top Anomalous Activities</a:t>
                      </a:r>
                      <a:r>
                        <a:rPr lang="en-US" sz="1600">
                          <a:solidFill>
                            <a:srgbClr val="1B1C1D"/>
                          </a:solidFill>
                          <a:effectLst/>
                          <a:latin typeface="Times New Roman" panose="02020603050405020304" pitchFamily="18" charset="0"/>
                          <a:cs typeface="Times New Roman" panose="02020603050405020304" pitchFamily="18" charset="0"/>
                        </a:rPr>
                        <a:t> (e.g., 50 failed VPN logins from a single user; user successfully logged in from New York and Tokyo 10 minutes apart).</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a:solidFill>
                            <a:srgbClr val="1B1C1D"/>
                          </a:solidFill>
                          <a:effectLst/>
                          <a:latin typeface="Times New Roman" panose="02020603050405020304" pitchFamily="18" charset="0"/>
                          <a:cs typeface="Times New Roman" panose="02020603050405020304" pitchFamily="18" charset="0"/>
                        </a:rPr>
                        <a:t>Highlights the specific log events that triggered the risk score increase.</a:t>
                      </a:r>
                    </a:p>
                  </a:txBody>
                  <a:tcPr marL="87259" marR="87259" marT="58173" marB="5817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65258051"/>
                  </a:ext>
                </a:extLst>
              </a:tr>
            </a:tbl>
          </a:graphicData>
        </a:graphic>
      </p:graphicFrame>
      <p:sp>
        <p:nvSpPr>
          <p:cNvPr id="5" name="TextBox 4">
            <a:extLst>
              <a:ext uri="{FF2B5EF4-FFF2-40B4-BE49-F238E27FC236}">
                <a16:creationId xmlns:a16="http://schemas.microsoft.com/office/drawing/2014/main" id="{E0E9DEA6-7AE3-4AFE-AA20-B523875B3118}"/>
              </a:ext>
            </a:extLst>
          </p:cNvPr>
          <p:cNvSpPr txBox="1"/>
          <p:nvPr/>
        </p:nvSpPr>
        <p:spPr>
          <a:xfrm>
            <a:off x="5637178" y="2971800"/>
            <a:ext cx="914400" cy="914400"/>
          </a:xfrm>
          <a:prstGeom prst="rect">
            <a:avLst/>
          </a:prstGeom>
          <a:noFill/>
        </p:spPr>
        <p:txBody>
          <a:bodyPr wrap="square" rtlCol="0">
            <a:spAutoFit/>
          </a:bodyPr>
          <a:lstStyle/>
          <a:p>
            <a:endParaRPr lang="en-US"/>
          </a:p>
        </p:txBody>
      </p:sp>
      <p:sp>
        <p:nvSpPr>
          <p:cNvPr id="6" name="TextBox 5">
            <a:extLst>
              <a:ext uri="{FF2B5EF4-FFF2-40B4-BE49-F238E27FC236}">
                <a16:creationId xmlns:a16="http://schemas.microsoft.com/office/drawing/2014/main" id="{7110B154-EDB3-47B9-9EDE-A091F9B9E6A7}"/>
              </a:ext>
            </a:extLst>
          </p:cNvPr>
          <p:cNvSpPr txBox="1"/>
          <p:nvPr/>
        </p:nvSpPr>
        <p:spPr>
          <a:xfrm>
            <a:off x="838200" y="1358361"/>
            <a:ext cx="10787975" cy="664656"/>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This visualization set uses historical logs to establish a </a:t>
            </a:r>
            <a:r>
              <a:rPr lang="en-US" b="1">
                <a:latin typeface="Times New Roman" panose="02020603050405020304" pitchFamily="18" charset="0"/>
                <a:cs typeface="Times New Roman" panose="02020603050405020304" pitchFamily="18" charset="0"/>
              </a:rPr>
              <a:t>behavioral baseline</a:t>
            </a:r>
            <a:r>
              <a:rPr lang="en-US">
                <a:latin typeface="Times New Roman" panose="02020603050405020304" pitchFamily="18" charset="0"/>
                <a:cs typeface="Times New Roman" panose="02020603050405020304" pitchFamily="18" charset="0"/>
              </a:rPr>
              <a:t> for every user and device, detecting deviations that indicate a compromised account or insider threat.</a:t>
            </a:r>
          </a:p>
        </p:txBody>
      </p:sp>
    </p:spTree>
    <p:extLst>
      <p:ext uri="{BB962C8B-B14F-4D97-AF65-F5344CB8AC3E}">
        <p14:creationId xmlns:p14="http://schemas.microsoft.com/office/powerpoint/2010/main" val="3495374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D5EEC-A5DE-4711-85DD-F4BC6CCCC6A7}"/>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Threat Hunting &amp; Forensics Visualizations</a:t>
            </a:r>
          </a:p>
        </p:txBody>
      </p:sp>
      <p:graphicFrame>
        <p:nvGraphicFramePr>
          <p:cNvPr id="4" name="Content Placeholder 3">
            <a:extLst>
              <a:ext uri="{FF2B5EF4-FFF2-40B4-BE49-F238E27FC236}">
                <a16:creationId xmlns:a16="http://schemas.microsoft.com/office/drawing/2014/main" id="{71C172BF-A925-43AD-8E40-7FF4DE546430}"/>
              </a:ext>
            </a:extLst>
          </p:cNvPr>
          <p:cNvGraphicFramePr>
            <a:graphicFrameLocks noGrp="1"/>
          </p:cNvGraphicFramePr>
          <p:nvPr>
            <p:ph idx="1"/>
            <p:extLst>
              <p:ext uri="{D42A27DB-BD31-4B8C-83A1-F6EECF244321}">
                <p14:modId xmlns:p14="http://schemas.microsoft.com/office/powerpoint/2010/main" val="593551124"/>
              </p:ext>
            </p:extLst>
          </p:nvPr>
        </p:nvGraphicFramePr>
        <p:xfrm>
          <a:off x="914398" y="1447497"/>
          <a:ext cx="10515599" cy="4735856"/>
        </p:xfrm>
        <a:graphic>
          <a:graphicData uri="http://schemas.openxmlformats.org/drawingml/2006/table">
            <a:tbl>
              <a:tblPr/>
              <a:tblGrid>
                <a:gridCol w="1994171">
                  <a:extLst>
                    <a:ext uri="{9D8B030D-6E8A-4147-A177-3AD203B41FA5}">
                      <a16:colId xmlns:a16="http://schemas.microsoft.com/office/drawing/2014/main" val="3191265655"/>
                    </a:ext>
                  </a:extLst>
                </a:gridCol>
                <a:gridCol w="2597286">
                  <a:extLst>
                    <a:ext uri="{9D8B030D-6E8A-4147-A177-3AD203B41FA5}">
                      <a16:colId xmlns:a16="http://schemas.microsoft.com/office/drawing/2014/main" val="1875448887"/>
                    </a:ext>
                  </a:extLst>
                </a:gridCol>
                <a:gridCol w="5924142">
                  <a:extLst>
                    <a:ext uri="{9D8B030D-6E8A-4147-A177-3AD203B41FA5}">
                      <a16:colId xmlns:a16="http://schemas.microsoft.com/office/drawing/2014/main" val="3422137110"/>
                    </a:ext>
                  </a:extLst>
                </a:gridCol>
              </a:tblGrid>
              <a:tr h="368242">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Visualization Type</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Key Metric/Focus</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chemeClr val="accent3"/>
                          </a:solidFill>
                          <a:effectLst/>
                          <a:latin typeface="Times New Roman" panose="02020603050405020304" pitchFamily="18" charset="0"/>
                          <a:cs typeface="Times New Roman" panose="02020603050405020304" pitchFamily="18" charset="0"/>
                        </a:rPr>
                        <a:t>Why It's Used</a:t>
                      </a:r>
                      <a:endParaRPr lang="en-US" sz="1600">
                        <a:solidFill>
                          <a:schemeClr val="accent3"/>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22062847"/>
                  </a:ext>
                </a:extLst>
              </a:tr>
              <a:tr h="1623199">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Attack Graph (Knowledge Graph)</a:t>
                      </a:r>
                      <a:endParaRPr lang="en-US" sz="1600">
                        <a:solidFill>
                          <a:srgbClr val="0070C0"/>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Relationship Mapping</a:t>
                      </a:r>
                      <a:r>
                        <a:rPr lang="en-US" sz="1600">
                          <a:solidFill>
                            <a:srgbClr val="1B1C1D"/>
                          </a:solidFill>
                          <a:effectLst/>
                          <a:latin typeface="Times New Roman" panose="02020603050405020304" pitchFamily="18" charset="0"/>
                          <a:cs typeface="Times New Roman" panose="02020603050405020304" pitchFamily="18" charset="0"/>
                        </a:rPr>
                        <a:t> (Nodes and Edges).</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just" rtl="0"/>
                      <a:r>
                        <a:rPr lang="en-US" sz="1600">
                          <a:solidFill>
                            <a:srgbClr val="1B1C1D"/>
                          </a:solidFill>
                          <a:effectLst/>
                          <a:latin typeface="Times New Roman" panose="02020603050405020304" pitchFamily="18" charset="0"/>
                          <a:cs typeface="Times New Roman" panose="02020603050405020304" pitchFamily="18" charset="0"/>
                        </a:rPr>
                        <a:t>This is highly advanced. Nodes (Users, IPs, Servers, Files) are connected by Edges (Actions: "logged into," "copied file to," "accessed"). It allows the analyst to visually trace an attacker's movement across the network.</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90299828"/>
                  </a:ext>
                </a:extLst>
              </a:tr>
              <a:tr h="1623199">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Timeline View</a:t>
                      </a:r>
                      <a:endParaRPr lang="en-US" sz="1600">
                        <a:solidFill>
                          <a:srgbClr val="0070C0"/>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Correlated Event Sequence</a:t>
                      </a:r>
                      <a:r>
                        <a:rPr lang="en-US" sz="1600">
                          <a:solidFill>
                            <a:srgbClr val="1B1C1D"/>
                          </a:solidFill>
                          <a:effectLst/>
                          <a:latin typeface="Times New Roman" panose="02020603050405020304" pitchFamily="18" charset="0"/>
                          <a:cs typeface="Times New Roman" panose="02020603050405020304" pitchFamily="18" charset="0"/>
                        </a:rPr>
                        <a:t>.</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just" rtl="0"/>
                      <a:r>
                        <a:rPr lang="en-US" sz="1600">
                          <a:solidFill>
                            <a:srgbClr val="1B1C1D"/>
                          </a:solidFill>
                          <a:effectLst/>
                          <a:latin typeface="Times New Roman" panose="02020603050405020304" pitchFamily="18" charset="0"/>
                          <a:cs typeface="Times New Roman" panose="02020603050405020304" pitchFamily="18" charset="0"/>
                        </a:rPr>
                        <a:t>Essential for showing the </a:t>
                      </a:r>
                      <a:r>
                        <a:rPr lang="en-US" sz="1600" b="1">
                          <a:solidFill>
                            <a:srgbClr val="1B1C1D"/>
                          </a:solidFill>
                          <a:effectLst/>
                          <a:latin typeface="Times New Roman" panose="02020603050405020304" pitchFamily="18" charset="0"/>
                          <a:cs typeface="Times New Roman" panose="02020603050405020304" pitchFamily="18" charset="0"/>
                        </a:rPr>
                        <a:t>sequence of events</a:t>
                      </a:r>
                      <a:r>
                        <a:rPr lang="en-US" sz="1600">
                          <a:solidFill>
                            <a:srgbClr val="1B1C1D"/>
                          </a:solidFill>
                          <a:effectLst/>
                          <a:latin typeface="Times New Roman" panose="02020603050405020304" pitchFamily="18" charset="0"/>
                          <a:cs typeface="Times New Roman" panose="02020603050405020304" pitchFamily="18" charset="0"/>
                        </a:rPr>
                        <a:t> during a multi-stage attack (e.g., Initial Access $\rightarrow$ Privilege Escalation $\rightarrow$ Lateral Movement). This validates the correlation rule that triggered the alert.</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41341054"/>
                  </a:ext>
                </a:extLst>
              </a:tr>
              <a:tr h="1121216">
                <a:tc>
                  <a:txBody>
                    <a:bodyPr/>
                    <a:lstStyle/>
                    <a:p>
                      <a:pPr rtl="0"/>
                      <a:r>
                        <a:rPr lang="en-US" sz="1600" b="1">
                          <a:solidFill>
                            <a:srgbClr val="0070C0"/>
                          </a:solidFill>
                          <a:effectLst/>
                          <a:latin typeface="Times New Roman" panose="02020603050405020304" pitchFamily="18" charset="0"/>
                          <a:cs typeface="Times New Roman" panose="02020603050405020304" pitchFamily="18" charset="0"/>
                        </a:rPr>
                        <a:t>Treemap/Sunburst</a:t>
                      </a:r>
                      <a:endParaRPr lang="en-US" sz="1600">
                        <a:solidFill>
                          <a:srgbClr val="0070C0"/>
                        </a:solidFill>
                        <a:effectLst/>
                        <a:latin typeface="Times New Roman" panose="02020603050405020304" pitchFamily="18" charset="0"/>
                        <a:cs typeface="Times New Roman" panose="02020603050405020304" pitchFamily="18" charset="0"/>
                      </a:endParaRP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600" b="1">
                          <a:solidFill>
                            <a:srgbClr val="1B1C1D"/>
                          </a:solidFill>
                          <a:effectLst/>
                          <a:latin typeface="Times New Roman" panose="02020603050405020304" pitchFamily="18" charset="0"/>
                          <a:cs typeface="Times New Roman" panose="02020603050405020304" pitchFamily="18" charset="0"/>
                        </a:rPr>
                        <a:t>Malware Breakdown by File Type/Hash</a:t>
                      </a:r>
                      <a:r>
                        <a:rPr lang="en-US" sz="1600">
                          <a:solidFill>
                            <a:srgbClr val="1B1C1D"/>
                          </a:solidFill>
                          <a:effectLst/>
                          <a:latin typeface="Times New Roman" panose="02020603050405020304" pitchFamily="18" charset="0"/>
                          <a:cs typeface="Times New Roman" panose="02020603050405020304" pitchFamily="18" charset="0"/>
                        </a:rPr>
                        <a:t>.</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just" rtl="0"/>
                      <a:r>
                        <a:rPr lang="en-US" sz="1600">
                          <a:solidFill>
                            <a:srgbClr val="1B1C1D"/>
                          </a:solidFill>
                          <a:effectLst/>
                          <a:latin typeface="Times New Roman" panose="02020603050405020304" pitchFamily="18" charset="0"/>
                          <a:cs typeface="Times New Roman" panose="02020603050405020304" pitchFamily="18" charset="0"/>
                        </a:rPr>
                        <a:t>Breaks down the infected files or malware types seen in an incident, making it easy to see which files need to be blocklisted first.</a:t>
                      </a:r>
                    </a:p>
                  </a:txBody>
                  <a:tcPr marL="85432" marR="85432" marT="56955" marB="569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17745253"/>
                  </a:ext>
                </a:extLst>
              </a:tr>
            </a:tbl>
          </a:graphicData>
        </a:graphic>
      </p:graphicFrame>
    </p:spTree>
    <p:extLst>
      <p:ext uri="{BB962C8B-B14F-4D97-AF65-F5344CB8AC3E}">
        <p14:creationId xmlns:p14="http://schemas.microsoft.com/office/powerpoint/2010/main" val="3415148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9E49-CD9D-462A-9C8F-D79332FC9F49}"/>
              </a:ext>
            </a:extLst>
          </p:cNvPr>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Best Practices for Security Dashboard Design</a:t>
            </a:r>
          </a:p>
        </p:txBody>
      </p:sp>
      <p:sp>
        <p:nvSpPr>
          <p:cNvPr id="3" name="Content Placeholder 2">
            <a:extLst>
              <a:ext uri="{FF2B5EF4-FFF2-40B4-BE49-F238E27FC236}">
                <a16:creationId xmlns:a16="http://schemas.microsoft.com/office/drawing/2014/main" id="{10C25F2E-04E9-4F27-ACA4-C3D348317783}"/>
              </a:ext>
            </a:extLst>
          </p:cNvPr>
          <p:cNvSpPr>
            <a:spLocks noGrp="1"/>
          </p:cNvSpPr>
          <p:nvPr>
            <p:ph idx="1"/>
          </p:nvPr>
        </p:nvSpPr>
        <p:spPr>
          <a:xfrm>
            <a:off x="838199" y="1446246"/>
            <a:ext cx="10961451" cy="4730818"/>
          </a:xfrm>
        </p:spPr>
        <p:txBody>
          <a:bodyPr>
            <a:normAutofit/>
          </a:bodyPr>
          <a:lstStyle/>
          <a:p>
            <a:pPr marL="0" indent="0" algn="just">
              <a:buNone/>
            </a:pPr>
            <a:r>
              <a:rPr lang="en-US" sz="2400">
                <a:solidFill>
                  <a:schemeClr val="accent3"/>
                </a:solidFill>
                <a:latin typeface="Times New Roman" panose="02020603050405020304" pitchFamily="18" charset="0"/>
                <a:cs typeface="Times New Roman" panose="02020603050405020304" pitchFamily="18" charset="0"/>
              </a:rPr>
              <a:t>Effective dashboards follow these core principles:</a:t>
            </a:r>
          </a:p>
          <a:p>
            <a:pPr algn="just"/>
            <a:r>
              <a:rPr lang="en-US" sz="2400" b="1">
                <a:latin typeface="Times New Roman" panose="02020603050405020304" pitchFamily="18" charset="0"/>
                <a:cs typeface="Times New Roman" panose="02020603050405020304" pitchFamily="18" charset="0"/>
              </a:rPr>
              <a:t>Know Your Audience:</a:t>
            </a:r>
            <a:r>
              <a:rPr lang="en-US" sz="2400">
                <a:latin typeface="Times New Roman" panose="02020603050405020304" pitchFamily="18" charset="0"/>
                <a:cs typeface="Times New Roman" panose="02020603050405020304" pitchFamily="18" charset="0"/>
              </a:rPr>
              <a:t> The </a:t>
            </a:r>
            <a:r>
              <a:rPr lang="en-US" sz="2400" b="1">
                <a:latin typeface="Times New Roman" panose="02020603050405020304" pitchFamily="18" charset="0"/>
                <a:cs typeface="Times New Roman" panose="02020603050405020304" pitchFamily="18" charset="0"/>
              </a:rPr>
              <a:t>Executive Dashboard</a:t>
            </a:r>
            <a:r>
              <a:rPr lang="en-US" sz="2400">
                <a:latin typeface="Times New Roman" panose="02020603050405020304" pitchFamily="18" charset="0"/>
                <a:cs typeface="Times New Roman" panose="02020603050405020304" pitchFamily="18" charset="0"/>
              </a:rPr>
              <a:t> (high-level, focused on overall risk) must be different from the </a:t>
            </a:r>
            <a:r>
              <a:rPr lang="en-US" sz="2400" b="1">
                <a:latin typeface="Times New Roman" panose="02020603050405020304" pitchFamily="18" charset="0"/>
                <a:cs typeface="Times New Roman" panose="02020603050405020304" pitchFamily="18" charset="0"/>
              </a:rPr>
              <a:t>Tier 1 Analyst Dashboard</a:t>
            </a:r>
            <a:r>
              <a:rPr lang="en-US" sz="2400">
                <a:latin typeface="Times New Roman" panose="02020603050405020304" pitchFamily="18" charset="0"/>
                <a:cs typeface="Times New Roman" panose="02020603050405020304" pitchFamily="18" charset="0"/>
              </a:rPr>
              <a:t> (real-time alerts, raw log access, focused on speed).</a:t>
            </a:r>
          </a:p>
          <a:p>
            <a:pPr algn="just"/>
            <a:r>
              <a:rPr lang="en-US" sz="2400" b="1">
                <a:latin typeface="Times New Roman" panose="02020603050405020304" pitchFamily="18" charset="0"/>
                <a:cs typeface="Times New Roman" panose="02020603050405020304" pitchFamily="18" charset="0"/>
              </a:rPr>
              <a:t> Colour Coding:</a:t>
            </a:r>
            <a:r>
              <a:rPr lang="en-US" sz="2400">
                <a:latin typeface="Times New Roman" panose="02020603050405020304" pitchFamily="18" charset="0"/>
                <a:cs typeface="Times New Roman" panose="02020603050405020304" pitchFamily="18" charset="0"/>
              </a:rPr>
              <a:t> Use colour consistently and sparingly to convey severity: </a:t>
            </a:r>
            <a:r>
              <a:rPr lang="en-US" sz="2400" b="1">
                <a:latin typeface="Times New Roman" panose="02020603050405020304" pitchFamily="18" charset="0"/>
                <a:cs typeface="Times New Roman" panose="02020603050405020304" pitchFamily="18" charset="0"/>
              </a:rPr>
              <a:t>Red</a:t>
            </a:r>
            <a:r>
              <a:rPr lang="en-US" sz="2400">
                <a:latin typeface="Times New Roman" panose="02020603050405020304" pitchFamily="18" charset="0"/>
                <a:cs typeface="Times New Roman" panose="02020603050405020304" pitchFamily="18" charset="0"/>
              </a:rPr>
              <a:t> (Critical/High), </a:t>
            </a:r>
            <a:r>
              <a:rPr lang="en-US" sz="2400" b="1">
                <a:latin typeface="Times New Roman" panose="02020603050405020304" pitchFamily="18" charset="0"/>
                <a:cs typeface="Times New Roman" panose="02020603050405020304" pitchFamily="18" charset="0"/>
              </a:rPr>
              <a:t>Yellow/Orange</a:t>
            </a:r>
            <a:r>
              <a:rPr lang="en-US" sz="2400">
                <a:latin typeface="Times New Roman" panose="02020603050405020304" pitchFamily="18" charset="0"/>
                <a:cs typeface="Times New Roman" panose="02020603050405020304" pitchFamily="18" charset="0"/>
              </a:rPr>
              <a:t> (Medium/Warning), </a:t>
            </a:r>
            <a:r>
              <a:rPr lang="en-US" sz="2400" b="1">
                <a:latin typeface="Times New Roman" panose="02020603050405020304" pitchFamily="18" charset="0"/>
                <a:cs typeface="Times New Roman" panose="02020603050405020304" pitchFamily="18" charset="0"/>
              </a:rPr>
              <a:t>Green</a:t>
            </a:r>
            <a:r>
              <a:rPr lang="en-US" sz="2400">
                <a:latin typeface="Times New Roman" panose="02020603050405020304" pitchFamily="18" charset="0"/>
                <a:cs typeface="Times New Roman" panose="02020603050405020304" pitchFamily="18" charset="0"/>
              </a:rPr>
              <a:t> (Normal/Healthy).</a:t>
            </a:r>
          </a:p>
          <a:p>
            <a:pPr algn="just"/>
            <a:r>
              <a:rPr lang="en-US" sz="2400" b="1">
                <a:latin typeface="Times New Roman" panose="02020603050405020304" pitchFamily="18" charset="0"/>
                <a:cs typeface="Times New Roman" panose="02020603050405020304" pitchFamily="18" charset="0"/>
              </a:rPr>
              <a:t>Actionable Data:</a:t>
            </a:r>
            <a:r>
              <a:rPr lang="en-US" sz="2400">
                <a:latin typeface="Times New Roman" panose="02020603050405020304" pitchFamily="18" charset="0"/>
                <a:cs typeface="Times New Roman" panose="02020603050405020304" pitchFamily="18" charset="0"/>
              </a:rPr>
              <a:t> Every visualization should prompt a question or an action. If a widget shows interesting data but doesn't help the analyst decide what to do next, it's often considered "noise."</a:t>
            </a:r>
          </a:p>
          <a:p>
            <a:pPr algn="just"/>
            <a:r>
              <a:rPr lang="en-US" sz="2400" b="1">
                <a:latin typeface="Times New Roman" panose="02020603050405020304" pitchFamily="18" charset="0"/>
                <a:cs typeface="Times New Roman" panose="02020603050405020304" pitchFamily="18" charset="0"/>
              </a:rPr>
              <a:t>Drill-Down Capability:</a:t>
            </a:r>
            <a:r>
              <a:rPr lang="en-US" sz="2400">
                <a:latin typeface="Times New Roman" panose="02020603050405020304" pitchFamily="18" charset="0"/>
                <a:cs typeface="Times New Roman" panose="02020603050405020304" pitchFamily="18" charset="0"/>
              </a:rPr>
              <a:t> Analysts must be able to click on any visualization (e.g., a bar on a chart) and immediately </a:t>
            </a:r>
            <a:r>
              <a:rPr lang="en-US" sz="2400" b="1">
                <a:latin typeface="Times New Roman" panose="02020603050405020304" pitchFamily="18" charset="0"/>
                <a:cs typeface="Times New Roman" panose="02020603050405020304" pitchFamily="18" charset="0"/>
              </a:rPr>
              <a:t>drill down</a:t>
            </a:r>
            <a:r>
              <a:rPr lang="en-US" sz="2400">
                <a:latin typeface="Times New Roman" panose="02020603050405020304" pitchFamily="18" charset="0"/>
                <a:cs typeface="Times New Roman" panose="02020603050405020304" pitchFamily="18" charset="0"/>
              </a:rPr>
              <a:t> to see the raw log events that make up that data point.</a:t>
            </a:r>
          </a:p>
          <a:p>
            <a:endParaRPr lang="en-US"/>
          </a:p>
          <a:p>
            <a:endParaRPr lang="en-US"/>
          </a:p>
        </p:txBody>
      </p:sp>
    </p:spTree>
    <p:extLst>
      <p:ext uri="{BB962C8B-B14F-4D97-AF65-F5344CB8AC3E}">
        <p14:creationId xmlns:p14="http://schemas.microsoft.com/office/powerpoint/2010/main" val="2908863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8E7C6-0AAA-4A34-B6E9-DFA178CA8F90}"/>
              </a:ext>
            </a:extLst>
          </p:cNvPr>
          <p:cNvSpPr>
            <a:spLocks noGrp="1"/>
          </p:cNvSpPr>
          <p:nvPr>
            <p:ph type="title"/>
          </p:nvPr>
        </p:nvSpPr>
        <p:spPr>
          <a:xfrm>
            <a:off x="838199" y="365126"/>
            <a:ext cx="10971179" cy="1325563"/>
          </a:xfrm>
        </p:spPr>
        <p:txBody>
          <a:bodyPr>
            <a:normAutofit/>
          </a:bodyPr>
          <a:lstStyle/>
          <a:p>
            <a:r>
              <a:rPr lang="en-US" sz="3200">
                <a:solidFill>
                  <a:srgbClr val="00B0F0"/>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418CCD23-58CD-4609-82DA-BBCAC7FD6DC2}"/>
              </a:ext>
            </a:extLst>
          </p:cNvPr>
          <p:cNvSpPr>
            <a:spLocks noGrp="1" noChangeArrowheads="1"/>
          </p:cNvSpPr>
          <p:nvPr>
            <p:ph idx="1"/>
          </p:nvPr>
        </p:nvSpPr>
        <p:spPr bwMode="auto">
          <a:xfrm>
            <a:off x="749029" y="1398349"/>
            <a:ext cx="115791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CrowdStrike. (2025).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2025 global threat report</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2"/>
              </a:rPr>
              <a:t>https://www.crowdstrike.com/global-threat-report/</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Forrester Research. (2025).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Forrester Wave™: Enterprise firewalls, Q1 2025</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3"/>
              </a:rPr>
              <a:t>https://www.forrester.com/report/The-Forrester-Wave-Enterprise-Firewalls-Q1-2025</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Gartner, Inc. (2025a).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Definition: Next-generation firewall (NGFW)</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4"/>
              </a:rPr>
              <a:t>https://www.gartner.com/en/information-technology/glossary/next-generation-firewall-ngfw</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Gartner, Inc. (2025b).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Magic Quadrant for endpoint protection platforms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5"/>
              </a:rPr>
              <a:t>https://www.gartner.com/en/documents/4012345</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Gartner, Inc. (2025c).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Magic Quadrant for network firewalls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5"/>
              </a:rPr>
              <a:t>https://www.gartner.com/en/documents/4012345</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Gartner, Inc. (2025d).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Magic Quadrant for security information and event management</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6"/>
              </a:rPr>
              <a:t>https://www.gartner.com/en/documents/4001234</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International Organization for Standardization. (2022).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ISO/IEC 27001:2022—Information security management systems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7"/>
              </a:rPr>
              <a:t>https://www.iso.org/standard/27001</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Kent, S., &amp; Seo, K. (2005).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Security architecture for the Internet Protocol</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(RFC 4301). Internet Engineering Task Force.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8"/>
              </a:rPr>
              <a:t>https://doi.org/10.17487/RFC4301</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MITRE Corporation. (2025).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MITRE ATT&amp;CK® framework</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(Version 15).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9"/>
              </a:rPr>
              <a:t>https://attack.mitre.org</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National Institute of Standards and Technology. (2006).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 to computer security log management</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(NIST Special Publication 800-92).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0"/>
              </a:rPr>
              <a:t>https://doi.org/10.6028/NIST.SP.800-92</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National Institute of Standards and Technology. (2009).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Guidelines on firewalls and firewall policy</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(NIST Special Publication 800-41 Rev. 1).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1"/>
              </a:rPr>
              <a:t>https://doi.org/10.6028/NIST.SP.800-41r1</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National Institute of Standards and Technology. (2020).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Zero trust architecture</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(NIST Special Publication 800-207).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2"/>
              </a:rPr>
              <a:t>https://doi.org/10.6028/NIST.SP.800-207</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National Institute of Standards and Technology. (2023).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Cybersecurity event recovery</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(NIST Internal Report 8011).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3"/>
              </a:rPr>
              <a:t>https://doi.org/10.6028/NIST.IR.8011</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Open Information Security Foundation. (2025).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Suricata user guide</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(Version 7.0).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4"/>
              </a:rPr>
              <a:t>https://suricata.readthedocs.io</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SANS Institute. (2023).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Intrusion detection FAQ</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5"/>
              </a:rPr>
              <a:t>https://www.sans.org/reading-room/whitepapers/intrusion</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SANS Institute. (2024).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Incident handler’s handbook</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6"/>
              </a:rPr>
              <a:t>https://www.sans.org/reading-room/whitepapers/incident</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Scarfone, K., &amp; Mell, P. (2007).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 to intrusion detection and prevention systems (IDPS)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(NIST Special Publication 800-94). National Institute of Standards and Technology.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7"/>
              </a:rPr>
              <a:t>https://doi.org/10.6028/NIST.SP.800-94</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Snort Team. (2025). </a:t>
            </a:r>
            <a:r>
              <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Snort 3 user manual</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Cisco Systems. </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18"/>
              </a:rPr>
              <a:t>https://www.snort.org/documents</a:t>
            </a: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54298"/>
      </p:ext>
    </p:extLst>
  </p:cSld>
  <p:clrMapOvr>
    <a:masterClrMapping/>
  </p:clrMapOvr>
</p:sld>
</file>

<file path=ppt/theme/theme1.xml><?xml version="1.0" encoding="utf-8"?>
<a:theme xmlns:a="http://schemas.openxmlformats.org/drawingml/2006/main" name="1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37E2DD-5E8D-4CFD-AEA3-CA161463E865}">
  <ds:schemaRefs>
    <ds:schemaRef ds:uri="084f926a-dc4b-4f8e-a8dc-31dc72d5ae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5615DAC-B984-4AAF-8BD9-FE05D1027CE5}"/>
</file>

<file path=customXml/itemProps3.xml><?xml version="1.0" encoding="utf-8"?>
<ds:datastoreItem xmlns:ds="http://schemas.openxmlformats.org/officeDocument/2006/customXml" ds:itemID="{A2652E3B-3DE4-4846-8EDD-6928445758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1</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1_Office Theme</vt:lpstr>
      <vt:lpstr>Lecture 9</vt:lpstr>
      <vt:lpstr>Objective</vt:lpstr>
      <vt:lpstr>SOC Tools &amp; Technologies </vt:lpstr>
      <vt:lpstr>Supporting capabilities include: SOC Tools &amp; Technologies </vt:lpstr>
      <vt:lpstr>PowerPoint Presentation</vt:lpstr>
      <vt:lpstr>SOC Tools List</vt:lpstr>
      <vt:lpstr>SOC Tools List</vt:lpstr>
      <vt:lpstr>SOC Tools List</vt:lpstr>
      <vt:lpstr>SOC Tools List</vt:lpstr>
      <vt:lpstr>Standard SOC tools:  SIEM, EDR, IDS/IPS, firewalls</vt:lpstr>
      <vt:lpstr>Standard SOC Tools</vt:lpstr>
      <vt:lpstr>SIEM – Security Information and Event Management The "Brain" of the SOC </vt:lpstr>
      <vt:lpstr>EDR – Endpoint Detection and Response The "Immune System" for Laptops, Servers, and Workstations  </vt:lpstr>
      <vt:lpstr>IDS/IPS – Intrusion Detection / Prevention System The "Traffic Cop" of the Network </vt:lpstr>
      <vt:lpstr>Firewalls – The "Gatekeeper" The First and Last Line of Network Defense </vt:lpstr>
      <vt:lpstr>Work Together</vt:lpstr>
      <vt:lpstr>Log management and analytics </vt:lpstr>
      <vt:lpstr>Log Management &amp; Analytics</vt:lpstr>
      <vt:lpstr>Log Management </vt:lpstr>
      <vt:lpstr>Log Analytics </vt:lpstr>
      <vt:lpstr>Key Menus in SOC Tools for Log Management &amp; Analytics</vt:lpstr>
      <vt:lpstr>Example Scenario 1</vt:lpstr>
      <vt:lpstr>Q&amp;A </vt:lpstr>
      <vt:lpstr>Example Scenario 2</vt:lpstr>
      <vt:lpstr>Q&amp;A </vt:lpstr>
      <vt:lpstr>Security dashboards and visualization </vt:lpstr>
      <vt:lpstr>Dashboards and Visualization in the SOC</vt:lpstr>
      <vt:lpstr>Primary security functions and benefits of using Dashboards and Visualizations </vt:lpstr>
      <vt:lpstr>Real-Time Threat Landscape Dashboard</vt:lpstr>
      <vt:lpstr>User &amp; Entity Behavior Analytics (UEBA) Dashboard</vt:lpstr>
      <vt:lpstr>Threat Hunting &amp; Forensics Visualizations</vt:lpstr>
      <vt:lpstr>Best Practices for Security Dashboard Design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dc:title>
  <dc:creator>Shaima Al Hashmi</dc:creator>
  <cp:revision>2</cp:revision>
  <dcterms:created xsi:type="dcterms:W3CDTF">2024-04-29T06:42:00Z</dcterms:created>
  <dcterms:modified xsi:type="dcterms:W3CDTF">2025-11-29T15:24:36Z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E0FEFBDD147E4F358C32CE2E820E8241_13</vt:lpwstr>
  </property>
  <property fmtid="{D5CDD505-2E9C-101B-9397-08002B2CF9AE}" pid="3" name="KSOProductBuildVer">
    <vt:lpwstr>1033-12.2.0.18607</vt:lpwstr>
  </property>
  <property fmtid="{D5CDD505-2E9C-101B-9397-08002B2CF9AE}" pid="4" name="ContentTypeId">
    <vt:lpwstr>0x010100247F44AC08C22843AA6B00621437D67C</vt:lpwstr>
  </property>
  <property fmtid="{D5CDD505-2E9C-101B-9397-08002B2CF9AE}" pid="5" name="MSIP_Label_defa4170-0d19-0005-0004-bc88714345d2_Enabled">
    <vt:lpwstr>true</vt:lpwstr>
  </property>
  <property fmtid="{D5CDD505-2E9C-101B-9397-08002B2CF9AE}" pid="6" name="MSIP_Label_defa4170-0d19-0005-0004-bc88714345d2_SetDate">
    <vt:lpwstr>2024-11-06T12:35:43Z</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iteId">
    <vt:lpwstr>dc2b733b-a224-4576-9839-d0ca720b0032</vt:lpwstr>
  </property>
  <property fmtid="{D5CDD505-2E9C-101B-9397-08002B2CF9AE}" pid="10" name="MSIP_Label_defa4170-0d19-0005-0004-bc88714345d2_ActionId">
    <vt:lpwstr>23cb4809-288c-49ae-9897-c5ccec5527d6</vt:lpwstr>
  </property>
  <property fmtid="{D5CDD505-2E9C-101B-9397-08002B2CF9AE}" pid="11" name="MSIP_Label_defa4170-0d19-0005-0004-bc88714345d2_ContentBits">
    <vt:lpwstr>0</vt:lpwstr>
  </property>
  <property fmtid="{D5CDD505-2E9C-101B-9397-08002B2CF9AE}" pid="12" name="MediaServiceImageTags">
    <vt:lpwstr/>
  </property>
</Properties>
</file>