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7"/>
  </p:notesMasterIdLst>
  <p:handoutMasterIdLst>
    <p:handoutMasterId r:id="rId38"/>
  </p:handoutMasterIdLst>
  <p:sldIdLst>
    <p:sldId id="256" r:id="rId5"/>
    <p:sldId id="257" r:id="rId6"/>
    <p:sldId id="312" r:id="rId7"/>
    <p:sldId id="261" r:id="rId8"/>
    <p:sldId id="316" r:id="rId9"/>
    <p:sldId id="279" r:id="rId10"/>
    <p:sldId id="291" r:id="rId11"/>
    <p:sldId id="292" r:id="rId12"/>
    <p:sldId id="280" r:id="rId13"/>
    <p:sldId id="293" r:id="rId14"/>
    <p:sldId id="317" r:id="rId15"/>
    <p:sldId id="294" r:id="rId16"/>
    <p:sldId id="281" r:id="rId17"/>
    <p:sldId id="290" r:id="rId18"/>
    <p:sldId id="313" r:id="rId19"/>
    <p:sldId id="262" r:id="rId20"/>
    <p:sldId id="296" r:id="rId21"/>
    <p:sldId id="299" r:id="rId22"/>
    <p:sldId id="300" r:id="rId23"/>
    <p:sldId id="297" r:id="rId24"/>
    <p:sldId id="298" r:id="rId25"/>
    <p:sldId id="314" r:id="rId26"/>
    <p:sldId id="302" r:id="rId27"/>
    <p:sldId id="303" r:id="rId28"/>
    <p:sldId id="306" r:id="rId29"/>
    <p:sldId id="304" r:id="rId30"/>
    <p:sldId id="305" r:id="rId31"/>
    <p:sldId id="307" r:id="rId32"/>
    <p:sldId id="315" r:id="rId33"/>
    <p:sldId id="309" r:id="rId34"/>
    <p:sldId id="311" r:id="rId35"/>
    <p:sldId id="295"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6825"/>
    <a:srgbClr val="2559A9"/>
    <a:srgbClr val="F10DD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908B4E-19E1-8F99-C090-FC5380C7FCB2}" v="1" dt="2025-11-29T15:25:53.5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esh Palanisamy" userId="S::ramesh.palanisamy@utas.edu.om::721e7cac-68d7-46e3-a727-fadb77a4b8c9" providerId="AD" clId="Web-{1E1387BF-FE2B-3127-A338-0EAC79AB18C0}"/>
    <pc:docChg chg="mod addSld modSld">
      <pc:chgData name="Ramesh Palanisamy" userId="S::ramesh.palanisamy@utas.edu.om::721e7cac-68d7-46e3-a727-fadb77a4b8c9" providerId="AD" clId="Web-{1E1387BF-FE2B-3127-A338-0EAC79AB18C0}" dt="2024-04-22T08:53:35.861" v="83" actId="20577"/>
      <pc:docMkLst>
        <pc:docMk/>
      </pc:docMkLst>
      <pc:sldChg chg="modSp">
        <pc:chgData name="Ramesh Palanisamy" userId="S::ramesh.palanisamy@utas.edu.om::721e7cac-68d7-46e3-a727-fadb77a4b8c9" providerId="AD" clId="Web-{1E1387BF-FE2B-3127-A338-0EAC79AB18C0}" dt="2024-04-22T08:53:35.861" v="83" actId="20577"/>
        <pc:sldMkLst>
          <pc:docMk/>
          <pc:sldMk cId="327480019" sldId="295"/>
        </pc:sldMkLst>
        <pc:spChg chg="mod">
          <ac:chgData name="Ramesh Palanisamy" userId="S::ramesh.palanisamy@utas.edu.om::721e7cac-68d7-46e3-a727-fadb77a4b8c9" providerId="AD" clId="Web-{1E1387BF-FE2B-3127-A338-0EAC79AB18C0}" dt="2024-04-22T08:53:35.861" v="83" actId="20577"/>
          <ac:spMkLst>
            <pc:docMk/>
            <pc:sldMk cId="327480019" sldId="295"/>
            <ac:spMk id="3" creationId="{00000000-0000-0000-0000-000000000000}"/>
          </ac:spMkLst>
        </pc:spChg>
      </pc:sldChg>
      <pc:sldChg chg="new">
        <pc:chgData name="Ramesh Palanisamy" userId="S::ramesh.palanisamy@utas.edu.om::721e7cac-68d7-46e3-a727-fadb77a4b8c9" providerId="AD" clId="Web-{1E1387BF-FE2B-3127-A338-0EAC79AB18C0}" dt="2024-04-22T08:48:03.964" v="1"/>
        <pc:sldMkLst>
          <pc:docMk/>
          <pc:sldMk cId="3739484200" sldId="316"/>
        </pc:sldMkLst>
      </pc:sldChg>
    </pc:docChg>
  </pc:docChgLst>
  <pc:docChgLst>
    <pc:chgData clId="Web-{F7908B4E-19E1-8F99-C090-FC5380C7FCB2}"/>
    <pc:docChg chg="modSld">
      <pc:chgData name="" userId="" providerId="" clId="Web-{F7908B4E-19E1-8F99-C090-FC5380C7FCB2}" dt="2025-11-29T15:25:53.577" v="0" actId="20577"/>
      <pc:docMkLst>
        <pc:docMk/>
      </pc:docMkLst>
      <pc:sldChg chg="modSp">
        <pc:chgData name="" userId="" providerId="" clId="Web-{F7908B4E-19E1-8F99-C090-FC5380C7FCB2}" dt="2025-11-29T15:25:53.577" v="0" actId="20577"/>
        <pc:sldMkLst>
          <pc:docMk/>
          <pc:sldMk cId="4193284590" sldId="256"/>
        </pc:sldMkLst>
        <pc:spChg chg="mod">
          <ac:chgData name="" userId="" providerId="" clId="Web-{F7908B4E-19E1-8F99-C090-FC5380C7FCB2}" dt="2025-11-29T15:25:53.577" v="0" actId="20577"/>
          <ac:spMkLst>
            <pc:docMk/>
            <pc:sldMk cId="4193284590" sldId="256"/>
            <ac:spMk id="2" creationId="{62BC5BB2-0847-90FD-A4B9-58B4E1F0AEA3}"/>
          </ac:spMkLst>
        </pc:spChg>
      </pc:sldChg>
    </pc:docChg>
  </pc:docChgLst>
  <pc:docChgLst>
    <pc:chgData name="Ramesh Palanisamy" userId="S::ramesh.palanisamy@utas.edu.om::721e7cac-68d7-46e3-a727-fadb77a4b8c9" providerId="AD" clId="Web-{1A7DCBBF-EA47-8044-A629-7F39FA30F2E7}"/>
    <pc:docChg chg="delSld">
      <pc:chgData name="Ramesh Palanisamy" userId="S::ramesh.palanisamy@utas.edu.om::721e7cac-68d7-46e3-a727-fadb77a4b8c9" providerId="AD" clId="Web-{1A7DCBBF-EA47-8044-A629-7F39FA30F2E7}" dt="2024-04-22T08:54:23.218" v="0"/>
      <pc:docMkLst>
        <pc:docMk/>
      </pc:docMkLst>
      <pc:sldChg chg="del">
        <pc:chgData name="Ramesh Palanisamy" userId="S::ramesh.palanisamy@utas.edu.om::721e7cac-68d7-46e3-a727-fadb77a4b8c9" providerId="AD" clId="Web-{1A7DCBBF-EA47-8044-A629-7F39FA30F2E7}" dt="2024-04-22T08:54:23.218" v="0"/>
        <pc:sldMkLst>
          <pc:docMk/>
          <pc:sldMk cId="3739484200" sldId="316"/>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1BFA59A-D724-46A9-AD52-9DF73C30E55B}" type="datetimeFigureOut">
              <a:rPr lang="en-US" smtClean="0"/>
              <a:t>11/29/2025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CSSY4103 - Security Operations Centre (SOC)</a:t>
            </a: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F5EFE01-2A62-49AF-91C2-A1366A71C3F9}" type="slidenum">
              <a:rPr lang="en-US" smtClean="0"/>
              <a:t>‹#›</a:t>
            </a:fld>
            <a:endParaRPr lang="en-US"/>
          </a:p>
        </p:txBody>
      </p:sp>
    </p:spTree>
    <p:extLst>
      <p:ext uri="{BB962C8B-B14F-4D97-AF65-F5344CB8AC3E}">
        <p14:creationId xmlns:p14="http://schemas.microsoft.com/office/powerpoint/2010/main" val="530614248"/>
      </p:ext>
    </p:extLst>
  </p:cSld>
  <p:clrMap bg1="lt1" tx1="dk1" bg2="lt2" tx2="dk2" accent1="accent1" accent2="accent2" accent3="accent3" accent4="accent4" accent5="accent5" accent6="accent6" hlink="hlink" folHlink="folHlink"/>
  <p:hf sldNum="0"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A89062-1914-4D89-83F8-75F7DEB73700}" type="datetimeFigureOut">
              <a:rPr lang="en-US" smtClean="0"/>
              <a:t>11/29/2025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CSSY4103 - Security Operations Centre (SOC)</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46D064-CDE1-4DB8-B563-CA2CEBF77232}" type="slidenum">
              <a:rPr lang="en-US" smtClean="0"/>
              <a:t>‹#›</a:t>
            </a:fld>
            <a:endParaRPr lang="en-US"/>
          </a:p>
        </p:txBody>
      </p:sp>
    </p:spTree>
    <p:extLst>
      <p:ext uri="{BB962C8B-B14F-4D97-AF65-F5344CB8AC3E}">
        <p14:creationId xmlns:p14="http://schemas.microsoft.com/office/powerpoint/2010/main" val="2111736061"/>
      </p:ext>
    </p:extLst>
  </p:cSld>
  <p:clrMap bg1="lt1" tx1="dk1" bg2="lt2" tx2="dk2" accent1="accent1" accent2="accent2" accent3="accent3" accent4="accent4" accent5="accent5" accent6="accent6" hlink="hlink" folHlink="folHlink"/>
  <p:hf sldNum="0"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imperva.com/learn/data-security/sensitive-data/"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Insider Threat Identification: UEBA is particularly effective in identifying malicious or negligent activities by insiders. Since these users have legitimate access to systems, their harmful actions can be more complex to detect with conventional security tools.</a:t>
            </a:r>
          </a:p>
          <a:p>
            <a:r>
              <a:rPr lang="en-US" sz="1200" b="0" i="0" kern="1200">
                <a:solidFill>
                  <a:schemeClr val="tx1"/>
                </a:solidFill>
                <a:effectLst/>
                <a:latin typeface="+mn-lt"/>
                <a:ea typeface="+mn-ea"/>
                <a:cs typeface="+mn-cs"/>
              </a:rPr>
              <a:t>Behavioral Profiling and Risk Scoring: UEBA tools often include behavioral profiling and risk scoring mechanisms. These features help prioritize security alerts, allowing security teams to focus on the most critical issues.</a:t>
            </a:r>
          </a:p>
          <a:p>
            <a:r>
              <a:rPr lang="en-US" sz="1200" b="0" i="0" kern="1200">
                <a:solidFill>
                  <a:schemeClr val="tx1"/>
                </a:solidFill>
                <a:effectLst/>
                <a:latin typeface="+mn-lt"/>
                <a:ea typeface="+mn-ea"/>
                <a:cs typeface="+mn-cs"/>
              </a:rPr>
              <a:t>Compliance and Regulatory Requirements: Many industries have stringent data protection and privacy requirements. UEBA helps meet these requirements by providing detailed insights into user behaviors and ensuring that anomalous activities are quickly identified and addressed.</a:t>
            </a:r>
          </a:p>
          <a:p>
            <a:r>
              <a:rPr lang="en-US" sz="1200" b="0" i="0" kern="1200">
                <a:solidFill>
                  <a:schemeClr val="tx1"/>
                </a:solidFill>
                <a:effectLst/>
                <a:latin typeface="+mn-lt"/>
                <a:ea typeface="+mn-ea"/>
                <a:cs typeface="+mn-cs"/>
              </a:rPr>
              <a:t>Advanced Threat Detection: UEBA systems use advanced analytics to identify abnormal behavior or anomalies in user activities. This is crucial in detecting sophisticated cyber threats that traditional security measures might miss, such as insider threats, compromised accounts, or advanced persistent threats (APTs).</a:t>
            </a:r>
          </a:p>
          <a:p>
            <a:r>
              <a:rPr lang="en-US" sz="1200" b="0" i="0" kern="1200">
                <a:solidFill>
                  <a:schemeClr val="tx1"/>
                </a:solidFill>
                <a:effectLst/>
                <a:latin typeface="+mn-lt"/>
                <a:ea typeface="+mn-ea"/>
                <a:cs typeface="+mn-cs"/>
              </a:rPr>
              <a:t>Improved Security Posture: By integrating UEBA into their security strategy, businesses can enhance their security posture. UEBA provides a deeper and more nuanced view of user activities, which helps identify and mitigate risks more effectively.</a:t>
            </a:r>
          </a:p>
          <a:p>
            <a:r>
              <a:rPr lang="en-US" sz="1200" b="0" i="0" kern="1200">
                <a:solidFill>
                  <a:schemeClr val="tx1"/>
                </a:solidFill>
                <a:effectLst/>
                <a:latin typeface="+mn-lt"/>
                <a:ea typeface="+mn-ea"/>
                <a:cs typeface="+mn-cs"/>
              </a:rPr>
              <a:t>Data Loss Prevention: UEBA can help prevent data breaches and loss by monitoring user behavior. It can detect unusual access patterns or data transfers that may indicate a data leak or theft attempt.</a:t>
            </a:r>
          </a:p>
          <a:p>
            <a:r>
              <a:rPr lang="en-US" sz="1200" b="0" i="0" kern="1200">
                <a:solidFill>
                  <a:schemeClr val="tx1"/>
                </a:solidFill>
                <a:effectLst/>
                <a:latin typeface="+mn-lt"/>
                <a:ea typeface="+mn-ea"/>
                <a:cs typeface="+mn-cs"/>
              </a:rPr>
              <a:t>Efficient Incident Response: In the event of a security incident, UEBA tools can provide detailed context and user activity records. This information is crucial for a rapid and effective incident response, helping minimize the impact of security breaches.</a:t>
            </a:r>
          </a:p>
          <a:p>
            <a:r>
              <a:rPr lang="en-US" sz="1200" b="0" i="0" kern="1200">
                <a:solidFill>
                  <a:schemeClr val="tx1"/>
                </a:solidFill>
                <a:effectLst/>
                <a:latin typeface="+mn-lt"/>
                <a:ea typeface="+mn-ea"/>
                <a:cs typeface="+mn-cs"/>
              </a:rPr>
              <a:t>Automated Response and Remediation: Advanced UEBA solutions can integrate with other security tools to automate responses to detected threats. This reduces the time and effort required for remediation and enhances the overall efficiency of the security operations center (SOC).</a:t>
            </a:r>
          </a:p>
          <a:p>
            <a:r>
              <a:rPr lang="en-US" sz="1200" b="0" i="0" kern="1200">
                <a:solidFill>
                  <a:schemeClr val="tx1"/>
                </a:solidFill>
                <a:effectLst/>
                <a:latin typeface="+mn-lt"/>
                <a:ea typeface="+mn-ea"/>
                <a:cs typeface="+mn-cs"/>
              </a:rPr>
              <a:t>Long-term Trend Analysis and Forensics: UEBA tools can store and analyze long-term data, which is valuable for trend analysis and forensic investigations after a security incident.</a:t>
            </a:r>
          </a:p>
          <a:p>
            <a:r>
              <a:rPr lang="en-US" sz="1200" b="0" i="0" kern="1200">
                <a:solidFill>
                  <a:schemeClr val="tx1"/>
                </a:solidFill>
                <a:effectLst/>
                <a:latin typeface="+mn-lt"/>
                <a:ea typeface="+mn-ea"/>
                <a:cs typeface="+mn-cs"/>
              </a:rPr>
              <a:t>Adapting to Evolving Threat Landscape: UEBA systems can adapt as cyber threats evolve by continuously learning from new data patterns. This helps businesses stay ahead of emerging threats.</a:t>
            </a:r>
          </a:p>
          <a:p>
            <a:endParaRPr lang="en-US"/>
          </a:p>
        </p:txBody>
      </p:sp>
      <p:sp>
        <p:nvSpPr>
          <p:cNvPr id="5" name="Footer Placeholder 4"/>
          <p:cNvSpPr>
            <a:spLocks noGrp="1"/>
          </p:cNvSpPr>
          <p:nvPr>
            <p:ph type="ftr" sz="quarter" idx="11"/>
          </p:nvPr>
        </p:nvSpPr>
        <p:spPr/>
        <p:txBody>
          <a:bodyPr/>
          <a:lstStyle/>
          <a:p>
            <a:r>
              <a:rPr lang="en-US"/>
              <a:t>CSSY4103 - Security Operations Centre (SOC)</a:t>
            </a:r>
          </a:p>
        </p:txBody>
      </p:sp>
    </p:spTree>
    <p:extLst>
      <p:ext uri="{BB962C8B-B14F-4D97-AF65-F5344CB8AC3E}">
        <p14:creationId xmlns:p14="http://schemas.microsoft.com/office/powerpoint/2010/main" val="29172826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Track Privileged Access to </a:t>
            </a:r>
            <a:r>
              <a:rPr lang="en-US" sz="1200" b="1" i="0" u="none" strike="noStrike" kern="1200">
                <a:solidFill>
                  <a:schemeClr val="tx1"/>
                </a:solidFill>
                <a:effectLst/>
                <a:latin typeface="+mn-lt"/>
                <a:ea typeface="+mn-ea"/>
                <a:cs typeface="+mn-cs"/>
                <a:hlinkClick r:id="rId3"/>
              </a:rPr>
              <a:t>Sensitive Data</a:t>
            </a:r>
            <a:r>
              <a:rPr lang="en-US" sz="1200" b="1" i="0" kern="1200">
                <a:solidFill>
                  <a:schemeClr val="tx1"/>
                </a:solidFill>
                <a:effectLst/>
                <a:latin typeface="+mn-lt"/>
                <a:ea typeface="+mn-ea"/>
                <a:cs typeface="+mn-cs"/>
              </a:rPr>
              <a:t>:</a:t>
            </a:r>
            <a:r>
              <a:rPr lang="en-US" sz="1200" b="0" i="0" kern="1200">
                <a:solidFill>
                  <a:schemeClr val="tx1"/>
                </a:solidFill>
                <a:effectLst/>
                <a:latin typeface="+mn-lt"/>
                <a:ea typeface="+mn-ea"/>
                <a:cs typeface="+mn-cs"/>
              </a:rPr>
              <a:t> Monitor all privileged user access to files and databases (including local system access), audit user creation and newly granted privileges, and restrict usage of shared-privileged accounts.</a:t>
            </a:r>
          </a:p>
          <a:p>
            <a:r>
              <a:rPr lang="en-US" sz="1200" b="1" i="0" kern="1200">
                <a:solidFill>
                  <a:schemeClr val="tx1"/>
                </a:solidFill>
                <a:effectLst/>
                <a:latin typeface="+mn-lt"/>
                <a:ea typeface="+mn-ea"/>
                <a:cs typeface="+mn-cs"/>
              </a:rPr>
              <a:t>Block or Alert on Suspect Activity</a:t>
            </a:r>
            <a:r>
              <a:rPr lang="en-US" sz="1200" b="0" i="0" kern="1200">
                <a:solidFill>
                  <a:schemeClr val="tx1"/>
                </a:solidFill>
                <a:effectLst/>
                <a:latin typeface="+mn-lt"/>
                <a:ea typeface="+mn-ea"/>
                <a:cs typeface="+mn-cs"/>
              </a:rPr>
              <a:t>: Identify user behavior that deviates from normal access patterns, and alert and block suspicious activities that may indicate privilege abuse. Users performing unauthorized activities should be quarantined and their privileges should be reviewed. Audit reports and analytical tools are needed to support forensic investigations.</a:t>
            </a:r>
          </a:p>
          <a:p>
            <a:r>
              <a:rPr lang="en-US" sz="1200" b="1" i="0" kern="1200">
                <a:solidFill>
                  <a:schemeClr val="tx1"/>
                </a:solidFill>
                <a:effectLst/>
                <a:latin typeface="+mn-lt"/>
                <a:ea typeface="+mn-ea"/>
                <a:cs typeface="+mn-cs"/>
              </a:rPr>
              <a:t>Identify Unauthorized Privileges Changes:</a:t>
            </a:r>
            <a:r>
              <a:rPr lang="en-US" sz="1200" b="0" i="0" kern="1200">
                <a:solidFill>
                  <a:schemeClr val="tx1"/>
                </a:solidFill>
                <a:effectLst/>
                <a:latin typeface="+mn-lt"/>
                <a:ea typeface="+mn-ea"/>
                <a:cs typeface="+mn-cs"/>
              </a:rPr>
              <a:t> Verify that changes to data objects and data systems are properly authorized. Unauthorized activities should be thoroughly investigated and controls should be implemented to prevent future incidents.</a:t>
            </a:r>
          </a:p>
          <a:p>
            <a:r>
              <a:rPr lang="en-US" sz="1200" b="1" i="0" kern="1200">
                <a:solidFill>
                  <a:schemeClr val="tx1"/>
                </a:solidFill>
                <a:effectLst/>
                <a:latin typeface="+mn-lt"/>
                <a:ea typeface="+mn-ea"/>
                <a:cs typeface="+mn-cs"/>
              </a:rPr>
              <a:t>Separation of Duties:</a:t>
            </a:r>
            <a:r>
              <a:rPr lang="en-US" sz="1200" b="0" i="0" kern="1200">
                <a:solidFill>
                  <a:schemeClr val="tx1"/>
                </a:solidFill>
                <a:effectLst/>
                <a:latin typeface="+mn-lt"/>
                <a:ea typeface="+mn-ea"/>
                <a:cs typeface="+mn-cs"/>
              </a:rPr>
              <a:t> Ensure privileged users cannot monitor themselves, since they can alter security controls to conceal their irregular activities.</a:t>
            </a:r>
          </a:p>
          <a:p>
            <a:r>
              <a:rPr lang="en-US" sz="1200" b="1" i="0" kern="1200">
                <a:solidFill>
                  <a:schemeClr val="tx1"/>
                </a:solidFill>
                <a:effectLst/>
                <a:latin typeface="+mn-lt"/>
                <a:ea typeface="+mn-ea"/>
                <a:cs typeface="+mn-cs"/>
              </a:rPr>
              <a:t>Eliminate Excessive and Unused Rights:</a:t>
            </a:r>
            <a:r>
              <a:rPr lang="en-US" sz="1200" b="0" i="0" kern="1200">
                <a:solidFill>
                  <a:schemeClr val="tx1"/>
                </a:solidFill>
                <a:effectLst/>
                <a:latin typeface="+mn-lt"/>
                <a:ea typeface="+mn-ea"/>
                <a:cs typeface="+mn-cs"/>
              </a:rPr>
              <a:t> Identify highly privileged users, verify that the privileges are necessary for the user’s role and duties, revoke excessive user rights, and remove dormant users.</a:t>
            </a:r>
          </a:p>
          <a:p>
            <a:endParaRPr lang="en-US"/>
          </a:p>
        </p:txBody>
      </p:sp>
      <p:sp>
        <p:nvSpPr>
          <p:cNvPr id="5" name="Footer Placeholder 4"/>
          <p:cNvSpPr>
            <a:spLocks noGrp="1"/>
          </p:cNvSpPr>
          <p:nvPr>
            <p:ph type="ftr" sz="quarter" idx="11"/>
          </p:nvPr>
        </p:nvSpPr>
        <p:spPr/>
        <p:txBody>
          <a:bodyPr/>
          <a:lstStyle/>
          <a:p>
            <a:r>
              <a:rPr lang="en-US"/>
              <a:t>CSSY4103 - Security Operations Centre (SOC)</a:t>
            </a:r>
          </a:p>
        </p:txBody>
      </p:sp>
    </p:spTree>
    <p:extLst>
      <p:ext uri="{BB962C8B-B14F-4D97-AF65-F5344CB8AC3E}">
        <p14:creationId xmlns:p14="http://schemas.microsoft.com/office/powerpoint/2010/main" val="1125844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a:solidFill>
                  <a:schemeClr val="tx1"/>
                </a:solidFill>
                <a:effectLst/>
                <a:latin typeface="+mn-lt"/>
                <a:ea typeface="+mn-ea"/>
                <a:cs typeface="+mn-cs"/>
              </a:rPr>
              <a:t>Data Minimization</a:t>
            </a:r>
            <a:r>
              <a:rPr lang="en-US" sz="1200" b="0" i="0" kern="1200">
                <a:solidFill>
                  <a:schemeClr val="tx1"/>
                </a:solidFill>
                <a:effectLst/>
                <a:latin typeface="+mn-lt"/>
                <a:ea typeface="+mn-ea"/>
                <a:cs typeface="+mn-cs"/>
              </a:rPr>
              <a:t>: Only collect and retain the minimum amount of personal data necessary for business purposes. Limit access to sensitive information to authorized personnel only.</a:t>
            </a:r>
          </a:p>
          <a:p>
            <a:r>
              <a:rPr lang="en-US" sz="1200" b="1" i="0" kern="1200">
                <a:solidFill>
                  <a:schemeClr val="tx1"/>
                </a:solidFill>
                <a:effectLst/>
                <a:latin typeface="+mn-lt"/>
                <a:ea typeface="+mn-ea"/>
                <a:cs typeface="+mn-cs"/>
              </a:rPr>
              <a:t>Privacy by Design</a:t>
            </a:r>
            <a:r>
              <a:rPr lang="en-US" sz="1200" b="0" i="0" kern="1200">
                <a:solidFill>
                  <a:schemeClr val="tx1"/>
                </a:solidFill>
                <a:effectLst/>
                <a:latin typeface="+mn-lt"/>
                <a:ea typeface="+mn-ea"/>
                <a:cs typeface="+mn-cs"/>
              </a:rPr>
              <a:t>: Incorporate privacy considerations into the design and development of products, services, and systems from the outset. Implement security measures such as encryption, access controls, and anonymization techniques to protect privacy.</a:t>
            </a:r>
          </a:p>
          <a:p>
            <a:r>
              <a:rPr lang="en-US" sz="1200" b="1" i="0" kern="1200">
                <a:solidFill>
                  <a:schemeClr val="tx1"/>
                </a:solidFill>
                <a:effectLst/>
                <a:latin typeface="+mn-lt"/>
                <a:ea typeface="+mn-ea"/>
                <a:cs typeface="+mn-cs"/>
              </a:rPr>
              <a:t>Transparency and Consent</a:t>
            </a:r>
            <a:r>
              <a:rPr lang="en-US" sz="1200" b="0" i="0" kern="1200">
                <a:solidFill>
                  <a:schemeClr val="tx1"/>
                </a:solidFill>
                <a:effectLst/>
                <a:latin typeface="+mn-lt"/>
                <a:ea typeface="+mn-ea"/>
                <a:cs typeface="+mn-cs"/>
              </a:rPr>
              <a:t>: Be transparent about data collection practices and obtain explicit consent from individuals before collecting their personal information. Provide clear information about how data will be used, stored, and shared.</a:t>
            </a:r>
          </a:p>
          <a:p>
            <a:r>
              <a:rPr lang="en-US" sz="1200" b="1" i="0" kern="1200">
                <a:solidFill>
                  <a:schemeClr val="tx1"/>
                </a:solidFill>
                <a:effectLst/>
                <a:latin typeface="+mn-lt"/>
                <a:ea typeface="+mn-ea"/>
                <a:cs typeface="+mn-cs"/>
              </a:rPr>
              <a:t>Data Security Measures</a:t>
            </a:r>
            <a:r>
              <a:rPr lang="en-US" sz="1200" b="0" i="0" kern="1200">
                <a:solidFill>
                  <a:schemeClr val="tx1"/>
                </a:solidFill>
                <a:effectLst/>
                <a:latin typeface="+mn-lt"/>
                <a:ea typeface="+mn-ea"/>
                <a:cs typeface="+mn-cs"/>
              </a:rPr>
              <a:t>: Implement robust security measures to protect against unauthorized access, disclosure, or alteration of personal data. Regularly assess and update security controls to mitigate emerging threats and vulnerabilities.</a:t>
            </a:r>
          </a:p>
          <a:p>
            <a:r>
              <a:rPr lang="en-US" sz="1200" b="1" i="0" kern="1200">
                <a:solidFill>
                  <a:schemeClr val="tx1"/>
                </a:solidFill>
                <a:effectLst/>
                <a:latin typeface="+mn-lt"/>
                <a:ea typeface="+mn-ea"/>
                <a:cs typeface="+mn-cs"/>
              </a:rPr>
              <a:t>User Empowerment</a:t>
            </a:r>
            <a:r>
              <a:rPr lang="en-US" sz="1200" b="0" i="0" kern="1200">
                <a:solidFill>
                  <a:schemeClr val="tx1"/>
                </a:solidFill>
                <a:effectLst/>
                <a:latin typeface="+mn-lt"/>
                <a:ea typeface="+mn-ea"/>
                <a:cs typeface="+mn-cs"/>
              </a:rPr>
              <a:t>: Empower individuals to exercise control over their personal data by providing options for accessing, correcting, or deleting their information. Respect individuals' privacy preferences and honor their requests regarding data processing.</a:t>
            </a:r>
          </a:p>
          <a:p>
            <a:r>
              <a:rPr lang="en-US" sz="1200" b="1" i="0" kern="1200">
                <a:solidFill>
                  <a:schemeClr val="tx1"/>
                </a:solidFill>
                <a:effectLst/>
                <a:latin typeface="+mn-lt"/>
                <a:ea typeface="+mn-ea"/>
                <a:cs typeface="+mn-cs"/>
              </a:rPr>
              <a:t>Privacy Impact Assessments (PIAs)</a:t>
            </a:r>
            <a:r>
              <a:rPr lang="en-US" sz="1200" b="0" i="0" kern="1200">
                <a:solidFill>
                  <a:schemeClr val="tx1"/>
                </a:solidFill>
                <a:effectLst/>
                <a:latin typeface="+mn-lt"/>
                <a:ea typeface="+mn-ea"/>
                <a:cs typeface="+mn-cs"/>
              </a:rPr>
              <a:t>: Conduct privacy impact assessments to evaluate the potential risks and implications of data processing activities on individual privacy rights. Identify and mitigate privacy risks proactively to prevent harm to individuals.</a:t>
            </a:r>
          </a:p>
          <a:p>
            <a:r>
              <a:rPr lang="en-US" sz="1200" b="1" i="0" kern="1200">
                <a:solidFill>
                  <a:schemeClr val="tx1"/>
                </a:solidFill>
                <a:effectLst/>
                <a:latin typeface="+mn-lt"/>
                <a:ea typeface="+mn-ea"/>
                <a:cs typeface="+mn-cs"/>
              </a:rPr>
              <a:t>Compliance with Regulations</a:t>
            </a:r>
            <a:r>
              <a:rPr lang="en-US" sz="1200" b="0" i="0" kern="1200">
                <a:solidFill>
                  <a:schemeClr val="tx1"/>
                </a:solidFill>
                <a:effectLst/>
                <a:latin typeface="+mn-lt"/>
                <a:ea typeface="+mn-ea"/>
                <a:cs typeface="+mn-cs"/>
              </a:rPr>
              <a:t>: Stay informed about relevant privacy regulations and ensure compliance with applicable laws, such as GDPR, CCPA, and other data protection laws. Implement policies and procedures to meet regulatory requirements and protect privacy rights.</a:t>
            </a:r>
          </a:p>
          <a:p>
            <a:r>
              <a:rPr lang="en-US" sz="1200" b="1" i="0" kern="1200">
                <a:solidFill>
                  <a:schemeClr val="tx1"/>
                </a:solidFill>
                <a:effectLst/>
                <a:latin typeface="+mn-lt"/>
                <a:ea typeface="+mn-ea"/>
                <a:cs typeface="+mn-cs"/>
              </a:rPr>
              <a:t>Training and Awareness</a:t>
            </a:r>
            <a:r>
              <a:rPr lang="en-US" sz="1200" b="0" i="0" kern="1200">
                <a:solidFill>
                  <a:schemeClr val="tx1"/>
                </a:solidFill>
                <a:effectLst/>
                <a:latin typeface="+mn-lt"/>
                <a:ea typeface="+mn-ea"/>
                <a:cs typeface="+mn-cs"/>
              </a:rPr>
              <a:t>: Provide training and awareness programs to employees on privacy best practices, security protocols, and regulatory requirements. Foster a culture of privacy and security within the organization by promoting awareness and accountability.</a:t>
            </a:r>
          </a:p>
          <a:p>
            <a:r>
              <a:rPr lang="en-US" sz="1200" b="1" i="0" kern="1200">
                <a:solidFill>
                  <a:schemeClr val="tx1"/>
                </a:solidFill>
                <a:effectLst/>
                <a:latin typeface="+mn-lt"/>
                <a:ea typeface="+mn-ea"/>
                <a:cs typeface="+mn-cs"/>
              </a:rPr>
              <a:t>Incident Response and Notification</a:t>
            </a:r>
            <a:r>
              <a:rPr lang="en-US" sz="1200" b="0" i="0" kern="1200">
                <a:solidFill>
                  <a:schemeClr val="tx1"/>
                </a:solidFill>
                <a:effectLst/>
                <a:latin typeface="+mn-lt"/>
                <a:ea typeface="+mn-ea"/>
                <a:cs typeface="+mn-cs"/>
              </a:rPr>
              <a:t>: Develop incident response plans to address security breaches or privacy incidents promptly and effectively. Implement procedures for notifying affected individuals, regulators, and other stakeholders as required by law.</a:t>
            </a:r>
          </a:p>
          <a:p>
            <a:r>
              <a:rPr lang="en-US" sz="1200" b="1" i="0" kern="1200">
                <a:solidFill>
                  <a:schemeClr val="tx1"/>
                </a:solidFill>
                <a:effectLst/>
                <a:latin typeface="+mn-lt"/>
                <a:ea typeface="+mn-ea"/>
                <a:cs typeface="+mn-cs"/>
              </a:rPr>
              <a:t>Continuous Improvement</a:t>
            </a:r>
            <a:r>
              <a:rPr lang="en-US" sz="1200" b="0" i="0" kern="1200">
                <a:solidFill>
                  <a:schemeClr val="tx1"/>
                </a:solidFill>
                <a:effectLst/>
                <a:latin typeface="+mn-lt"/>
                <a:ea typeface="+mn-ea"/>
                <a:cs typeface="+mn-cs"/>
              </a:rPr>
              <a:t>: Continuously monitor and evaluate privacy and security practices to identify areas for improvement. Regularly review policies, procedures, and controls to adapt to changing threats, technologies, and regulatory requirements.</a:t>
            </a:r>
          </a:p>
          <a:p>
            <a:endParaRPr lang="en-US"/>
          </a:p>
        </p:txBody>
      </p:sp>
      <p:sp>
        <p:nvSpPr>
          <p:cNvPr id="5" name="Footer Placeholder 4"/>
          <p:cNvSpPr>
            <a:spLocks noGrp="1"/>
          </p:cNvSpPr>
          <p:nvPr>
            <p:ph type="ftr" sz="quarter" idx="11"/>
          </p:nvPr>
        </p:nvSpPr>
        <p:spPr/>
        <p:txBody>
          <a:bodyPr/>
          <a:lstStyle/>
          <a:p>
            <a:r>
              <a:rPr lang="en-US"/>
              <a:t>CSSY4103 - Security Operations Centre (SOC)</a:t>
            </a:r>
          </a:p>
        </p:txBody>
      </p:sp>
    </p:spTree>
    <p:extLst>
      <p:ext uri="{BB962C8B-B14F-4D97-AF65-F5344CB8AC3E}">
        <p14:creationId xmlns:p14="http://schemas.microsoft.com/office/powerpoint/2010/main" val="40654637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B7766-3367-E7D6-00EF-A53508A3A12A}"/>
              </a:ext>
            </a:extLst>
          </p:cNvPr>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67FF1BC-220C-D827-CD59-950320E5C2E8}"/>
              </a:ext>
            </a:extLst>
          </p:cNvPr>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375687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8857F2E-339D-E6C5-BCBC-2B077CAE8311}"/>
              </a:ext>
            </a:extLst>
          </p:cNvPr>
          <p:cNvSpPr>
            <a:spLocks noGrp="1"/>
          </p:cNvSpPr>
          <p:nvPr>
            <p:ph type="ctrTitle"/>
          </p:nvPr>
        </p:nvSpPr>
        <p:spPr>
          <a:xfrm>
            <a:off x="3943350" y="2609849"/>
            <a:ext cx="7639050" cy="1790701"/>
          </a:xfrm>
          <a:ln>
            <a:noFill/>
          </a:ln>
        </p:spPr>
        <p:txBody>
          <a:bodyPr anchor="b">
            <a:normAutofit/>
          </a:bodyPr>
          <a:lstStyle>
            <a:lvl1pPr algn="ctr">
              <a:defRPr sz="4000">
                <a:solidFill>
                  <a:schemeClr val="bg1"/>
                </a:solidFill>
              </a:defRPr>
            </a:lvl1pPr>
          </a:lstStyle>
          <a:p>
            <a:r>
              <a:rPr lang="en-US"/>
              <a:t>Click to edit Master title style</a:t>
            </a:r>
          </a:p>
        </p:txBody>
      </p:sp>
      <p:sp>
        <p:nvSpPr>
          <p:cNvPr id="5" name="Subtitle 2">
            <a:extLst>
              <a:ext uri="{FF2B5EF4-FFF2-40B4-BE49-F238E27FC236}">
                <a16:creationId xmlns:a16="http://schemas.microsoft.com/office/drawing/2014/main" id="{29156AB4-EC91-B384-E7B4-E95B4CBC35C4}"/>
              </a:ext>
            </a:extLst>
          </p:cNvPr>
          <p:cNvSpPr>
            <a:spLocks noGrp="1"/>
          </p:cNvSpPr>
          <p:nvPr>
            <p:ph type="subTitle" idx="1"/>
          </p:nvPr>
        </p:nvSpPr>
        <p:spPr>
          <a:xfrm>
            <a:off x="3943350" y="4514849"/>
            <a:ext cx="7639050" cy="86518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2751916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7C730-2526-2436-83B9-31B1FB54BD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0D509B-F558-8250-026B-44BDE5F1FD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BBAF4668-7EA5-DF62-F5E8-E55363257555}"/>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669178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2_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643361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887501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3_Section Header">
    <p:bg>
      <p:bgPr>
        <a:solidFill>
          <a:srgbClr val="2559A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00384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4_Section Header">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C3AF1-7CB1-2CE0-978D-359E0795444C}"/>
              </a:ext>
            </a:extLst>
          </p:cNvPr>
          <p:cNvSpPr>
            <a:spLocks noGrp="1"/>
          </p:cNvSpPr>
          <p:nvPr>
            <p:ph type="title"/>
          </p:nvPr>
        </p:nvSpPr>
        <p:spPr>
          <a:xfrm>
            <a:off x="831850" y="1709739"/>
            <a:ext cx="10515600" cy="2852737"/>
          </a:xfrm>
        </p:spPr>
        <p:txBody>
          <a:bodyPr anchor="b"/>
          <a:lstStyle>
            <a:lvl1pPr>
              <a:defRPr sz="6000">
                <a:solidFill>
                  <a:schemeClr val="bg1"/>
                </a:solidFill>
              </a:defRPr>
            </a:lvl1pPr>
          </a:lstStyle>
          <a:p>
            <a:r>
              <a:rPr lang="en-US"/>
              <a:t>Click to edit Master title style</a:t>
            </a:r>
          </a:p>
        </p:txBody>
      </p:sp>
      <p:sp>
        <p:nvSpPr>
          <p:cNvPr id="3" name="Text Placeholder 2">
            <a:extLst>
              <a:ext uri="{FF2B5EF4-FFF2-40B4-BE49-F238E27FC236}">
                <a16:creationId xmlns:a16="http://schemas.microsoft.com/office/drawing/2014/main" id="{02095592-3F1E-009A-107B-8C0C3D286758}"/>
              </a:ext>
            </a:extLst>
          </p:cNvPr>
          <p:cNvSpPr>
            <a:spLocks noGrp="1"/>
          </p:cNvSpPr>
          <p:nvPr>
            <p:ph type="body" idx="1"/>
          </p:nvPr>
        </p:nvSpPr>
        <p:spPr>
          <a:xfrm>
            <a:off x="831850" y="4589464"/>
            <a:ext cx="10515600" cy="1500187"/>
          </a:xfrm>
        </p:spPr>
        <p:txBody>
          <a:bodyPr/>
          <a:lstStyle>
            <a:lvl1pPr marL="0" indent="0">
              <a:buNone/>
              <a:defRPr sz="2400">
                <a:solidFill>
                  <a:schemeClr val="bg1">
                    <a:lumMod val="9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707399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786BD-C77C-2D23-CF7B-C8D2E30F0B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076FD6-BC76-C316-FEC2-1B2CAD1156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8B4B0F8-D10E-C846-C7C8-F2B35F21787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9" name="Graphic 8">
            <a:extLst>
              <a:ext uri="{FF2B5EF4-FFF2-40B4-BE49-F238E27FC236}">
                <a16:creationId xmlns:a16="http://schemas.microsoft.com/office/drawing/2014/main" id="{52EB146C-E069-79DF-03A0-3EF507DB1F2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54075"/>
            <a:ext cx="219075" cy="365125"/>
          </a:xfrm>
          <a:prstGeom prst="rect">
            <a:avLst/>
          </a:prstGeom>
        </p:spPr>
      </p:pic>
      <p:pic>
        <p:nvPicPr>
          <p:cNvPr id="10" name="Picture 9">
            <a:extLst>
              <a:ext uri="{FF2B5EF4-FFF2-40B4-BE49-F238E27FC236}">
                <a16:creationId xmlns:a16="http://schemas.microsoft.com/office/drawing/2014/main" id="{D0D7F560-006E-C92C-CAE6-655946296A86}"/>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4288450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DCCDCB-0722-1FF7-967A-4C2B8AA78748}"/>
              </a:ext>
            </a:extLst>
          </p:cNvPr>
          <p:cNvSpPr>
            <a:spLocks noGrp="1"/>
          </p:cNvSpPr>
          <p:nvPr>
            <p:ph type="title"/>
          </p:nvPr>
        </p:nvSpPr>
        <p:spPr>
          <a:xfrm>
            <a:off x="839788" y="365126"/>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9240F6-D089-115A-F484-55B95FE6EB86}"/>
              </a:ext>
            </a:extLst>
          </p:cNvPr>
          <p:cNvSpPr>
            <a:spLocks noGrp="1"/>
          </p:cNvSpPr>
          <p:nvPr>
            <p:ph type="body" idx="1"/>
          </p:nvPr>
        </p:nvSpPr>
        <p:spPr>
          <a:xfrm>
            <a:off x="839789" y="1681163"/>
            <a:ext cx="515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962AEC2-681B-D1B2-EB84-84968D66C9AE}"/>
              </a:ext>
            </a:extLst>
          </p:cNvPr>
          <p:cNvSpPr>
            <a:spLocks noGrp="1"/>
          </p:cNvSpPr>
          <p:nvPr>
            <p:ph sz="half" idx="2"/>
          </p:nvPr>
        </p:nvSpPr>
        <p:spPr>
          <a:xfrm>
            <a:off x="839789" y="2505075"/>
            <a:ext cx="515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EC8B4E-4F3D-8952-2B49-981561BBFB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40FCC89-9EDF-D5CF-08A1-5E55519C00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Graphic 9">
            <a:extLst>
              <a:ext uri="{FF2B5EF4-FFF2-40B4-BE49-F238E27FC236}">
                <a16:creationId xmlns:a16="http://schemas.microsoft.com/office/drawing/2014/main" id="{287A60A5-2807-0E92-F4E2-9BE5550A1FB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11" name="Picture 10">
            <a:extLst>
              <a:ext uri="{FF2B5EF4-FFF2-40B4-BE49-F238E27FC236}">
                <a16:creationId xmlns:a16="http://schemas.microsoft.com/office/drawing/2014/main" id="{97F05A89-2C90-505C-30DC-7C2B9A91F6E1}"/>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8328079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14D33-0BE4-90FC-4AE5-0A4A211D1803}"/>
              </a:ext>
            </a:extLst>
          </p:cNvPr>
          <p:cNvSpPr>
            <a:spLocks noGrp="1"/>
          </p:cNvSpPr>
          <p:nvPr>
            <p:ph type="title"/>
          </p:nvPr>
        </p:nvSpPr>
        <p:spPr/>
        <p:txBody>
          <a:bodyPr/>
          <a:lstStyle/>
          <a:p>
            <a:r>
              <a:rPr lang="en-US"/>
              <a:t>Click to edit Master title style</a:t>
            </a:r>
          </a:p>
        </p:txBody>
      </p:sp>
      <p:pic>
        <p:nvPicPr>
          <p:cNvPr id="7" name="Graphic 6">
            <a:extLst>
              <a:ext uri="{FF2B5EF4-FFF2-40B4-BE49-F238E27FC236}">
                <a16:creationId xmlns:a16="http://schemas.microsoft.com/office/drawing/2014/main" id="{5DF5F826-F6F1-CFCA-D42B-E759F28DD1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835025"/>
            <a:ext cx="219075" cy="365125"/>
          </a:xfrm>
          <a:prstGeom prst="rect">
            <a:avLst/>
          </a:prstGeom>
        </p:spPr>
      </p:pic>
      <p:pic>
        <p:nvPicPr>
          <p:cNvPr id="8" name="Picture 7">
            <a:extLst>
              <a:ext uri="{FF2B5EF4-FFF2-40B4-BE49-F238E27FC236}">
                <a16:creationId xmlns:a16="http://schemas.microsoft.com/office/drawing/2014/main" id="{1DDF20CF-E57F-42E5-6EFD-7AD8EB6F06F4}"/>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460322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B3D930E-17D8-84EC-D92C-061363439E38}"/>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1831208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99ED7-E623-FCE4-FB92-360B98ADBBF1}"/>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ED58EE0-622A-334F-1443-5A4528051E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18AE8A4-A68D-5A4A-A023-8C2D5F871D0F}"/>
              </a:ext>
            </a:extLst>
          </p:cNvPr>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9" name="Graphic 8">
            <a:extLst>
              <a:ext uri="{FF2B5EF4-FFF2-40B4-BE49-F238E27FC236}">
                <a16:creationId xmlns:a16="http://schemas.microsoft.com/office/drawing/2014/main" id="{785CBBC2-61B8-7F43-0B0A-9D30B71ECC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17537" y="1168400"/>
            <a:ext cx="219075" cy="365125"/>
          </a:xfrm>
          <a:prstGeom prst="rect">
            <a:avLst/>
          </a:prstGeom>
        </p:spPr>
      </p:pic>
      <p:pic>
        <p:nvPicPr>
          <p:cNvPr id="10" name="Picture 9">
            <a:extLst>
              <a:ext uri="{FF2B5EF4-FFF2-40B4-BE49-F238E27FC236}">
                <a16:creationId xmlns:a16="http://schemas.microsoft.com/office/drawing/2014/main" id="{37A3BA6B-E9E4-F0D0-8FB5-E35191C16699}"/>
              </a:ext>
            </a:extLst>
          </p:cNvPr>
          <p:cNvPicPr>
            <a:picLocks noChangeAspect="1"/>
          </p:cNvPicPr>
          <p:nvPr userDrawn="1"/>
        </p:nvPicPr>
        <p:blipFill>
          <a:blip r:embed="rId4"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2844495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81D87-5687-C9B5-AE49-A83726D9BC05}"/>
              </a:ext>
            </a:extLst>
          </p:cNvPr>
          <p:cNvSpPr>
            <a:spLocks noGrp="1"/>
          </p:cNvSpPr>
          <p:nvPr>
            <p:ph type="title"/>
          </p:nvPr>
        </p:nvSpPr>
        <p:spPr>
          <a:xfrm>
            <a:off x="839789" y="457200"/>
            <a:ext cx="3932238"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5FA632-D2F7-E2BA-A935-20B1A394FA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D5BA056-00E2-82F6-5FA4-32B76E5B3E0B}"/>
              </a:ext>
            </a:extLst>
          </p:cNvPr>
          <p:cNvSpPr>
            <a:spLocks noGrp="1"/>
          </p:cNvSpPr>
          <p:nvPr>
            <p:ph type="body" sz="half" idx="2"/>
          </p:nvPr>
        </p:nvSpPr>
        <p:spPr>
          <a:xfrm>
            <a:off x="839789" y="2057401"/>
            <a:ext cx="393223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a:extLst>
              <a:ext uri="{FF2B5EF4-FFF2-40B4-BE49-F238E27FC236}">
                <a16:creationId xmlns:a16="http://schemas.microsoft.com/office/drawing/2014/main" id="{55E1618B-D136-C5BB-2E38-B80F9B3CF5B4}"/>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3914757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FEFCBA-3B8B-9D62-253A-5E58F2AA60D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621F39B-5912-FF25-7793-DBF7785760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27A3DEB6-94B4-A533-8E42-30DCFEB3B6F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27409918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23ECA9A-730D-7BDC-4EB3-94B6B2FA80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187C848-B2DE-F9EC-9D0C-9077EB2B77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E16726B3-A797-03A8-1C35-BD44D85A1877}"/>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6620433" y="6344695"/>
            <a:ext cx="4733367" cy="259414"/>
          </a:xfrm>
          <a:prstGeom prst="rect">
            <a:avLst/>
          </a:prstGeom>
        </p:spPr>
      </p:pic>
    </p:spTree>
    <p:extLst>
      <p:ext uri="{BB962C8B-B14F-4D97-AF65-F5344CB8AC3E}">
        <p14:creationId xmlns:p14="http://schemas.microsoft.com/office/powerpoint/2010/main" val="841173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5211263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77E40458-2F02-807D-C70A-2A5EC5838CF6}"/>
              </a:ext>
            </a:extLst>
          </p:cNvPr>
          <p:cNvSpPr>
            <a:spLocks noGrp="1"/>
          </p:cNvSpPr>
          <p:nvPr>
            <p:ph type="ctrTitle"/>
          </p:nvPr>
        </p:nvSpPr>
        <p:spPr>
          <a:xfrm>
            <a:off x="5153024" y="3505200"/>
            <a:ext cx="6429375" cy="1266825"/>
          </a:xfrm>
          <a:ln>
            <a:noFill/>
          </a:ln>
        </p:spPr>
        <p:txBody>
          <a:bodyPr anchor="b">
            <a:noAutofit/>
          </a:bodyPr>
          <a:lstStyle>
            <a:lvl1pPr algn="ctr">
              <a:defRPr sz="3600">
                <a:solidFill>
                  <a:schemeClr val="bg1"/>
                </a:solidFill>
              </a:defRPr>
            </a:lvl1pPr>
          </a:lstStyle>
          <a:p>
            <a:r>
              <a:rPr lang="en-US"/>
              <a:t>Click to edit Master title style</a:t>
            </a:r>
          </a:p>
        </p:txBody>
      </p:sp>
      <p:sp>
        <p:nvSpPr>
          <p:cNvPr id="5" name="Subtitle 2">
            <a:extLst>
              <a:ext uri="{FF2B5EF4-FFF2-40B4-BE49-F238E27FC236}">
                <a16:creationId xmlns:a16="http://schemas.microsoft.com/office/drawing/2014/main" id="{6033B479-889B-1E49-D47B-00C9264495FC}"/>
              </a:ext>
            </a:extLst>
          </p:cNvPr>
          <p:cNvSpPr>
            <a:spLocks noGrp="1"/>
          </p:cNvSpPr>
          <p:nvPr>
            <p:ph type="subTitle" idx="1"/>
          </p:nvPr>
        </p:nvSpPr>
        <p:spPr>
          <a:xfrm>
            <a:off x="5153024" y="4772025"/>
            <a:ext cx="6429375" cy="609600"/>
          </a:xfrm>
        </p:spPr>
        <p:txBody>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5851347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77EBF4-2CD4-F34B-E5E2-783C7FC90783}"/>
              </a:ext>
            </a:extLst>
          </p:cNvPr>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D302689-B02C-F697-CBBE-D4B715CAEEC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AD59A43A-2FDE-9674-4AB5-0E6557C388F6}"/>
              </a:ext>
            </a:extLst>
          </p:cNvPr>
          <p:cNvSpPr>
            <a:spLocks noGrp="1"/>
          </p:cNvSpPr>
          <p:nvPr>
            <p:ph type="sldNum" sz="quarter" idx="4"/>
          </p:nvPr>
        </p:nvSpPr>
        <p:spPr>
          <a:xfrm>
            <a:off x="5057775" y="6492874"/>
            <a:ext cx="6296025" cy="228602"/>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ar-DZ"/>
              <a:t> </a:t>
            </a:r>
            <a:r>
              <a:rPr lang="en-US"/>
              <a:t>University of Technology and Applied Sciences</a:t>
            </a:r>
            <a:r>
              <a:rPr lang="ar-DZ"/>
              <a:t> جامعة التقنية والعلوم التطبيقية - </a:t>
            </a:r>
            <a:r>
              <a:rPr lang="en-US"/>
              <a:t> </a:t>
            </a:r>
          </a:p>
          <a:p>
            <a:endParaRPr lang="en-US"/>
          </a:p>
          <a:p>
            <a:endParaRPr lang="en-US"/>
          </a:p>
        </p:txBody>
      </p:sp>
    </p:spTree>
    <p:extLst>
      <p:ext uri="{BB962C8B-B14F-4D97-AF65-F5344CB8AC3E}">
        <p14:creationId xmlns:p14="http://schemas.microsoft.com/office/powerpoint/2010/main" val="2974472356"/>
      </p:ext>
    </p:extLst>
  </p:cSld>
  <p:clrMap bg1="lt1" tx1="dk1" bg2="lt2" tx2="dk2" accent1="accent1" accent2="accent2" accent3="accent3" accent4="accent4" accent5="accent5" accent6="accent6" hlink="hlink" folHlink="folHlink"/>
  <p:sldLayoutIdLst>
    <p:sldLayoutId id="2147483649" r:id="rId1"/>
    <p:sldLayoutId id="2147483664" r:id="rId2"/>
    <p:sldLayoutId id="2147483650" r:id="rId3"/>
    <p:sldLayoutId id="2147483661" r:id="rId4"/>
    <p:sldLayoutId id="2147483651" r:id="rId5"/>
    <p:sldLayoutId id="2147483662" r:id="rId6"/>
    <p:sldLayoutId id="2147483663"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 id="2147483660" r:id="rId16"/>
    <p:sldLayoutId id="2147483665" r:id="rId17"/>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pub.iaea.org/MTCD/Publications/PDF/PUB1858_web.pdf"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hyperlink" Target="https://www.manageengine.com/products/active-directory-audit/demo/active-directory-auditing-demo.html?LinkID=9" TargetMode="Externa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8" Type="http://schemas.openxmlformats.org/officeDocument/2006/relationships/hyperlink" Target="https://www.imperva.com/learn/data-security/privileged-user-monitoring/" TargetMode="External"/><Relationship Id="rId3" Type="http://schemas.openxmlformats.org/officeDocument/2006/relationships/hyperlink" Target="https://www.ibm.com/topics/ueba" TargetMode="External"/><Relationship Id="rId7" Type="http://schemas.openxmlformats.org/officeDocument/2006/relationships/hyperlink" Target="https://www.cisa.gov/sites/default/files/2022-11/Insider%20Threat%20Mitigation%20Guide_Final_508.pdf" TargetMode="External"/><Relationship Id="rId2" Type="http://schemas.openxmlformats.org/officeDocument/2006/relationships/hyperlink" Target="https://doi.org/10.17226/11896" TargetMode="External"/><Relationship Id="rId1" Type="http://schemas.openxmlformats.org/officeDocument/2006/relationships/slideLayout" Target="../slideLayouts/slideLayout3.xml"/><Relationship Id="rId6" Type="http://schemas.openxmlformats.org/officeDocument/2006/relationships/hyperlink" Target="https://www.cisa.gov/topics/physical-security/insider-threat-mitigation" TargetMode="External"/><Relationship Id="rId5" Type="http://schemas.openxmlformats.org/officeDocument/2006/relationships/hyperlink" Target="https://www.teramind.co/blog/ueba-tools/" TargetMode="External"/><Relationship Id="rId10" Type="http://schemas.openxmlformats.org/officeDocument/2006/relationships/hyperlink" Target="mailto:ramesh.palanisamy@utas.edu.om" TargetMode="External"/><Relationship Id="rId4" Type="http://schemas.openxmlformats.org/officeDocument/2006/relationships/hyperlink" Target="https://www.paloaltonetworks.com/cyberpedia/what-is-user-entity-behavior-analytics-ueba" TargetMode="External"/><Relationship Id="rId9" Type="http://schemas.openxmlformats.org/officeDocument/2006/relationships/hyperlink" Target="https://www.microsoft.com/en-us/security/business/security-101/what-is-privileged-access-management-pa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BC5BB2-0847-90FD-A4B9-58B4E1F0AEA3}"/>
              </a:ext>
            </a:extLst>
          </p:cNvPr>
          <p:cNvSpPr>
            <a:spLocks noGrp="1"/>
          </p:cNvSpPr>
          <p:nvPr>
            <p:ph type="ctrTitle"/>
          </p:nvPr>
        </p:nvSpPr>
        <p:spPr>
          <a:xfrm>
            <a:off x="1047930" y="2944843"/>
            <a:ext cx="9401908" cy="798144"/>
          </a:xfrm>
        </p:spPr>
        <p:txBody>
          <a:bodyPr>
            <a:normAutofit/>
          </a:bodyPr>
          <a:lstStyle/>
          <a:p>
            <a:r>
              <a:rPr lang="en-US" sz="4800" b="1">
                <a:solidFill>
                  <a:schemeClr val="accent3"/>
                </a:solidFill>
              </a:rPr>
              <a:t>Lecture 10:</a:t>
            </a:r>
          </a:p>
        </p:txBody>
      </p:sp>
      <p:sp>
        <p:nvSpPr>
          <p:cNvPr id="3" name="Subtitle 2">
            <a:extLst>
              <a:ext uri="{FF2B5EF4-FFF2-40B4-BE49-F238E27FC236}">
                <a16:creationId xmlns:a16="http://schemas.microsoft.com/office/drawing/2014/main" id="{88893B68-7396-A123-DEDF-BCF392D104FF}"/>
              </a:ext>
            </a:extLst>
          </p:cNvPr>
          <p:cNvSpPr>
            <a:spLocks noGrp="1"/>
          </p:cNvSpPr>
          <p:nvPr>
            <p:ph type="subTitle" idx="1"/>
          </p:nvPr>
        </p:nvSpPr>
        <p:spPr>
          <a:xfrm>
            <a:off x="1047930" y="3836709"/>
            <a:ext cx="9678644" cy="992555"/>
          </a:xfrm>
        </p:spPr>
        <p:txBody>
          <a:bodyPr>
            <a:noAutofit/>
          </a:bodyPr>
          <a:lstStyle/>
          <a:p>
            <a:r>
              <a:rPr lang="en-US" sz="4400" b="1">
                <a:latin typeface="Times New Roman" panose="02020603050405020304" pitchFamily="18" charset="0"/>
                <a:ea typeface="Times New Roman" panose="02020603050405020304" pitchFamily="18" charset="0"/>
              </a:rPr>
              <a:t>Insider Threats and User Monitoring</a:t>
            </a:r>
            <a:endParaRPr lang="en-US" sz="4400"/>
          </a:p>
        </p:txBody>
      </p:sp>
      <p:sp>
        <p:nvSpPr>
          <p:cNvPr id="5" name="Rectangle 4"/>
          <p:cNvSpPr/>
          <p:nvPr/>
        </p:nvSpPr>
        <p:spPr>
          <a:xfrm>
            <a:off x="6541477" y="6488668"/>
            <a:ext cx="5650523" cy="369332"/>
          </a:xfrm>
          <a:prstGeom prst="rect">
            <a:avLst/>
          </a:prstGeom>
        </p:spPr>
        <p:txBody>
          <a:bodyPr wrap="square">
            <a:spAutoFit/>
          </a:bodyPr>
          <a:lstStyle/>
          <a:p>
            <a:pPr algn="r"/>
            <a:r>
              <a:rPr lang="en-US" b="1" i="1">
                <a:solidFill>
                  <a:srgbClr val="FFC000"/>
                </a:solidFill>
              </a:rPr>
              <a:t>CSSY4103 - Security Operations Centre (SOC)</a:t>
            </a:r>
          </a:p>
        </p:txBody>
      </p:sp>
    </p:spTree>
    <p:extLst>
      <p:ext uri="{BB962C8B-B14F-4D97-AF65-F5344CB8AC3E}">
        <p14:creationId xmlns:p14="http://schemas.microsoft.com/office/powerpoint/2010/main" val="4193284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0A7D-6E98-D3D8-FDEC-CB1B57869DB8}"/>
              </a:ext>
            </a:extLst>
          </p:cNvPr>
          <p:cNvSpPr>
            <a:spLocks noGrp="1"/>
          </p:cNvSpPr>
          <p:nvPr>
            <p:ph type="title"/>
          </p:nvPr>
        </p:nvSpPr>
        <p:spPr>
          <a:xfrm>
            <a:off x="1406768" y="621323"/>
            <a:ext cx="9947032" cy="844062"/>
          </a:xfrm>
        </p:spPr>
        <p:txBody>
          <a:bodyPr/>
          <a:lstStyle/>
          <a:p>
            <a:r>
              <a:rPr lang="en-US" sz="3200" b="1">
                <a:solidFill>
                  <a:schemeClr val="accent3"/>
                </a:solidFill>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84B4EC71-6F30-9AC0-70DF-60AB709659E6}"/>
              </a:ext>
            </a:extLst>
          </p:cNvPr>
          <p:cNvSpPr>
            <a:spLocks noGrp="1"/>
          </p:cNvSpPr>
          <p:nvPr>
            <p:ph idx="1"/>
          </p:nvPr>
        </p:nvSpPr>
        <p:spPr>
          <a:xfrm>
            <a:off x="1406768" y="1465385"/>
            <a:ext cx="9947031" cy="4528993"/>
          </a:xfrm>
        </p:spPr>
        <p:txBody>
          <a:bodyPr>
            <a:normAutofit lnSpcReduction="10000"/>
          </a:bodyPr>
          <a:lstStyle/>
          <a:p>
            <a:pPr>
              <a:lnSpc>
                <a:spcPct val="150000"/>
              </a:lnSpc>
              <a:buFont typeface="Wingdings" panose="05000000000000000000" pitchFamily="2" charset="2"/>
              <a:buChar char="Ø"/>
            </a:pPr>
            <a:r>
              <a:rPr lang="en-US" sz="2400" b="1">
                <a:solidFill>
                  <a:srgbClr val="0070C0"/>
                </a:solidFill>
                <a:latin typeface="Times New Roman" panose="02020603050405020304" pitchFamily="18" charset="0"/>
                <a:cs typeface="Times New Roman" panose="02020603050405020304" pitchFamily="18" charset="0"/>
              </a:rPr>
              <a:t>Define Insider Threats</a:t>
            </a:r>
          </a:p>
          <a:p>
            <a:pPr>
              <a:lnSpc>
                <a:spcPct val="150000"/>
              </a:lnSpc>
              <a:buFont typeface="Wingdings" panose="05000000000000000000" pitchFamily="2" charset="2"/>
              <a:buChar char="Ø"/>
            </a:pPr>
            <a:r>
              <a:rPr lang="en-US" sz="2400" b="1">
                <a:solidFill>
                  <a:srgbClr val="0070C0"/>
                </a:solidFill>
                <a:latin typeface="Times New Roman" panose="02020603050405020304" pitchFamily="18" charset="0"/>
                <a:cs typeface="Times New Roman" panose="02020603050405020304" pitchFamily="18" charset="0"/>
              </a:rPr>
              <a:t>Impacts of Insider Threats </a:t>
            </a:r>
          </a:p>
          <a:p>
            <a:pPr>
              <a:lnSpc>
                <a:spcPct val="150000"/>
              </a:lnSpc>
              <a:buFont typeface="Wingdings" panose="05000000000000000000" pitchFamily="2" charset="2"/>
              <a:buChar char="Ø"/>
            </a:pPr>
            <a:r>
              <a:rPr lang="en-US" sz="2400" b="1">
                <a:solidFill>
                  <a:srgbClr val="0070C0"/>
                </a:solidFill>
                <a:latin typeface="Times New Roman" panose="02020603050405020304" pitchFamily="18" charset="0"/>
                <a:cs typeface="Times New Roman" panose="02020603050405020304" pitchFamily="18" charset="0"/>
              </a:rPr>
              <a:t>Implementing measures against insider threats</a:t>
            </a:r>
          </a:p>
          <a:p>
            <a:pPr>
              <a:lnSpc>
                <a:spcPct val="150000"/>
              </a:lnSpc>
              <a:buFont typeface="Wingdings" panose="05000000000000000000" pitchFamily="2" charset="2"/>
              <a:buChar char="Ø"/>
            </a:pPr>
            <a:r>
              <a:rPr lang="en-US" sz="2400" b="1">
                <a:solidFill>
                  <a:srgbClr val="0070C0"/>
                </a:solidFill>
                <a:latin typeface="Times New Roman" panose="02020603050405020304" pitchFamily="18" charset="0"/>
                <a:cs typeface="Times New Roman" panose="02020603050405020304" pitchFamily="18" charset="0"/>
              </a:rPr>
              <a:t>UEBA</a:t>
            </a:r>
          </a:p>
          <a:p>
            <a:pPr>
              <a:lnSpc>
                <a:spcPct val="150000"/>
              </a:lnSpc>
              <a:buFont typeface="Wingdings" panose="05000000000000000000" pitchFamily="2" charset="2"/>
              <a:buChar char="Ø"/>
            </a:pPr>
            <a:r>
              <a:rPr lang="en-US" sz="2400" b="1">
                <a:solidFill>
                  <a:srgbClr val="0070C0"/>
                </a:solidFill>
                <a:latin typeface="Times New Roman" panose="02020603050405020304" pitchFamily="18" charset="0"/>
                <a:cs typeface="Times New Roman" panose="02020603050405020304" pitchFamily="18" charset="0"/>
              </a:rPr>
              <a:t>Privileged User</a:t>
            </a:r>
          </a:p>
          <a:p>
            <a:pPr>
              <a:lnSpc>
                <a:spcPct val="150000"/>
              </a:lnSpc>
              <a:buFont typeface="Wingdings" panose="05000000000000000000" pitchFamily="2" charset="2"/>
              <a:buChar char="Ø"/>
            </a:pPr>
            <a:r>
              <a:rPr lang="en-US" sz="2400" b="1">
                <a:solidFill>
                  <a:srgbClr val="0070C0"/>
                </a:solidFill>
                <a:latin typeface="Times New Roman" panose="02020603050405020304" pitchFamily="18" charset="0"/>
                <a:cs typeface="Times New Roman" panose="02020603050405020304" pitchFamily="18" charset="0"/>
              </a:rPr>
              <a:t>Privacy and Security</a:t>
            </a:r>
            <a:br>
              <a:rPr lang="en-US" sz="2400">
                <a:latin typeface="Times New Roman" panose="02020603050405020304" pitchFamily="18" charset="0"/>
                <a:cs typeface="Times New Roman" panose="02020603050405020304" pitchFamily="18" charset="0"/>
              </a:rPr>
            </a:br>
            <a:endParaRPr lang="en-US" sz="2400">
              <a:latin typeface="Times New Roman" panose="02020603050405020304" pitchFamily="18" charset="0"/>
              <a:cs typeface="Times New Roman" panose="02020603050405020304" pitchFamily="18" charset="0"/>
            </a:endParaRPr>
          </a:p>
          <a:p>
            <a:pPr algn="just">
              <a:lnSpc>
                <a:spcPct val="150000"/>
              </a:lnSpc>
            </a:pPr>
            <a:endParaRPr lang="en-US" sz="2400">
              <a:latin typeface="Times New Roman" panose="02020603050405020304" pitchFamily="18" charset="0"/>
              <a:cs typeface="Times New Roman" panose="02020603050405020304" pitchFamily="18" charset="0"/>
            </a:endParaRPr>
          </a:p>
          <a:p>
            <a:endParaRPr lang="en-US"/>
          </a:p>
        </p:txBody>
      </p:sp>
    </p:spTree>
    <p:extLst>
      <p:ext uri="{BB962C8B-B14F-4D97-AF65-F5344CB8AC3E}">
        <p14:creationId xmlns:p14="http://schemas.microsoft.com/office/powerpoint/2010/main" val="28500086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61473" y="2729635"/>
            <a:ext cx="10104404" cy="1325563"/>
          </a:xfrm>
        </p:spPr>
        <p:txBody>
          <a:bodyPr>
            <a:normAutofit/>
          </a:bodyPr>
          <a:lstStyle/>
          <a:p>
            <a:pPr algn="ctr"/>
            <a:r>
              <a:rPr lang="en-US" sz="4000" b="1">
                <a:solidFill>
                  <a:schemeClr val="accent3"/>
                </a:solidFill>
                <a:latin typeface="Times New Roman" panose="02020603050405020304" pitchFamily="18" charset="0"/>
                <a:cs typeface="Times New Roman" panose="02020603050405020304" pitchFamily="18" charset="0"/>
              </a:rPr>
              <a:t>UNDERSTANDING INSIDER THREATS AND THEIR IMPACT</a:t>
            </a:r>
          </a:p>
        </p:txBody>
      </p:sp>
    </p:spTree>
    <p:extLst>
      <p:ext uri="{BB962C8B-B14F-4D97-AF65-F5344CB8AC3E}">
        <p14:creationId xmlns:p14="http://schemas.microsoft.com/office/powerpoint/2010/main" val="3886271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0A7D-6E98-D3D8-FDEC-CB1B57869DB8}"/>
              </a:ext>
            </a:extLst>
          </p:cNvPr>
          <p:cNvSpPr>
            <a:spLocks noGrp="1"/>
          </p:cNvSpPr>
          <p:nvPr>
            <p:ph type="title"/>
          </p:nvPr>
        </p:nvSpPr>
        <p:spPr>
          <a:xfrm>
            <a:off x="602166" y="294788"/>
            <a:ext cx="10760424" cy="725120"/>
          </a:xfrm>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UNDERSTANDING INSIDER THREAT</a:t>
            </a:r>
          </a:p>
        </p:txBody>
      </p:sp>
      <p:sp>
        <p:nvSpPr>
          <p:cNvPr id="3" name="Content Placeholder 2">
            <a:extLst>
              <a:ext uri="{FF2B5EF4-FFF2-40B4-BE49-F238E27FC236}">
                <a16:creationId xmlns:a16="http://schemas.microsoft.com/office/drawing/2014/main" id="{84B4EC71-6F30-9AC0-70DF-60AB709659E6}"/>
              </a:ext>
            </a:extLst>
          </p:cNvPr>
          <p:cNvSpPr>
            <a:spLocks noGrp="1"/>
          </p:cNvSpPr>
          <p:nvPr>
            <p:ph idx="1"/>
          </p:nvPr>
        </p:nvSpPr>
        <p:spPr>
          <a:xfrm>
            <a:off x="602166" y="1019908"/>
            <a:ext cx="11191250" cy="4935415"/>
          </a:xfrm>
        </p:spPr>
        <p:txBody>
          <a:bodyPr>
            <a:noAutofit/>
          </a:bodyPr>
          <a:lstStyle/>
          <a:p>
            <a:pPr marL="0" indent="0" algn="just">
              <a:lnSpc>
                <a:spcPct val="150000"/>
              </a:lnSpc>
              <a:buNone/>
            </a:pPr>
            <a:r>
              <a:rPr lang="en-US" sz="2700" b="1">
                <a:solidFill>
                  <a:schemeClr val="accent3"/>
                </a:solidFill>
                <a:latin typeface="Times New Roman" panose="02020603050405020304" pitchFamily="18" charset="0"/>
                <a:cs typeface="Times New Roman" panose="02020603050405020304" pitchFamily="18" charset="0"/>
              </a:rPr>
              <a:t>What is an Insider Threat :</a:t>
            </a:r>
          </a:p>
          <a:p>
            <a:pPr>
              <a:lnSpc>
                <a:spcPct val="150000"/>
              </a:lnSpc>
            </a:pPr>
            <a:r>
              <a:rPr lang="en-US" altLang="en-US" sz="2700">
                <a:latin typeface="Times New Roman" panose="02020603050405020304" pitchFamily="18" charset="0"/>
                <a:cs typeface="Times New Roman" panose="02020603050405020304" pitchFamily="18" charset="0"/>
              </a:rPr>
              <a:t>An insider threat in cybersecurity refers to a security risk that originates from within an organization. This could be a current or former employee, contractor, vendor, or business partner who has authorized access to the organization's systems and data.</a:t>
            </a:r>
          </a:p>
          <a:p>
            <a:pPr>
              <a:lnSpc>
                <a:spcPct val="150000"/>
              </a:lnSpc>
            </a:pPr>
            <a:r>
              <a:rPr lang="en-US" sz="2700">
                <a:latin typeface="Times New Roman" panose="02020603050405020304" pitchFamily="18" charset="0"/>
                <a:cs typeface="Times New Roman" panose="02020603050405020304" pitchFamily="18" charset="0"/>
              </a:rPr>
              <a:t>This can include damage caused by espionage, workplace/kinetic violence, unauthorized disclosure of national security information, or the loss or degradation of departmental resources or capabilities.</a:t>
            </a:r>
          </a:p>
          <a:p>
            <a:pPr marL="0" indent="0" algn="just">
              <a:buNone/>
            </a:pPr>
            <a:endParaRPr lang="en-US" sz="2700">
              <a:latin typeface="Times New Roman" panose="02020603050405020304" pitchFamily="18" charset="0"/>
              <a:cs typeface="Times New Roman" panose="02020603050405020304" pitchFamily="18" charset="0"/>
            </a:endParaRPr>
          </a:p>
          <a:p>
            <a:pPr marL="0" indent="0" algn="just">
              <a:buNone/>
            </a:pPr>
            <a:endParaRPr lang="en-US" sz="2700"/>
          </a:p>
        </p:txBody>
      </p:sp>
    </p:spTree>
    <p:extLst>
      <p:ext uri="{BB962C8B-B14F-4D97-AF65-F5344CB8AC3E}">
        <p14:creationId xmlns:p14="http://schemas.microsoft.com/office/powerpoint/2010/main" val="1367199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Types of Insider Threats</a:t>
            </a:r>
          </a:p>
        </p:txBody>
      </p:sp>
      <p:sp>
        <p:nvSpPr>
          <p:cNvPr id="4" name="Rectangle 1"/>
          <p:cNvSpPr>
            <a:spLocks noGrp="1" noChangeArrowheads="1"/>
          </p:cNvSpPr>
          <p:nvPr>
            <p:ph idx="1"/>
          </p:nvPr>
        </p:nvSpPr>
        <p:spPr bwMode="auto">
          <a:xfrm>
            <a:off x="931985" y="1657113"/>
            <a:ext cx="10638692"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Intentional Threats:</a:t>
            </a:r>
            <a:r>
              <a:rPr kumimoji="0" lang="en-US" altLang="en-US" sz="3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Describe malicious insiders who intentionally harm the organization.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Unintentional Threats:</a:t>
            </a:r>
            <a:r>
              <a:rPr kumimoji="0" lang="en-US" altLang="en-US" sz="3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Discuss employees who inadvertently cause security breaches due to negligence or lack of awareness.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200" b="1"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Compromised Accounts:</a:t>
            </a:r>
            <a:r>
              <a:rPr kumimoji="0" lang="en-US" altLang="en-US" sz="3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Explain how attackers can gain access to insider accounts to carry out malicious activities.</a:t>
            </a:r>
          </a:p>
        </p:txBody>
      </p:sp>
    </p:spTree>
    <p:extLst>
      <p:ext uri="{BB962C8B-B14F-4D97-AF65-F5344CB8AC3E}">
        <p14:creationId xmlns:p14="http://schemas.microsoft.com/office/powerpoint/2010/main" val="25583543"/>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57B4F-17F4-02D8-D0B1-D58C2566C5EE}"/>
              </a:ext>
            </a:extLst>
          </p:cNvPr>
          <p:cNvSpPr>
            <a:spLocks noGrp="1"/>
          </p:cNvSpPr>
          <p:nvPr>
            <p:ph type="title"/>
          </p:nvPr>
        </p:nvSpPr>
        <p:spPr>
          <a:xfrm>
            <a:off x="884264" y="290631"/>
            <a:ext cx="10515600" cy="922878"/>
          </a:xfrm>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WHY INSIDER THREAT: MOTIVATION</a:t>
            </a:r>
          </a:p>
        </p:txBody>
      </p:sp>
      <p:grpSp>
        <p:nvGrpSpPr>
          <p:cNvPr id="3" name="Group 2"/>
          <p:cNvGrpSpPr/>
          <p:nvPr/>
        </p:nvGrpSpPr>
        <p:grpSpPr>
          <a:xfrm>
            <a:off x="1682039" y="1223907"/>
            <a:ext cx="8710432" cy="5206721"/>
            <a:chOff x="1838156" y="1281074"/>
            <a:chExt cx="8710432" cy="5206721"/>
          </a:xfrm>
        </p:grpSpPr>
        <p:sp>
          <p:nvSpPr>
            <p:cNvPr id="25" name="Rectangle 24">
              <a:extLst>
                <a:ext uri="{FF2B5EF4-FFF2-40B4-BE49-F238E27FC236}">
                  <a16:creationId xmlns:a16="http://schemas.microsoft.com/office/drawing/2014/main" id="{81B694C3-5B2C-DD4C-B4AC-47A1AF8863BC}"/>
                </a:ext>
              </a:extLst>
            </p:cNvPr>
            <p:cNvSpPr/>
            <p:nvPr/>
          </p:nvSpPr>
          <p:spPr bwMode="auto">
            <a:xfrm>
              <a:off x="1845225" y="1281074"/>
              <a:ext cx="2057400" cy="457200"/>
            </a:xfrm>
            <a:prstGeom prst="rect">
              <a:avLst/>
            </a:prstGeom>
            <a:ln w="57150">
              <a:solidFill>
                <a:srgbClr val="FFFF00"/>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chemeClr val="bg1"/>
                  </a:solidFill>
                  <a:effectLst/>
                  <a:latin typeface="Times New Roman" pitchFamily="18" charset="0"/>
                </a:rPr>
                <a:t>Access</a:t>
              </a:r>
            </a:p>
          </p:txBody>
        </p:sp>
        <p:sp>
          <p:nvSpPr>
            <p:cNvPr id="26" name="Rectangle 25">
              <a:extLst>
                <a:ext uri="{FF2B5EF4-FFF2-40B4-BE49-F238E27FC236}">
                  <a16:creationId xmlns:a16="http://schemas.microsoft.com/office/drawing/2014/main" id="{390A7199-4646-184A-9493-B1852203F0AB}"/>
                </a:ext>
              </a:extLst>
            </p:cNvPr>
            <p:cNvSpPr/>
            <p:nvPr/>
          </p:nvSpPr>
          <p:spPr bwMode="auto">
            <a:xfrm>
              <a:off x="1845225" y="1810533"/>
              <a:ext cx="2057400" cy="457200"/>
            </a:xfrm>
            <a:prstGeom prst="rect">
              <a:avLst/>
            </a:prstGeom>
            <a:solidFill>
              <a:schemeClr val="accent5"/>
            </a:solidFill>
            <a:ln w="57150" cap="flat" cmpd="sng" algn="ctr">
              <a:solidFill>
                <a:schemeClr val="accent4">
                  <a:lumMod val="75000"/>
                </a:schemeClr>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solidFill>
                    <a:schemeClr val="bg1"/>
                  </a:solidFill>
                  <a:effectLst/>
                  <a:latin typeface="Times New Roman" pitchFamily="18" charset="0"/>
                </a:rPr>
                <a:t>Authority</a:t>
              </a:r>
            </a:p>
          </p:txBody>
        </p:sp>
        <p:sp>
          <p:nvSpPr>
            <p:cNvPr id="27" name="Rectangle 26">
              <a:extLst>
                <a:ext uri="{FF2B5EF4-FFF2-40B4-BE49-F238E27FC236}">
                  <a16:creationId xmlns:a16="http://schemas.microsoft.com/office/drawing/2014/main" id="{54D14551-CF60-A342-971D-B9D07804702D}"/>
                </a:ext>
              </a:extLst>
            </p:cNvPr>
            <p:cNvSpPr/>
            <p:nvPr/>
          </p:nvSpPr>
          <p:spPr bwMode="auto">
            <a:xfrm>
              <a:off x="1845225" y="2372583"/>
              <a:ext cx="2057400" cy="457200"/>
            </a:xfrm>
            <a:prstGeom prst="rect">
              <a:avLst/>
            </a:prstGeom>
            <a:solidFill>
              <a:srgbClr val="7030A0"/>
            </a:solidFill>
            <a:ln w="5715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chemeClr val="bg1"/>
                  </a:solidFill>
                  <a:effectLst/>
                  <a:latin typeface="Times New Roman" pitchFamily="18" charset="0"/>
                </a:rPr>
                <a:t>Knowledge</a:t>
              </a:r>
            </a:p>
          </p:txBody>
        </p:sp>
        <p:grpSp>
          <p:nvGrpSpPr>
            <p:cNvPr id="28" name="Group 27">
              <a:extLst>
                <a:ext uri="{FF2B5EF4-FFF2-40B4-BE49-F238E27FC236}">
                  <a16:creationId xmlns:a16="http://schemas.microsoft.com/office/drawing/2014/main" id="{6122BA7D-06CE-7B4F-AFFD-EEA44AE98E2B}"/>
                </a:ext>
              </a:extLst>
            </p:cNvPr>
            <p:cNvGrpSpPr/>
            <p:nvPr/>
          </p:nvGrpSpPr>
          <p:grpSpPr>
            <a:xfrm>
              <a:off x="1838156" y="3913325"/>
              <a:ext cx="2057400" cy="2057400"/>
              <a:chOff x="228600" y="4648200"/>
              <a:chExt cx="2057400" cy="2057400"/>
            </a:xfrm>
          </p:grpSpPr>
          <p:sp>
            <p:nvSpPr>
              <p:cNvPr id="29" name="Rectangle 28">
                <a:extLst>
                  <a:ext uri="{FF2B5EF4-FFF2-40B4-BE49-F238E27FC236}">
                    <a16:creationId xmlns:a16="http://schemas.microsoft.com/office/drawing/2014/main" id="{40BAB5A2-6AB1-CE49-9807-73E1A328E6DE}"/>
                  </a:ext>
                </a:extLst>
              </p:cNvPr>
              <p:cNvSpPr/>
              <p:nvPr/>
            </p:nvSpPr>
            <p:spPr bwMode="auto">
              <a:xfrm>
                <a:off x="228600" y="6248400"/>
                <a:ext cx="2057400" cy="457200"/>
              </a:xfrm>
              <a:prstGeom prst="rect">
                <a:avLst/>
              </a:prstGeom>
              <a:solidFill>
                <a:schemeClr val="tx2"/>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chemeClr val="bg1"/>
                    </a:solidFill>
                    <a:effectLst/>
                    <a:latin typeface="Times New Roman" pitchFamily="18" charset="0"/>
                  </a:rPr>
                  <a:t>Personal</a:t>
                </a:r>
              </a:p>
            </p:txBody>
          </p:sp>
          <p:sp>
            <p:nvSpPr>
              <p:cNvPr id="30" name="Rectangle 29">
                <a:extLst>
                  <a:ext uri="{FF2B5EF4-FFF2-40B4-BE49-F238E27FC236}">
                    <a16:creationId xmlns:a16="http://schemas.microsoft.com/office/drawing/2014/main" id="{DD9F5DE4-8619-AB4E-AC84-CE072542D2C6}"/>
                  </a:ext>
                </a:extLst>
              </p:cNvPr>
              <p:cNvSpPr/>
              <p:nvPr/>
            </p:nvSpPr>
            <p:spPr bwMode="auto">
              <a:xfrm>
                <a:off x="228600" y="4648200"/>
                <a:ext cx="2057400" cy="457200"/>
              </a:xfrm>
              <a:prstGeom prst="rect">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chemeClr val="bg1">
                        <a:lumMod val="95000"/>
                      </a:schemeClr>
                    </a:solidFill>
                    <a:effectLst/>
                    <a:latin typeface="Times New Roman" pitchFamily="18" charset="0"/>
                  </a:rPr>
                  <a:t>Political</a:t>
                </a:r>
              </a:p>
            </p:txBody>
          </p:sp>
          <p:sp>
            <p:nvSpPr>
              <p:cNvPr id="31" name="Rectangle 30">
                <a:extLst>
                  <a:ext uri="{FF2B5EF4-FFF2-40B4-BE49-F238E27FC236}">
                    <a16:creationId xmlns:a16="http://schemas.microsoft.com/office/drawing/2014/main" id="{33928329-AC03-A94E-B2EF-2906AAFF6A87}"/>
                  </a:ext>
                </a:extLst>
              </p:cNvPr>
              <p:cNvSpPr/>
              <p:nvPr/>
            </p:nvSpPr>
            <p:spPr bwMode="auto">
              <a:xfrm>
                <a:off x="228600" y="5181600"/>
                <a:ext cx="2057400" cy="457200"/>
              </a:xfrm>
              <a:prstGeom prst="rect">
                <a:avLst/>
              </a:prstGeom>
              <a:solidFill>
                <a:schemeClr val="accent5"/>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chemeClr val="bg1"/>
                    </a:solidFill>
                    <a:effectLst/>
                    <a:latin typeface="Times New Roman" pitchFamily="18" charset="0"/>
                  </a:rPr>
                  <a:t>Ideological</a:t>
                </a:r>
              </a:p>
            </p:txBody>
          </p:sp>
          <p:sp>
            <p:nvSpPr>
              <p:cNvPr id="32" name="Rectangle 31">
                <a:extLst>
                  <a:ext uri="{FF2B5EF4-FFF2-40B4-BE49-F238E27FC236}">
                    <a16:creationId xmlns:a16="http://schemas.microsoft.com/office/drawing/2014/main" id="{5A35ADFB-71AA-CA4A-BB0B-E8482474E768}"/>
                  </a:ext>
                </a:extLst>
              </p:cNvPr>
              <p:cNvSpPr/>
              <p:nvPr/>
            </p:nvSpPr>
            <p:spPr bwMode="auto">
              <a:xfrm>
                <a:off x="228600" y="5715000"/>
                <a:ext cx="2057400" cy="457200"/>
              </a:xfrm>
              <a:prstGeom prst="rect">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chemeClr val="bg1"/>
                    </a:solidFill>
                    <a:effectLst/>
                    <a:latin typeface="Times New Roman" pitchFamily="18" charset="0"/>
                  </a:rPr>
                  <a:t>Financial</a:t>
                </a:r>
              </a:p>
            </p:txBody>
          </p:sp>
        </p:grpSp>
        <p:grpSp>
          <p:nvGrpSpPr>
            <p:cNvPr id="33" name="Group 32">
              <a:extLst>
                <a:ext uri="{FF2B5EF4-FFF2-40B4-BE49-F238E27FC236}">
                  <a16:creationId xmlns:a16="http://schemas.microsoft.com/office/drawing/2014/main" id="{F43D3EC4-59C4-994B-B06D-2B73916A0BF7}"/>
                </a:ext>
              </a:extLst>
            </p:cNvPr>
            <p:cNvGrpSpPr/>
            <p:nvPr/>
          </p:nvGrpSpPr>
          <p:grpSpPr>
            <a:xfrm>
              <a:off x="4452588" y="1810533"/>
              <a:ext cx="2743200" cy="1262764"/>
              <a:chOff x="2895600" y="2209800"/>
              <a:chExt cx="2667000" cy="1066800"/>
            </a:xfrm>
            <a:solidFill>
              <a:schemeClr val="accent3"/>
            </a:solidFill>
          </p:grpSpPr>
          <p:sp>
            <p:nvSpPr>
              <p:cNvPr id="34" name="Rectangle 33">
                <a:extLst>
                  <a:ext uri="{FF2B5EF4-FFF2-40B4-BE49-F238E27FC236}">
                    <a16:creationId xmlns:a16="http://schemas.microsoft.com/office/drawing/2014/main" id="{EB884272-F938-D447-AEE9-BF52B0F02571}"/>
                  </a:ext>
                </a:extLst>
              </p:cNvPr>
              <p:cNvSpPr/>
              <p:nvPr/>
            </p:nvSpPr>
            <p:spPr bwMode="auto">
              <a:xfrm>
                <a:off x="3581400" y="2286000"/>
                <a:ext cx="1981200" cy="990600"/>
              </a:xfrm>
              <a:prstGeom prst="rect">
                <a:avLst/>
              </a:prstGeom>
              <a:grpFill/>
              <a:ln w="9525" cap="flat" cmpd="sng" algn="ctr">
                <a:noFill/>
                <a:prstDash val="solid"/>
                <a:round/>
                <a:headEnd type="none" w="med" len="med"/>
                <a:tailEnd type="none" w="med" len="med"/>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Insider Opportunity</a:t>
                </a:r>
              </a:p>
            </p:txBody>
          </p:sp>
          <p:sp>
            <p:nvSpPr>
              <p:cNvPr id="35" name="Flowchart: Delay 13">
                <a:extLst>
                  <a:ext uri="{FF2B5EF4-FFF2-40B4-BE49-F238E27FC236}">
                    <a16:creationId xmlns:a16="http://schemas.microsoft.com/office/drawing/2014/main" id="{6E594480-84E8-A246-93D6-4A45F54081DF}"/>
                  </a:ext>
                </a:extLst>
              </p:cNvPr>
              <p:cNvSpPr/>
              <p:nvPr/>
            </p:nvSpPr>
            <p:spPr bwMode="auto">
              <a:xfrm>
                <a:off x="2895600" y="2209800"/>
                <a:ext cx="304800" cy="381000"/>
              </a:xfrm>
              <a:prstGeom prst="flowChartDelay">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cxnSp>
            <p:nvCxnSpPr>
              <p:cNvPr id="36" name="Elbow Connector 35">
                <a:extLst>
                  <a:ext uri="{FF2B5EF4-FFF2-40B4-BE49-F238E27FC236}">
                    <a16:creationId xmlns:a16="http://schemas.microsoft.com/office/drawing/2014/main" id="{F761075E-DEBC-974E-B546-56E84F44C1ED}"/>
                  </a:ext>
                </a:extLst>
              </p:cNvPr>
              <p:cNvCxnSpPr>
                <a:stCxn id="35" idx="3"/>
              </p:cNvCxnSpPr>
              <p:nvPr/>
            </p:nvCxnSpPr>
            <p:spPr bwMode="auto">
              <a:xfrm>
                <a:off x="3200400" y="2400300"/>
                <a:ext cx="607306" cy="381000"/>
              </a:xfrm>
              <a:prstGeom prst="bentConnector3">
                <a:avLst>
                  <a:gd name="adj1" fmla="val 50000"/>
                </a:avLst>
              </a:prstGeom>
              <a:ln>
                <a:headEnd type="none" w="med" len="med"/>
                <a:tailEnd type="arrow"/>
              </a:ln>
            </p:spPr>
            <p:style>
              <a:lnRef idx="3">
                <a:schemeClr val="accent2"/>
              </a:lnRef>
              <a:fillRef idx="0">
                <a:schemeClr val="accent2"/>
              </a:fillRef>
              <a:effectRef idx="2">
                <a:schemeClr val="accent2"/>
              </a:effectRef>
              <a:fontRef idx="minor">
                <a:schemeClr val="tx1"/>
              </a:fontRef>
            </p:style>
          </p:cxnSp>
        </p:grpSp>
        <p:grpSp>
          <p:nvGrpSpPr>
            <p:cNvPr id="37" name="Group 36">
              <a:extLst>
                <a:ext uri="{FF2B5EF4-FFF2-40B4-BE49-F238E27FC236}">
                  <a16:creationId xmlns:a16="http://schemas.microsoft.com/office/drawing/2014/main" id="{2E5CF5A1-D7CE-5642-8BA2-E27F85D6D59C}"/>
                </a:ext>
              </a:extLst>
            </p:cNvPr>
            <p:cNvGrpSpPr/>
            <p:nvPr/>
          </p:nvGrpSpPr>
          <p:grpSpPr>
            <a:xfrm>
              <a:off x="4452588" y="4160556"/>
              <a:ext cx="2672862" cy="1352969"/>
              <a:chOff x="2819400" y="4820069"/>
              <a:chExt cx="2672862" cy="1199731"/>
            </a:xfrm>
          </p:grpSpPr>
          <p:sp>
            <p:nvSpPr>
              <p:cNvPr id="38" name="Rectangle 37">
                <a:extLst>
                  <a:ext uri="{FF2B5EF4-FFF2-40B4-BE49-F238E27FC236}">
                    <a16:creationId xmlns:a16="http://schemas.microsoft.com/office/drawing/2014/main" id="{E1654C67-70DE-E043-8356-A413828A5F6E}"/>
                  </a:ext>
                </a:extLst>
              </p:cNvPr>
              <p:cNvSpPr/>
              <p:nvPr/>
            </p:nvSpPr>
            <p:spPr bwMode="auto">
              <a:xfrm>
                <a:off x="3511062" y="4820069"/>
                <a:ext cx="1981200" cy="990600"/>
              </a:xfrm>
              <a:prstGeom prst="rect">
                <a:avLst/>
              </a:prstGeom>
              <a:solidFill>
                <a:schemeClr val="accent3"/>
              </a:solidFill>
              <a:ln w="9525" cap="flat" cmpd="sng" algn="ctr">
                <a:noFill/>
                <a:prstDash val="solid"/>
                <a:round/>
                <a:headEnd type="none" w="med" len="med"/>
                <a:tailEnd type="none" w="med" len="med"/>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chemeClr val="tx1"/>
                    </a:solidFill>
                    <a:effectLst/>
                    <a:latin typeface="Times New Roman" pitchFamily="18" charset="0"/>
                  </a:rPr>
                  <a:t>Insider Motivations</a:t>
                </a:r>
              </a:p>
            </p:txBody>
          </p:sp>
          <p:sp>
            <p:nvSpPr>
              <p:cNvPr id="39" name="Flowchart: Extract 17">
                <a:extLst>
                  <a:ext uri="{FF2B5EF4-FFF2-40B4-BE49-F238E27FC236}">
                    <a16:creationId xmlns:a16="http://schemas.microsoft.com/office/drawing/2014/main" id="{65F59EA9-A474-704A-8C17-F0374FAB5D2E}"/>
                  </a:ext>
                </a:extLst>
              </p:cNvPr>
              <p:cNvSpPr/>
              <p:nvPr/>
            </p:nvSpPr>
            <p:spPr bwMode="auto">
              <a:xfrm rot="5400000">
                <a:off x="2781300" y="5524500"/>
                <a:ext cx="533400" cy="457200"/>
              </a:xfrm>
              <a:prstGeom prst="flowChartExtra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cxnSp>
            <p:nvCxnSpPr>
              <p:cNvPr id="40" name="Elbow Connector 39">
                <a:extLst>
                  <a:ext uri="{FF2B5EF4-FFF2-40B4-BE49-F238E27FC236}">
                    <a16:creationId xmlns:a16="http://schemas.microsoft.com/office/drawing/2014/main" id="{66B685E5-B0B3-DD4E-A7CB-21C36A672721}"/>
                  </a:ext>
                </a:extLst>
              </p:cNvPr>
              <p:cNvCxnSpPr>
                <a:stCxn id="39" idx="0"/>
              </p:cNvCxnSpPr>
              <p:nvPr/>
            </p:nvCxnSpPr>
            <p:spPr bwMode="auto">
              <a:xfrm flipV="1">
                <a:off x="3276600" y="5315369"/>
                <a:ext cx="480967" cy="437731"/>
              </a:xfrm>
              <a:prstGeom prst="bentConnector3">
                <a:avLst>
                  <a:gd name="adj1" fmla="val 50000"/>
                </a:avLst>
              </a:prstGeom>
              <a:ln>
                <a:headEnd type="none" w="med" len="med"/>
                <a:tailEnd type="arrow"/>
              </a:ln>
            </p:spPr>
            <p:style>
              <a:lnRef idx="3">
                <a:schemeClr val="accent2"/>
              </a:lnRef>
              <a:fillRef idx="0">
                <a:schemeClr val="accent2"/>
              </a:fillRef>
              <a:effectRef idx="2">
                <a:schemeClr val="accent2"/>
              </a:effectRef>
              <a:fontRef idx="minor">
                <a:schemeClr val="tx1"/>
              </a:fontRef>
            </p:style>
          </p:cxnSp>
        </p:grpSp>
        <p:grpSp>
          <p:nvGrpSpPr>
            <p:cNvPr id="41" name="Group 40">
              <a:extLst>
                <a:ext uri="{FF2B5EF4-FFF2-40B4-BE49-F238E27FC236}">
                  <a16:creationId xmlns:a16="http://schemas.microsoft.com/office/drawing/2014/main" id="{6F6C2499-B735-334E-9B45-6C532F2F7AEC}"/>
                </a:ext>
              </a:extLst>
            </p:cNvPr>
            <p:cNvGrpSpPr/>
            <p:nvPr/>
          </p:nvGrpSpPr>
          <p:grpSpPr>
            <a:xfrm>
              <a:off x="7729188" y="2968169"/>
              <a:ext cx="2819400" cy="990600"/>
              <a:chOff x="6172200" y="3581400"/>
              <a:chExt cx="2819400" cy="990600"/>
            </a:xfrm>
            <a:solidFill>
              <a:srgbClr val="00B0F0"/>
            </a:solidFill>
          </p:grpSpPr>
          <p:sp>
            <p:nvSpPr>
              <p:cNvPr id="42" name="Rectangle 41">
                <a:extLst>
                  <a:ext uri="{FF2B5EF4-FFF2-40B4-BE49-F238E27FC236}">
                    <a16:creationId xmlns:a16="http://schemas.microsoft.com/office/drawing/2014/main" id="{E2C74653-659D-8E41-8789-5FBB9B8321C1}"/>
                  </a:ext>
                </a:extLst>
              </p:cNvPr>
              <p:cNvSpPr/>
              <p:nvPr/>
            </p:nvSpPr>
            <p:spPr bwMode="auto">
              <a:xfrm>
                <a:off x="6858000" y="3581400"/>
                <a:ext cx="2133600" cy="990600"/>
              </a:xfrm>
              <a:prstGeom prst="rect">
                <a:avLst/>
              </a:prstGeom>
              <a:grpFill/>
              <a:ln w="9525" cap="flat" cmpd="sng" algn="ctr">
                <a:solidFill>
                  <a:schemeClr val="tx1"/>
                </a:solidFill>
                <a:prstDash val="solid"/>
                <a:round/>
                <a:headEnd type="none" w="med" len="med"/>
                <a:tailEnd type="none" w="med" len="med"/>
              </a:ln>
              <a:effectLst/>
              <a:scene3d>
                <a:camera prst="orthographicFront"/>
                <a:lightRig rig="threePt" dir="t"/>
              </a:scene3d>
              <a:sp3d>
                <a:bevelT w="114300" prst="artDeco"/>
              </a:sp3d>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a:ln>
                      <a:noFill/>
                    </a:ln>
                    <a:solidFill>
                      <a:srgbClr val="000000"/>
                    </a:solidFill>
                    <a:effectLst/>
                    <a:latin typeface="Times New Roman" pitchFamily="18" charset="0"/>
                  </a:rPr>
                  <a:t>Insider Attempt</a:t>
                </a:r>
              </a:p>
            </p:txBody>
          </p:sp>
          <p:sp>
            <p:nvSpPr>
              <p:cNvPr id="43" name="Flowchart: Delay 16">
                <a:extLst>
                  <a:ext uri="{FF2B5EF4-FFF2-40B4-BE49-F238E27FC236}">
                    <a16:creationId xmlns:a16="http://schemas.microsoft.com/office/drawing/2014/main" id="{5CE9534F-7B67-DA42-A733-25B01702B64B}"/>
                  </a:ext>
                </a:extLst>
              </p:cNvPr>
              <p:cNvSpPr/>
              <p:nvPr/>
            </p:nvSpPr>
            <p:spPr bwMode="auto">
              <a:xfrm>
                <a:off x="6172200" y="3886200"/>
                <a:ext cx="304800" cy="381000"/>
              </a:xfrm>
              <a:prstGeom prst="flowChartDelay">
                <a:avLst/>
              </a:prstGeom>
              <a:solidFill>
                <a:srgbClr val="00B05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chemeClr val="tx1"/>
                  </a:solidFill>
                  <a:effectLst/>
                  <a:latin typeface="Times New Roman" pitchFamily="18" charset="0"/>
                </a:endParaRPr>
              </a:p>
            </p:txBody>
          </p:sp>
          <p:cxnSp>
            <p:nvCxnSpPr>
              <p:cNvPr id="44" name="Elbow Connector 43">
                <a:extLst>
                  <a:ext uri="{FF2B5EF4-FFF2-40B4-BE49-F238E27FC236}">
                    <a16:creationId xmlns:a16="http://schemas.microsoft.com/office/drawing/2014/main" id="{1697238F-D423-8946-BBDD-472C7452CF51}"/>
                  </a:ext>
                </a:extLst>
              </p:cNvPr>
              <p:cNvCxnSpPr>
                <a:stCxn id="43" idx="3"/>
                <a:endCxn id="42" idx="1"/>
              </p:cNvCxnSpPr>
              <p:nvPr/>
            </p:nvCxnSpPr>
            <p:spPr bwMode="auto">
              <a:xfrm>
                <a:off x="6477000" y="4076700"/>
                <a:ext cx="381000" cy="1588"/>
              </a:xfrm>
              <a:prstGeom prst="bentConnector3">
                <a:avLst>
                  <a:gd name="adj1" fmla="val 50000"/>
                </a:avLst>
              </a:prstGeom>
              <a:grpFill/>
              <a:ln w="9525" cap="flat" cmpd="sng" algn="ctr">
                <a:solidFill>
                  <a:schemeClr val="tx1"/>
                </a:solidFill>
                <a:prstDash val="solid"/>
                <a:round/>
                <a:headEnd type="none" w="med" len="med"/>
                <a:tailEnd type="arrow"/>
              </a:ln>
              <a:effectLst/>
            </p:spPr>
          </p:cxnSp>
        </p:grpSp>
        <p:cxnSp>
          <p:nvCxnSpPr>
            <p:cNvPr id="45" name="Elbow Connector 44">
              <a:extLst>
                <a:ext uri="{FF2B5EF4-FFF2-40B4-BE49-F238E27FC236}">
                  <a16:creationId xmlns:a16="http://schemas.microsoft.com/office/drawing/2014/main" id="{4E9AC6AB-F394-0242-B745-8A0D76EEBB37}"/>
                </a:ext>
              </a:extLst>
            </p:cNvPr>
            <p:cNvCxnSpPr>
              <a:stCxn id="29" idx="3"/>
              <a:endCxn id="39" idx="2"/>
            </p:cNvCxnSpPr>
            <p:nvPr/>
          </p:nvCxnSpPr>
          <p:spPr>
            <a:xfrm flipV="1">
              <a:off x="3895556" y="5212760"/>
              <a:ext cx="557032" cy="52936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46" name="Elbow Connector 45">
              <a:extLst>
                <a:ext uri="{FF2B5EF4-FFF2-40B4-BE49-F238E27FC236}">
                  <a16:creationId xmlns:a16="http://schemas.microsoft.com/office/drawing/2014/main" id="{E8B8217C-9C52-E04B-86E7-A053565EBE7F}"/>
                </a:ext>
              </a:extLst>
            </p:cNvPr>
            <p:cNvCxnSpPr>
              <a:stCxn id="32" idx="3"/>
              <a:endCxn id="39" idx="2"/>
            </p:cNvCxnSpPr>
            <p:nvPr/>
          </p:nvCxnSpPr>
          <p:spPr>
            <a:xfrm>
              <a:off x="3895556" y="5208725"/>
              <a:ext cx="557032" cy="403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47" name="Elbow Connector 46">
              <a:extLst>
                <a:ext uri="{FF2B5EF4-FFF2-40B4-BE49-F238E27FC236}">
                  <a16:creationId xmlns:a16="http://schemas.microsoft.com/office/drawing/2014/main" id="{F9D78E52-0C56-FA4E-8082-A97BFC58CD15}"/>
                </a:ext>
              </a:extLst>
            </p:cNvPr>
            <p:cNvCxnSpPr>
              <a:stCxn id="30" idx="3"/>
              <a:endCxn id="39" idx="2"/>
            </p:cNvCxnSpPr>
            <p:nvPr/>
          </p:nvCxnSpPr>
          <p:spPr>
            <a:xfrm>
              <a:off x="3895556" y="4141925"/>
              <a:ext cx="557032" cy="107083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48" name="Elbow Connector 47">
              <a:extLst>
                <a:ext uri="{FF2B5EF4-FFF2-40B4-BE49-F238E27FC236}">
                  <a16:creationId xmlns:a16="http://schemas.microsoft.com/office/drawing/2014/main" id="{731E3CF4-B308-F544-AF6C-23BF58988FB6}"/>
                </a:ext>
              </a:extLst>
            </p:cNvPr>
            <p:cNvCxnSpPr>
              <a:stCxn id="31" idx="3"/>
              <a:endCxn id="39" idx="2"/>
            </p:cNvCxnSpPr>
            <p:nvPr/>
          </p:nvCxnSpPr>
          <p:spPr>
            <a:xfrm>
              <a:off x="3895556" y="4675325"/>
              <a:ext cx="557032" cy="53743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49" name="Elbow Connector 48">
              <a:extLst>
                <a:ext uri="{FF2B5EF4-FFF2-40B4-BE49-F238E27FC236}">
                  <a16:creationId xmlns:a16="http://schemas.microsoft.com/office/drawing/2014/main" id="{C85169B8-B021-1545-97C2-B3BACE2445B5}"/>
                </a:ext>
              </a:extLst>
            </p:cNvPr>
            <p:cNvCxnSpPr>
              <a:stCxn id="25" idx="3"/>
              <a:endCxn id="35" idx="1"/>
            </p:cNvCxnSpPr>
            <p:nvPr/>
          </p:nvCxnSpPr>
          <p:spPr>
            <a:xfrm>
              <a:off x="3902625" y="1509674"/>
              <a:ext cx="549963" cy="526353"/>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0" name="Elbow Connector 49">
              <a:extLst>
                <a:ext uri="{FF2B5EF4-FFF2-40B4-BE49-F238E27FC236}">
                  <a16:creationId xmlns:a16="http://schemas.microsoft.com/office/drawing/2014/main" id="{988740DD-3AC0-4B47-A689-BA3A530B7F13}"/>
                </a:ext>
              </a:extLst>
            </p:cNvPr>
            <p:cNvCxnSpPr>
              <a:stCxn id="27" idx="3"/>
              <a:endCxn id="35" idx="1"/>
            </p:cNvCxnSpPr>
            <p:nvPr/>
          </p:nvCxnSpPr>
          <p:spPr>
            <a:xfrm flipV="1">
              <a:off x="3902625" y="2036027"/>
              <a:ext cx="549963" cy="56515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1" name="Elbow Connector 50">
              <a:extLst>
                <a:ext uri="{FF2B5EF4-FFF2-40B4-BE49-F238E27FC236}">
                  <a16:creationId xmlns:a16="http://schemas.microsoft.com/office/drawing/2014/main" id="{62E2E182-5778-4F4B-853F-FAF567B59797}"/>
                </a:ext>
              </a:extLst>
            </p:cNvPr>
            <p:cNvCxnSpPr>
              <a:cxnSpLocks/>
              <a:stCxn id="26" idx="3"/>
              <a:endCxn id="35" idx="1"/>
            </p:cNvCxnSpPr>
            <p:nvPr/>
          </p:nvCxnSpPr>
          <p:spPr>
            <a:xfrm flipV="1">
              <a:off x="3902625" y="2036027"/>
              <a:ext cx="549963" cy="3106"/>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2" name="Elbow Connector 51">
              <a:extLst>
                <a:ext uri="{FF2B5EF4-FFF2-40B4-BE49-F238E27FC236}">
                  <a16:creationId xmlns:a16="http://schemas.microsoft.com/office/drawing/2014/main" id="{F4653071-6C9F-E342-8065-240E06CC2C5A}"/>
                </a:ext>
              </a:extLst>
            </p:cNvPr>
            <p:cNvCxnSpPr>
              <a:stCxn id="34" idx="3"/>
              <a:endCxn id="43" idx="1"/>
            </p:cNvCxnSpPr>
            <p:nvPr/>
          </p:nvCxnSpPr>
          <p:spPr>
            <a:xfrm>
              <a:off x="7195788" y="2487014"/>
              <a:ext cx="533400" cy="976455"/>
            </a:xfrm>
            <a:prstGeom prst="bentConnector3">
              <a:avLst/>
            </a:prstGeom>
            <a:ln>
              <a:tailEnd type="triangle"/>
            </a:ln>
          </p:spPr>
          <p:style>
            <a:lnRef idx="1">
              <a:schemeClr val="dk1"/>
            </a:lnRef>
            <a:fillRef idx="0">
              <a:schemeClr val="dk1"/>
            </a:fillRef>
            <a:effectRef idx="0">
              <a:schemeClr val="dk1"/>
            </a:effectRef>
            <a:fontRef idx="minor">
              <a:schemeClr val="tx1"/>
            </a:fontRef>
          </p:style>
        </p:cxnSp>
        <p:cxnSp>
          <p:nvCxnSpPr>
            <p:cNvPr id="53" name="Elbow Connector 52">
              <a:extLst>
                <a:ext uri="{FF2B5EF4-FFF2-40B4-BE49-F238E27FC236}">
                  <a16:creationId xmlns:a16="http://schemas.microsoft.com/office/drawing/2014/main" id="{6B885B5B-4E78-DA46-8AFF-66220A0A55A7}"/>
                </a:ext>
              </a:extLst>
            </p:cNvPr>
            <p:cNvCxnSpPr/>
            <p:nvPr/>
          </p:nvCxnSpPr>
          <p:spPr>
            <a:xfrm flipV="1">
              <a:off x="7153550" y="3463469"/>
              <a:ext cx="603738" cy="1255650"/>
            </a:xfrm>
            <a:prstGeom prst="bentConnector3">
              <a:avLst/>
            </a:prstGeom>
            <a:ln>
              <a:tailEnd type="triangle"/>
            </a:ln>
          </p:spPr>
          <p:style>
            <a:lnRef idx="1">
              <a:schemeClr val="dk1"/>
            </a:lnRef>
            <a:fillRef idx="0">
              <a:schemeClr val="dk1"/>
            </a:fillRef>
            <a:effectRef idx="0">
              <a:schemeClr val="dk1"/>
            </a:effectRef>
            <a:fontRef idx="minor">
              <a:schemeClr val="tx1"/>
            </a:fontRef>
          </p:style>
        </p:cxnSp>
        <p:sp>
          <p:nvSpPr>
            <p:cNvPr id="55" name="Rectangle 54">
              <a:extLst>
                <a:ext uri="{FF2B5EF4-FFF2-40B4-BE49-F238E27FC236}">
                  <a16:creationId xmlns:a16="http://schemas.microsoft.com/office/drawing/2014/main" id="{40BAB5A2-6AB1-CE49-9807-73E1A328E6DE}"/>
                </a:ext>
              </a:extLst>
            </p:cNvPr>
            <p:cNvSpPr/>
            <p:nvPr/>
          </p:nvSpPr>
          <p:spPr bwMode="auto">
            <a:xfrm>
              <a:off x="1838156" y="3387775"/>
              <a:ext cx="2057400" cy="457200"/>
            </a:xfrm>
            <a:prstGeom prst="rect">
              <a:avLst/>
            </a:prstGeom>
            <a:solidFill>
              <a:srgbClr val="0070C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2400">
                  <a:solidFill>
                    <a:schemeClr val="bg1">
                      <a:lumMod val="95000"/>
                    </a:schemeClr>
                  </a:solidFill>
                </a:rPr>
                <a:t>Ego</a:t>
              </a:r>
              <a:endParaRPr kumimoji="0" lang="en-US" sz="2400" b="0" i="0" u="none" strike="noStrike" cap="none" normalizeH="0" baseline="0">
                <a:ln>
                  <a:noFill/>
                </a:ln>
                <a:solidFill>
                  <a:schemeClr val="bg1">
                    <a:lumMod val="95000"/>
                  </a:schemeClr>
                </a:solidFill>
                <a:effectLst/>
                <a:latin typeface="Times New Roman" pitchFamily="18" charset="0"/>
              </a:endParaRPr>
            </a:p>
          </p:txBody>
        </p:sp>
        <p:cxnSp>
          <p:nvCxnSpPr>
            <p:cNvPr id="57" name="Elbow Connector 56"/>
            <p:cNvCxnSpPr>
              <a:stCxn id="55" idx="3"/>
            </p:cNvCxnSpPr>
            <p:nvPr/>
          </p:nvCxnSpPr>
          <p:spPr>
            <a:xfrm>
              <a:off x="3895556" y="3616375"/>
              <a:ext cx="273769" cy="729582"/>
            </a:xfrm>
            <a:prstGeom prst="bentConnector2">
              <a:avLst/>
            </a:prstGeom>
          </p:spPr>
          <p:style>
            <a:lnRef idx="2">
              <a:schemeClr val="dk1"/>
            </a:lnRef>
            <a:fillRef idx="0">
              <a:schemeClr val="dk1"/>
            </a:fillRef>
            <a:effectRef idx="1">
              <a:schemeClr val="dk1"/>
            </a:effectRef>
            <a:fontRef idx="minor">
              <a:schemeClr val="tx1"/>
            </a:fontRef>
          </p:style>
        </p:cxnSp>
        <p:sp>
          <p:nvSpPr>
            <p:cNvPr id="59" name="Rectangle 58">
              <a:extLst>
                <a:ext uri="{FF2B5EF4-FFF2-40B4-BE49-F238E27FC236}">
                  <a16:creationId xmlns:a16="http://schemas.microsoft.com/office/drawing/2014/main" id="{40BAB5A2-6AB1-CE49-9807-73E1A328E6DE}"/>
                </a:ext>
              </a:extLst>
            </p:cNvPr>
            <p:cNvSpPr/>
            <p:nvPr/>
          </p:nvSpPr>
          <p:spPr bwMode="auto">
            <a:xfrm>
              <a:off x="1838156" y="6030595"/>
              <a:ext cx="2057400" cy="457200"/>
            </a:xfrm>
            <a:prstGeom prst="rect">
              <a:avLst/>
            </a:prstGeom>
            <a:solidFill>
              <a:srgbClr val="F10DD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en-US" sz="2400">
                  <a:solidFill>
                    <a:schemeClr val="bg1">
                      <a:lumMod val="95000"/>
                    </a:schemeClr>
                  </a:solidFill>
                </a:rPr>
                <a:t>Work</a:t>
              </a:r>
              <a:endParaRPr kumimoji="0" lang="en-US" sz="2400" b="0" i="0" u="none" strike="noStrike" cap="none" normalizeH="0" baseline="0">
                <a:ln>
                  <a:noFill/>
                </a:ln>
                <a:solidFill>
                  <a:schemeClr val="bg1">
                    <a:lumMod val="95000"/>
                  </a:schemeClr>
                </a:solidFill>
                <a:effectLst/>
                <a:latin typeface="Times New Roman" pitchFamily="18" charset="0"/>
              </a:endParaRPr>
            </a:p>
          </p:txBody>
        </p:sp>
        <p:cxnSp>
          <p:nvCxnSpPr>
            <p:cNvPr id="63" name="Elbow Connector 62"/>
            <p:cNvCxnSpPr>
              <a:endCxn id="59" idx="3"/>
            </p:cNvCxnSpPr>
            <p:nvPr/>
          </p:nvCxnSpPr>
          <p:spPr>
            <a:xfrm rot="5400000">
              <a:off x="3765741" y="5855611"/>
              <a:ext cx="533399" cy="273768"/>
            </a:xfrm>
            <a:prstGeom prst="bentConnector2">
              <a:avLst/>
            </a:prstGeom>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4261300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7083" y="412595"/>
            <a:ext cx="10783472" cy="747133"/>
          </a:xfrm>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IMPACTS OF INSIDER THREATS</a:t>
            </a:r>
            <a:endParaRPr lang="en-US"/>
          </a:p>
        </p:txBody>
      </p:sp>
      <p:sp>
        <p:nvSpPr>
          <p:cNvPr id="3" name="Content Placeholder 2"/>
          <p:cNvSpPr>
            <a:spLocks noGrp="1"/>
          </p:cNvSpPr>
          <p:nvPr>
            <p:ph idx="1"/>
          </p:nvPr>
        </p:nvSpPr>
        <p:spPr>
          <a:xfrm>
            <a:off x="729337" y="1071588"/>
            <a:ext cx="10878763" cy="5110753"/>
          </a:xfrm>
        </p:spPr>
        <p:txBody>
          <a:bodyPr>
            <a:noAutofit/>
          </a:bodyPr>
          <a:lstStyle/>
          <a:p>
            <a:pPr algn="just">
              <a:lnSpc>
                <a:spcPct val="100000"/>
              </a:lnSpc>
            </a:pPr>
            <a:r>
              <a:rPr lang="en-US" b="1">
                <a:solidFill>
                  <a:schemeClr val="accent3"/>
                </a:solidFill>
                <a:latin typeface="Times New Roman" panose="02020603050405020304" pitchFamily="18" charset="0"/>
                <a:cs typeface="Times New Roman" panose="02020603050405020304" pitchFamily="18" charset="0"/>
              </a:rPr>
              <a:t>EGO</a:t>
            </a:r>
            <a:r>
              <a:rPr lang="en-US" b="1">
                <a:latin typeface="Times New Roman" panose="02020603050405020304" pitchFamily="18" charset="0"/>
                <a:cs typeface="Times New Roman" panose="02020603050405020304" pitchFamily="18" charset="0"/>
              </a:rPr>
              <a:t>:</a:t>
            </a:r>
            <a:r>
              <a:rPr lang="en-US">
                <a:latin typeface="Times New Roman" panose="02020603050405020304" pitchFamily="18" charset="0"/>
                <a:cs typeface="Times New Roman" panose="02020603050405020304" pitchFamily="18" charset="0"/>
              </a:rPr>
              <a:t> Feelings of self-importance which may lead to issues of an interpersonal or legal nature. </a:t>
            </a:r>
          </a:p>
          <a:p>
            <a:pPr algn="just">
              <a:lnSpc>
                <a:spcPct val="100000"/>
              </a:lnSpc>
            </a:pPr>
            <a:r>
              <a:rPr lang="en-US" b="1">
                <a:solidFill>
                  <a:schemeClr val="accent3"/>
                </a:solidFill>
                <a:latin typeface="Times New Roman" panose="02020603050405020304" pitchFamily="18" charset="0"/>
                <a:cs typeface="Times New Roman" panose="02020603050405020304" pitchFamily="18" charset="0"/>
              </a:rPr>
              <a:t>Political</a:t>
            </a:r>
            <a:r>
              <a:rPr 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Allegiance or support for a foreign country or government, which could potentially lead to actions that favor the interests of that nation.</a:t>
            </a:r>
          </a:p>
          <a:p>
            <a:pPr algn="just">
              <a:lnSpc>
                <a:spcPct val="100000"/>
              </a:lnSpc>
            </a:pPr>
            <a:r>
              <a:rPr lang="en-US" b="1">
                <a:solidFill>
                  <a:schemeClr val="accent3"/>
                </a:solidFill>
                <a:latin typeface="Times New Roman" panose="02020603050405020304" pitchFamily="18" charset="0"/>
                <a:cs typeface="Times New Roman" panose="02020603050405020304" pitchFamily="18" charset="0"/>
              </a:rPr>
              <a:t>Ideological</a:t>
            </a:r>
            <a:r>
              <a:rPr lang="en-US">
                <a:latin typeface="Times New Roman" panose="02020603050405020304" pitchFamily="18" charset="0"/>
                <a:cs typeface="Times New Roman" panose="02020603050405020304" pitchFamily="18" charset="0"/>
              </a:rPr>
              <a:t>: </a:t>
            </a:r>
            <a:r>
              <a:rPr lang="en-US" altLang="en-US">
                <a:latin typeface="Times New Roman" panose="02020603050405020304" pitchFamily="18" charset="0"/>
                <a:cs typeface="Times New Roman" panose="02020603050405020304" pitchFamily="18" charset="0"/>
              </a:rPr>
              <a:t>An insider threat motivated by ideological beliefs occurs when an individual takes actions against their organization due to strong political, social, or religious convictions. These motivations can lead to behaviors such as sabotage, espionage, or data theft, driven by the belief that the organization's actions conflict with their personal values or principles.</a:t>
            </a:r>
          </a:p>
          <a:p>
            <a:endParaRPr lang="en-US"/>
          </a:p>
        </p:txBody>
      </p:sp>
    </p:spTree>
    <p:extLst>
      <p:ext uri="{BB962C8B-B14F-4D97-AF65-F5344CB8AC3E}">
        <p14:creationId xmlns:p14="http://schemas.microsoft.com/office/powerpoint/2010/main" val="2516581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4993" y="437941"/>
            <a:ext cx="10515600" cy="886767"/>
          </a:xfrm>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IMPACTS OF INSIDER THREATS</a:t>
            </a:r>
            <a:endParaRPr lang="en-US" sz="3200">
              <a:solidFill>
                <a:srgbClr val="0070C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94993" y="1324708"/>
            <a:ext cx="11273051" cy="4990067"/>
          </a:xfrm>
        </p:spPr>
        <p:txBody>
          <a:bodyPr>
            <a:normAutofit/>
          </a:bodyPr>
          <a:lstStyle/>
          <a:p>
            <a:pPr algn="just"/>
            <a:r>
              <a:rPr lang="en-US" sz="3000" b="1">
                <a:solidFill>
                  <a:schemeClr val="accent3"/>
                </a:solidFill>
                <a:latin typeface="Times New Roman" panose="02020603050405020304" pitchFamily="18" charset="0"/>
                <a:cs typeface="Times New Roman" panose="02020603050405020304" pitchFamily="18" charset="0"/>
              </a:rPr>
              <a:t>Financial</a:t>
            </a:r>
            <a:r>
              <a:rPr lang="en-US" sz="3000" b="1">
                <a:latin typeface="Times New Roman" panose="02020603050405020304" pitchFamily="18" charset="0"/>
                <a:cs typeface="Times New Roman" panose="02020603050405020304" pitchFamily="18" charset="0"/>
              </a:rPr>
              <a:t>:</a:t>
            </a:r>
            <a:r>
              <a:rPr lang="en-US" sz="3000">
                <a:latin typeface="Times New Roman" panose="02020603050405020304" pitchFamily="18" charset="0"/>
                <a:cs typeface="Times New Roman" panose="02020603050405020304" pitchFamily="18" charset="0"/>
              </a:rPr>
              <a:t> Employees may exploit their access to steal sensitive data, trade secrets, or money for personal benefit.</a:t>
            </a:r>
          </a:p>
          <a:p>
            <a:pPr algn="just"/>
            <a:r>
              <a:rPr lang="en-US" sz="3000" b="1">
                <a:solidFill>
                  <a:schemeClr val="accent3"/>
                </a:solidFill>
                <a:latin typeface="Times New Roman" panose="02020603050405020304" pitchFamily="18" charset="0"/>
                <a:cs typeface="Times New Roman" panose="02020603050405020304" pitchFamily="18" charset="0"/>
              </a:rPr>
              <a:t>Personal</a:t>
            </a:r>
            <a:r>
              <a:rPr lang="en-US" sz="3000" b="1">
                <a:latin typeface="Times New Roman" panose="02020603050405020304" pitchFamily="18" charset="0"/>
                <a:cs typeface="Times New Roman" panose="02020603050405020304" pitchFamily="18" charset="0"/>
              </a:rPr>
              <a:t>: </a:t>
            </a:r>
            <a:r>
              <a:rPr lang="en-US" sz="3000">
                <a:latin typeface="Times New Roman" panose="02020603050405020304" pitchFamily="18" charset="0"/>
                <a:cs typeface="Times New Roman" panose="02020603050405020304" pitchFamily="18" charset="0"/>
              </a:rPr>
              <a:t>A personal-based attack can be deeply invasive, breaching an individual's privacy by accessing sensitive information stored on devices or online accounts. This may include personal conversations, photos, videos, and browsing history. The emotional distress and loss of trust in digital platforms that can result from such an invasion is significant and should not be underestimated.</a:t>
            </a:r>
          </a:p>
          <a:p>
            <a:pPr algn="just"/>
            <a:r>
              <a:rPr lang="en-US" sz="3000" b="1">
                <a:solidFill>
                  <a:schemeClr val="accent3"/>
                </a:solidFill>
                <a:latin typeface="Times New Roman" panose="02020603050405020304" pitchFamily="18" charset="0"/>
                <a:cs typeface="Times New Roman" panose="02020603050405020304" pitchFamily="18" charset="0"/>
              </a:rPr>
              <a:t>Work performance:</a:t>
            </a:r>
            <a:r>
              <a:rPr lang="en-US" sz="3000">
                <a:latin typeface="Times New Roman" panose="02020603050405020304" pitchFamily="18" charset="0"/>
                <a:cs typeface="Times New Roman" panose="02020603050405020304" pitchFamily="18" charset="0"/>
              </a:rPr>
              <a:t> Issues that affect an individual's performance within an organization, such as an inability to complete goals or meet deadlines, could lead to termination. </a:t>
            </a:r>
          </a:p>
          <a:p>
            <a:endParaRPr lang="en-US"/>
          </a:p>
        </p:txBody>
      </p:sp>
    </p:spTree>
    <p:extLst>
      <p:ext uri="{BB962C8B-B14F-4D97-AF65-F5344CB8AC3E}">
        <p14:creationId xmlns:p14="http://schemas.microsoft.com/office/powerpoint/2010/main" val="38903270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0FD7CF-3590-18AD-606B-B63D4256AB1F}"/>
              </a:ext>
            </a:extLst>
          </p:cNvPr>
          <p:cNvSpPr>
            <a:spLocks noGrp="1"/>
          </p:cNvSpPr>
          <p:nvPr>
            <p:ph type="title"/>
          </p:nvPr>
        </p:nvSpPr>
        <p:spPr>
          <a:xfrm>
            <a:off x="838200" y="365126"/>
            <a:ext cx="10515600" cy="794601"/>
          </a:xfrm>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INSIDER CONCERNS (</a:t>
            </a:r>
            <a:r>
              <a:rPr lang="en-US" sz="3200" b="1">
                <a:solidFill>
                  <a:schemeClr val="accent3"/>
                </a:solidFill>
                <a:latin typeface="Times New Roman" panose="02020603050405020304" pitchFamily="18" charset="0"/>
                <a:cs typeface="Times New Roman" panose="02020603050405020304" pitchFamily="18" charset="0"/>
              </a:rPr>
              <a:t>TTT</a:t>
            </a:r>
            <a:r>
              <a:rPr lang="en-US" sz="3200" b="1">
                <a:solidFill>
                  <a:srgbClr val="0070C0"/>
                </a:solidFill>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8CB0DB15-0571-394D-A7D3-B0736473853E}"/>
              </a:ext>
            </a:extLst>
          </p:cNvPr>
          <p:cNvSpPr>
            <a:spLocks noGrp="1"/>
          </p:cNvSpPr>
          <p:nvPr>
            <p:ph idx="1"/>
          </p:nvPr>
        </p:nvSpPr>
        <p:spPr>
          <a:xfrm>
            <a:off x="838200" y="1159727"/>
            <a:ext cx="10515600" cy="4351338"/>
          </a:xfrm>
        </p:spPr>
        <p:txBody>
          <a:bodyPr>
            <a:normAutofit/>
          </a:bodyPr>
          <a:lstStyle/>
          <a:p>
            <a:r>
              <a:rPr lang="en-US" b="1">
                <a:solidFill>
                  <a:srgbClr val="E46825"/>
                </a:solidFill>
                <a:latin typeface="Times New Roman" panose="02020603050405020304" pitchFamily="18" charset="0"/>
                <a:cs typeface="Times New Roman" panose="02020603050405020304" pitchFamily="18" charset="0"/>
              </a:rPr>
              <a:t>Time</a:t>
            </a:r>
          </a:p>
          <a:p>
            <a:pPr lvl="1"/>
            <a:r>
              <a:rPr lang="en-US">
                <a:latin typeface="Times New Roman" panose="02020603050405020304" pitchFamily="18" charset="0"/>
                <a:cs typeface="Times New Roman" panose="02020603050405020304" pitchFamily="18" charset="0"/>
              </a:rPr>
              <a:t>Can select an optimum time to implement a plan.</a:t>
            </a:r>
          </a:p>
          <a:p>
            <a:pPr lvl="1"/>
            <a:r>
              <a:rPr lang="en-US">
                <a:latin typeface="Times New Roman" panose="02020603050405020304" pitchFamily="18" charset="0"/>
                <a:cs typeface="Times New Roman" panose="02020603050405020304" pitchFamily="18" charset="0"/>
              </a:rPr>
              <a:t>Can extend actions over long periods</a:t>
            </a:r>
          </a:p>
          <a:p>
            <a:r>
              <a:rPr lang="en-US" b="1">
                <a:solidFill>
                  <a:schemeClr val="accent3"/>
                </a:solidFill>
                <a:latin typeface="Times New Roman" panose="02020603050405020304" pitchFamily="18" charset="0"/>
                <a:cs typeface="Times New Roman" panose="02020603050405020304" pitchFamily="18" charset="0"/>
              </a:rPr>
              <a:t>Tools</a:t>
            </a:r>
          </a:p>
          <a:p>
            <a:pPr lvl="1"/>
            <a:r>
              <a:rPr lang="en-US">
                <a:latin typeface="Times New Roman" panose="02020603050405020304" pitchFamily="18" charset="0"/>
                <a:cs typeface="Times New Roman" panose="02020603050405020304" pitchFamily="18" charset="0"/>
              </a:rPr>
              <a:t>Knows and capability to use tools already at work location</a:t>
            </a:r>
          </a:p>
          <a:p>
            <a:pPr lvl="1"/>
            <a:r>
              <a:rPr lang="en-US">
                <a:latin typeface="Times New Roman" panose="02020603050405020304" pitchFamily="18" charset="0"/>
                <a:cs typeface="Times New Roman" panose="02020603050405020304" pitchFamily="18" charset="0"/>
              </a:rPr>
              <a:t>Can test the system with typical “mistakes”</a:t>
            </a:r>
          </a:p>
          <a:p>
            <a:r>
              <a:rPr lang="en-US" b="1">
                <a:solidFill>
                  <a:schemeClr val="accent3"/>
                </a:solidFill>
                <a:latin typeface="Times New Roman" panose="02020603050405020304" pitchFamily="18" charset="0"/>
                <a:cs typeface="Times New Roman" panose="02020603050405020304" pitchFamily="18" charset="0"/>
              </a:rPr>
              <a:t> Teamwork (Collusion)</a:t>
            </a:r>
          </a:p>
          <a:p>
            <a:pPr lvl="1"/>
            <a:r>
              <a:rPr lang="en-US">
                <a:latin typeface="Times New Roman" panose="02020603050405020304" pitchFamily="18" charset="0"/>
                <a:cs typeface="Times New Roman" panose="02020603050405020304" pitchFamily="18" charset="0"/>
              </a:rPr>
              <a:t>May recruit/conspire with others, either insiders or outsiders</a:t>
            </a:r>
            <a:endParaRPr lang="en-US"/>
          </a:p>
        </p:txBody>
      </p:sp>
    </p:spTree>
    <p:extLst>
      <p:ext uri="{BB962C8B-B14F-4D97-AF65-F5344CB8AC3E}">
        <p14:creationId xmlns:p14="http://schemas.microsoft.com/office/powerpoint/2010/main" val="920031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35620" y="365127"/>
            <a:ext cx="11408334" cy="1053366"/>
          </a:xfrm>
        </p:spPr>
        <p:txBody>
          <a:bodyPr>
            <a:normAutofit/>
          </a:bodyPr>
          <a:lstStyle/>
          <a:p>
            <a:r>
              <a:rPr lang="en-US" sz="3200" b="1">
                <a:solidFill>
                  <a:srgbClr val="0070C0"/>
                </a:solidFill>
              </a:rPr>
              <a:t>IMPLEMENTING MEASURES AGAINST INSIDER THREATS</a:t>
            </a:r>
          </a:p>
        </p:txBody>
      </p:sp>
      <p:sp>
        <p:nvSpPr>
          <p:cNvPr id="3" name="Content Placeholder 2"/>
          <p:cNvSpPr>
            <a:spLocks noGrp="1"/>
          </p:cNvSpPr>
          <p:nvPr>
            <p:ph idx="1"/>
          </p:nvPr>
        </p:nvSpPr>
        <p:spPr>
          <a:xfrm>
            <a:off x="528208" y="1312985"/>
            <a:ext cx="10972129" cy="4689229"/>
          </a:xfrm>
        </p:spPr>
        <p:txBody>
          <a:bodyPr>
            <a:normAutofit/>
          </a:bodyPr>
          <a:lstStyle/>
          <a:p>
            <a:pPr marL="0" indent="0">
              <a:lnSpc>
                <a:spcPct val="150000"/>
              </a:lnSpc>
              <a:buNone/>
            </a:pPr>
            <a:r>
              <a:rPr lang="en-US" b="1">
                <a:solidFill>
                  <a:srgbClr val="E46825"/>
                </a:solidFill>
                <a:latin typeface="Times New Roman" panose="02020603050405020304" pitchFamily="18" charset="0"/>
                <a:cs typeface="Times New Roman" panose="02020603050405020304" pitchFamily="18" charset="0"/>
              </a:rPr>
              <a:t>Implement Robust Access Controls:</a:t>
            </a:r>
          </a:p>
          <a:p>
            <a:pPr lvl="1">
              <a:lnSpc>
                <a:spcPct val="150000"/>
              </a:lnSpc>
            </a:pPr>
            <a:r>
              <a:rPr lang="en-US" b="1">
                <a:solidFill>
                  <a:srgbClr val="E46825"/>
                </a:solidFill>
                <a:latin typeface="Times New Roman" panose="02020603050405020304" pitchFamily="18" charset="0"/>
                <a:cs typeface="Times New Roman" panose="02020603050405020304" pitchFamily="18" charset="0"/>
              </a:rPr>
              <a:t>Principle of Least Privilege:</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Ensure that employees only have access to the information necessary for their roles.</a:t>
            </a:r>
          </a:p>
          <a:p>
            <a:pPr lvl="1">
              <a:lnSpc>
                <a:spcPct val="150000"/>
              </a:lnSpc>
            </a:pPr>
            <a:r>
              <a:rPr lang="en-US" b="1">
                <a:solidFill>
                  <a:srgbClr val="E46825"/>
                </a:solidFill>
                <a:latin typeface="Times New Roman" panose="02020603050405020304" pitchFamily="18" charset="0"/>
                <a:cs typeface="Times New Roman" panose="02020603050405020304" pitchFamily="18" charset="0"/>
              </a:rPr>
              <a:t>Role-Based Access Control:</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Define access levels based on job functions and responsibilities.</a:t>
            </a:r>
          </a:p>
          <a:p>
            <a:pPr lvl="1">
              <a:lnSpc>
                <a:spcPct val="150000"/>
              </a:lnSpc>
            </a:pPr>
            <a:r>
              <a:rPr lang="en-US" b="1">
                <a:solidFill>
                  <a:srgbClr val="E46825"/>
                </a:solidFill>
                <a:latin typeface="Times New Roman" panose="02020603050405020304" pitchFamily="18" charset="0"/>
                <a:cs typeface="Times New Roman" panose="02020603050405020304" pitchFamily="18" charset="0"/>
              </a:rPr>
              <a:t>Regular Audits:</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Conduct periodic reviews of access permissions to identify and correct inappropriate access.</a:t>
            </a:r>
          </a:p>
          <a:p>
            <a:pPr marL="0" indent="0">
              <a:lnSpc>
                <a:spcPct val="150000"/>
              </a:lnSpc>
              <a:buNone/>
            </a:pPr>
            <a:endParaRPr lang="en-US" sz="2600">
              <a:latin typeface="Times New Roman" panose="02020603050405020304" pitchFamily="18" charset="0"/>
              <a:cs typeface="Times New Roman" panose="02020603050405020304" pitchFamily="18" charset="0"/>
            </a:endParaRPr>
          </a:p>
          <a:p>
            <a:pPr marL="0" indent="0" algn="just">
              <a:lnSpc>
                <a:spcPct val="150000"/>
              </a:lnSpc>
              <a:buNone/>
            </a:pPr>
            <a:endParaRPr lang="en-US"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9702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6139" y="864332"/>
            <a:ext cx="11002108" cy="5278559"/>
          </a:xfrm>
        </p:spPr>
        <p:txBody>
          <a:bodyPr>
            <a:noAutofit/>
          </a:bodyPr>
          <a:lstStyle/>
          <a:p>
            <a:pPr marL="0" indent="0">
              <a:buNone/>
            </a:pPr>
            <a:r>
              <a:rPr lang="en-US" sz="2400" b="1">
                <a:solidFill>
                  <a:srgbClr val="E46825"/>
                </a:solidFill>
                <a:latin typeface="Times New Roman" panose="02020603050405020304" pitchFamily="18" charset="0"/>
                <a:cs typeface="Times New Roman" panose="02020603050405020304" pitchFamily="18" charset="0"/>
              </a:rPr>
              <a:t>Conduct Regular Security Awareness Training</a:t>
            </a:r>
          </a:p>
          <a:p>
            <a:pPr lvl="1"/>
            <a:r>
              <a:rPr lang="en-US" b="1">
                <a:solidFill>
                  <a:srgbClr val="E46825"/>
                </a:solidFill>
                <a:latin typeface="Times New Roman" panose="02020603050405020304" pitchFamily="18" charset="0"/>
                <a:cs typeface="Times New Roman" panose="02020603050405020304" pitchFamily="18" charset="0"/>
              </a:rPr>
              <a:t>Training Programs:</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Regularly educate employees about security policies, potential threats, and safe practices.</a:t>
            </a:r>
          </a:p>
          <a:p>
            <a:pPr lvl="1"/>
            <a:r>
              <a:rPr lang="en-US" b="1">
                <a:solidFill>
                  <a:srgbClr val="E46825"/>
                </a:solidFill>
                <a:latin typeface="Times New Roman" panose="02020603050405020304" pitchFamily="18" charset="0"/>
                <a:cs typeface="Times New Roman" panose="02020603050405020304" pitchFamily="18" charset="0"/>
              </a:rPr>
              <a:t>Phishing Simulations:</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Conduct simulated phishing attacks to teach employees how to recognize and avoid phishing attempts.</a:t>
            </a:r>
          </a:p>
          <a:p>
            <a:pPr lvl="1"/>
            <a:r>
              <a:rPr lang="en-US" b="1">
                <a:solidFill>
                  <a:srgbClr val="E46825"/>
                </a:solidFill>
                <a:latin typeface="Times New Roman" panose="02020603050405020304" pitchFamily="18" charset="0"/>
                <a:cs typeface="Times New Roman" panose="02020603050405020304" pitchFamily="18" charset="0"/>
              </a:rPr>
              <a:t>Policy Updates:</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Keep employees informed about any changes in security policies and procedures.</a:t>
            </a:r>
          </a:p>
          <a:p>
            <a:pPr marL="0" indent="0">
              <a:buNone/>
            </a:pPr>
            <a:r>
              <a:rPr lang="en-US" sz="2400" b="1">
                <a:solidFill>
                  <a:srgbClr val="E46825"/>
                </a:solidFill>
                <a:latin typeface="Times New Roman" panose="02020603050405020304" pitchFamily="18" charset="0"/>
                <a:cs typeface="Times New Roman" panose="02020603050405020304" pitchFamily="18" charset="0"/>
              </a:rPr>
              <a:t>Monitor User Behavior</a:t>
            </a:r>
          </a:p>
          <a:p>
            <a:pPr marL="742950" lvl="1" indent="-285750"/>
            <a:r>
              <a:rPr lang="en-US" b="1">
                <a:solidFill>
                  <a:srgbClr val="E46825"/>
                </a:solidFill>
                <a:latin typeface="Times New Roman" panose="02020603050405020304" pitchFamily="18" charset="0"/>
                <a:cs typeface="Times New Roman" panose="02020603050405020304" pitchFamily="18" charset="0"/>
              </a:rPr>
              <a:t>User Behavior Analytics (UBA):</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Use UBA tools to detect anomalies in user behavior that could indicate a potential threat.</a:t>
            </a:r>
          </a:p>
          <a:p>
            <a:pPr marL="742950" lvl="1" indent="-285750"/>
            <a:r>
              <a:rPr lang="en-US" b="1">
                <a:solidFill>
                  <a:srgbClr val="E46825"/>
                </a:solidFill>
                <a:latin typeface="Times New Roman" panose="02020603050405020304" pitchFamily="18" charset="0"/>
                <a:cs typeface="Times New Roman" panose="02020603050405020304" pitchFamily="18" charset="0"/>
              </a:rPr>
              <a:t>Activity Logs:</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Maintain detailed logs of user activities and regularly review them for suspicious actions.</a:t>
            </a:r>
          </a:p>
          <a:p>
            <a:pPr marL="742950" lvl="1" indent="-285750"/>
            <a:r>
              <a:rPr lang="en-US" b="1">
                <a:solidFill>
                  <a:srgbClr val="E46825"/>
                </a:solidFill>
                <a:latin typeface="Times New Roman" panose="02020603050405020304" pitchFamily="18" charset="0"/>
                <a:cs typeface="Times New Roman" panose="02020603050405020304" pitchFamily="18" charset="0"/>
              </a:rPr>
              <a:t>Real-Time Monitoring:</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Implement real-time monitoring to quickly identify and respond to unusual behavior.</a:t>
            </a:r>
          </a:p>
          <a:p>
            <a:pPr lvl="1"/>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7169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4092" y="562708"/>
            <a:ext cx="11207262" cy="5462954"/>
          </a:xfrm>
        </p:spPr>
        <p:txBody>
          <a:bodyPr>
            <a:noAutofit/>
          </a:bodyPr>
          <a:lstStyle/>
          <a:p>
            <a:pPr marL="0" lvl="0" indent="0">
              <a:buNone/>
            </a:pPr>
            <a:r>
              <a:rPr lang="en-US" sz="2400" b="1">
                <a:solidFill>
                  <a:srgbClr val="E46825"/>
                </a:solidFill>
                <a:latin typeface="Times New Roman" panose="02020603050405020304" pitchFamily="18" charset="0"/>
                <a:cs typeface="Times New Roman" panose="02020603050405020304" pitchFamily="18" charset="0"/>
              </a:rPr>
              <a:t>Comprehensive Background Checks</a:t>
            </a:r>
            <a:endParaRPr lang="en-US" sz="2400">
              <a:solidFill>
                <a:srgbClr val="E46825"/>
              </a:solidFill>
              <a:latin typeface="Times New Roman" panose="02020603050405020304" pitchFamily="18" charset="0"/>
              <a:cs typeface="Times New Roman" panose="02020603050405020304" pitchFamily="18" charset="0"/>
            </a:endParaRPr>
          </a:p>
          <a:p>
            <a:pPr lvl="1"/>
            <a:r>
              <a:rPr lang="en-US" b="1">
                <a:solidFill>
                  <a:srgbClr val="E46825"/>
                </a:solidFill>
                <a:latin typeface="Times New Roman" panose="02020603050405020304" pitchFamily="18" charset="0"/>
                <a:cs typeface="Times New Roman" panose="02020603050405020304" pitchFamily="18" charset="0"/>
              </a:rPr>
              <a:t>Pre-Employment Screening:</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Conduct thorough checks on new hires.</a:t>
            </a:r>
          </a:p>
          <a:p>
            <a:pPr lvl="1"/>
            <a:r>
              <a:rPr lang="en-US" b="1">
                <a:solidFill>
                  <a:srgbClr val="E46825"/>
                </a:solidFill>
                <a:latin typeface="Times New Roman" panose="02020603050405020304" pitchFamily="18" charset="0"/>
                <a:cs typeface="Times New Roman" panose="02020603050405020304" pitchFamily="18" charset="0"/>
              </a:rPr>
              <a:t>Ongoing Monitoring:</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Regularly update background checks to ensure continued trustworthiness.</a:t>
            </a:r>
          </a:p>
          <a:p>
            <a:pPr lvl="0"/>
            <a:r>
              <a:rPr lang="en-US" sz="2400" b="1">
                <a:solidFill>
                  <a:srgbClr val="E46825"/>
                </a:solidFill>
                <a:latin typeface="Times New Roman" panose="02020603050405020304" pitchFamily="18" charset="0"/>
                <a:cs typeface="Times New Roman" panose="02020603050405020304" pitchFamily="18" charset="0"/>
              </a:rPr>
              <a:t>Advanced Monitoring and Detection Tools</a:t>
            </a:r>
            <a:endParaRPr lang="en-US" sz="2400">
              <a:solidFill>
                <a:srgbClr val="E46825"/>
              </a:solidFill>
              <a:latin typeface="Times New Roman" panose="02020603050405020304" pitchFamily="18" charset="0"/>
              <a:cs typeface="Times New Roman" panose="02020603050405020304" pitchFamily="18" charset="0"/>
            </a:endParaRPr>
          </a:p>
          <a:p>
            <a:pPr lvl="1"/>
            <a:r>
              <a:rPr lang="en-US" b="1">
                <a:solidFill>
                  <a:srgbClr val="E46825"/>
                </a:solidFill>
                <a:latin typeface="Times New Roman" panose="02020603050405020304" pitchFamily="18" charset="0"/>
                <a:cs typeface="Times New Roman" panose="02020603050405020304" pitchFamily="18" charset="0"/>
              </a:rPr>
              <a:t>User Behavior Analytics (UBA):</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Use tools to detect behavioral anomalies.</a:t>
            </a:r>
          </a:p>
          <a:p>
            <a:pPr lvl="1"/>
            <a:r>
              <a:rPr lang="en-US" b="1">
                <a:solidFill>
                  <a:srgbClr val="E46825"/>
                </a:solidFill>
                <a:latin typeface="Times New Roman" panose="02020603050405020304" pitchFamily="18" charset="0"/>
                <a:cs typeface="Times New Roman" panose="02020603050405020304" pitchFamily="18" charset="0"/>
              </a:rPr>
              <a:t>Security Information and Event Management (SIEM):</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Aggregate and analyze security data.</a:t>
            </a:r>
          </a:p>
          <a:p>
            <a:pPr lvl="1"/>
            <a:r>
              <a:rPr lang="en-US" b="1">
                <a:solidFill>
                  <a:srgbClr val="E46825"/>
                </a:solidFill>
                <a:latin typeface="Times New Roman" panose="02020603050405020304" pitchFamily="18" charset="0"/>
                <a:cs typeface="Times New Roman" panose="02020603050405020304" pitchFamily="18" charset="0"/>
              </a:rPr>
              <a:t>Data Loss Prevention (DLP):</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Monitor and protect sensitive data.</a:t>
            </a:r>
          </a:p>
          <a:p>
            <a:pPr lvl="0"/>
            <a:r>
              <a:rPr lang="en-US" sz="2400" b="1">
                <a:solidFill>
                  <a:srgbClr val="E46825"/>
                </a:solidFill>
                <a:latin typeface="Times New Roman" panose="02020603050405020304" pitchFamily="18" charset="0"/>
                <a:cs typeface="Times New Roman" panose="02020603050405020304" pitchFamily="18" charset="0"/>
              </a:rPr>
              <a:t>Insider Threat Program</a:t>
            </a:r>
            <a:endParaRPr lang="en-US" sz="2400">
              <a:solidFill>
                <a:srgbClr val="E46825"/>
              </a:solidFill>
              <a:latin typeface="Times New Roman" panose="02020603050405020304" pitchFamily="18" charset="0"/>
              <a:cs typeface="Times New Roman" panose="02020603050405020304" pitchFamily="18" charset="0"/>
            </a:endParaRPr>
          </a:p>
          <a:p>
            <a:pPr lvl="1"/>
            <a:r>
              <a:rPr lang="en-US" b="1">
                <a:solidFill>
                  <a:srgbClr val="E46825"/>
                </a:solidFill>
                <a:latin typeface="Times New Roman" panose="02020603050405020304" pitchFamily="18" charset="0"/>
                <a:cs typeface="Times New Roman" panose="02020603050405020304" pitchFamily="18" charset="0"/>
              </a:rPr>
              <a:t>Dedicated Team:</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Have a team focused on insider threats.</a:t>
            </a:r>
          </a:p>
          <a:p>
            <a:pPr lvl="1"/>
            <a:r>
              <a:rPr lang="en-US" b="1">
                <a:solidFill>
                  <a:srgbClr val="E46825"/>
                </a:solidFill>
                <a:latin typeface="Times New Roman" panose="02020603050405020304" pitchFamily="18" charset="0"/>
                <a:cs typeface="Times New Roman" panose="02020603050405020304" pitchFamily="18" charset="0"/>
              </a:rPr>
              <a:t>Clear Policies:</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Enforce clear guidelines and procedures.</a:t>
            </a:r>
          </a:p>
          <a:p>
            <a:pPr lvl="1"/>
            <a:r>
              <a:rPr lang="en-US" b="1">
                <a:solidFill>
                  <a:srgbClr val="E46825"/>
                </a:solidFill>
                <a:latin typeface="Times New Roman" panose="02020603050405020304" pitchFamily="18" charset="0"/>
                <a:cs typeface="Times New Roman" panose="02020603050405020304" pitchFamily="18" charset="0"/>
              </a:rPr>
              <a:t>Incident Response Plan:</a:t>
            </a:r>
            <a:r>
              <a:rPr lang="en-US">
                <a:solidFill>
                  <a:srgbClr val="E46825"/>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Have a response plan ready for insider threats</a:t>
            </a:r>
          </a:p>
        </p:txBody>
      </p:sp>
    </p:spTree>
    <p:extLst>
      <p:ext uri="{BB962C8B-B14F-4D97-AF65-F5344CB8AC3E}">
        <p14:creationId xmlns:p14="http://schemas.microsoft.com/office/powerpoint/2010/main" val="3165880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E6E1E-CC53-6E9C-ECD8-21186A47B1EC}"/>
              </a:ext>
            </a:extLst>
          </p:cNvPr>
          <p:cNvSpPr>
            <a:spLocks noGrp="1"/>
          </p:cNvSpPr>
          <p:nvPr>
            <p:ph type="title"/>
          </p:nvPr>
        </p:nvSpPr>
        <p:spPr>
          <a:xfrm>
            <a:off x="961292" y="101600"/>
            <a:ext cx="10503878" cy="1317238"/>
          </a:xfrm>
        </p:spPr>
        <p:txBody>
          <a:bodyPr>
            <a:normAutofit fontScale="90000"/>
          </a:bodyPr>
          <a:lstStyle/>
          <a:p>
            <a:pPr algn="ctr"/>
            <a:br>
              <a:rPr lang="en-US"/>
            </a:br>
            <a:r>
              <a:rPr lang="en-US" sz="3200" b="1">
                <a:solidFill>
                  <a:srgbClr val="0070C0"/>
                </a:solidFill>
              </a:rPr>
              <a:t>STEPS FOR USING PREVENTIVE AND PROTECTIVE MEASURES AGAINST POTENTIAL INSIDER THREATS</a:t>
            </a:r>
          </a:p>
        </p:txBody>
      </p:sp>
      <p:sp useBgFill="1">
        <p:nvSpPr>
          <p:cNvPr id="6" name="Rectangle 5">
            <a:extLst>
              <a:ext uri="{FF2B5EF4-FFF2-40B4-BE49-F238E27FC236}">
                <a16:creationId xmlns:a16="http://schemas.microsoft.com/office/drawing/2014/main" id="{784D673F-36EF-4E4E-A83E-184DFDE7D1C4}"/>
              </a:ext>
            </a:extLst>
          </p:cNvPr>
          <p:cNvSpPr/>
          <p:nvPr/>
        </p:nvSpPr>
        <p:spPr bwMode="auto">
          <a:xfrm>
            <a:off x="744583" y="5829459"/>
            <a:ext cx="5351417" cy="381000"/>
          </a:xfrm>
          <a:prstGeom prst="rect">
            <a:avLst/>
          </a:prstGeom>
          <a:ln>
            <a:noFill/>
          </a:ln>
        </p:spPr>
        <p:txBody>
          <a:bodyPr rtlCol="0" anchor="ctr"/>
          <a:lstStyle/>
          <a:p>
            <a:r>
              <a:rPr lang="en-US" sz="1000">
                <a:hlinkClick r:id="rId2"/>
              </a:rPr>
              <a:t>Ref : Preventive and protective measures against insider threats (iaea.org)</a:t>
            </a:r>
            <a:endParaRPr lang="en-US" sz="1000"/>
          </a:p>
        </p:txBody>
      </p:sp>
      <p:pic>
        <p:nvPicPr>
          <p:cNvPr id="7" name="Picture 6"/>
          <p:cNvPicPr>
            <a:picLocks noChangeAspect="1"/>
          </p:cNvPicPr>
          <p:nvPr/>
        </p:nvPicPr>
        <p:blipFill>
          <a:blip r:embed="rId3"/>
          <a:stretch>
            <a:fillRect/>
          </a:stretch>
        </p:blipFill>
        <p:spPr>
          <a:xfrm>
            <a:off x="515904" y="1615593"/>
            <a:ext cx="11277511" cy="4254016"/>
          </a:xfrm>
          <a:prstGeom prst="rect">
            <a:avLst/>
          </a:prstGeom>
        </p:spPr>
      </p:pic>
    </p:spTree>
    <p:extLst>
      <p:ext uri="{BB962C8B-B14F-4D97-AF65-F5344CB8AC3E}">
        <p14:creationId xmlns:p14="http://schemas.microsoft.com/office/powerpoint/2010/main" val="3379874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21CF4-56FF-8781-DBCE-376044FF5914}"/>
              </a:ext>
            </a:extLst>
          </p:cNvPr>
          <p:cNvSpPr>
            <a:spLocks noGrp="1"/>
          </p:cNvSpPr>
          <p:nvPr>
            <p:ph type="title"/>
          </p:nvPr>
        </p:nvSpPr>
        <p:spPr>
          <a:xfrm>
            <a:off x="828964" y="522146"/>
            <a:ext cx="10515600" cy="946438"/>
          </a:xfrm>
        </p:spPr>
        <p:txBody>
          <a:bodyPr>
            <a:normAutofit/>
          </a:bodyPr>
          <a:lstStyle/>
          <a:p>
            <a:r>
              <a:rPr lang="en-US" sz="3200" b="1">
                <a:solidFill>
                  <a:srgbClr val="0070C0"/>
                </a:solidFill>
              </a:rPr>
              <a:t>INSIDER THREAT AWARENESS</a:t>
            </a:r>
          </a:p>
        </p:txBody>
      </p:sp>
      <p:sp>
        <p:nvSpPr>
          <p:cNvPr id="4" name="TextBox 3"/>
          <p:cNvSpPr txBox="1"/>
          <p:nvPr/>
        </p:nvSpPr>
        <p:spPr>
          <a:xfrm>
            <a:off x="583069" y="1468584"/>
            <a:ext cx="10999331" cy="4293483"/>
          </a:xfrm>
          <a:prstGeom prst="rect">
            <a:avLst/>
          </a:prstGeom>
          <a:noFill/>
        </p:spPr>
        <p:txBody>
          <a:bodyPr wrap="square" rtlCol="0">
            <a:spAutoFit/>
          </a:bodyPr>
          <a:lstStyle/>
          <a:p>
            <a:pPr marL="457200" indent="-457200">
              <a:lnSpc>
                <a:spcPct val="150000"/>
              </a:lnSpc>
              <a:buFont typeface="Wingdings" panose="05000000000000000000" pitchFamily="2" charset="2"/>
              <a:buChar char="ü"/>
            </a:pPr>
            <a:r>
              <a:rPr lang="en-US" sz="2600" b="1">
                <a:solidFill>
                  <a:srgbClr val="E46825"/>
                </a:solidFill>
              </a:rPr>
              <a:t>Explain the importance</a:t>
            </a:r>
            <a:r>
              <a:rPr lang="en-US" sz="2600">
                <a:solidFill>
                  <a:srgbClr val="E46825"/>
                </a:solidFill>
              </a:rPr>
              <a:t> </a:t>
            </a:r>
            <a:r>
              <a:rPr lang="en-US" sz="2600"/>
              <a:t>of detecting and reporting potential insider threats.</a:t>
            </a:r>
          </a:p>
          <a:p>
            <a:pPr marL="457200" indent="-457200">
              <a:lnSpc>
                <a:spcPct val="150000"/>
              </a:lnSpc>
              <a:buFont typeface="Wingdings" panose="05000000000000000000" pitchFamily="2" charset="2"/>
              <a:buChar char="ü"/>
            </a:pPr>
            <a:r>
              <a:rPr lang="en-US" sz="2600" b="1">
                <a:solidFill>
                  <a:srgbClr val="E46825"/>
                </a:solidFill>
              </a:rPr>
              <a:t>Identify indicators</a:t>
            </a:r>
            <a:r>
              <a:rPr lang="en-US" sz="2600">
                <a:solidFill>
                  <a:srgbClr val="E46825"/>
                </a:solidFill>
              </a:rPr>
              <a:t> </a:t>
            </a:r>
            <a:r>
              <a:rPr lang="en-US" sz="2600"/>
              <a:t>of insider threat behavior and procedures to report such behavior.</a:t>
            </a:r>
          </a:p>
          <a:p>
            <a:pPr marL="457200" indent="-457200">
              <a:lnSpc>
                <a:spcPct val="150000"/>
              </a:lnSpc>
              <a:buFont typeface="Wingdings" panose="05000000000000000000" pitchFamily="2" charset="2"/>
              <a:buChar char="ü"/>
            </a:pPr>
            <a:r>
              <a:rPr lang="en-US" sz="2600" b="1">
                <a:solidFill>
                  <a:srgbClr val="E46825"/>
                </a:solidFill>
              </a:rPr>
              <a:t>Describe methodologies</a:t>
            </a:r>
            <a:r>
              <a:rPr lang="en-US" sz="2600">
                <a:solidFill>
                  <a:srgbClr val="E46825"/>
                </a:solidFill>
              </a:rPr>
              <a:t> </a:t>
            </a:r>
            <a:r>
              <a:rPr lang="en-US" sz="2600"/>
              <a:t>of adversaries to recruit trusted insiders and collect classified information.</a:t>
            </a:r>
          </a:p>
          <a:p>
            <a:pPr marL="457200" indent="-457200">
              <a:lnSpc>
                <a:spcPct val="150000"/>
              </a:lnSpc>
              <a:buFont typeface="Wingdings" panose="05000000000000000000" pitchFamily="2" charset="2"/>
              <a:buChar char="ü"/>
            </a:pPr>
            <a:r>
              <a:rPr lang="en-US" sz="2600" b="1">
                <a:solidFill>
                  <a:srgbClr val="E46825"/>
                </a:solidFill>
              </a:rPr>
              <a:t>Understand</a:t>
            </a:r>
            <a:r>
              <a:rPr lang="en-US" sz="2600"/>
              <a:t> counterintelligence and security reporting requirements</a:t>
            </a:r>
          </a:p>
        </p:txBody>
      </p:sp>
    </p:spTree>
    <p:extLst>
      <p:ext uri="{BB962C8B-B14F-4D97-AF65-F5344CB8AC3E}">
        <p14:creationId xmlns:p14="http://schemas.microsoft.com/office/powerpoint/2010/main" val="1804826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8038" y="1959465"/>
            <a:ext cx="10448636" cy="1823892"/>
          </a:xfrm>
        </p:spPr>
        <p:txBody>
          <a:bodyPr>
            <a:normAutofit/>
          </a:bodyPr>
          <a:lstStyle/>
          <a:p>
            <a:pPr algn="ctr"/>
            <a:r>
              <a:rPr lang="en-US" sz="4000" b="1">
                <a:solidFill>
                  <a:schemeClr val="accent3"/>
                </a:solidFill>
                <a:latin typeface="Times New Roman" panose="02020603050405020304" pitchFamily="18" charset="0"/>
                <a:cs typeface="Times New Roman" panose="02020603050405020304" pitchFamily="18" charset="0"/>
              </a:rPr>
              <a:t>USER AND ENTITY BEHAVIOR ANALYTICS (UEBA)</a:t>
            </a:r>
          </a:p>
        </p:txBody>
      </p:sp>
    </p:spTree>
    <p:extLst>
      <p:ext uri="{BB962C8B-B14F-4D97-AF65-F5344CB8AC3E}">
        <p14:creationId xmlns:p14="http://schemas.microsoft.com/office/powerpoint/2010/main" val="4149532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0A7D-6E98-D3D8-FDEC-CB1B57869DB8}"/>
              </a:ext>
            </a:extLst>
          </p:cNvPr>
          <p:cNvSpPr>
            <a:spLocks noGrp="1"/>
          </p:cNvSpPr>
          <p:nvPr>
            <p:ph type="title"/>
          </p:nvPr>
        </p:nvSpPr>
        <p:spPr/>
        <p:txBody>
          <a:bodyPr>
            <a:normAutofit/>
          </a:bodyPr>
          <a:lstStyle/>
          <a:p>
            <a:r>
              <a:rPr lang="en-US" sz="3200" b="1">
                <a:solidFill>
                  <a:schemeClr val="accent3"/>
                </a:solidFill>
                <a:latin typeface="Times New Roman" panose="02020603050405020304" pitchFamily="18" charset="0"/>
                <a:cs typeface="Times New Roman" panose="02020603050405020304" pitchFamily="18" charset="0"/>
              </a:rPr>
              <a:t>User and Entity behavior analytics (UEBA)</a:t>
            </a:r>
          </a:p>
        </p:txBody>
      </p:sp>
      <p:sp>
        <p:nvSpPr>
          <p:cNvPr id="3" name="Content Placeholder 2">
            <a:extLst>
              <a:ext uri="{FF2B5EF4-FFF2-40B4-BE49-F238E27FC236}">
                <a16:creationId xmlns:a16="http://schemas.microsoft.com/office/drawing/2014/main" id="{84B4EC71-6F30-9AC0-70DF-60AB709659E6}"/>
              </a:ext>
            </a:extLst>
          </p:cNvPr>
          <p:cNvSpPr>
            <a:spLocks noGrp="1"/>
          </p:cNvSpPr>
          <p:nvPr>
            <p:ph idx="1"/>
          </p:nvPr>
        </p:nvSpPr>
        <p:spPr>
          <a:xfrm>
            <a:off x="838200" y="1450487"/>
            <a:ext cx="10896600" cy="4270375"/>
          </a:xfrm>
        </p:spPr>
        <p:txBody>
          <a:bodyPr>
            <a:normAutofit/>
          </a:bodyPr>
          <a:lstStyle/>
          <a:p>
            <a:pPr>
              <a:lnSpc>
                <a:spcPct val="150000"/>
              </a:lnSpc>
              <a:buFont typeface="Wingdings" panose="05000000000000000000" pitchFamily="2" charset="2"/>
              <a:buChar char="ü"/>
            </a:pPr>
            <a:r>
              <a:rPr lang="en-US" b="1">
                <a:solidFill>
                  <a:schemeClr val="accent3"/>
                </a:solidFill>
                <a:latin typeface="Times New Roman" panose="02020603050405020304" pitchFamily="18" charset="0"/>
                <a:cs typeface="Times New Roman" panose="02020603050405020304" pitchFamily="18" charset="0"/>
              </a:rPr>
              <a:t>User and entity behaviour analytics </a:t>
            </a:r>
            <a:r>
              <a:rPr lang="en-US">
                <a:latin typeface="Times New Roman" panose="02020603050405020304" pitchFamily="18" charset="0"/>
                <a:cs typeface="Times New Roman" panose="02020603050405020304" pitchFamily="18" charset="0"/>
              </a:rPr>
              <a:t>(UEBA) is a security program that employs behavioral analytics, machine learning algorithms, and automation to detect aberrant and possibly hazardous user and device activity.</a:t>
            </a:r>
          </a:p>
          <a:p>
            <a:pPr>
              <a:lnSpc>
                <a:spcPct val="150000"/>
              </a:lnSpc>
              <a:buFont typeface="Wingdings" panose="05000000000000000000" pitchFamily="2" charset="2"/>
              <a:buChar char="ü"/>
            </a:pPr>
            <a:r>
              <a:rPr lang="en-US" b="1">
                <a:solidFill>
                  <a:schemeClr val="accent3"/>
                </a:solidFill>
                <a:latin typeface="Times New Roman" panose="02020603050405020304" pitchFamily="18" charset="0"/>
                <a:cs typeface="Times New Roman" panose="02020603050405020304" pitchFamily="18" charset="0"/>
              </a:rPr>
              <a:t>UEBA</a:t>
            </a:r>
            <a:r>
              <a:rPr lang="en-US">
                <a:latin typeface="Times New Roman" panose="02020603050405020304" pitchFamily="18" charset="0"/>
                <a:cs typeface="Times New Roman" panose="02020603050405020304" pitchFamily="18" charset="0"/>
              </a:rPr>
              <a:t> provides teams with more comprehensive security information and improves the effectiveness of zero-trust security strategies.</a:t>
            </a:r>
          </a:p>
        </p:txBody>
      </p:sp>
    </p:spTree>
    <p:extLst>
      <p:ext uri="{BB962C8B-B14F-4D97-AF65-F5344CB8AC3E}">
        <p14:creationId xmlns:p14="http://schemas.microsoft.com/office/powerpoint/2010/main" val="2194797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9140" y="481018"/>
            <a:ext cx="10515600" cy="849720"/>
          </a:xfrm>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HOW UEBA </a:t>
            </a:r>
            <a:r>
              <a:rPr lang="en-US" sz="3600" b="1">
                <a:solidFill>
                  <a:srgbClr val="0070C0"/>
                </a:solidFill>
                <a:latin typeface="Times New Roman" panose="02020603050405020304" pitchFamily="18" charset="0"/>
                <a:cs typeface="Times New Roman" panose="02020603050405020304" pitchFamily="18" charset="0"/>
              </a:rPr>
              <a:t>WORKS</a:t>
            </a:r>
            <a:endParaRPr lang="en-US"/>
          </a:p>
        </p:txBody>
      </p:sp>
      <p:sp>
        <p:nvSpPr>
          <p:cNvPr id="3" name="Content Placeholder 2"/>
          <p:cNvSpPr>
            <a:spLocks noGrp="1"/>
          </p:cNvSpPr>
          <p:nvPr>
            <p:ph idx="1"/>
          </p:nvPr>
        </p:nvSpPr>
        <p:spPr>
          <a:xfrm>
            <a:off x="548640" y="1330738"/>
            <a:ext cx="10986868" cy="4741816"/>
          </a:xfrm>
        </p:spPr>
        <p:txBody>
          <a:bodyPr>
            <a:noAutofit/>
          </a:bodyPr>
          <a:lstStyle/>
          <a:p>
            <a:pPr algn="just">
              <a:lnSpc>
                <a:spcPct val="150000"/>
              </a:lnSpc>
              <a:buFont typeface="Wingdings" panose="05000000000000000000" pitchFamily="2" charset="2"/>
              <a:buChar char="Ø"/>
            </a:pPr>
            <a:r>
              <a:rPr lang="en-US" sz="2400" b="1">
                <a:solidFill>
                  <a:schemeClr val="accent3"/>
                </a:solidFill>
                <a:latin typeface="Times New Roman" panose="02020603050405020304" pitchFamily="18" charset="0"/>
                <a:cs typeface="Times New Roman" panose="02020603050405020304" pitchFamily="18" charset="0"/>
              </a:rPr>
              <a:t>Data Collection and Analysis</a:t>
            </a:r>
          </a:p>
          <a:p>
            <a:pPr marL="0" indent="0" algn="just">
              <a:lnSpc>
                <a:spcPct val="150000"/>
              </a:lnSpc>
              <a:buNone/>
            </a:pPr>
            <a:r>
              <a:rPr lang="en-US" sz="2400" b="1">
                <a:solidFill>
                  <a:srgbClr val="E46825"/>
                </a:solidFill>
                <a:latin typeface="Times New Roman" panose="02020603050405020304" pitchFamily="18" charset="0"/>
                <a:cs typeface="Times New Roman" panose="02020603050405020304" pitchFamily="18" charset="0"/>
              </a:rPr>
              <a:t>UEBA</a:t>
            </a:r>
            <a:r>
              <a:rPr lang="en-US" sz="2400">
                <a:latin typeface="Times New Roman" panose="02020603050405020304" pitchFamily="18" charset="0"/>
                <a:cs typeface="Times New Roman" panose="02020603050405020304" pitchFamily="18" charset="0"/>
              </a:rPr>
              <a:t> systems play a crucial role in network security by meticulously tracking user activity, network traffic, and access. This data is then processed by UEBA's advanced algorithms, which scrutinize every aspect of network user behaviour.</a:t>
            </a:r>
          </a:p>
          <a:p>
            <a:pPr algn="just">
              <a:lnSpc>
                <a:spcPct val="150000"/>
              </a:lnSpc>
              <a:buFont typeface="Wingdings" panose="05000000000000000000" pitchFamily="2" charset="2"/>
              <a:buChar char="Ø"/>
            </a:pPr>
            <a:r>
              <a:rPr lang="en-US" sz="2400" b="1">
                <a:solidFill>
                  <a:schemeClr val="accent3"/>
                </a:solidFill>
                <a:latin typeface="Times New Roman" panose="02020603050405020304" pitchFamily="18" charset="0"/>
                <a:cs typeface="Times New Roman" panose="02020603050405020304" pitchFamily="18" charset="0"/>
              </a:rPr>
              <a:t>Establishing Baseline Behavior and Anomaly Detection</a:t>
            </a:r>
          </a:p>
          <a:p>
            <a:pPr marL="0" indent="0" algn="just">
              <a:lnSpc>
                <a:spcPct val="150000"/>
              </a:lnSpc>
              <a:buNone/>
            </a:pPr>
            <a:r>
              <a:rPr lang="en-US" sz="2400" b="1">
                <a:solidFill>
                  <a:srgbClr val="E46825"/>
                </a:solidFill>
                <a:latin typeface="Times New Roman" panose="02020603050405020304" pitchFamily="18" charset="0"/>
                <a:cs typeface="Times New Roman" panose="02020603050405020304" pitchFamily="18" charset="0"/>
              </a:rPr>
              <a:t>UEBA's</a:t>
            </a:r>
            <a:r>
              <a:rPr lang="en-US" sz="2400">
                <a:latin typeface="Times New Roman" panose="02020603050405020304" pitchFamily="18" charset="0"/>
                <a:cs typeface="Times New Roman" panose="02020603050405020304" pitchFamily="18" charset="0"/>
              </a:rPr>
              <a:t> ability to define "normal" behaviour for each user and object is its primary competency. Current actions are compared to this baseline to identify abnormalities that may suggest data exfiltration, insider threats, or compromised accounts.</a:t>
            </a:r>
            <a:endParaRPr lang="en-US" sz="800"/>
          </a:p>
          <a:p>
            <a:pPr marL="0" indent="0" algn="just">
              <a:lnSpc>
                <a:spcPct val="150000"/>
              </a:lnSpc>
              <a:buNone/>
            </a:pPr>
            <a:br>
              <a:rPr lang="en-US" sz="800"/>
            </a:br>
            <a:endParaRPr lang="en-US" sz="800"/>
          </a:p>
        </p:txBody>
      </p:sp>
    </p:spTree>
    <p:extLst>
      <p:ext uri="{BB962C8B-B14F-4D97-AF65-F5344CB8AC3E}">
        <p14:creationId xmlns:p14="http://schemas.microsoft.com/office/powerpoint/2010/main" val="843023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57012"/>
            <a:ext cx="10515600" cy="810531"/>
          </a:xfrm>
        </p:spPr>
        <p:txBody>
          <a:bodyPr>
            <a:normAutofit fontScale="90000"/>
          </a:bodyPr>
          <a:lstStyle/>
          <a:p>
            <a:r>
              <a:rPr lang="en-US" sz="3600" b="1">
                <a:solidFill>
                  <a:srgbClr val="0070C0"/>
                </a:solidFill>
                <a:latin typeface="Times New Roman" panose="02020603050405020304" pitchFamily="18" charset="0"/>
                <a:cs typeface="Times New Roman" panose="02020603050405020304" pitchFamily="18" charset="0"/>
              </a:rPr>
              <a:t>THREATS ADDRESSED BY UEBA</a:t>
            </a:r>
            <a:br>
              <a:rPr lang="en-US" sz="3200" b="1">
                <a:latin typeface="Times New Roman" panose="02020603050405020304" pitchFamily="18" charset="0"/>
                <a:cs typeface="Times New Roman" panose="02020603050405020304" pitchFamily="18" charset="0"/>
              </a:rPr>
            </a:b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3068" y="1345157"/>
            <a:ext cx="11218144" cy="4970802"/>
          </a:xfrm>
        </p:spPr>
        <p:txBody>
          <a:bodyPr>
            <a:noAutofit/>
          </a:bodyPr>
          <a:lstStyle/>
          <a:p>
            <a:pPr algn="just">
              <a:buFont typeface="Wingdings" panose="05000000000000000000" pitchFamily="2" charset="2"/>
              <a:buChar char="Ø"/>
            </a:pPr>
            <a:r>
              <a:rPr lang="en-US" b="1">
                <a:solidFill>
                  <a:schemeClr val="accent3"/>
                </a:solidFill>
                <a:latin typeface="Times New Roman" panose="02020603050405020304" pitchFamily="18" charset="0"/>
                <a:cs typeface="Times New Roman" panose="02020603050405020304" pitchFamily="18" charset="0"/>
              </a:rPr>
              <a:t>Anomalous User Behavior: </a:t>
            </a:r>
            <a:r>
              <a:rPr lang="en-US">
                <a:latin typeface="Times New Roman" panose="02020603050405020304" pitchFamily="18" charset="0"/>
                <a:cs typeface="Times New Roman" panose="02020603050405020304" pitchFamily="18" charset="0"/>
              </a:rPr>
              <a:t>Detection of deviations from standard activity patterns, like </a:t>
            </a:r>
            <a:r>
              <a:rPr lang="en-US">
                <a:solidFill>
                  <a:srgbClr val="FF0000"/>
                </a:solidFill>
                <a:latin typeface="Times New Roman" panose="02020603050405020304" pitchFamily="18" charset="0"/>
                <a:cs typeface="Times New Roman" panose="02020603050405020304" pitchFamily="18" charset="0"/>
              </a:rPr>
              <a:t>unusual login times</a:t>
            </a:r>
            <a:r>
              <a:rPr lang="en-US">
                <a:latin typeface="Times New Roman" panose="02020603050405020304" pitchFamily="18" charset="0"/>
                <a:cs typeface="Times New Roman" panose="02020603050405020304" pitchFamily="18" charset="0"/>
              </a:rPr>
              <a:t> or changes in user behaviour.</a:t>
            </a:r>
          </a:p>
          <a:p>
            <a:pPr algn="just">
              <a:buFont typeface="Wingdings" panose="05000000000000000000" pitchFamily="2" charset="2"/>
              <a:buChar char="Ø"/>
            </a:pPr>
            <a:r>
              <a:rPr lang="en-US" b="1">
                <a:solidFill>
                  <a:schemeClr val="accent3"/>
                </a:solidFill>
                <a:latin typeface="Times New Roman" panose="02020603050405020304" pitchFamily="18" charset="0"/>
                <a:cs typeface="Times New Roman" panose="02020603050405020304" pitchFamily="18" charset="0"/>
              </a:rPr>
              <a:t>Account Compromise Indicators: </a:t>
            </a:r>
            <a:r>
              <a:rPr lang="en-US">
                <a:latin typeface="Times New Roman" panose="02020603050405020304" pitchFamily="18" charset="0"/>
                <a:cs typeface="Times New Roman" panose="02020603050405020304" pitchFamily="18" charset="0"/>
              </a:rPr>
              <a:t>Identifying </a:t>
            </a:r>
            <a:r>
              <a:rPr lang="en-US">
                <a:solidFill>
                  <a:srgbClr val="FF0000"/>
                </a:solidFill>
                <a:latin typeface="Times New Roman" panose="02020603050405020304" pitchFamily="18" charset="0"/>
                <a:cs typeface="Times New Roman" panose="02020603050405020304" pitchFamily="18" charset="0"/>
              </a:rPr>
              <a:t>suspicious login attempts</a:t>
            </a:r>
            <a:r>
              <a:rPr lang="en-US">
                <a:latin typeface="Times New Roman" panose="02020603050405020304" pitchFamily="18" charset="0"/>
                <a:cs typeface="Times New Roman" panose="02020603050405020304" pitchFamily="18" charset="0"/>
              </a:rPr>
              <a:t>, including brute-force attacks and unauthorized access.</a:t>
            </a:r>
          </a:p>
          <a:p>
            <a:pPr algn="just">
              <a:buFont typeface="Wingdings" panose="05000000000000000000" pitchFamily="2" charset="2"/>
              <a:buChar char="Ø"/>
            </a:pPr>
            <a:r>
              <a:rPr lang="en-US" b="1">
                <a:solidFill>
                  <a:schemeClr val="accent3"/>
                </a:solidFill>
                <a:latin typeface="Times New Roman" panose="02020603050405020304" pitchFamily="18" charset="0"/>
                <a:cs typeface="Times New Roman" panose="02020603050405020304" pitchFamily="18" charset="0"/>
              </a:rPr>
              <a:t>Privilege Abuse: </a:t>
            </a:r>
            <a:r>
              <a:rPr lang="en-US">
                <a:latin typeface="Times New Roman" panose="02020603050405020304" pitchFamily="18" charset="0"/>
                <a:cs typeface="Times New Roman" panose="02020603050405020304" pitchFamily="18" charset="0"/>
              </a:rPr>
              <a:t>Spotting misuse of extensive access rights and </a:t>
            </a:r>
            <a:r>
              <a:rPr lang="en-US">
                <a:solidFill>
                  <a:srgbClr val="FF0000"/>
                </a:solidFill>
                <a:latin typeface="Times New Roman" panose="02020603050405020304" pitchFamily="18" charset="0"/>
                <a:cs typeface="Times New Roman" panose="02020603050405020304" pitchFamily="18" charset="0"/>
              </a:rPr>
              <a:t>unauthorized attempts to alter permissions</a:t>
            </a:r>
            <a:r>
              <a:rPr lang="en-US">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b="1">
                <a:solidFill>
                  <a:schemeClr val="accent3"/>
                </a:solidFill>
                <a:latin typeface="Times New Roman" panose="02020603050405020304" pitchFamily="18" charset="0"/>
                <a:cs typeface="Times New Roman" panose="02020603050405020304" pitchFamily="18" charset="0"/>
              </a:rPr>
              <a:t>Internal Threat Landscape: </a:t>
            </a:r>
            <a:r>
              <a:rPr lang="en-US">
                <a:latin typeface="Times New Roman" panose="02020603050405020304" pitchFamily="18" charset="0"/>
                <a:cs typeface="Times New Roman" panose="02020603050405020304" pitchFamily="18" charset="0"/>
              </a:rPr>
              <a:t>Addressing insider threats, including malicious insider activities, </a:t>
            </a:r>
            <a:r>
              <a:rPr lang="en-US">
                <a:solidFill>
                  <a:srgbClr val="FF0000"/>
                </a:solidFill>
                <a:latin typeface="Times New Roman" panose="02020603050405020304" pitchFamily="18" charset="0"/>
                <a:cs typeface="Times New Roman" panose="02020603050405020304" pitchFamily="18" charset="0"/>
              </a:rPr>
              <a:t>unauthorized data or application access</a:t>
            </a:r>
            <a:r>
              <a:rPr lang="en-US">
                <a:latin typeface="Times New Roman" panose="02020603050405020304" pitchFamily="18" charset="0"/>
                <a:cs typeface="Times New Roman" panose="02020603050405020304" pitchFamily="18" charset="0"/>
              </a:rPr>
              <a:t>, and data theft or sabotage efforts.</a:t>
            </a:r>
          </a:p>
          <a:p>
            <a:pPr algn="just">
              <a:buFont typeface="Wingdings" panose="05000000000000000000" pitchFamily="2" charset="2"/>
              <a:buChar char="Ø"/>
            </a:pPr>
            <a:r>
              <a:rPr lang="en-US" b="1">
                <a:solidFill>
                  <a:schemeClr val="accent3"/>
                </a:solidFill>
                <a:latin typeface="Times New Roman" panose="02020603050405020304" pitchFamily="18" charset="0"/>
                <a:cs typeface="Times New Roman" panose="02020603050405020304" pitchFamily="18" charset="0"/>
              </a:rPr>
              <a:t>Data Exfiltration Tactics: </a:t>
            </a:r>
            <a:r>
              <a:rPr lang="en-US">
                <a:latin typeface="Times New Roman" panose="02020603050405020304" pitchFamily="18" charset="0"/>
                <a:cs typeface="Times New Roman" panose="02020603050405020304" pitchFamily="18" charset="0"/>
              </a:rPr>
              <a:t>Detecting </a:t>
            </a:r>
            <a:r>
              <a:rPr lang="en-US">
                <a:solidFill>
                  <a:srgbClr val="FF0000"/>
                </a:solidFill>
                <a:latin typeface="Times New Roman" panose="02020603050405020304" pitchFamily="18" charset="0"/>
                <a:cs typeface="Times New Roman" panose="02020603050405020304" pitchFamily="18" charset="0"/>
              </a:rPr>
              <a:t>attempts to transfer data unusually </a:t>
            </a:r>
            <a:r>
              <a:rPr lang="en-US">
                <a:latin typeface="Times New Roman" panose="02020603050405020304" pitchFamily="18" charset="0"/>
                <a:cs typeface="Times New Roman" panose="02020603050405020304" pitchFamily="18" charset="0"/>
              </a:rPr>
              <a:t>or access files in a way that suggests potential data exfiltration.</a:t>
            </a:r>
          </a:p>
        </p:txBody>
      </p:sp>
    </p:spTree>
    <p:extLst>
      <p:ext uri="{BB962C8B-B14F-4D97-AF65-F5344CB8AC3E}">
        <p14:creationId xmlns:p14="http://schemas.microsoft.com/office/powerpoint/2010/main" val="28818815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5766" y="626383"/>
            <a:ext cx="10515600" cy="1325563"/>
          </a:xfrm>
        </p:spPr>
        <p:txBody>
          <a:bodyPr/>
          <a:lstStyle/>
          <a:p>
            <a:r>
              <a:rPr lang="en-US" sz="3200" b="1">
                <a:solidFill>
                  <a:srgbClr val="0070C0"/>
                </a:solidFill>
                <a:latin typeface="Times New Roman" panose="02020603050405020304" pitchFamily="18" charset="0"/>
                <a:cs typeface="Times New Roman" panose="02020603050405020304" pitchFamily="18" charset="0"/>
              </a:rPr>
              <a:t>THREATS ADDRESSED BY UEBA</a:t>
            </a:r>
            <a:br>
              <a:rPr lang="en-US" b="1">
                <a:latin typeface="Times New Roman" panose="02020603050405020304" pitchFamily="18" charset="0"/>
                <a:cs typeface="Times New Roman" panose="02020603050405020304" pitchFamily="18" charset="0"/>
              </a:rPr>
            </a:br>
            <a:endParaRPr lang="en-US"/>
          </a:p>
        </p:txBody>
      </p:sp>
      <p:sp>
        <p:nvSpPr>
          <p:cNvPr id="3" name="Content Placeholder 2"/>
          <p:cNvSpPr>
            <a:spLocks noGrp="1"/>
          </p:cNvSpPr>
          <p:nvPr>
            <p:ph idx="1"/>
          </p:nvPr>
        </p:nvSpPr>
        <p:spPr>
          <a:xfrm>
            <a:off x="557349" y="1287243"/>
            <a:ext cx="11312434" cy="4993186"/>
          </a:xfrm>
        </p:spPr>
        <p:txBody>
          <a:bodyPr>
            <a:normAutofit fontScale="40000" lnSpcReduction="20000"/>
          </a:bodyPr>
          <a:lstStyle/>
          <a:p>
            <a:pPr algn="just">
              <a:lnSpc>
                <a:spcPct val="120000"/>
              </a:lnSpc>
              <a:buFont typeface="Wingdings" panose="05000000000000000000" pitchFamily="2" charset="2"/>
              <a:buChar char="Ø"/>
            </a:pPr>
            <a:r>
              <a:rPr lang="en-US" sz="5900" b="1">
                <a:solidFill>
                  <a:schemeClr val="accent3"/>
                </a:solidFill>
                <a:latin typeface="Times New Roman" panose="02020603050405020304" pitchFamily="18" charset="0"/>
                <a:cs typeface="Times New Roman" panose="02020603050405020304" pitchFamily="18" charset="0"/>
              </a:rPr>
              <a:t>Malware and Ransomware Activities: </a:t>
            </a:r>
            <a:r>
              <a:rPr lang="en-US" sz="5900">
                <a:latin typeface="Times New Roman" panose="02020603050405020304" pitchFamily="18" charset="0"/>
                <a:cs typeface="Times New Roman" panose="02020603050405020304" pitchFamily="18" charset="0"/>
              </a:rPr>
              <a:t>Identifying </a:t>
            </a:r>
            <a:r>
              <a:rPr lang="en-US" sz="5900">
                <a:solidFill>
                  <a:srgbClr val="FF0000"/>
                </a:solidFill>
                <a:latin typeface="Times New Roman" panose="02020603050405020304" pitchFamily="18" charset="0"/>
                <a:cs typeface="Times New Roman" panose="02020603050405020304" pitchFamily="18" charset="0"/>
              </a:rPr>
              <a:t>signs of malware </a:t>
            </a:r>
            <a:r>
              <a:rPr lang="en-US" sz="5900">
                <a:latin typeface="Times New Roman" panose="02020603050405020304" pitchFamily="18" charset="0"/>
                <a:cs typeface="Times New Roman" panose="02020603050405020304" pitchFamily="18" charset="0"/>
              </a:rPr>
              <a:t>or ransomware infections, including endpoint anomalies and patterns typical of ransomware.</a:t>
            </a:r>
          </a:p>
          <a:p>
            <a:pPr algn="just">
              <a:lnSpc>
                <a:spcPct val="120000"/>
              </a:lnSpc>
              <a:buFont typeface="Wingdings" panose="05000000000000000000" pitchFamily="2" charset="2"/>
              <a:buChar char="Ø"/>
            </a:pPr>
            <a:r>
              <a:rPr lang="en-US" sz="5900" b="1">
                <a:solidFill>
                  <a:schemeClr val="accent3"/>
                </a:solidFill>
                <a:latin typeface="Times New Roman" panose="02020603050405020304" pitchFamily="18" charset="0"/>
                <a:cs typeface="Times New Roman" panose="02020603050405020304" pitchFamily="18" charset="0"/>
              </a:rPr>
              <a:t>Policy Violation Identification: </a:t>
            </a:r>
            <a:r>
              <a:rPr lang="en-US" sz="5900">
                <a:latin typeface="Times New Roman" panose="02020603050405020304" pitchFamily="18" charset="0"/>
                <a:cs typeface="Times New Roman" panose="02020603050405020304" pitchFamily="18" charset="0"/>
              </a:rPr>
              <a:t>Recognizing actions where </a:t>
            </a:r>
            <a:r>
              <a:rPr lang="en-US" sz="5900">
                <a:solidFill>
                  <a:srgbClr val="FF0000"/>
                </a:solidFill>
                <a:latin typeface="Times New Roman" panose="02020603050405020304" pitchFamily="18" charset="0"/>
                <a:cs typeface="Times New Roman" panose="02020603050405020304" pitchFamily="18" charset="0"/>
              </a:rPr>
              <a:t>users bypass security controls</a:t>
            </a:r>
            <a:r>
              <a:rPr lang="en-US" sz="5900">
                <a:latin typeface="Times New Roman" panose="02020603050405020304" pitchFamily="18" charset="0"/>
                <a:cs typeface="Times New Roman" panose="02020603050405020304" pitchFamily="18" charset="0"/>
              </a:rPr>
              <a:t> or access restricted resources, violating established policies.</a:t>
            </a:r>
          </a:p>
          <a:p>
            <a:pPr algn="just">
              <a:lnSpc>
                <a:spcPct val="120000"/>
              </a:lnSpc>
              <a:buFont typeface="Wingdings" panose="05000000000000000000" pitchFamily="2" charset="2"/>
              <a:buChar char="Ø"/>
            </a:pPr>
            <a:r>
              <a:rPr lang="en-US" sz="5900" b="1">
                <a:solidFill>
                  <a:schemeClr val="accent3"/>
                </a:solidFill>
                <a:latin typeface="Times New Roman" panose="02020603050405020304" pitchFamily="18" charset="0"/>
                <a:cs typeface="Times New Roman" panose="02020603050405020304" pitchFamily="18" charset="0"/>
              </a:rPr>
              <a:t>Phishing and Social Engineering Attempts: </a:t>
            </a:r>
            <a:r>
              <a:rPr lang="en-US" sz="5900">
                <a:latin typeface="Times New Roman" panose="02020603050405020304" pitchFamily="18" charset="0"/>
                <a:cs typeface="Times New Roman" panose="02020603050405020304" pitchFamily="18" charset="0"/>
              </a:rPr>
              <a:t>Detecting </a:t>
            </a:r>
            <a:r>
              <a:rPr lang="en-US" sz="5900">
                <a:solidFill>
                  <a:srgbClr val="FF0000"/>
                </a:solidFill>
                <a:latin typeface="Times New Roman" panose="02020603050405020304" pitchFamily="18" charset="0"/>
                <a:cs typeface="Times New Roman" panose="02020603050405020304" pitchFamily="18" charset="0"/>
              </a:rPr>
              <a:t>user interactions with malicious links or email attachments</a:t>
            </a:r>
            <a:r>
              <a:rPr lang="en-US" sz="5900">
                <a:latin typeface="Times New Roman" panose="02020603050405020304" pitchFamily="18" charset="0"/>
                <a:cs typeface="Times New Roman" panose="02020603050405020304" pitchFamily="18" charset="0"/>
              </a:rPr>
              <a:t> indicative of phishing or social engineering exploits.</a:t>
            </a:r>
          </a:p>
          <a:p>
            <a:pPr algn="just">
              <a:lnSpc>
                <a:spcPct val="120000"/>
              </a:lnSpc>
              <a:buFont typeface="Wingdings" panose="05000000000000000000" pitchFamily="2" charset="2"/>
              <a:buChar char="Ø"/>
            </a:pPr>
            <a:r>
              <a:rPr lang="en-US" sz="5900" b="1">
                <a:solidFill>
                  <a:schemeClr val="accent3"/>
                </a:solidFill>
                <a:latin typeface="Times New Roman" panose="02020603050405020304" pitchFamily="18" charset="0"/>
                <a:cs typeface="Times New Roman" panose="02020603050405020304" pitchFamily="18" charset="0"/>
              </a:rPr>
              <a:t>Advanced Persistent Threats (APTs): </a:t>
            </a:r>
            <a:r>
              <a:rPr lang="en-US" sz="5900">
                <a:latin typeface="Times New Roman" panose="02020603050405020304" pitchFamily="18" charset="0"/>
                <a:cs typeface="Times New Roman" panose="02020603050405020304" pitchFamily="18" charset="0"/>
              </a:rPr>
              <a:t>Uncovering ongoing, </a:t>
            </a:r>
            <a:r>
              <a:rPr lang="en-US" sz="5900">
                <a:solidFill>
                  <a:srgbClr val="FF0000"/>
                </a:solidFill>
                <a:latin typeface="Times New Roman" panose="02020603050405020304" pitchFamily="18" charset="0"/>
                <a:cs typeface="Times New Roman" panose="02020603050405020304" pitchFamily="18" charset="0"/>
              </a:rPr>
              <a:t>sophisticated attacks </a:t>
            </a:r>
            <a:r>
              <a:rPr lang="en-US" sz="5900">
                <a:latin typeface="Times New Roman" panose="02020603050405020304" pitchFamily="18" charset="0"/>
                <a:cs typeface="Times New Roman" panose="02020603050405020304" pitchFamily="18" charset="0"/>
              </a:rPr>
              <a:t>that might elude standard security measures, providing an added detection layer.</a:t>
            </a:r>
          </a:p>
          <a:p>
            <a:pPr algn="just">
              <a:lnSpc>
                <a:spcPct val="120000"/>
              </a:lnSpc>
              <a:buFont typeface="Wingdings" panose="05000000000000000000" pitchFamily="2" charset="2"/>
              <a:buChar char="Ø"/>
            </a:pPr>
            <a:r>
              <a:rPr lang="en-US" sz="5900" b="1">
                <a:solidFill>
                  <a:schemeClr val="accent3"/>
                </a:solidFill>
                <a:latin typeface="Times New Roman" panose="02020603050405020304" pitchFamily="18" charset="0"/>
                <a:cs typeface="Times New Roman" panose="02020603050405020304" pitchFamily="18" charset="0"/>
              </a:rPr>
              <a:t>Zero-Day Exploit Detection: </a:t>
            </a:r>
            <a:r>
              <a:rPr lang="en-US" sz="5900">
                <a:latin typeface="Times New Roman" panose="02020603050405020304" pitchFamily="18" charset="0"/>
                <a:cs typeface="Times New Roman" panose="02020603050405020304" pitchFamily="18" charset="0"/>
              </a:rPr>
              <a:t>Identifying previously </a:t>
            </a:r>
            <a:r>
              <a:rPr lang="en-US" sz="5900">
                <a:solidFill>
                  <a:srgbClr val="FF0000"/>
                </a:solidFill>
                <a:latin typeface="Times New Roman" panose="02020603050405020304" pitchFamily="18" charset="0"/>
                <a:cs typeface="Times New Roman" panose="02020603050405020304" pitchFamily="18" charset="0"/>
              </a:rPr>
              <a:t>unknown vulnerabilities </a:t>
            </a:r>
            <a:r>
              <a:rPr lang="en-US" sz="5900">
                <a:latin typeface="Times New Roman" panose="02020603050405020304" pitchFamily="18" charset="0"/>
                <a:cs typeface="Times New Roman" panose="02020603050405020304" pitchFamily="18" charset="0"/>
              </a:rPr>
              <a:t>and exploits crucial for defending against novel and emerging threats.</a:t>
            </a:r>
          </a:p>
          <a:p>
            <a:endParaRPr lang="en-US"/>
          </a:p>
        </p:txBody>
      </p:sp>
    </p:spTree>
    <p:extLst>
      <p:ext uri="{BB962C8B-B14F-4D97-AF65-F5344CB8AC3E}">
        <p14:creationId xmlns:p14="http://schemas.microsoft.com/office/powerpoint/2010/main" val="18871323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51263" y="1320295"/>
            <a:ext cx="10391168" cy="4623305"/>
          </a:xfrm>
        </p:spPr>
        <p:txBody>
          <a:bodyPr>
            <a:noAutofit/>
          </a:bodyPr>
          <a:lstStyle/>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Insider Threat Identification</a:t>
            </a:r>
          </a:p>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Behavioral Profiling and Risk Scoring</a:t>
            </a:r>
          </a:p>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Compliance and Regulatory Requirements</a:t>
            </a:r>
          </a:p>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Advanced Threat Detection</a:t>
            </a:r>
          </a:p>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Improved Security Posture</a:t>
            </a:r>
          </a:p>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Data Loss Prevention</a:t>
            </a:r>
          </a:p>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Efficient Incident Response</a:t>
            </a:r>
          </a:p>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Automated Response and Remediation</a:t>
            </a:r>
          </a:p>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Long-term Trend Analysis and Forensics</a:t>
            </a:r>
          </a:p>
          <a:p>
            <a:pPr>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Adapting to Evolving Threat Landscape</a:t>
            </a:r>
          </a:p>
        </p:txBody>
      </p:sp>
      <p:sp>
        <p:nvSpPr>
          <p:cNvPr id="4" name="Rectangle 1"/>
          <p:cNvSpPr>
            <a:spLocks noGrp="1" noChangeArrowheads="1"/>
          </p:cNvSpPr>
          <p:nvPr>
            <p:ph type="title"/>
          </p:nvPr>
        </p:nvSpPr>
        <p:spPr bwMode="auto">
          <a:xfrm>
            <a:off x="851263" y="631017"/>
            <a:ext cx="706129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a:ln>
                  <a:noFill/>
                </a:ln>
                <a:solidFill>
                  <a:srgbClr val="0070C0"/>
                </a:solidFill>
                <a:effectLst/>
                <a:latin typeface="Times New Roman" panose="02020603050405020304" pitchFamily="18" charset="0"/>
                <a:cs typeface="Times New Roman" panose="02020603050405020304" pitchFamily="18" charset="0"/>
              </a:rPr>
              <a:t>ADVANTAGES OF APPLYING UEBA</a:t>
            </a:r>
          </a:p>
        </p:txBody>
      </p:sp>
    </p:spTree>
    <p:extLst>
      <p:ext uri="{BB962C8B-B14F-4D97-AF65-F5344CB8AC3E}">
        <p14:creationId xmlns:p14="http://schemas.microsoft.com/office/powerpoint/2010/main" val="3034182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6687" y="476001"/>
            <a:ext cx="11058237" cy="1241287"/>
          </a:xfrm>
        </p:spPr>
        <p:txBody>
          <a:bodyPr>
            <a:noAutofit/>
          </a:bodyPr>
          <a:lstStyle/>
          <a:p>
            <a:pPr algn="ctr"/>
            <a:r>
              <a:rPr lang="en-US" sz="3200" b="1">
                <a:solidFill>
                  <a:srgbClr val="0070C0"/>
                </a:solidFill>
                <a:latin typeface="Times New Roman" panose="02020603050405020304" pitchFamily="18" charset="0"/>
                <a:cs typeface="Times New Roman" panose="02020603050405020304" pitchFamily="18" charset="0"/>
              </a:rPr>
              <a:t>EXAMPLE OF USER &amp; ENTITY BEHAVIOR ANALYTICS (UEBA) TOOLS</a:t>
            </a:r>
            <a:br>
              <a:rPr lang="en-US" sz="3200" b="1">
                <a:latin typeface="Times New Roman" panose="02020603050405020304" pitchFamily="18" charset="0"/>
                <a:cs typeface="Times New Roman" panose="02020603050405020304" pitchFamily="18" charset="0"/>
              </a:rPr>
            </a:b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2819" y="1602600"/>
            <a:ext cx="9861507" cy="4351338"/>
          </a:xfrm>
        </p:spPr>
        <p:txBody>
          <a:bodyPr>
            <a:normAutofit fontScale="70000" lnSpcReduction="20000"/>
          </a:bodyPr>
          <a:lstStyle/>
          <a:p>
            <a:pPr>
              <a:buFont typeface="Wingdings" panose="05000000000000000000" pitchFamily="2" charset="2"/>
              <a:buChar char="Ø"/>
            </a:pPr>
            <a:r>
              <a:rPr lang="en-US"/>
              <a:t>Teramind</a:t>
            </a:r>
          </a:p>
          <a:p>
            <a:pPr>
              <a:buFont typeface="Wingdings" panose="05000000000000000000" pitchFamily="2" charset="2"/>
              <a:buChar char="Ø"/>
            </a:pPr>
            <a:r>
              <a:rPr lang="en-US"/>
              <a:t>Splunk User Behavior Analytics</a:t>
            </a:r>
          </a:p>
          <a:p>
            <a:pPr>
              <a:buFont typeface="Wingdings" panose="05000000000000000000" pitchFamily="2" charset="2"/>
              <a:buChar char="Ø"/>
            </a:pPr>
            <a:r>
              <a:rPr lang="en-US"/>
              <a:t>Securonix</a:t>
            </a:r>
          </a:p>
          <a:p>
            <a:pPr>
              <a:buFont typeface="Wingdings" panose="05000000000000000000" pitchFamily="2" charset="2"/>
              <a:buChar char="Ø"/>
            </a:pPr>
            <a:r>
              <a:rPr lang="en-US"/>
              <a:t>Gurucul</a:t>
            </a:r>
          </a:p>
          <a:p>
            <a:pPr>
              <a:buFont typeface="Wingdings" panose="05000000000000000000" pitchFamily="2" charset="2"/>
              <a:buChar char="Ø"/>
            </a:pPr>
            <a:r>
              <a:rPr lang="en-US"/>
              <a:t>ManageEngine-</a:t>
            </a:r>
          </a:p>
          <a:p>
            <a:pPr lvl="1">
              <a:buFont typeface="Wingdings" panose="05000000000000000000" pitchFamily="2" charset="2"/>
              <a:buChar char="Ø"/>
            </a:pPr>
            <a:r>
              <a:rPr lang="en-US">
                <a:hlinkClick r:id="rId2"/>
              </a:rPr>
              <a:t>https://www.manageengine.com/products/active-directory-audit/demo/active-directory-auditing-demo.html?LinkID=9</a:t>
            </a:r>
            <a:endParaRPr lang="en-US"/>
          </a:p>
          <a:p>
            <a:pPr>
              <a:buFont typeface="Wingdings" panose="05000000000000000000" pitchFamily="2" charset="2"/>
              <a:buChar char="Ø"/>
            </a:pPr>
            <a:r>
              <a:rPr lang="en-US" err="1"/>
              <a:t>Exabeam</a:t>
            </a:r>
            <a:endParaRPr lang="en-US"/>
          </a:p>
          <a:p>
            <a:pPr>
              <a:buFont typeface="Wingdings" panose="05000000000000000000" pitchFamily="2" charset="2"/>
              <a:buChar char="Ø"/>
            </a:pPr>
            <a:r>
              <a:rPr lang="en-US"/>
              <a:t>Microsoft Sentinel</a:t>
            </a:r>
          </a:p>
          <a:p>
            <a:pPr>
              <a:buFont typeface="Wingdings" panose="05000000000000000000" pitchFamily="2" charset="2"/>
              <a:buChar char="Ø"/>
            </a:pPr>
            <a:r>
              <a:rPr lang="en-US"/>
              <a:t>Rapid7</a:t>
            </a:r>
          </a:p>
          <a:p>
            <a:pPr>
              <a:buFont typeface="Wingdings" panose="05000000000000000000" pitchFamily="2" charset="2"/>
              <a:buChar char="Ø"/>
            </a:pPr>
            <a:r>
              <a:rPr lang="en-US"/>
              <a:t>LogRhythm</a:t>
            </a:r>
          </a:p>
          <a:p>
            <a:pPr>
              <a:buFont typeface="Wingdings" panose="05000000000000000000" pitchFamily="2" charset="2"/>
              <a:buChar char="Ø"/>
            </a:pPr>
            <a:r>
              <a:rPr lang="en-US"/>
              <a:t>Cynet UBA</a:t>
            </a:r>
          </a:p>
          <a:p>
            <a:pPr>
              <a:buFont typeface="Wingdings" panose="05000000000000000000" pitchFamily="2" charset="2"/>
              <a:buChar char="Ø"/>
            </a:pPr>
            <a:r>
              <a:rPr lang="en-US"/>
              <a:t>Varonis</a:t>
            </a:r>
          </a:p>
          <a:p>
            <a:pPr>
              <a:buFont typeface="Wingdings" panose="05000000000000000000" pitchFamily="2" charset="2"/>
              <a:buChar char="Ø"/>
            </a:pPr>
            <a:endParaRPr lang="en-US"/>
          </a:p>
        </p:txBody>
      </p:sp>
    </p:spTree>
    <p:extLst>
      <p:ext uri="{BB962C8B-B14F-4D97-AF65-F5344CB8AC3E}">
        <p14:creationId xmlns:p14="http://schemas.microsoft.com/office/powerpoint/2010/main" val="33777483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2854" y="2840473"/>
            <a:ext cx="10515600" cy="1325563"/>
          </a:xfrm>
        </p:spPr>
        <p:txBody>
          <a:bodyPr>
            <a:normAutofit/>
          </a:bodyPr>
          <a:lstStyle/>
          <a:p>
            <a:pPr algn="ctr"/>
            <a:r>
              <a:rPr lang="en-GB" sz="4000" b="1">
                <a:solidFill>
                  <a:schemeClr val="accent3"/>
                </a:solidFill>
                <a:latin typeface="Times New Roman" panose="02020603050405020304" pitchFamily="18" charset="0"/>
                <a:cs typeface="Times New Roman" panose="02020603050405020304" pitchFamily="18" charset="0"/>
              </a:rPr>
              <a:t>MONITORING PRIVILEGED ACCOUNTS AND ACCESS</a:t>
            </a:r>
            <a:endParaRPr lang="en-US" sz="4000" b="1">
              <a:solidFill>
                <a:schemeClr val="accent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225102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4995" y="885351"/>
            <a:ext cx="10515600" cy="784405"/>
          </a:xfrm>
        </p:spPr>
        <p:txBody>
          <a:bodyPr>
            <a:normAutofit fontScale="90000"/>
          </a:bodyPr>
          <a:lstStyle/>
          <a:p>
            <a:r>
              <a:rPr lang="en-US" sz="3600" b="1">
                <a:solidFill>
                  <a:srgbClr val="0070C0"/>
                </a:solidFill>
                <a:latin typeface="Times New Roman" panose="02020603050405020304" pitchFamily="18" charset="0"/>
                <a:cs typeface="Times New Roman" panose="02020603050405020304" pitchFamily="18" charset="0"/>
              </a:rPr>
              <a:t>PRIVILEGED USER</a:t>
            </a:r>
            <a:br>
              <a:rPr lang="en-US" b="1"/>
            </a:br>
            <a:endParaRPr lang="en-US"/>
          </a:p>
        </p:txBody>
      </p:sp>
      <p:sp>
        <p:nvSpPr>
          <p:cNvPr id="3" name="Content Placeholder 2"/>
          <p:cNvSpPr>
            <a:spLocks noGrp="1"/>
          </p:cNvSpPr>
          <p:nvPr>
            <p:ph idx="1"/>
          </p:nvPr>
        </p:nvSpPr>
        <p:spPr>
          <a:xfrm>
            <a:off x="616131" y="1528354"/>
            <a:ext cx="10804464" cy="4351338"/>
          </a:xfrm>
        </p:spPr>
        <p:txBody>
          <a:bodyPr/>
          <a:lstStyle/>
          <a:p>
            <a:pPr algn="just">
              <a:lnSpc>
                <a:spcPct val="150000"/>
              </a:lnSpc>
              <a:buFont typeface="Wingdings" panose="05000000000000000000" pitchFamily="2" charset="2"/>
              <a:buChar char="Ø"/>
            </a:pPr>
            <a:r>
              <a:rPr lang="en-US">
                <a:latin typeface="Times New Roman" panose="02020603050405020304" pitchFamily="18" charset="0"/>
                <a:cs typeface="Times New Roman" panose="02020603050405020304" pitchFamily="18" charset="0"/>
              </a:rPr>
              <a:t>Those with </a:t>
            </a:r>
            <a:r>
              <a:rPr lang="en-US">
                <a:solidFill>
                  <a:srgbClr val="FF0000"/>
                </a:solidFill>
                <a:latin typeface="Times New Roman" panose="02020603050405020304" pitchFamily="18" charset="0"/>
                <a:cs typeface="Times New Roman" panose="02020603050405020304" pitchFamily="18" charset="0"/>
              </a:rPr>
              <a:t>special access rights</a:t>
            </a:r>
            <a:r>
              <a:rPr lang="en-US">
                <a:latin typeface="Times New Roman" panose="02020603050405020304" pitchFamily="18" charset="0"/>
                <a:cs typeface="Times New Roman" panose="02020603050405020304" pitchFamily="18" charset="0"/>
              </a:rPr>
              <a:t>, such as database administrators, network engineers, security professionals, and cloud custodians, need full privileges to access databases, apps, servers, and networks to do their tasks. </a:t>
            </a:r>
            <a:endParaRPr lang="en-US"/>
          </a:p>
          <a:p>
            <a:endParaRPr lang="en-US"/>
          </a:p>
        </p:txBody>
      </p:sp>
    </p:spTree>
    <p:extLst>
      <p:ext uri="{BB962C8B-B14F-4D97-AF65-F5344CB8AC3E}">
        <p14:creationId xmlns:p14="http://schemas.microsoft.com/office/powerpoint/2010/main" val="240448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6581"/>
            <a:ext cx="10515600" cy="1325563"/>
          </a:xfrm>
        </p:spPr>
        <p:txBody>
          <a:bodyPr/>
          <a:lstStyle/>
          <a:p>
            <a:r>
              <a:rPr lang="en-US" b="1">
                <a:solidFill>
                  <a:srgbClr val="0070C0"/>
                </a:solidFill>
              </a:rPr>
              <a:t> </a:t>
            </a:r>
            <a:r>
              <a:rPr lang="en-US" sz="3200" b="1">
                <a:solidFill>
                  <a:srgbClr val="0070C0"/>
                </a:solidFill>
                <a:latin typeface="Times New Roman" panose="02020603050405020304" pitchFamily="18" charset="0"/>
                <a:cs typeface="Times New Roman" panose="02020603050405020304" pitchFamily="18" charset="0"/>
              </a:rPr>
              <a:t>PRIVILEGED USERS ACCESS</a:t>
            </a:r>
          </a:p>
        </p:txBody>
      </p:sp>
      <p:sp>
        <p:nvSpPr>
          <p:cNvPr id="3" name="Content Placeholder 2"/>
          <p:cNvSpPr>
            <a:spLocks noGrp="1"/>
          </p:cNvSpPr>
          <p:nvPr>
            <p:ph idx="1"/>
          </p:nvPr>
        </p:nvSpPr>
        <p:spPr>
          <a:xfrm>
            <a:off x="690748" y="1437698"/>
            <a:ext cx="10972799" cy="4351338"/>
          </a:xfrm>
        </p:spPr>
        <p:txBody>
          <a:bodyPr>
            <a:noAutofit/>
          </a:bodyPr>
          <a:lstStyle/>
          <a:p>
            <a:pPr marL="0" indent="0" algn="just">
              <a:lnSpc>
                <a:spcPct val="150000"/>
              </a:lnSpc>
              <a:buNone/>
            </a:pPr>
            <a:r>
              <a:rPr lang="en-US" sz="2400">
                <a:latin typeface="Times New Roman" panose="02020603050405020304" pitchFamily="18" charset="0"/>
                <a:cs typeface="Times New Roman" panose="02020603050405020304" pitchFamily="18" charset="0"/>
              </a:rPr>
              <a:t>Specialized users can do the following with that level of access.</a:t>
            </a:r>
          </a:p>
          <a:p>
            <a:pPr algn="just">
              <a:lnSpc>
                <a:spcPct val="150000"/>
              </a:lnSpc>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Change servers, networks, apps, business devices (laptops, USB drives, external hard drives), and databases.</a:t>
            </a:r>
          </a:p>
          <a:p>
            <a:pPr algn="just">
              <a:lnSpc>
                <a:spcPct val="150000"/>
              </a:lnSpc>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Configure user profiles and permissions.</a:t>
            </a:r>
          </a:p>
          <a:p>
            <a:pPr algn="just">
              <a:lnSpc>
                <a:spcPct val="150000"/>
              </a:lnSpc>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View sensitive material in their databases, including intellectual property, code, legal data, and employee and customer personal information.</a:t>
            </a:r>
          </a:p>
          <a:p>
            <a:pPr algn="just">
              <a:lnSpc>
                <a:spcPct val="150000"/>
              </a:lnSpc>
              <a:buFont typeface="Wingdings" panose="05000000000000000000" pitchFamily="2" charset="2"/>
              <a:buChar char="Ø"/>
            </a:pPr>
            <a:r>
              <a:rPr lang="en-US" sz="2400">
                <a:latin typeface="Times New Roman" panose="02020603050405020304" pitchFamily="18" charset="0"/>
                <a:cs typeface="Times New Roman" panose="02020603050405020304" pitchFamily="18" charset="0"/>
              </a:rPr>
              <a:t>Edit or remove data, View, edit, or delete audit logs to address security warnings.</a:t>
            </a:r>
          </a:p>
        </p:txBody>
      </p:sp>
    </p:spTree>
    <p:extLst>
      <p:ext uri="{BB962C8B-B14F-4D97-AF65-F5344CB8AC3E}">
        <p14:creationId xmlns:p14="http://schemas.microsoft.com/office/powerpoint/2010/main" val="2205508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9534" y="546411"/>
            <a:ext cx="10515600" cy="568712"/>
          </a:xfrm>
        </p:spPr>
        <p:txBody>
          <a:bodyPr>
            <a:normAutofit fontScale="90000"/>
          </a:bodyPr>
          <a:lstStyle/>
          <a:p>
            <a:pPr algn="ctr"/>
            <a:r>
              <a:rPr lang="en-US" sz="3600" b="1">
                <a:solidFill>
                  <a:srgbClr val="0070C0"/>
                </a:solidFill>
                <a:latin typeface="Times New Roman" panose="02020603050405020304" pitchFamily="18" charset="0"/>
                <a:cs typeface="Times New Roman" panose="02020603050405020304" pitchFamily="18" charset="0"/>
              </a:rPr>
              <a:t>TYPES OF PRIVILEGED ACCOUNTS</a:t>
            </a:r>
            <a:endParaRPr lang="en-US"/>
          </a:p>
        </p:txBody>
      </p:sp>
      <p:sp>
        <p:nvSpPr>
          <p:cNvPr id="8" name="Rectangle 13"/>
          <p:cNvSpPr>
            <a:spLocks noChangeArrowheads="1"/>
          </p:cNvSpPr>
          <p:nvPr/>
        </p:nvSpPr>
        <p:spPr bwMode="auto">
          <a:xfrm>
            <a:off x="840509" y="1573470"/>
            <a:ext cx="10724625" cy="484748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lang="en-US" altLang="en-US" sz="2400" b="1">
                <a:solidFill>
                  <a:schemeClr val="accent3"/>
                </a:solidFill>
                <a:latin typeface="Times New Roman" panose="02020603050405020304" pitchFamily="18" charset="0"/>
                <a:cs typeface="Times New Roman" panose="02020603050405020304" pitchFamily="18" charset="0"/>
              </a:rPr>
              <a:t>Privileged accounts </a:t>
            </a:r>
            <a:r>
              <a:rPr kumimoji="0" lang="en-US" altLang="en-US" sz="24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provide access and privileges beyond those of non-privileged accounts (e.g., standard user accounts and guest user accounts).</a:t>
            </a:r>
          </a:p>
          <a:p>
            <a:pPr marL="342900" lvl="0" indent="-342900" algn="just" eaLnBrk="0" fontAlgn="base" hangingPunct="0">
              <a:spcBef>
                <a:spcPct val="0"/>
              </a:spcBef>
              <a:spcAft>
                <a:spcPct val="0"/>
              </a:spcAft>
              <a:buFont typeface="Arial" panose="020B0604020202020204" pitchFamily="34" charset="0"/>
              <a:buChar char="•"/>
            </a:pPr>
            <a:r>
              <a:rPr lang="en-US" altLang="en-US" sz="2400" b="1">
                <a:solidFill>
                  <a:schemeClr val="accent3"/>
                </a:solidFill>
                <a:latin typeface="Times New Roman" panose="02020603050405020304" pitchFamily="18" charset="0"/>
                <a:cs typeface="Times New Roman" panose="02020603050405020304" pitchFamily="18" charset="0"/>
              </a:rPr>
              <a:t>Domain administrator accounts </a:t>
            </a:r>
            <a:r>
              <a:rPr lang="en-US" altLang="en-US" sz="2400">
                <a:solidFill>
                  <a:srgbClr val="000000"/>
                </a:solidFill>
                <a:latin typeface="Times New Roman" panose="02020603050405020304" pitchFamily="18" charset="0"/>
                <a:cs typeface="Times New Roman" panose="02020603050405020304" pitchFamily="18" charset="0"/>
              </a:rPr>
              <a:t>are the highest level of control in a system. These accounts have access to all workstations and servers across your domain and control system configurations, admin accounts, and group memberships.</a:t>
            </a:r>
          </a:p>
          <a:p>
            <a:pPr marL="342900" lvl="0" indent="-342900" algn="just" eaLnBrk="0" fontAlgn="base" hangingPunct="0">
              <a:spcBef>
                <a:spcPct val="0"/>
              </a:spcBef>
              <a:spcAft>
                <a:spcPct val="0"/>
              </a:spcAft>
              <a:buFont typeface="Arial" panose="020B0604020202020204" pitchFamily="34" charset="0"/>
              <a:buChar char="•"/>
            </a:pPr>
            <a:r>
              <a:rPr lang="en-US" altLang="en-US" sz="2400" b="1">
                <a:solidFill>
                  <a:schemeClr val="accent3"/>
                </a:solidFill>
                <a:latin typeface="Times New Roman" panose="02020603050405020304" pitchFamily="18" charset="0"/>
                <a:cs typeface="Times New Roman" panose="02020603050405020304" pitchFamily="18" charset="0"/>
              </a:rPr>
              <a:t>Local administrator accounts </a:t>
            </a:r>
            <a:r>
              <a:rPr lang="en-US" altLang="en-US" sz="2400">
                <a:solidFill>
                  <a:srgbClr val="000000"/>
                </a:solidFill>
                <a:latin typeface="Times New Roman" panose="02020603050405020304" pitchFamily="18" charset="0"/>
                <a:cs typeface="Times New Roman" panose="02020603050405020304" pitchFamily="18" charset="0"/>
              </a:rPr>
              <a:t>have admin control over specific servers or workstations and are often created for maintenance tasks</a:t>
            </a:r>
            <a:r>
              <a:rPr lang="en-US" altLang="en-US" sz="1600">
                <a:solidFill>
                  <a:srgbClr val="000000"/>
                </a:solidFill>
                <a:latin typeface="Segoe UI" panose="020B0502040204020203" pitchFamily="34" charset="0"/>
                <a:cs typeface="Segoe UI" panose="020B0502040204020203" pitchFamily="34" charset="0"/>
              </a:rPr>
              <a:t>.</a:t>
            </a:r>
          </a:p>
          <a:p>
            <a:pPr marL="342900" lvl="0" indent="-342900" algn="just" eaLnBrk="0" fontAlgn="base" hangingPunct="0">
              <a:spcBef>
                <a:spcPct val="0"/>
              </a:spcBef>
              <a:spcAft>
                <a:spcPct val="0"/>
              </a:spcAft>
              <a:buFont typeface="Arial" panose="020B0604020202020204" pitchFamily="34" charset="0"/>
              <a:buChar char="•"/>
            </a:pPr>
            <a:r>
              <a:rPr lang="en-US" altLang="en-US" sz="2400" b="1">
                <a:solidFill>
                  <a:schemeClr val="accent3"/>
                </a:solidFill>
                <a:latin typeface="Times New Roman" panose="02020603050405020304" pitchFamily="18" charset="0"/>
                <a:cs typeface="Times New Roman" panose="02020603050405020304" pitchFamily="18" charset="0"/>
              </a:rPr>
              <a:t>Application administrator accounts </a:t>
            </a:r>
            <a:r>
              <a:rPr lang="en-US" altLang="en-US" sz="2400">
                <a:solidFill>
                  <a:srgbClr val="000000"/>
                </a:solidFill>
                <a:latin typeface="Times New Roman" panose="02020603050405020304" pitchFamily="18" charset="0"/>
                <a:cs typeface="Times New Roman" panose="02020603050405020304" pitchFamily="18" charset="0"/>
              </a:rPr>
              <a:t>have full access to specific applications and the data stored in them.</a:t>
            </a:r>
            <a:endParaRPr lang="en-US" altLang="en-US" sz="2400">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400" b="1">
                <a:solidFill>
                  <a:schemeClr val="accent3"/>
                </a:solidFill>
                <a:latin typeface="Times New Roman" panose="02020603050405020304" pitchFamily="18" charset="0"/>
                <a:cs typeface="Times New Roman" panose="02020603050405020304" pitchFamily="18" charset="0"/>
              </a:rPr>
              <a:t>Business privileged user accounts </a:t>
            </a:r>
            <a:r>
              <a:rPr lang="en-US" altLang="en-US" sz="2400">
                <a:solidFill>
                  <a:srgbClr val="000000"/>
                </a:solidFill>
                <a:latin typeface="Times New Roman" panose="02020603050405020304" pitchFamily="18" charset="0"/>
                <a:cs typeface="Times New Roman" panose="02020603050405020304" pitchFamily="18" charset="0"/>
              </a:rPr>
              <a:t>have high-level privileges based on job responsibilities</a:t>
            </a:r>
            <a:r>
              <a:rPr lang="en-US" altLang="en-US" sz="1600">
                <a:solidFill>
                  <a:srgbClr val="000000"/>
                </a:solidFill>
                <a:latin typeface="Segoe UI" panose="020B0502040204020203" pitchFamily="34" charset="0"/>
                <a:cs typeface="Segoe UI" panose="020B0502040204020203" pitchFamily="34" charset="0"/>
              </a:rPr>
              <a:t>.</a:t>
            </a:r>
            <a:endParaRPr lang="en-US" altLang="en-US" sz="2400">
              <a:latin typeface="Arial" panose="020B0604020202020204" pitchFamily="34" charset="0"/>
            </a:endParaRPr>
          </a:p>
          <a:p>
            <a:pPr marL="342900" lvl="0" indent="-342900" algn="just" eaLnBrk="0" fontAlgn="base" hangingPunct="0">
              <a:spcBef>
                <a:spcPct val="0"/>
              </a:spcBef>
              <a:spcAft>
                <a:spcPct val="0"/>
              </a:spcAft>
              <a:buFont typeface="Arial" panose="020B0604020202020204" pitchFamily="34" charset="0"/>
              <a:buChar char="•"/>
            </a:pPr>
            <a:r>
              <a:rPr lang="en-US" altLang="en-US" sz="2400" b="1">
                <a:solidFill>
                  <a:schemeClr val="accent3"/>
                </a:solidFill>
                <a:latin typeface="Times New Roman" panose="02020603050405020304" pitchFamily="18" charset="0"/>
                <a:cs typeface="Times New Roman" panose="02020603050405020304" pitchFamily="18" charset="0"/>
              </a:rPr>
              <a:t>Emergency accounts </a:t>
            </a:r>
            <a:r>
              <a:rPr lang="en-US" altLang="en-US" sz="2400">
                <a:solidFill>
                  <a:srgbClr val="000000"/>
                </a:solidFill>
                <a:latin typeface="Times New Roman" panose="02020603050405020304" pitchFamily="18" charset="0"/>
                <a:cs typeface="Times New Roman" panose="02020603050405020304" pitchFamily="18" charset="0"/>
              </a:rPr>
              <a:t>provide unprivileged users with admin access to secure systems in the event of a disaster or disruption.</a:t>
            </a:r>
            <a:endParaRPr kumimoji="0" lang="en-US" altLang="en-US" sz="24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45063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3460" y="503672"/>
            <a:ext cx="10515600" cy="1325563"/>
          </a:xfrm>
        </p:spPr>
        <p:txBody>
          <a:bodyPr/>
          <a:lstStyle/>
          <a:p>
            <a:pPr algn="ctr"/>
            <a:r>
              <a:rPr lang="en-US" sz="3200" b="1">
                <a:solidFill>
                  <a:srgbClr val="0070C0"/>
                </a:solidFill>
                <a:latin typeface="Times New Roman" panose="02020603050405020304" pitchFamily="18" charset="0"/>
                <a:cs typeface="Times New Roman" panose="02020603050405020304" pitchFamily="18" charset="0"/>
              </a:rPr>
              <a:t>DANGERS OF PRIVILEGED USER ACCOUNTS</a:t>
            </a:r>
            <a:br>
              <a:rPr lang="en-US" b="1"/>
            </a:br>
            <a:endParaRPr lang="en-US"/>
          </a:p>
        </p:txBody>
      </p:sp>
      <p:sp>
        <p:nvSpPr>
          <p:cNvPr id="3" name="Content Placeholder 2"/>
          <p:cNvSpPr>
            <a:spLocks noGrp="1"/>
          </p:cNvSpPr>
          <p:nvPr>
            <p:ph idx="1"/>
          </p:nvPr>
        </p:nvSpPr>
        <p:spPr>
          <a:xfrm>
            <a:off x="681446" y="1381488"/>
            <a:ext cx="11179628" cy="4980123"/>
          </a:xfrm>
        </p:spPr>
        <p:txBody>
          <a:bodyPr>
            <a:normAutofit/>
          </a:bodyPr>
          <a:lstStyle/>
          <a:p>
            <a:pPr algn="just">
              <a:lnSpc>
                <a:spcPct val="100000"/>
              </a:lnSpc>
            </a:pPr>
            <a:r>
              <a:rPr lang="en-US" b="1">
                <a:solidFill>
                  <a:schemeClr val="accent3"/>
                </a:solidFill>
                <a:latin typeface="Times New Roman" panose="02020603050405020304" pitchFamily="18" charset="0"/>
                <a:cs typeface="Times New Roman" panose="02020603050405020304" pitchFamily="18" charset="0"/>
              </a:rPr>
              <a:t>Availability problem:</a:t>
            </a:r>
            <a:r>
              <a:rPr lang="en-US">
                <a:latin typeface="Times New Roman" panose="02020603050405020304" pitchFamily="18" charset="0"/>
                <a:cs typeface="Times New Roman" panose="02020603050405020304" pitchFamily="18" charset="0"/>
              </a:rPr>
              <a:t> Privileged users may misconfigure a component, blocking a website or resource. They might even alter passwords, blocking approved users.</a:t>
            </a:r>
          </a:p>
          <a:p>
            <a:pPr algn="just">
              <a:lnSpc>
                <a:spcPct val="100000"/>
              </a:lnSpc>
            </a:pPr>
            <a:r>
              <a:rPr lang="en-US" b="1">
                <a:solidFill>
                  <a:schemeClr val="accent3"/>
                </a:solidFill>
                <a:latin typeface="Times New Roman" panose="02020603050405020304" pitchFamily="18" charset="0"/>
                <a:cs typeface="Times New Roman" panose="02020603050405020304" pitchFamily="18" charset="0"/>
              </a:rPr>
              <a:t>Integrity problem</a:t>
            </a:r>
            <a:r>
              <a:rPr lang="en-US">
                <a:latin typeface="Times New Roman" panose="02020603050405020304" pitchFamily="18" charset="0"/>
                <a:cs typeface="Times New Roman" panose="02020603050405020304" pitchFamily="18" charset="0"/>
              </a:rPr>
              <a:t>: Privileged users may update or remove data, including audit logs that show purposeful or accidental  modifications.</a:t>
            </a:r>
          </a:p>
          <a:p>
            <a:pPr algn="just">
              <a:lnSpc>
                <a:spcPct val="100000"/>
              </a:lnSpc>
            </a:pPr>
            <a:r>
              <a:rPr lang="en-US" b="1">
                <a:solidFill>
                  <a:schemeClr val="accent3"/>
                </a:solidFill>
                <a:latin typeface="Times New Roman" panose="02020603050405020304" pitchFamily="18" charset="0"/>
                <a:cs typeface="Times New Roman" panose="02020603050405020304" pitchFamily="18" charset="0"/>
              </a:rPr>
              <a:t>A confidentiality problem</a:t>
            </a:r>
            <a:r>
              <a:rPr lang="en-US" b="1">
                <a:solidFill>
                  <a:srgbClr val="0070C0"/>
                </a:solidFill>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Privileged users may access private data like personal identifying information (PII) even when it's not necessary for their work.</a:t>
            </a:r>
          </a:p>
          <a:p>
            <a:endParaRPr lang="en-US"/>
          </a:p>
          <a:p>
            <a:endParaRPr lang="en-US"/>
          </a:p>
        </p:txBody>
      </p:sp>
    </p:spTree>
    <p:extLst>
      <p:ext uri="{BB962C8B-B14F-4D97-AF65-F5344CB8AC3E}">
        <p14:creationId xmlns:p14="http://schemas.microsoft.com/office/powerpoint/2010/main" val="11003720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0636" y="605273"/>
            <a:ext cx="10515600" cy="933596"/>
          </a:xfrm>
        </p:spPr>
        <p:txBody>
          <a:bodyPr/>
          <a:lstStyle/>
          <a:p>
            <a:r>
              <a:rPr lang="en-US" sz="3200" b="1">
                <a:solidFill>
                  <a:srgbClr val="0070C0"/>
                </a:solidFill>
                <a:latin typeface="Times New Roman" panose="02020603050405020304" pitchFamily="18" charset="0"/>
                <a:cs typeface="Times New Roman" panose="02020603050405020304" pitchFamily="18" charset="0"/>
              </a:rPr>
              <a:t>MONITORING PRIVILEGED USERS</a:t>
            </a:r>
            <a:endParaRPr lang="en-US"/>
          </a:p>
        </p:txBody>
      </p:sp>
      <p:sp>
        <p:nvSpPr>
          <p:cNvPr id="3" name="Content Placeholder 2"/>
          <p:cNvSpPr>
            <a:spLocks noGrp="1"/>
          </p:cNvSpPr>
          <p:nvPr>
            <p:ph idx="1"/>
          </p:nvPr>
        </p:nvSpPr>
        <p:spPr>
          <a:xfrm>
            <a:off x="1699490" y="1538869"/>
            <a:ext cx="9654309" cy="4351338"/>
          </a:xfrm>
        </p:spPr>
        <p:txBody>
          <a:bodyPr/>
          <a:lstStyle/>
          <a:p>
            <a:r>
              <a:rPr lang="en-US">
                <a:latin typeface="Times New Roman" panose="02020603050405020304" pitchFamily="18" charset="0"/>
                <a:cs typeface="Times New Roman" panose="02020603050405020304" pitchFamily="18" charset="0"/>
              </a:rPr>
              <a:t>Track Privileged Access to Sensitive Data</a:t>
            </a:r>
          </a:p>
          <a:p>
            <a:r>
              <a:rPr lang="en-US">
                <a:latin typeface="Times New Roman" panose="02020603050405020304" pitchFamily="18" charset="0"/>
                <a:cs typeface="Times New Roman" panose="02020603050405020304" pitchFamily="18" charset="0"/>
              </a:rPr>
              <a:t>Block or Alert on Suspect Activity</a:t>
            </a:r>
          </a:p>
          <a:p>
            <a:r>
              <a:rPr lang="en-US">
                <a:latin typeface="Times New Roman" panose="02020603050405020304" pitchFamily="18" charset="0"/>
                <a:cs typeface="Times New Roman" panose="02020603050405020304" pitchFamily="18" charset="0"/>
              </a:rPr>
              <a:t>Identify Unauthorized Privileges Changes:</a:t>
            </a:r>
          </a:p>
          <a:p>
            <a:r>
              <a:rPr lang="en-US">
                <a:latin typeface="Times New Roman" panose="02020603050405020304" pitchFamily="18" charset="0"/>
                <a:cs typeface="Times New Roman" panose="02020603050405020304" pitchFamily="18" charset="0"/>
              </a:rPr>
              <a:t>Separation of Duties</a:t>
            </a:r>
          </a:p>
          <a:p>
            <a:r>
              <a:rPr lang="en-US">
                <a:latin typeface="Times New Roman" panose="02020603050405020304" pitchFamily="18" charset="0"/>
                <a:cs typeface="Times New Roman" panose="02020603050405020304" pitchFamily="18" charset="0"/>
              </a:rPr>
              <a:t>Eliminate Excessive and Unused Rights</a:t>
            </a:r>
          </a:p>
        </p:txBody>
      </p:sp>
    </p:spTree>
    <p:extLst>
      <p:ext uri="{BB962C8B-B14F-4D97-AF65-F5344CB8AC3E}">
        <p14:creationId xmlns:p14="http://schemas.microsoft.com/office/powerpoint/2010/main" val="20955993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6278"/>
            <a:ext cx="10515600" cy="872659"/>
          </a:xfrm>
        </p:spPr>
        <p:txBody>
          <a:bodyPr>
            <a:normAutofit/>
          </a:bodyPr>
          <a:lstStyle/>
          <a:p>
            <a:r>
              <a:rPr lang="en-US" sz="3200" b="1">
                <a:solidFill>
                  <a:srgbClr val="0070C0"/>
                </a:solidFill>
                <a:latin typeface="Times New Roman" panose="02020603050405020304" pitchFamily="18" charset="0"/>
                <a:cs typeface="Times New Roman" panose="02020603050405020304" pitchFamily="18" charset="0"/>
              </a:rPr>
              <a:t>PRIVILEGED ACCESS MANAGEMENT (PAM) TOOLS </a:t>
            </a:r>
          </a:p>
        </p:txBody>
      </p:sp>
      <p:sp>
        <p:nvSpPr>
          <p:cNvPr id="3" name="Content Placeholder 2"/>
          <p:cNvSpPr>
            <a:spLocks noGrp="1"/>
          </p:cNvSpPr>
          <p:nvPr>
            <p:ph idx="1"/>
          </p:nvPr>
        </p:nvSpPr>
        <p:spPr>
          <a:xfrm>
            <a:off x="838200" y="1346121"/>
            <a:ext cx="10515600" cy="4932015"/>
          </a:xfrm>
        </p:spPr>
        <p:txBody>
          <a:bodyPr>
            <a:normAutofit/>
          </a:bodyPr>
          <a:lstStyle/>
          <a:p>
            <a:pPr lvl="1">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JumpCloud Open Directory Platform™</a:t>
            </a:r>
          </a:p>
          <a:p>
            <a:pPr lvl="1">
              <a:buFont typeface="Wingdings" panose="05000000000000000000" pitchFamily="2" charset="2"/>
              <a:buChar char="Ø"/>
            </a:pPr>
            <a:r>
              <a:rPr lang="en-US" sz="2800" err="1">
                <a:latin typeface="Times New Roman" panose="02020603050405020304" pitchFamily="18" charset="0"/>
                <a:cs typeface="Times New Roman" panose="02020603050405020304" pitchFamily="18" charset="0"/>
              </a:rPr>
              <a:t>Heimdal</a:t>
            </a:r>
            <a:r>
              <a:rPr lang="en-US" sz="2800">
                <a:latin typeface="Times New Roman" panose="02020603050405020304" pitchFamily="18" charset="0"/>
                <a:cs typeface="Times New Roman" panose="02020603050405020304" pitchFamily="18" charset="0"/>
              </a:rPr>
              <a:t>™ Privileged Access Management</a:t>
            </a:r>
          </a:p>
          <a:p>
            <a:pPr lvl="1">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ARCON | Privileged Access Management</a:t>
            </a:r>
          </a:p>
          <a:p>
            <a:pPr lvl="1">
              <a:buFont typeface="Wingdings" panose="05000000000000000000" pitchFamily="2" charset="2"/>
              <a:buChar char="Ø"/>
            </a:pPr>
            <a:r>
              <a:rPr lang="en-US" sz="2800" err="1">
                <a:latin typeface="Times New Roman" panose="02020603050405020304" pitchFamily="18" charset="0"/>
                <a:cs typeface="Times New Roman" panose="02020603050405020304" pitchFamily="18" charset="0"/>
              </a:rPr>
              <a:t>BeyondTrust</a:t>
            </a:r>
            <a:r>
              <a:rPr lang="en-US" sz="2800">
                <a:latin typeface="Times New Roman" panose="02020603050405020304" pitchFamily="18" charset="0"/>
                <a:cs typeface="Times New Roman" panose="02020603050405020304" pitchFamily="18" charset="0"/>
              </a:rPr>
              <a:t> Privileged Remote Access</a:t>
            </a:r>
          </a:p>
          <a:p>
            <a:pPr lvl="1">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Broadcom Symantec Privileged Access Management (</a:t>
            </a:r>
            <a:r>
              <a:rPr lang="en-US" sz="2800" b="1">
                <a:latin typeface="Times New Roman" panose="02020603050405020304" pitchFamily="18" charset="0"/>
                <a:cs typeface="Times New Roman" panose="02020603050405020304" pitchFamily="18" charset="0"/>
              </a:rPr>
              <a:t>PAM</a:t>
            </a:r>
            <a:r>
              <a:rPr lang="en-US" sz="2800">
                <a:latin typeface="Times New Roman" panose="02020603050405020304" pitchFamily="18" charset="0"/>
                <a:cs typeface="Times New Roman" panose="02020603050405020304" pitchFamily="18" charset="0"/>
              </a:rPr>
              <a:t>)</a:t>
            </a:r>
          </a:p>
          <a:p>
            <a:pPr lvl="1">
              <a:buFont typeface="Wingdings" panose="05000000000000000000" pitchFamily="2" charset="2"/>
              <a:buChar char="Ø"/>
            </a:pPr>
            <a:r>
              <a:rPr lang="en-US" sz="2800" err="1">
                <a:latin typeface="Times New Roman" panose="02020603050405020304" pitchFamily="18" charset="0"/>
                <a:cs typeface="Times New Roman" panose="02020603050405020304" pitchFamily="18" charset="0"/>
              </a:rPr>
              <a:t>CyberArk</a:t>
            </a:r>
            <a:r>
              <a:rPr lang="en-US" sz="2800">
                <a:latin typeface="Times New Roman" panose="02020603050405020304" pitchFamily="18" charset="0"/>
                <a:cs typeface="Times New Roman" panose="02020603050405020304" pitchFamily="18" charset="0"/>
              </a:rPr>
              <a:t> Privileged Access Management</a:t>
            </a:r>
          </a:p>
          <a:p>
            <a:pPr lvl="1">
              <a:buFont typeface="Wingdings" panose="05000000000000000000" pitchFamily="2" charset="2"/>
              <a:buChar char="Ø"/>
            </a:pPr>
            <a:r>
              <a:rPr lang="en-US" sz="2800" err="1">
                <a:latin typeface="Times New Roman" panose="02020603050405020304" pitchFamily="18" charset="0"/>
                <a:cs typeface="Times New Roman" panose="02020603050405020304" pitchFamily="18" charset="0"/>
              </a:rPr>
              <a:t>Delinea</a:t>
            </a:r>
            <a:r>
              <a:rPr lang="en-US" sz="2800">
                <a:latin typeface="Times New Roman" panose="02020603050405020304" pitchFamily="18" charset="0"/>
                <a:cs typeface="Times New Roman" panose="02020603050405020304" pitchFamily="18" charset="0"/>
              </a:rPr>
              <a:t> Secret Server</a:t>
            </a:r>
          </a:p>
          <a:p>
            <a:pPr lvl="1">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ManageEngine </a:t>
            </a:r>
            <a:r>
              <a:rPr lang="en-US" sz="2800" b="1">
                <a:latin typeface="Times New Roman" panose="02020603050405020304" pitchFamily="18" charset="0"/>
                <a:cs typeface="Times New Roman" panose="02020603050405020304" pitchFamily="18" charset="0"/>
              </a:rPr>
              <a:t>PAM</a:t>
            </a:r>
          </a:p>
          <a:p>
            <a:pPr lvl="1">
              <a:buFont typeface="Wingdings" panose="05000000000000000000" pitchFamily="2" charset="2"/>
              <a:buChar char="Ø"/>
            </a:pPr>
            <a:r>
              <a:rPr lang="en-US" sz="2800" err="1">
                <a:latin typeface="Times New Roman" panose="02020603050405020304" pitchFamily="18" charset="0"/>
                <a:cs typeface="Times New Roman" panose="02020603050405020304" pitchFamily="18" charset="0"/>
              </a:rPr>
              <a:t>Okta</a:t>
            </a:r>
            <a:r>
              <a:rPr lang="en-US" sz="2800">
                <a:latin typeface="Times New Roman" panose="02020603050405020304" pitchFamily="18" charset="0"/>
                <a:cs typeface="Times New Roman" panose="02020603050405020304" pitchFamily="18" charset="0"/>
              </a:rPr>
              <a:t> Privileged Access</a:t>
            </a:r>
          </a:p>
          <a:p>
            <a:pPr lvl="1">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One Identity Safeguard</a:t>
            </a:r>
          </a:p>
          <a:p>
            <a:endParaRPr lang="en-US"/>
          </a:p>
        </p:txBody>
      </p:sp>
    </p:spTree>
    <p:extLst>
      <p:ext uri="{BB962C8B-B14F-4D97-AF65-F5344CB8AC3E}">
        <p14:creationId xmlns:p14="http://schemas.microsoft.com/office/powerpoint/2010/main" val="1500031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8644" y="2628035"/>
            <a:ext cx="10495156" cy="1325563"/>
          </a:xfrm>
        </p:spPr>
        <p:txBody>
          <a:bodyPr>
            <a:normAutofit/>
          </a:bodyPr>
          <a:lstStyle/>
          <a:p>
            <a:pPr algn="ctr"/>
            <a:r>
              <a:rPr lang="en-US" sz="4000" b="1">
                <a:solidFill>
                  <a:schemeClr val="accent3"/>
                </a:solidFill>
                <a:latin typeface="Times New Roman" panose="02020603050405020304" pitchFamily="18" charset="0"/>
                <a:cs typeface="Times New Roman" panose="02020603050405020304" pitchFamily="18" charset="0"/>
              </a:rPr>
              <a:t>BALANCING PRIVACY AND SECURITY CONCERNS</a:t>
            </a:r>
          </a:p>
        </p:txBody>
      </p:sp>
    </p:spTree>
    <p:extLst>
      <p:ext uri="{BB962C8B-B14F-4D97-AF65-F5344CB8AC3E}">
        <p14:creationId xmlns:p14="http://schemas.microsoft.com/office/powerpoint/2010/main" val="3827582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1327" y="694460"/>
            <a:ext cx="10515600" cy="909492"/>
          </a:xfrm>
        </p:spPr>
        <p:txBody>
          <a:bodyPr>
            <a:normAutofit/>
          </a:bodyPr>
          <a:lstStyle/>
          <a:p>
            <a:r>
              <a:rPr lang="en-US" sz="3200" b="1">
                <a:solidFill>
                  <a:srgbClr val="2559A9"/>
                </a:solidFill>
                <a:latin typeface="Times New Roman" panose="02020603050405020304" pitchFamily="18" charset="0"/>
                <a:cs typeface="Times New Roman" panose="02020603050405020304" pitchFamily="18" charset="0"/>
              </a:rPr>
              <a:t>PRIVACY AND SECURITY</a:t>
            </a:r>
            <a:endParaRPr lang="en-US" sz="3200" b="1">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44237" y="1603952"/>
            <a:ext cx="10515600" cy="4351338"/>
          </a:xfrm>
        </p:spPr>
        <p:txBody>
          <a:bodyPr>
            <a:normAutofit/>
          </a:bodyPr>
          <a:lstStyle/>
          <a:p>
            <a:pPr algn="just">
              <a:lnSpc>
                <a:spcPct val="150000"/>
              </a:lnSpc>
            </a:pPr>
            <a:r>
              <a:rPr lang="en-US" b="1">
                <a:solidFill>
                  <a:schemeClr val="accent3"/>
                </a:solidFill>
                <a:latin typeface="Times New Roman" panose="02020603050405020304" pitchFamily="18" charset="0"/>
                <a:cs typeface="Times New Roman" panose="02020603050405020304" pitchFamily="18" charset="0"/>
              </a:rPr>
              <a:t>Privacy Concerns: </a:t>
            </a:r>
            <a:r>
              <a:rPr lang="en-US">
                <a:latin typeface="Times New Roman" panose="02020603050405020304" pitchFamily="18" charset="0"/>
                <a:cs typeface="Times New Roman" panose="02020603050405020304" pitchFamily="18" charset="0"/>
              </a:rPr>
              <a:t>Employees have a right to privacy in their work activities, especially those unrelated to their job duties. </a:t>
            </a:r>
          </a:p>
          <a:p>
            <a:pPr lvl="1" algn="just">
              <a:lnSpc>
                <a:spcPct val="150000"/>
              </a:lnSpc>
            </a:pPr>
            <a:r>
              <a:rPr lang="en-US">
                <a:latin typeface="Times New Roman" panose="02020603050405020304" pitchFamily="18" charset="0"/>
                <a:cs typeface="Times New Roman" panose="02020603050405020304" pitchFamily="18" charset="0"/>
              </a:rPr>
              <a:t>Extensive monitoring can create a sense of being watched and erode trust.</a:t>
            </a:r>
          </a:p>
          <a:p>
            <a:pPr algn="just">
              <a:lnSpc>
                <a:spcPct val="150000"/>
              </a:lnSpc>
            </a:pPr>
            <a:r>
              <a:rPr lang="en-US" b="1">
                <a:solidFill>
                  <a:schemeClr val="accent3"/>
                </a:solidFill>
                <a:latin typeface="Times New Roman" panose="02020603050405020304" pitchFamily="18" charset="0"/>
                <a:cs typeface="Times New Roman" panose="02020603050405020304" pitchFamily="18" charset="0"/>
              </a:rPr>
              <a:t>Security Needs: </a:t>
            </a:r>
            <a:r>
              <a:rPr lang="en-US">
                <a:latin typeface="Times New Roman" panose="02020603050405020304" pitchFamily="18" charset="0"/>
                <a:cs typeface="Times New Roman" panose="02020603050405020304" pitchFamily="18" charset="0"/>
              </a:rPr>
              <a:t>Monitoring user activity can be crucial for identifying potential insider threats before they can cause significant damage.</a:t>
            </a:r>
          </a:p>
        </p:txBody>
      </p:sp>
    </p:spTree>
    <p:extLst>
      <p:ext uri="{BB962C8B-B14F-4D97-AF65-F5344CB8AC3E}">
        <p14:creationId xmlns:p14="http://schemas.microsoft.com/office/powerpoint/2010/main" val="39029710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7858"/>
            <a:ext cx="10515600" cy="727694"/>
          </a:xfrm>
        </p:spPr>
        <p:txBody>
          <a:bodyPr>
            <a:normAutofit/>
          </a:bodyPr>
          <a:lstStyle/>
          <a:p>
            <a:pPr algn="ctr"/>
            <a:r>
              <a:rPr lang="en-US" sz="3200" b="1">
                <a:solidFill>
                  <a:srgbClr val="2559A9"/>
                </a:solidFill>
                <a:latin typeface="Times New Roman" panose="02020603050405020304" pitchFamily="18" charset="0"/>
                <a:cs typeface="Times New Roman" panose="02020603050405020304" pitchFamily="18" charset="0"/>
              </a:rPr>
              <a:t>STRATEGIES FOR A BALANCED APPROACH</a:t>
            </a:r>
            <a:endParaRPr lang="en-US" sz="3200">
              <a:solidFill>
                <a:srgbClr val="2559A9"/>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78691" y="925551"/>
            <a:ext cx="11425382" cy="5493721"/>
          </a:xfrm>
        </p:spPr>
        <p:txBody>
          <a:bodyPr vert="horz" lIns="91440" tIns="45720" rIns="91440" bIns="45720" rtlCol="0">
            <a:noAutofit/>
          </a:bodyPr>
          <a:lstStyle/>
          <a:p>
            <a:pPr>
              <a:buFont typeface="Wingdings" panose="05000000000000000000" pitchFamily="2" charset="2"/>
              <a:buChar char="Ø"/>
            </a:pPr>
            <a:r>
              <a:rPr lang="en-US" sz="1700" b="1">
                <a:solidFill>
                  <a:schemeClr val="accent3"/>
                </a:solidFill>
                <a:latin typeface="Times New Roman" panose="02020603050405020304" pitchFamily="18" charset="0"/>
                <a:cs typeface="Times New Roman" panose="02020603050405020304" pitchFamily="18" charset="0"/>
              </a:rPr>
              <a:t>Data Minimization: </a:t>
            </a:r>
            <a:r>
              <a:rPr lang="en-US" sz="1700"/>
              <a:t>Collect only the data that is necessary for a specific purpose.</a:t>
            </a:r>
          </a:p>
          <a:p>
            <a:pPr>
              <a:buFont typeface="Wingdings" panose="05000000000000000000" pitchFamily="2" charset="2"/>
              <a:buChar char="Ø"/>
            </a:pPr>
            <a:r>
              <a:rPr lang="en-US" sz="1700" b="1">
                <a:solidFill>
                  <a:schemeClr val="accent3"/>
                </a:solidFill>
                <a:latin typeface="Times New Roman" panose="02020603050405020304" pitchFamily="18" charset="0"/>
                <a:cs typeface="Times New Roman" panose="02020603050405020304" pitchFamily="18" charset="0"/>
              </a:rPr>
              <a:t>Privacy by Design: </a:t>
            </a:r>
            <a:r>
              <a:rPr lang="en-US" sz="1700"/>
              <a:t>Integrate privacy considerations into the design and architecture of systems and processes from the start.</a:t>
            </a:r>
          </a:p>
          <a:p>
            <a:pPr>
              <a:buFont typeface="Wingdings" panose="05000000000000000000" pitchFamily="2" charset="2"/>
              <a:buChar char="Ø"/>
            </a:pPr>
            <a:r>
              <a:rPr lang="en-US" sz="1700" b="1">
                <a:solidFill>
                  <a:schemeClr val="accent3"/>
                </a:solidFill>
                <a:latin typeface="Times New Roman" panose="02020603050405020304" pitchFamily="18" charset="0"/>
                <a:cs typeface="Times New Roman" panose="02020603050405020304" pitchFamily="18" charset="0"/>
              </a:rPr>
              <a:t>Transparency and Consent: </a:t>
            </a:r>
            <a:r>
              <a:rPr lang="en-US" sz="1700"/>
              <a:t>Ensure users are fully informed about data collection practices and obtain their explicit consent.</a:t>
            </a:r>
          </a:p>
          <a:p>
            <a:pPr>
              <a:buFont typeface="Wingdings" panose="05000000000000000000" pitchFamily="2" charset="2"/>
              <a:buChar char="Ø"/>
            </a:pPr>
            <a:r>
              <a:rPr lang="en-US" sz="1700" b="1">
                <a:solidFill>
                  <a:schemeClr val="accent3"/>
                </a:solidFill>
                <a:latin typeface="Times New Roman" panose="02020603050405020304" pitchFamily="18" charset="0"/>
                <a:cs typeface="Times New Roman" panose="02020603050405020304" pitchFamily="18" charset="0"/>
              </a:rPr>
              <a:t>Data Security Measures: </a:t>
            </a:r>
            <a:r>
              <a:rPr lang="en-US" sz="1700"/>
              <a:t>Implement robust security protocols to protect data from unauthorized access and breaches.</a:t>
            </a:r>
          </a:p>
          <a:p>
            <a:pPr>
              <a:buFont typeface="Wingdings" panose="05000000000000000000" pitchFamily="2" charset="2"/>
              <a:buChar char="Ø"/>
            </a:pPr>
            <a:r>
              <a:rPr lang="en-US" sz="1700" b="1">
                <a:solidFill>
                  <a:schemeClr val="accent3"/>
                </a:solidFill>
                <a:latin typeface="Times New Roman" panose="02020603050405020304" pitchFamily="18" charset="0"/>
                <a:cs typeface="Times New Roman" panose="02020603050405020304" pitchFamily="18" charset="0"/>
              </a:rPr>
              <a:t>User Empowerment: </a:t>
            </a:r>
            <a:r>
              <a:rPr lang="en-US" sz="1700"/>
              <a:t>Provide users with control over their data, including access, correction, and deletion rights.</a:t>
            </a:r>
          </a:p>
          <a:p>
            <a:pPr>
              <a:buFont typeface="Wingdings" panose="05000000000000000000" pitchFamily="2" charset="2"/>
              <a:buChar char="Ø"/>
            </a:pPr>
            <a:r>
              <a:rPr lang="en-US" sz="1700" b="1">
                <a:solidFill>
                  <a:schemeClr val="accent3"/>
                </a:solidFill>
                <a:latin typeface="Times New Roman" panose="02020603050405020304" pitchFamily="18" charset="0"/>
                <a:cs typeface="Times New Roman" panose="02020603050405020304" pitchFamily="18" charset="0"/>
              </a:rPr>
              <a:t>Privacy Impact Assessments (PIAs): </a:t>
            </a:r>
            <a:r>
              <a:rPr lang="en-US" sz="1700"/>
              <a:t>Evaluate and mitigate privacy risks associated with data processing activities.</a:t>
            </a:r>
          </a:p>
          <a:p>
            <a:pPr>
              <a:buFont typeface="Wingdings" panose="05000000000000000000" pitchFamily="2" charset="2"/>
              <a:buChar char="Ø"/>
            </a:pPr>
            <a:r>
              <a:rPr lang="en-US" sz="1700" b="1">
                <a:solidFill>
                  <a:schemeClr val="accent3"/>
                </a:solidFill>
                <a:latin typeface="Times New Roman" panose="02020603050405020304" pitchFamily="18" charset="0"/>
                <a:cs typeface="Times New Roman" panose="02020603050405020304" pitchFamily="18" charset="0"/>
              </a:rPr>
              <a:t>Compliance with Regulations: </a:t>
            </a:r>
            <a:r>
              <a:rPr lang="en-US" sz="1700"/>
              <a:t>Adhere to relevant legal and regulatory requirements governing data protection and privacy.</a:t>
            </a:r>
          </a:p>
          <a:p>
            <a:pPr>
              <a:buFont typeface="Wingdings" panose="05000000000000000000" pitchFamily="2" charset="2"/>
              <a:buChar char="Ø"/>
            </a:pPr>
            <a:r>
              <a:rPr lang="en-US" sz="1700" b="1">
                <a:solidFill>
                  <a:schemeClr val="accent3"/>
                </a:solidFill>
                <a:latin typeface="Times New Roman" panose="02020603050405020304" pitchFamily="18" charset="0"/>
                <a:cs typeface="Times New Roman" panose="02020603050405020304" pitchFamily="18" charset="0"/>
              </a:rPr>
              <a:t>Training and Awareness: </a:t>
            </a:r>
            <a:r>
              <a:rPr lang="en-US" sz="1700"/>
              <a:t>Educate employees and stakeholders about privacy policies, practices, and their responsibilities.</a:t>
            </a:r>
          </a:p>
          <a:p>
            <a:pPr>
              <a:buFont typeface="Wingdings" panose="05000000000000000000" pitchFamily="2" charset="2"/>
              <a:buChar char="Ø"/>
            </a:pPr>
            <a:r>
              <a:rPr lang="en-US" sz="1700" b="1">
                <a:solidFill>
                  <a:schemeClr val="accent3"/>
                </a:solidFill>
                <a:latin typeface="Times New Roman" panose="02020603050405020304" pitchFamily="18" charset="0"/>
                <a:cs typeface="Times New Roman" panose="02020603050405020304" pitchFamily="18" charset="0"/>
              </a:rPr>
              <a:t>Incident Response and Notification: </a:t>
            </a:r>
            <a:r>
              <a:rPr lang="en-US" sz="1700"/>
              <a:t>Develop and implement a plan for responding to data breaches and promptly notifying affected individuals and authorities.</a:t>
            </a:r>
          </a:p>
          <a:p>
            <a:pPr>
              <a:buFont typeface="Wingdings" panose="05000000000000000000" pitchFamily="2" charset="2"/>
              <a:buChar char="Ø"/>
            </a:pPr>
            <a:r>
              <a:rPr lang="en-US" sz="1700" b="1">
                <a:solidFill>
                  <a:schemeClr val="accent3"/>
                </a:solidFill>
                <a:latin typeface="Times New Roman" panose="02020603050405020304" pitchFamily="18" charset="0"/>
                <a:cs typeface="Times New Roman" panose="02020603050405020304" pitchFamily="18" charset="0"/>
              </a:rPr>
              <a:t>Continuous Improvement: </a:t>
            </a:r>
            <a:r>
              <a:rPr lang="en-US" sz="1700"/>
              <a:t>Regularly review and update privacy practices to enhance data protection and adapt to changing risks and regulations.</a:t>
            </a:r>
          </a:p>
        </p:txBody>
      </p:sp>
    </p:spTree>
    <p:extLst>
      <p:ext uri="{BB962C8B-B14F-4D97-AF65-F5344CB8AC3E}">
        <p14:creationId xmlns:p14="http://schemas.microsoft.com/office/powerpoint/2010/main" val="14106707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9800" y="966018"/>
            <a:ext cx="10515600" cy="692963"/>
          </a:xfrm>
        </p:spPr>
        <p:txBody>
          <a:bodyPr>
            <a:normAutofit fontScale="90000"/>
          </a:bodyPr>
          <a:lstStyle/>
          <a:p>
            <a:r>
              <a:rPr lang="en-US" sz="3600" b="1">
                <a:solidFill>
                  <a:srgbClr val="0070C0"/>
                </a:solidFill>
                <a:latin typeface="Times New Roman" panose="02020603050405020304" pitchFamily="18" charset="0"/>
                <a:cs typeface="Times New Roman" panose="02020603050405020304" pitchFamily="18" charset="0"/>
              </a:rPr>
              <a:t>REFERENCES</a:t>
            </a:r>
            <a:r>
              <a:rPr lang="en-US" sz="3600" b="1">
                <a:latin typeface="Times New Roman" panose="02020603050405020304" pitchFamily="18" charset="0"/>
                <a:cs typeface="Times New Roman" panose="02020603050405020304" pitchFamily="18" charset="0"/>
              </a:rPr>
              <a:t> </a:t>
            </a:r>
            <a:br>
              <a:rPr lang="en-US" b="1"/>
            </a:br>
            <a:endParaRPr lang="en-US"/>
          </a:p>
        </p:txBody>
      </p:sp>
      <p:sp>
        <p:nvSpPr>
          <p:cNvPr id="3" name="Content Placeholder 2"/>
          <p:cNvSpPr>
            <a:spLocks noGrp="1"/>
          </p:cNvSpPr>
          <p:nvPr>
            <p:ph idx="1"/>
          </p:nvPr>
        </p:nvSpPr>
        <p:spPr>
          <a:xfrm>
            <a:off x="746990" y="1312500"/>
            <a:ext cx="11241809" cy="4753763"/>
          </a:xfrm>
        </p:spPr>
        <p:txBody>
          <a:bodyPr vert="horz" lIns="91440" tIns="45720" rIns="91440" bIns="45720" rtlCol="0" anchor="t">
            <a:normAutofit fontScale="47500" lnSpcReduction="20000"/>
          </a:bodyPr>
          <a:lstStyle/>
          <a:p>
            <a:r>
              <a:rPr lang="en-US"/>
              <a:t>National Research Council. (2007). </a:t>
            </a:r>
            <a:r>
              <a:rPr lang="en-US" i="1"/>
              <a:t>Engaging Privacy and Information Technology in a Digital Age.</a:t>
            </a:r>
            <a:r>
              <a:rPr lang="en-US"/>
              <a:t> Washington, DC: The National Academies Press. </a:t>
            </a:r>
            <a:r>
              <a:rPr lang="en-US">
                <a:hlinkClick r:id="rId2"/>
              </a:rPr>
              <a:t>https://doi.org/10.17226/11896</a:t>
            </a:r>
            <a:r>
              <a:rPr lang="en-US"/>
              <a:t>.</a:t>
            </a:r>
          </a:p>
          <a:p>
            <a:r>
              <a:rPr lang="en-US" err="1"/>
              <a:t>Cappelli</a:t>
            </a:r>
            <a:r>
              <a:rPr lang="en-US"/>
              <a:t>, D. M., Moore, A. P., &amp; </a:t>
            </a:r>
            <a:r>
              <a:rPr lang="en-US" err="1"/>
              <a:t>Trzeciak</a:t>
            </a:r>
            <a:r>
              <a:rPr lang="en-US"/>
              <a:t>, R. F. </a:t>
            </a:r>
            <a:r>
              <a:rPr lang="en-US" i="1"/>
              <a:t>The CERT Guide to Insider Threats: How to Prevent, Detect, and Respond to Information Technology Crimes.</a:t>
            </a:r>
            <a:endParaRPr lang="en-US"/>
          </a:p>
          <a:p>
            <a:r>
              <a:rPr lang="en-US"/>
              <a:t>Trzeciak, R. F., &amp; Shaw, E. </a:t>
            </a:r>
            <a:r>
              <a:rPr lang="en-US" i="1"/>
              <a:t>Insider Threat: Detection, Mitigation, Deterrence, and Prevention.</a:t>
            </a:r>
            <a:endParaRPr lang="en-US"/>
          </a:p>
          <a:p>
            <a:r>
              <a:rPr lang="en-US"/>
              <a:t>Schneier, B. (2009). </a:t>
            </a:r>
            <a:r>
              <a:rPr lang="en-US" i="1"/>
              <a:t>Privacy vs. Security: Balancing Individuals' Rights and Public Safety in the Digital Age.</a:t>
            </a:r>
            <a:endParaRPr lang="en-US"/>
          </a:p>
          <a:p>
            <a:r>
              <a:rPr lang="en-US"/>
              <a:t>Payne, J. </a:t>
            </a:r>
            <a:r>
              <a:rPr lang="en-US" i="1"/>
              <a:t>Inside Jobs: Why Insider Risk Is the Biggest Cyber Threat You Can't Ignore.</a:t>
            </a:r>
            <a:endParaRPr lang="en-US"/>
          </a:p>
          <a:p>
            <a:r>
              <a:rPr lang="en-US"/>
              <a:t>Bunn, M., &amp; Sagan, S. D. </a:t>
            </a:r>
            <a:r>
              <a:rPr lang="en-US" i="1"/>
              <a:t>Insider Threats (Cornell Studies in Security Affairs).</a:t>
            </a:r>
            <a:endParaRPr lang="en-US"/>
          </a:p>
          <a:p>
            <a:r>
              <a:rPr lang="en-US"/>
              <a:t>IBM. (n.d.). User and Entity Behavior Analytics (UEBA). Retrieved from </a:t>
            </a:r>
            <a:r>
              <a:rPr lang="en-US">
                <a:hlinkClick r:id="rId3"/>
              </a:rPr>
              <a:t>https://www.ibm.com/topics/ueba</a:t>
            </a:r>
            <a:r>
              <a:rPr lang="en-US"/>
              <a:t>.</a:t>
            </a:r>
          </a:p>
          <a:p>
            <a:r>
              <a:rPr lang="en-US"/>
              <a:t>Palo Alto Networks. (</a:t>
            </a:r>
            <a:r>
              <a:rPr lang="en-US" err="1"/>
              <a:t>n.d.</a:t>
            </a:r>
            <a:r>
              <a:rPr lang="en-US"/>
              <a:t>). What is User and Entity Behavior Analytics (UEBA)? Retrieved from </a:t>
            </a:r>
            <a:r>
              <a:rPr lang="en-US">
                <a:hlinkClick r:id="rId4"/>
              </a:rPr>
              <a:t>https://www.paloaltonetworks.com/cyberpedia/what-is-user-entity-behavior-analytics-ueba</a:t>
            </a:r>
            <a:r>
              <a:rPr lang="en-US"/>
              <a:t>.</a:t>
            </a:r>
          </a:p>
          <a:p>
            <a:r>
              <a:rPr lang="en-US"/>
              <a:t>Teramind. (n.d.). UEBA Tools. Retrieved from </a:t>
            </a:r>
            <a:r>
              <a:rPr lang="en-US">
                <a:hlinkClick r:id="rId5"/>
              </a:rPr>
              <a:t>https://www.teramind.co/blog/ueba-tools/</a:t>
            </a:r>
            <a:r>
              <a:rPr lang="en-US"/>
              <a:t>.</a:t>
            </a:r>
          </a:p>
          <a:p>
            <a:r>
              <a:rPr lang="en-US"/>
              <a:t>Cybersecurity and Infrastructure Security Agency (CISA). (</a:t>
            </a:r>
            <a:r>
              <a:rPr lang="en-US" err="1"/>
              <a:t>n.d.</a:t>
            </a:r>
            <a:r>
              <a:rPr lang="en-US"/>
              <a:t>). Insider Threat Mitigation. Retrieved from </a:t>
            </a:r>
            <a:r>
              <a:rPr lang="en-US">
                <a:hlinkClick r:id="rId6"/>
              </a:rPr>
              <a:t>https://www.cisa.gov/topics/physical-security/insider-threat-mitigation</a:t>
            </a:r>
            <a:r>
              <a:rPr lang="en-US"/>
              <a:t>.</a:t>
            </a:r>
          </a:p>
          <a:p>
            <a:r>
              <a:rPr lang="en-US"/>
              <a:t>Cybersecurity and Infrastructure Security Agency (CISA). (2022). Insider Threat Mitigation Guide. Retrieved from </a:t>
            </a:r>
            <a:r>
              <a:rPr lang="en-US">
                <a:hlinkClick r:id="rId7"/>
              </a:rPr>
              <a:t>https://www.cisa.gov/sites/default/files/2022-11/Insider%20Threat%20Mitigation%20Guide_Final_508.pdf</a:t>
            </a:r>
            <a:r>
              <a:rPr lang="en-US"/>
              <a:t>.</a:t>
            </a:r>
          </a:p>
          <a:p>
            <a:r>
              <a:rPr lang="en-US"/>
              <a:t>Imperva. (n.d.). Privileged User Monitoring. Retrieved from </a:t>
            </a:r>
            <a:r>
              <a:rPr lang="en-US">
                <a:hlinkClick r:id="rId8"/>
              </a:rPr>
              <a:t>https://www.imperva.com/learn/data-security/privileged-user-monitoring/</a:t>
            </a:r>
            <a:r>
              <a:rPr lang="en-US"/>
              <a:t>.</a:t>
            </a:r>
          </a:p>
          <a:p>
            <a:r>
              <a:rPr lang="en-US"/>
              <a:t>Microsoft. (n.d.). What is Privileged Access Management (PAM)? Retrieved from </a:t>
            </a:r>
            <a:r>
              <a:rPr lang="en-US">
                <a:hlinkClick r:id="rId9"/>
              </a:rPr>
              <a:t>https://www.microsoft.com/en-us/security/business/security-101/what-is-privileged-access-management-pam</a:t>
            </a:r>
            <a:r>
              <a:rPr lang="en-US"/>
              <a:t>.</a:t>
            </a:r>
          </a:p>
          <a:p>
            <a:r>
              <a:rPr lang="en-US" sz="3000">
                <a:solidFill>
                  <a:srgbClr val="0D0D0D"/>
                </a:solidFill>
                <a:ea typeface="+mn-lt"/>
                <a:cs typeface="+mn-lt"/>
              </a:rPr>
              <a:t>For any queries, please feel free to contact-Email: </a:t>
            </a:r>
            <a:r>
              <a:rPr lang="en-US" sz="3000">
                <a:ea typeface="+mn-lt"/>
                <a:cs typeface="+mn-lt"/>
                <a:hlinkClick r:id="rId10"/>
              </a:rPr>
              <a:t>ramesh.palanisamy@utas.edu.om</a:t>
            </a:r>
            <a:endParaRPr lang="en-US"/>
          </a:p>
          <a:p>
            <a:endParaRPr lang="en-US"/>
          </a:p>
        </p:txBody>
      </p:sp>
    </p:spTree>
    <p:extLst>
      <p:ext uri="{BB962C8B-B14F-4D97-AF65-F5344CB8AC3E}">
        <p14:creationId xmlns:p14="http://schemas.microsoft.com/office/powerpoint/2010/main" val="327480019"/>
      </p:ext>
    </p:extLst>
  </p:cSld>
  <p:clrMapOvr>
    <a:masterClrMapping/>
  </p:clrMapOvr>
</p:sld>
</file>

<file path=ppt/theme/theme1.xml><?xml version="1.0" encoding="utf-8"?>
<a:theme xmlns:a="http://schemas.openxmlformats.org/drawingml/2006/main" name="Office Theme">
  <a:themeElements>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fontScheme name="Trebuchet MS">
      <a:majorFont>
        <a:latin typeface="Trebuchet MS" panose="020B0603020202020204"/>
        <a:ea typeface=""/>
        <a:cs typeface=""/>
        <a:font script="Jpan" typeface="HGｺﾞｼｯｸM"/>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5B96C54-0A27-4F08-9C0C-1866F81CC976}" vid="{FD9DF39B-C2CC-4318-B2DC-E4DB3D62B6B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UTAS">
    <a:dk1>
      <a:sysClr val="windowText" lastClr="000000"/>
    </a:dk1>
    <a:lt1>
      <a:sysClr val="window" lastClr="FFFFFF"/>
    </a:lt1>
    <a:dk2>
      <a:srgbClr val="7F7F7F"/>
    </a:dk2>
    <a:lt2>
      <a:srgbClr val="E7E6E6"/>
    </a:lt2>
    <a:accent1>
      <a:srgbClr val="2B328C"/>
    </a:accent1>
    <a:accent2>
      <a:srgbClr val="415CAD"/>
    </a:accent2>
    <a:accent3>
      <a:srgbClr val="E46825"/>
    </a:accent3>
    <a:accent4>
      <a:srgbClr val="F88D2A"/>
    </a:accent4>
    <a:accent5>
      <a:srgbClr val="F1B721"/>
    </a:accent5>
    <a:accent6>
      <a:srgbClr val="70479C"/>
    </a:accent6>
    <a:hlink>
      <a:srgbClr val="3C9FC0"/>
    </a:hlink>
    <a:folHlink>
      <a:srgbClr val="948D2A"/>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47F44AC08C22843AA6B00621437D67C" ma:contentTypeVersion="8" ma:contentTypeDescription="Create a new document." ma:contentTypeScope="" ma:versionID="85accf2fcf5ab104785b9850b78f1698">
  <xsd:schema xmlns:xsd="http://www.w3.org/2001/XMLSchema" xmlns:xs="http://www.w3.org/2001/XMLSchema" xmlns:p="http://schemas.microsoft.com/office/2006/metadata/properties" xmlns:ns2="084f926a-dc4b-4f8e-a8dc-31dc72d5aeff" targetNamespace="http://schemas.microsoft.com/office/2006/metadata/properties" ma:root="true" ma:fieldsID="106e0b6b8c56e2a4021e0f03184b8b62" ns2:_="">
    <xsd:import namespace="084f926a-dc4b-4f8e-a8dc-31dc72d5aef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84f926a-dc4b-4f8e-a8dc-31dc72d5aef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6B72C55-7314-400B-BEEF-519A25FBE5D7}">
  <ds:schemaRefs>
    <ds:schemaRef ds:uri="d5f44108-e3fb-463f-993b-c9b3a842b725"/>
    <ds:schemaRef ds:uri="f1656a58-f635-43f4-9c49-b466eae26e3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3D04AFF-A39F-413F-AF3A-078FC7AB61C3}">
  <ds:schemaRefs>
    <ds:schemaRef ds:uri="http://schemas.microsoft.com/sharepoint/v3/contenttype/forms"/>
  </ds:schemaRefs>
</ds:datastoreItem>
</file>

<file path=customXml/itemProps3.xml><?xml version="1.0" encoding="utf-8"?>
<ds:datastoreItem xmlns:ds="http://schemas.openxmlformats.org/officeDocument/2006/customXml" ds:itemID="{98E63C46-B395-4422-B3D6-F28B42D83727}"/>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32</Slides>
  <Notes>3</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Lecture 10:</vt:lpstr>
      <vt:lpstr>Objectives</vt:lpstr>
      <vt:lpstr>UNDERSTANDING INSIDER THREATS AND THEIR IMPACT</vt:lpstr>
      <vt:lpstr>UNDERSTANDING INSIDER THREAT</vt:lpstr>
      <vt:lpstr>Types of Insider Threats</vt:lpstr>
      <vt:lpstr>WHY INSIDER THREAT: MOTIVATION</vt:lpstr>
      <vt:lpstr>IMPACTS OF INSIDER THREATS</vt:lpstr>
      <vt:lpstr>IMPACTS OF INSIDER THREATS</vt:lpstr>
      <vt:lpstr>INSIDER CONCERNS (TTT)</vt:lpstr>
      <vt:lpstr>IMPLEMENTING MEASURES AGAINST INSIDER THREATS</vt:lpstr>
      <vt:lpstr>PowerPoint Presentation</vt:lpstr>
      <vt:lpstr>PowerPoint Presentation</vt:lpstr>
      <vt:lpstr> STEPS FOR USING PREVENTIVE AND PROTECTIVE MEASURES AGAINST POTENTIAL INSIDER THREATS</vt:lpstr>
      <vt:lpstr>INSIDER THREAT AWARENESS</vt:lpstr>
      <vt:lpstr>USER AND ENTITY BEHAVIOR ANALYTICS (UEBA)</vt:lpstr>
      <vt:lpstr>User and Entity behavior analytics (UEBA)</vt:lpstr>
      <vt:lpstr>HOW UEBA WORKS</vt:lpstr>
      <vt:lpstr>THREATS ADDRESSED BY UEBA </vt:lpstr>
      <vt:lpstr>THREATS ADDRESSED BY UEBA </vt:lpstr>
      <vt:lpstr>ADVANTAGES OF APPLYING UEBA</vt:lpstr>
      <vt:lpstr>EXAMPLE OF USER &amp; ENTITY BEHAVIOR ANALYTICS (UEBA) TOOLS </vt:lpstr>
      <vt:lpstr>MONITORING PRIVILEGED ACCOUNTS AND ACCESS</vt:lpstr>
      <vt:lpstr>PRIVILEGED USER </vt:lpstr>
      <vt:lpstr> PRIVILEGED USERS ACCESS</vt:lpstr>
      <vt:lpstr>TYPES OF PRIVILEGED ACCOUNTS</vt:lpstr>
      <vt:lpstr>DANGERS OF PRIVILEGED USER ACCOUNTS </vt:lpstr>
      <vt:lpstr>MONITORING PRIVILEGED USERS</vt:lpstr>
      <vt:lpstr>PRIVILEGED ACCESS MANAGEMENT (PAM) TOOLS </vt:lpstr>
      <vt:lpstr>BALANCING PRIVACY AND SECURITY CONCERNS</vt:lpstr>
      <vt:lpstr>PRIVACY AND SECURITY</vt:lpstr>
      <vt:lpstr>STRATEGIES FOR A BALANCED APPROACH</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Karthikeyan Subramanian</dc:creator>
  <cp:revision>1</cp:revision>
  <dcterms:created xsi:type="dcterms:W3CDTF">2024-01-08T13:56:07Z</dcterms:created>
  <dcterms:modified xsi:type="dcterms:W3CDTF">2025-11-29T15:26:38Z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2024-04-22T08:48:01Z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dc2b733b-a224-4576-9839-d0ca720b0032</vt:lpwstr>
  </property>
  <property fmtid="{D5CDD505-2E9C-101B-9397-08002B2CF9AE}" pid="7" name="MSIP_Label_defa4170-0d19-0005-0004-bc88714345d2_ActionId">
    <vt:lpwstr>0dfb34d4-038b-4d43-a3d5-3006d835762e</vt:lpwstr>
  </property>
  <property fmtid="{D5CDD505-2E9C-101B-9397-08002B2CF9AE}" pid="8" name="MSIP_Label_defa4170-0d19-0005-0004-bc88714345d2_ContentBits">
    <vt:lpwstr>0</vt:lpwstr>
  </property>
  <property fmtid="{D5CDD505-2E9C-101B-9397-08002B2CF9AE}" pid="9" name="ContentTypeId">
    <vt:lpwstr>0x010100247F44AC08C22843AA6B00621437D67C</vt:lpwstr>
  </property>
  <property fmtid="{D5CDD505-2E9C-101B-9397-08002B2CF9AE}" pid="10" name="MediaServiceImageTags">
    <vt:lpwstr/>
  </property>
</Properties>
</file>