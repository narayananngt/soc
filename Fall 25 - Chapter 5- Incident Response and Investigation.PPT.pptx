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4"/>
  </p:sldMasterIdLst>
  <p:notesMasterIdLst>
    <p:notesMasterId r:id="rId49"/>
  </p:notesMasterIdLst>
  <p:sldIdLst>
    <p:sldId id="256" r:id="rId5"/>
    <p:sldId id="257" r:id="rId6"/>
    <p:sldId id="295" r:id="rId7"/>
    <p:sldId id="313" r:id="rId8"/>
    <p:sldId id="316" r:id="rId9"/>
    <p:sldId id="317" r:id="rId10"/>
    <p:sldId id="318" r:id="rId11"/>
    <p:sldId id="319" r:id="rId12"/>
    <p:sldId id="354" r:id="rId13"/>
    <p:sldId id="320" r:id="rId14"/>
    <p:sldId id="293" r:id="rId15"/>
    <p:sldId id="309" r:id="rId16"/>
    <p:sldId id="311" r:id="rId17"/>
    <p:sldId id="312" r:id="rId18"/>
    <p:sldId id="310" r:id="rId19"/>
    <p:sldId id="314" r:id="rId20"/>
    <p:sldId id="315" r:id="rId21"/>
    <p:sldId id="351" r:id="rId22"/>
    <p:sldId id="321" r:id="rId23"/>
    <p:sldId id="323" r:id="rId24"/>
    <p:sldId id="325" r:id="rId25"/>
    <p:sldId id="322" r:id="rId26"/>
    <p:sldId id="326" r:id="rId27"/>
    <p:sldId id="331" r:id="rId28"/>
    <p:sldId id="332" r:id="rId29"/>
    <p:sldId id="333" r:id="rId30"/>
    <p:sldId id="339" r:id="rId31"/>
    <p:sldId id="340" r:id="rId32"/>
    <p:sldId id="335" r:id="rId33"/>
    <p:sldId id="336" r:id="rId34"/>
    <p:sldId id="337" r:id="rId35"/>
    <p:sldId id="355" r:id="rId36"/>
    <p:sldId id="297" r:id="rId37"/>
    <p:sldId id="299" r:id="rId38"/>
    <p:sldId id="300" r:id="rId39"/>
    <p:sldId id="353" r:id="rId40"/>
    <p:sldId id="342" r:id="rId41"/>
    <p:sldId id="343" r:id="rId42"/>
    <p:sldId id="344" r:id="rId43"/>
    <p:sldId id="345" r:id="rId44"/>
    <p:sldId id="346" r:id="rId45"/>
    <p:sldId id="347" r:id="rId46"/>
    <p:sldId id="348" r:id="rId47"/>
    <p:sldId id="349"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59A9"/>
    <a:srgbClr val="E468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82" autoAdjust="0"/>
    <p:restoredTop sz="81935" autoAdjust="0"/>
  </p:normalViewPr>
  <p:slideViewPr>
    <p:cSldViewPr snapToGrid="0">
      <p:cViewPr varScale="1">
        <p:scale>
          <a:sx n="103" d="100"/>
          <a:sy n="103" d="100"/>
        </p:scale>
        <p:origin x="216" y="102"/>
      </p:cViewPr>
      <p:guideLst/>
    </p:cSldViewPr>
  </p:slideViewPr>
  <p:notesTextViewPr>
    <p:cViewPr>
      <p:scale>
        <a:sx n="1" d="1"/>
        <a:sy n="1" d="1"/>
      </p:scale>
      <p:origin x="0" y="0"/>
    </p:cViewPr>
  </p:notesTextViewPr>
  <p:sorterViewPr>
    <p:cViewPr>
      <p:scale>
        <a:sx n="75" d="100"/>
        <a:sy n="75" d="100"/>
      </p:scale>
      <p:origin x="0" y="-232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868E9C-7190-4814-918C-0324E9A4CCD7}"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93A397-DBB8-4A75-A187-24E46AD0EEAF}" type="slidenum">
              <a:rPr lang="en-US" smtClean="0"/>
              <a:t>‹#›</a:t>
            </a:fld>
            <a:endParaRPr lang="en-US"/>
          </a:p>
        </p:txBody>
      </p:sp>
    </p:spTree>
    <p:extLst>
      <p:ext uri="{BB962C8B-B14F-4D97-AF65-F5344CB8AC3E}">
        <p14:creationId xmlns:p14="http://schemas.microsoft.com/office/powerpoint/2010/main" val="997000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Well-Known Incident Response Frameworks in SOC</a:t>
            </a:r>
          </a:p>
          <a:p>
            <a:r>
              <a:rPr lang="en-US" dirty="0"/>
              <a:t>Several established incident response frameworks are utilized by SOC teams to handle and manage security incidents. These frameworks help ensure consistency, efficiency, and thoroughness in dealing with incidents. Below are some of the most prominent ones:</a:t>
            </a:r>
          </a:p>
          <a:p>
            <a:pPr>
              <a:buFont typeface="+mj-lt"/>
              <a:buAutoNum type="arabicPeriod"/>
            </a:pPr>
            <a:r>
              <a:rPr lang="en-US" b="1" dirty="0"/>
              <a:t>NIST Incident Response Framework (NIST 800-61)</a:t>
            </a:r>
            <a:br>
              <a:rPr lang="en-US" dirty="0"/>
            </a:br>
            <a:r>
              <a:rPr lang="en-US" dirty="0"/>
              <a:t>Developed by the National Institute of Standards and Technology (NIST), this framework is one of the most widely adopted. It defines four key phases:</a:t>
            </a:r>
          </a:p>
          <a:p>
            <a:pPr marL="742950" lvl="1" indent="-285750">
              <a:buFont typeface="+mj-lt"/>
              <a:buAutoNum type="arabicPeriod"/>
            </a:pPr>
            <a:r>
              <a:rPr lang="en-US" b="1" dirty="0"/>
              <a:t>Preparation</a:t>
            </a:r>
            <a:endParaRPr lang="en-US" dirty="0"/>
          </a:p>
          <a:p>
            <a:pPr marL="742950" lvl="1" indent="-285750">
              <a:buFont typeface="+mj-lt"/>
              <a:buAutoNum type="arabicPeriod"/>
            </a:pPr>
            <a:r>
              <a:rPr lang="en-US" b="1" dirty="0"/>
              <a:t>Detection and Analysis</a:t>
            </a:r>
            <a:endParaRPr lang="en-US" dirty="0"/>
          </a:p>
          <a:p>
            <a:pPr marL="742950" lvl="1" indent="-285750">
              <a:buFont typeface="+mj-lt"/>
              <a:buAutoNum type="arabicPeriod"/>
            </a:pPr>
            <a:r>
              <a:rPr lang="en-US" b="1" dirty="0"/>
              <a:t>Containment, Eradication, and Recovery</a:t>
            </a:r>
            <a:endParaRPr lang="en-US" dirty="0"/>
          </a:p>
          <a:p>
            <a:pPr marL="742950" lvl="1" indent="-285750">
              <a:buFont typeface="+mj-lt"/>
              <a:buAutoNum type="arabicPeriod"/>
            </a:pPr>
            <a:r>
              <a:rPr lang="en-US" b="1" dirty="0"/>
              <a:t>Post-Incident Activity</a:t>
            </a:r>
            <a:endParaRPr lang="en-US" dirty="0"/>
          </a:p>
          <a:p>
            <a:pPr>
              <a:buFont typeface="+mj-lt"/>
              <a:buAutoNum type="arabicPeriod"/>
            </a:pPr>
            <a:r>
              <a:rPr lang="en-US" b="1" dirty="0"/>
              <a:t>Application in SOC</a:t>
            </a:r>
            <a:r>
              <a:rPr lang="en-US" dirty="0"/>
              <a:t>:</a:t>
            </a:r>
            <a:br>
              <a:rPr lang="en-US" dirty="0"/>
            </a:br>
            <a:r>
              <a:rPr lang="en-US" dirty="0"/>
              <a:t>SOC teams rely on the NIST framework for guidance on setting up proper detection mechanisms, developing response plans, and handling incidents. It emphasizes detailed documentation and learning from incidents, which can help SOC teams improve over time.</a:t>
            </a:r>
          </a:p>
          <a:p>
            <a:pPr>
              <a:buFont typeface="+mj-lt"/>
              <a:buAutoNum type="arabicPeriod"/>
            </a:pPr>
            <a:r>
              <a:rPr lang="en-US" b="1" dirty="0"/>
              <a:t>SANS Incident Response Process</a:t>
            </a:r>
            <a:br>
              <a:rPr lang="en-US" dirty="0"/>
            </a:br>
            <a:r>
              <a:rPr lang="en-US" dirty="0"/>
              <a:t>The SANS framework outlines six steps in the incident response process:</a:t>
            </a:r>
          </a:p>
          <a:p>
            <a:pPr marL="742950" lvl="1" indent="-285750">
              <a:buFont typeface="+mj-lt"/>
              <a:buAutoNum type="arabicPeriod"/>
            </a:pPr>
            <a:r>
              <a:rPr lang="en-US" b="1" dirty="0"/>
              <a:t>Preparation</a:t>
            </a:r>
            <a:endParaRPr lang="en-US" dirty="0"/>
          </a:p>
          <a:p>
            <a:pPr marL="742950" lvl="1" indent="-285750">
              <a:buFont typeface="+mj-lt"/>
              <a:buAutoNum type="arabicPeriod"/>
            </a:pPr>
            <a:r>
              <a:rPr lang="en-US" b="1" dirty="0"/>
              <a:t>Identification</a:t>
            </a:r>
            <a:endParaRPr lang="en-US" dirty="0"/>
          </a:p>
          <a:p>
            <a:pPr marL="742950" lvl="1" indent="-285750">
              <a:buFont typeface="+mj-lt"/>
              <a:buAutoNum type="arabicPeriod"/>
            </a:pPr>
            <a:r>
              <a:rPr lang="en-US" b="1" dirty="0"/>
              <a:t>Containment</a:t>
            </a:r>
            <a:endParaRPr lang="en-US" dirty="0"/>
          </a:p>
          <a:p>
            <a:pPr marL="742950" lvl="1" indent="-285750">
              <a:buFont typeface="+mj-lt"/>
              <a:buAutoNum type="arabicPeriod"/>
            </a:pPr>
            <a:r>
              <a:rPr lang="en-US" b="1" dirty="0"/>
              <a:t>Eradication</a:t>
            </a:r>
            <a:endParaRPr lang="en-US" dirty="0"/>
          </a:p>
          <a:p>
            <a:pPr marL="742950" lvl="1" indent="-285750">
              <a:buFont typeface="+mj-lt"/>
              <a:buAutoNum type="arabicPeriod"/>
            </a:pPr>
            <a:r>
              <a:rPr lang="en-US" b="1" dirty="0"/>
              <a:t>Recovery</a:t>
            </a:r>
            <a:endParaRPr lang="en-US" dirty="0"/>
          </a:p>
          <a:p>
            <a:pPr marL="742950" lvl="1" indent="-285750">
              <a:buFont typeface="+mj-lt"/>
              <a:buAutoNum type="arabicPeriod"/>
            </a:pPr>
            <a:r>
              <a:rPr lang="en-US" b="1" dirty="0"/>
              <a:t>Lessons Learned</a:t>
            </a:r>
            <a:endParaRPr lang="en-US" dirty="0"/>
          </a:p>
          <a:p>
            <a:pPr>
              <a:buFont typeface="+mj-lt"/>
              <a:buAutoNum type="arabicPeriod"/>
            </a:pPr>
            <a:r>
              <a:rPr lang="en-US" b="1" dirty="0"/>
              <a:t>Application in SOC</a:t>
            </a:r>
            <a:r>
              <a:rPr lang="en-US" dirty="0"/>
              <a:t>:</a:t>
            </a:r>
            <a:br>
              <a:rPr lang="en-US" dirty="0"/>
            </a:br>
            <a:r>
              <a:rPr lang="en-US" dirty="0"/>
              <a:t>Similar to NIST, the SANS process provides detailed steps to prepare for and handle incidents. SOC analysts and responders follow this methodology to ensure all aspects of an incident are handled systematically, from initial detection to post-incident analysis.</a:t>
            </a:r>
          </a:p>
          <a:p>
            <a:pPr>
              <a:buFont typeface="+mj-lt"/>
              <a:buAutoNum type="arabicPeriod"/>
            </a:pPr>
            <a:r>
              <a:rPr lang="en-US" b="1" dirty="0"/>
              <a:t>CERT® Incident Management Capability Maturity Model (CERT-IMM)</a:t>
            </a:r>
            <a:br>
              <a:rPr lang="en-US" dirty="0"/>
            </a:br>
            <a:r>
              <a:rPr lang="en-US" dirty="0"/>
              <a:t>This framework focuses on improving the maturity and capability of an organization's incident response process. It defines five levels of maturity, ranging from </a:t>
            </a:r>
            <a:r>
              <a:rPr lang="en-US" b="1" dirty="0"/>
              <a:t>Initial</a:t>
            </a:r>
            <a:r>
              <a:rPr lang="en-US" dirty="0"/>
              <a:t> to </a:t>
            </a:r>
            <a:r>
              <a:rPr lang="en-US" b="1" dirty="0"/>
              <a:t>Optimizing</a:t>
            </a:r>
            <a:r>
              <a:rPr lang="en-US" dirty="0"/>
              <a:t>, with the goal of continuous improvement.</a:t>
            </a:r>
          </a:p>
          <a:p>
            <a:pPr>
              <a:buFont typeface="+mj-lt"/>
              <a:buAutoNum type="arabicPeriod"/>
            </a:pPr>
            <a:r>
              <a:rPr lang="en-US" b="1" dirty="0"/>
              <a:t>Application in SOC</a:t>
            </a:r>
            <a:r>
              <a:rPr lang="en-US" dirty="0"/>
              <a:t>:</a:t>
            </a:r>
            <a:br>
              <a:rPr lang="en-US" dirty="0"/>
            </a:br>
            <a:r>
              <a:rPr lang="en-US" dirty="0"/>
              <a:t>SOCs that aim for long-term improvements in their response processes use CERT-IMM to measure and evolve their incident response maturity. This framework helps align the SOC's incident response efforts with the overall strategic goals of the organization.</a:t>
            </a:r>
          </a:p>
          <a:p>
            <a:pPr>
              <a:buFont typeface="+mj-lt"/>
              <a:buAutoNum type="arabicPeriod"/>
            </a:pPr>
            <a:r>
              <a:rPr lang="en-US" b="1" dirty="0"/>
              <a:t>MITRE ATT&amp;CK® for Incident Response</a:t>
            </a:r>
            <a:br>
              <a:rPr lang="en-US" dirty="0"/>
            </a:br>
            <a:r>
              <a:rPr lang="en-US" dirty="0"/>
              <a:t>While primarily a threat intelligence and attack framework, MITRE ATT&amp;CK has become a valuable resource for incident response in SOCs. It helps analysts map observed attack patterns to specific adversary tactics, techniques, and procedures (TTPs).</a:t>
            </a:r>
          </a:p>
          <a:p>
            <a:pPr>
              <a:buFont typeface="+mj-lt"/>
              <a:buAutoNum type="arabicPeriod"/>
            </a:pPr>
            <a:r>
              <a:rPr lang="en-US" b="1" dirty="0"/>
              <a:t>Application in SOC</a:t>
            </a:r>
            <a:r>
              <a:rPr lang="en-US" dirty="0"/>
              <a:t>:</a:t>
            </a:r>
            <a:br>
              <a:rPr lang="en-US" dirty="0"/>
            </a:br>
            <a:r>
              <a:rPr lang="en-US" dirty="0"/>
              <a:t>SOCs use MITRE ATT&amp;CK to enhance their detection capabilities and correlate incidents with known attack patterns. This framework aids in the identification and analysis phases, allowing for more precise response actions based on the observed techniques.</a:t>
            </a:r>
          </a:p>
          <a:p>
            <a:pPr>
              <a:buFont typeface="+mj-lt"/>
              <a:buAutoNum type="arabicPeriod"/>
            </a:pPr>
            <a:r>
              <a:rPr lang="en-US" b="1" dirty="0"/>
              <a:t>Cyber Kill Chain (Lockheed Martin)</a:t>
            </a:r>
            <a:br>
              <a:rPr lang="en-US" dirty="0"/>
            </a:br>
            <a:r>
              <a:rPr lang="en-US" dirty="0"/>
              <a:t>This framework is designed to break down the steps attackers take during a cyberattack. The phases include:</a:t>
            </a:r>
          </a:p>
          <a:p>
            <a:pPr marL="742950" lvl="1" indent="-285750">
              <a:buFont typeface="+mj-lt"/>
              <a:buAutoNum type="arabicPeriod"/>
            </a:pPr>
            <a:r>
              <a:rPr lang="en-US" b="1" dirty="0"/>
              <a:t>Reconnaissance</a:t>
            </a:r>
            <a:endParaRPr lang="en-US" dirty="0"/>
          </a:p>
          <a:p>
            <a:pPr marL="742950" lvl="1" indent="-285750">
              <a:buFont typeface="+mj-lt"/>
              <a:buAutoNum type="arabicPeriod"/>
            </a:pPr>
            <a:r>
              <a:rPr lang="en-US" b="1" dirty="0"/>
              <a:t>Weaponization</a:t>
            </a:r>
            <a:endParaRPr lang="en-US" dirty="0"/>
          </a:p>
          <a:p>
            <a:pPr marL="742950" lvl="1" indent="-285750">
              <a:buFont typeface="+mj-lt"/>
              <a:buAutoNum type="arabicPeriod"/>
            </a:pPr>
            <a:r>
              <a:rPr lang="en-US" b="1" dirty="0"/>
              <a:t>Delivery</a:t>
            </a:r>
            <a:endParaRPr lang="en-US" dirty="0"/>
          </a:p>
          <a:p>
            <a:pPr marL="742950" lvl="1" indent="-285750">
              <a:buFont typeface="+mj-lt"/>
              <a:buAutoNum type="arabicPeriod"/>
            </a:pPr>
            <a:r>
              <a:rPr lang="en-US" b="1" dirty="0"/>
              <a:t>Exploitation</a:t>
            </a:r>
            <a:endParaRPr lang="en-US" dirty="0"/>
          </a:p>
          <a:p>
            <a:pPr marL="742950" lvl="1" indent="-285750">
              <a:buFont typeface="+mj-lt"/>
              <a:buAutoNum type="arabicPeriod"/>
            </a:pPr>
            <a:r>
              <a:rPr lang="en-US" b="1" dirty="0"/>
              <a:t>Installation</a:t>
            </a:r>
            <a:endParaRPr lang="en-US" dirty="0"/>
          </a:p>
          <a:p>
            <a:pPr marL="742950" lvl="1" indent="-285750">
              <a:buFont typeface="+mj-lt"/>
              <a:buAutoNum type="arabicPeriod"/>
            </a:pPr>
            <a:r>
              <a:rPr lang="en-US" b="1" dirty="0"/>
              <a:t>Command and Control (C2)</a:t>
            </a:r>
            <a:endParaRPr lang="en-US" dirty="0"/>
          </a:p>
          <a:p>
            <a:pPr marL="742950" lvl="1" indent="-285750">
              <a:buFont typeface="+mj-lt"/>
              <a:buAutoNum type="arabicPeriod"/>
            </a:pPr>
            <a:r>
              <a:rPr lang="en-US" b="1" dirty="0"/>
              <a:t>Actions on Objectives</a:t>
            </a:r>
            <a:endParaRPr lang="en-US" dirty="0"/>
          </a:p>
          <a:p>
            <a:pPr>
              <a:buFont typeface="+mj-lt"/>
              <a:buAutoNum type="arabicPeriod"/>
            </a:pPr>
            <a:r>
              <a:rPr lang="en-US" b="1" dirty="0"/>
              <a:t>Application in SOC</a:t>
            </a:r>
            <a:r>
              <a:rPr lang="en-US" dirty="0"/>
              <a:t>:</a:t>
            </a:r>
            <a:br>
              <a:rPr lang="en-US" dirty="0"/>
            </a:br>
            <a:r>
              <a:rPr lang="en-US" dirty="0"/>
              <a:t>SOC teams use the Cyber Kill Chain to trace how far an attack has progressed and to identify the most appropriate point to contain or mitigate the attack. By understanding where an adversary is within the chain, SOC teams can respond with more precision and reduce the impact of the incident.</a:t>
            </a:r>
          </a:p>
          <a:p>
            <a:pPr>
              <a:buFont typeface="+mj-lt"/>
              <a:buAutoNum type="arabicPeriod"/>
            </a:pPr>
            <a:r>
              <a:rPr lang="en-US" b="1" dirty="0"/>
              <a:t>ISO/IEC 27035 Incident Management</a:t>
            </a:r>
            <a:br>
              <a:rPr lang="en-US" dirty="0"/>
            </a:br>
            <a:r>
              <a:rPr lang="en-US" dirty="0"/>
              <a:t>The ISO/IEC 27035 framework provides an international standard for information security incident management, focusing on the identification, response, and prevention of incidents.</a:t>
            </a:r>
          </a:p>
          <a:p>
            <a:pPr>
              <a:buFont typeface="+mj-lt"/>
              <a:buAutoNum type="arabicPeriod"/>
            </a:pPr>
            <a:r>
              <a:rPr lang="en-US" b="1" dirty="0"/>
              <a:t>Application in SOC</a:t>
            </a:r>
            <a:r>
              <a:rPr lang="en-US" dirty="0"/>
              <a:t>:</a:t>
            </a:r>
            <a:br>
              <a:rPr lang="en-US" dirty="0"/>
            </a:br>
            <a:r>
              <a:rPr lang="en-US" dirty="0"/>
              <a:t>SOCs that align with international security standards often adopt ISO/IEC 27035 to ensure that their incident management processes are standardized and meet global best practices.</a:t>
            </a:r>
          </a:p>
          <a:p>
            <a:endParaRPr lang="en-US" dirty="0"/>
          </a:p>
        </p:txBody>
      </p:sp>
      <p:sp>
        <p:nvSpPr>
          <p:cNvPr id="4" name="Slide Number Placeholder 3"/>
          <p:cNvSpPr>
            <a:spLocks noGrp="1"/>
          </p:cNvSpPr>
          <p:nvPr>
            <p:ph type="sldNum" sz="quarter" idx="5"/>
          </p:nvPr>
        </p:nvSpPr>
        <p:spPr/>
        <p:txBody>
          <a:bodyPr/>
          <a:lstStyle/>
          <a:p>
            <a:fld id="{4193A397-DBB8-4A75-A187-24E46AD0EEAF}" type="slidenum">
              <a:rPr lang="en-US" smtClean="0"/>
              <a:t>4</a:t>
            </a:fld>
            <a:endParaRPr lang="en-US"/>
          </a:p>
        </p:txBody>
      </p:sp>
    </p:spTree>
    <p:extLst>
      <p:ext uri="{BB962C8B-B14F-4D97-AF65-F5344CB8AC3E}">
        <p14:creationId xmlns:p14="http://schemas.microsoft.com/office/powerpoint/2010/main" val="975688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93A397-DBB8-4A75-A187-24E46AD0EEAF}" type="slidenum">
              <a:rPr lang="en-US" smtClean="0"/>
              <a:t>5</a:t>
            </a:fld>
            <a:endParaRPr lang="en-US"/>
          </a:p>
        </p:txBody>
      </p:sp>
    </p:spTree>
    <p:extLst>
      <p:ext uri="{BB962C8B-B14F-4D97-AF65-F5344CB8AC3E}">
        <p14:creationId xmlns:p14="http://schemas.microsoft.com/office/powerpoint/2010/main" val="19008443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7766-3367-E7D6-00EF-A53508A3A12A}"/>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latin typeface="DIN Next LT Arabic" panose="020B0503020203050203" pitchFamily="34" charset="-78"/>
                <a:cs typeface="DIN Next LT Arabic" panose="020B0503020203050203" pitchFamily="34" charset="-78"/>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67FF1BC-220C-D827-CD59-950320E5C2E8}"/>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latin typeface="DIN Next LT Arabic" panose="020B0503020203050203" pitchFamily="34" charset="-78"/>
                <a:cs typeface="DIN Next LT Arabic" panose="020B0503020203050203" pitchFamily="34"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836160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857F2E-339D-E6C5-BCBC-2B077CAE8311}"/>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29156AB4-EC91-B384-E7B4-E95B4CBC35C4}"/>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934666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7C730-2526-2436-83B9-31B1FB54BD06}"/>
              </a:ext>
            </a:extLst>
          </p:cNvPr>
          <p:cNvSpPr>
            <a:spLocks noGrp="1"/>
          </p:cNvSpPr>
          <p:nvPr>
            <p:ph type="title"/>
          </p:nvPr>
        </p:nvSpPr>
        <p:spPr/>
        <p:txBody>
          <a:bodyPr/>
          <a:lstStyle>
            <a:lvl1pPr>
              <a:defRPr>
                <a:latin typeface="DIN Next LT Arabic" panose="020B0503020203050203" pitchFamily="34" charset="-78"/>
                <a:cs typeface="DIN Next LT Arabic" panose="020B0503020203050203" pitchFamily="34" charset="-78"/>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F0D509B-F558-8250-026B-44BDE5F1FDD9}"/>
              </a:ext>
            </a:extLst>
          </p:cNvPr>
          <p:cNvSpPr>
            <a:spLocks noGrp="1"/>
          </p:cNvSpPr>
          <p:nvPr>
            <p:ph idx="1"/>
          </p:nvPr>
        </p:nvSpPr>
        <p:spPr/>
        <p:txBody>
          <a:bodyPr/>
          <a:lstStyle>
            <a:lvl1pPr>
              <a:defRPr>
                <a:latin typeface="DIN Next LT Arabic" panose="020B0503020203050203" pitchFamily="34" charset="-78"/>
                <a:cs typeface="DIN Next LT Arabic" panose="020B0503020203050203" pitchFamily="34" charset="-78"/>
              </a:defRPr>
            </a:lvl1pPr>
            <a:lvl2pPr>
              <a:defRPr>
                <a:latin typeface="DIN Next LT Arabic" panose="020B0503020203050203" pitchFamily="34" charset="-78"/>
                <a:cs typeface="DIN Next LT Arabic" panose="020B0503020203050203" pitchFamily="34" charset="-78"/>
              </a:defRPr>
            </a:lvl2pPr>
            <a:lvl3pPr>
              <a:defRPr>
                <a:latin typeface="DIN Next LT Arabic" panose="020B0503020203050203" pitchFamily="34" charset="-78"/>
                <a:cs typeface="DIN Next LT Arabic" panose="020B0503020203050203" pitchFamily="34" charset="-78"/>
              </a:defRPr>
            </a:lvl3pPr>
            <a:lvl4pPr>
              <a:defRPr>
                <a:latin typeface="DIN Next LT Arabic" panose="020B0503020203050203" pitchFamily="34" charset="-78"/>
                <a:cs typeface="DIN Next LT Arabic" panose="020B0503020203050203" pitchFamily="34" charset="-78"/>
              </a:defRPr>
            </a:lvl4pPr>
            <a:lvl5pPr>
              <a:defRPr>
                <a:latin typeface="DIN Next LT Arabic" panose="020B0503020203050203" pitchFamily="34" charset="-78"/>
                <a:cs typeface="DIN Next LT Arabic" panose="020B0503020203050203" pitchFamily="34" charset="-7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phic 6">
            <a:extLst>
              <a:ext uri="{FF2B5EF4-FFF2-40B4-BE49-F238E27FC236}">
                <a16:creationId xmlns:a16="http://schemas.microsoft.com/office/drawing/2014/main" id="{3FAB82C7-3A7F-3400-8C0C-C6807996BD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8" name="Picture 7">
            <a:extLst>
              <a:ext uri="{FF2B5EF4-FFF2-40B4-BE49-F238E27FC236}">
                <a16:creationId xmlns:a16="http://schemas.microsoft.com/office/drawing/2014/main" id="{BBAF4668-7EA5-DF62-F5E8-E553632575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pic>
        <p:nvPicPr>
          <p:cNvPr id="4" name="Graphic 3">
            <a:extLst>
              <a:ext uri="{FF2B5EF4-FFF2-40B4-BE49-F238E27FC236}">
                <a16:creationId xmlns:a16="http://schemas.microsoft.com/office/drawing/2014/main" id="{29D0A6A7-3E8D-C10E-18AF-551A28DCF8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5" name="Picture 4">
            <a:extLst>
              <a:ext uri="{FF2B5EF4-FFF2-40B4-BE49-F238E27FC236}">
                <a16:creationId xmlns:a16="http://schemas.microsoft.com/office/drawing/2014/main" id="{E054F914-5DBA-A441-2DB0-37AD3630D86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391086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25411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544628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025348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617881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786BD-C77C-2D23-CF7B-C8D2E30F0B4A}"/>
              </a:ext>
            </a:extLst>
          </p:cNvPr>
          <p:cNvSpPr>
            <a:spLocks noGrp="1"/>
          </p:cNvSpPr>
          <p:nvPr>
            <p:ph type="title"/>
          </p:nvPr>
        </p:nvSpPr>
        <p:spPr/>
        <p:txBody>
          <a:bodyPr/>
          <a:lstStyle>
            <a:lvl1pPr>
              <a:defRPr>
                <a:latin typeface="DIN Next LT Arabic" panose="020B0503020203050203" pitchFamily="34" charset="-78"/>
                <a:cs typeface="DIN Next LT Arabic" panose="020B0503020203050203" pitchFamily="34" charset="-78"/>
              </a:defRPr>
            </a:lvl1pPr>
          </a:lstStyle>
          <a:p>
            <a:r>
              <a:rPr lang="en-US"/>
              <a:t>Click to edit Master title style</a:t>
            </a:r>
          </a:p>
        </p:txBody>
      </p:sp>
      <p:sp>
        <p:nvSpPr>
          <p:cNvPr id="3" name="Content Placeholder 2">
            <a:extLst>
              <a:ext uri="{FF2B5EF4-FFF2-40B4-BE49-F238E27FC236}">
                <a16:creationId xmlns:a16="http://schemas.microsoft.com/office/drawing/2014/main" id="{A0076FD6-BC76-C316-FEC2-1B2CAD1156C8}"/>
              </a:ext>
            </a:extLst>
          </p:cNvPr>
          <p:cNvSpPr>
            <a:spLocks noGrp="1"/>
          </p:cNvSpPr>
          <p:nvPr>
            <p:ph sz="half" idx="1"/>
          </p:nvPr>
        </p:nvSpPr>
        <p:spPr>
          <a:xfrm>
            <a:off x="838200" y="1825625"/>
            <a:ext cx="5181600" cy="4351338"/>
          </a:xfrm>
        </p:spPr>
        <p:txBody>
          <a:bodyPr/>
          <a:lstStyle>
            <a:lvl1pPr>
              <a:defRPr>
                <a:latin typeface="DIN Next LT Arabic" panose="020B0503020203050203" pitchFamily="34" charset="-78"/>
                <a:cs typeface="DIN Next LT Arabic" panose="020B0503020203050203" pitchFamily="34" charset="-78"/>
              </a:defRPr>
            </a:lvl1pPr>
            <a:lvl2pPr>
              <a:defRPr>
                <a:latin typeface="DIN Next LT Arabic" panose="020B0503020203050203" pitchFamily="34" charset="-78"/>
                <a:cs typeface="DIN Next LT Arabic" panose="020B0503020203050203" pitchFamily="34" charset="-78"/>
              </a:defRPr>
            </a:lvl2pPr>
            <a:lvl3pPr>
              <a:defRPr>
                <a:latin typeface="DIN Next LT Arabic" panose="020B0503020203050203" pitchFamily="34" charset="-78"/>
                <a:cs typeface="DIN Next LT Arabic" panose="020B0503020203050203" pitchFamily="34" charset="-78"/>
              </a:defRPr>
            </a:lvl3pPr>
            <a:lvl4pPr>
              <a:defRPr>
                <a:latin typeface="DIN Next LT Arabic" panose="020B0503020203050203" pitchFamily="34" charset="-78"/>
                <a:cs typeface="DIN Next LT Arabic" panose="020B0503020203050203" pitchFamily="34" charset="-78"/>
              </a:defRPr>
            </a:lvl4pPr>
            <a:lvl5pPr>
              <a:defRPr>
                <a:latin typeface="DIN Next LT Arabic" panose="020B0503020203050203" pitchFamily="34" charset="-78"/>
                <a:cs typeface="DIN Next LT Arabic" panose="020B0503020203050203" pitchFamily="34" charset="-7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4B0F8-D10E-C846-C7C8-F2B35F217875}"/>
              </a:ext>
            </a:extLst>
          </p:cNvPr>
          <p:cNvSpPr>
            <a:spLocks noGrp="1"/>
          </p:cNvSpPr>
          <p:nvPr>
            <p:ph sz="half" idx="2"/>
          </p:nvPr>
        </p:nvSpPr>
        <p:spPr>
          <a:xfrm>
            <a:off x="6172200" y="1825625"/>
            <a:ext cx="5181600" cy="4351338"/>
          </a:xfrm>
        </p:spPr>
        <p:txBody>
          <a:bodyPr/>
          <a:lstStyle>
            <a:lvl1pPr>
              <a:defRPr>
                <a:latin typeface="DIN Next LT Arabic" panose="020B0503020203050203" pitchFamily="34" charset="-78"/>
                <a:cs typeface="DIN Next LT Arabic" panose="020B0503020203050203" pitchFamily="34" charset="-78"/>
              </a:defRPr>
            </a:lvl1pPr>
            <a:lvl2pPr>
              <a:defRPr>
                <a:latin typeface="DIN Next LT Arabic" panose="020B0503020203050203" pitchFamily="34" charset="-78"/>
                <a:cs typeface="DIN Next LT Arabic" panose="020B0503020203050203" pitchFamily="34" charset="-78"/>
              </a:defRPr>
            </a:lvl2pPr>
            <a:lvl3pPr>
              <a:defRPr>
                <a:latin typeface="DIN Next LT Arabic" panose="020B0503020203050203" pitchFamily="34" charset="-78"/>
                <a:cs typeface="DIN Next LT Arabic" panose="020B0503020203050203" pitchFamily="34" charset="-78"/>
              </a:defRPr>
            </a:lvl3pPr>
            <a:lvl4pPr>
              <a:defRPr>
                <a:latin typeface="DIN Next LT Arabic" panose="020B0503020203050203" pitchFamily="34" charset="-78"/>
                <a:cs typeface="DIN Next LT Arabic" panose="020B0503020203050203" pitchFamily="34" charset="-78"/>
              </a:defRPr>
            </a:lvl4pPr>
            <a:lvl5pPr>
              <a:defRPr>
                <a:latin typeface="DIN Next LT Arabic" panose="020B0503020203050203" pitchFamily="34" charset="-78"/>
                <a:cs typeface="DIN Next LT Arabic" panose="020B0503020203050203" pitchFamily="34" charset="-7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2EB146C-E069-79DF-03A0-3EF507DB1F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a:extLst>
              <a:ext uri="{FF2B5EF4-FFF2-40B4-BE49-F238E27FC236}">
                <a16:creationId xmlns:a16="http://schemas.microsoft.com/office/drawing/2014/main" id="{D0D7F560-006E-C92C-CAE6-655946296A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pic>
        <p:nvPicPr>
          <p:cNvPr id="5" name="Graphic 4">
            <a:extLst>
              <a:ext uri="{FF2B5EF4-FFF2-40B4-BE49-F238E27FC236}">
                <a16:creationId xmlns:a16="http://schemas.microsoft.com/office/drawing/2014/main" id="{A61C9732-26C1-77CA-86D9-7563892BE77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6" name="Picture 5">
            <a:extLst>
              <a:ext uri="{FF2B5EF4-FFF2-40B4-BE49-F238E27FC236}">
                <a16:creationId xmlns:a16="http://schemas.microsoft.com/office/drawing/2014/main" id="{0A608C12-D24E-B63E-87F6-8BB4D4ED380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062472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CCDCB-0722-1FF7-967A-4C2B8AA78748}"/>
              </a:ext>
            </a:extLst>
          </p:cNvPr>
          <p:cNvSpPr>
            <a:spLocks noGrp="1"/>
          </p:cNvSpPr>
          <p:nvPr>
            <p:ph type="title"/>
          </p:nvPr>
        </p:nvSpPr>
        <p:spPr>
          <a:xfrm>
            <a:off x="839788" y="365126"/>
            <a:ext cx="10515600" cy="1325563"/>
          </a:xfrm>
        </p:spPr>
        <p:txBody>
          <a:bodyPr/>
          <a:lstStyle>
            <a:lvl1pPr>
              <a:defRPr>
                <a:latin typeface="DIN Next LT Arabic" panose="020B0503020203050203" pitchFamily="34" charset="-78"/>
                <a:cs typeface="DIN Next LT Arabic" panose="020B0503020203050203" pitchFamily="34" charset="-78"/>
              </a:defRPr>
            </a:lvl1pPr>
          </a:lstStyle>
          <a:p>
            <a:r>
              <a:rPr lang="en-US"/>
              <a:t>Click to edit Master title style</a:t>
            </a:r>
          </a:p>
        </p:txBody>
      </p:sp>
      <p:sp>
        <p:nvSpPr>
          <p:cNvPr id="3" name="Text Placeholder 2">
            <a:extLst>
              <a:ext uri="{FF2B5EF4-FFF2-40B4-BE49-F238E27FC236}">
                <a16:creationId xmlns:a16="http://schemas.microsoft.com/office/drawing/2014/main" id="{A99240F6-D089-115A-F484-55B95FE6EB86}"/>
              </a:ext>
            </a:extLst>
          </p:cNvPr>
          <p:cNvSpPr>
            <a:spLocks noGrp="1"/>
          </p:cNvSpPr>
          <p:nvPr>
            <p:ph type="body" idx="1"/>
          </p:nvPr>
        </p:nvSpPr>
        <p:spPr>
          <a:xfrm>
            <a:off x="839789" y="1681163"/>
            <a:ext cx="5157788" cy="823912"/>
          </a:xfrm>
        </p:spPr>
        <p:txBody>
          <a:bodyPr anchor="b"/>
          <a:lstStyle>
            <a:lvl1pPr marL="0" indent="0">
              <a:buNone/>
              <a:defRPr sz="2400" b="1">
                <a:latin typeface="DIN Next LT Arabic" panose="020B0503020203050203" pitchFamily="34" charset="-78"/>
                <a:cs typeface="DIN Next LT Arabic" panose="020B0503020203050203" pitchFamily="34" charset="-7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62AEC2-681B-D1B2-EB84-84968D66C9AE}"/>
              </a:ext>
            </a:extLst>
          </p:cNvPr>
          <p:cNvSpPr>
            <a:spLocks noGrp="1"/>
          </p:cNvSpPr>
          <p:nvPr>
            <p:ph sz="half" idx="2"/>
          </p:nvPr>
        </p:nvSpPr>
        <p:spPr>
          <a:xfrm>
            <a:off x="839789" y="2505075"/>
            <a:ext cx="5157788" cy="3684588"/>
          </a:xfrm>
        </p:spPr>
        <p:txBody>
          <a:bodyPr/>
          <a:lstStyle>
            <a:lvl1pPr>
              <a:defRPr>
                <a:latin typeface="DIN Next LT Arabic" panose="020B0503020203050203" pitchFamily="34" charset="-78"/>
                <a:cs typeface="DIN Next LT Arabic" panose="020B0503020203050203" pitchFamily="34" charset="-78"/>
              </a:defRPr>
            </a:lvl1pPr>
            <a:lvl2pPr>
              <a:defRPr>
                <a:latin typeface="DIN Next LT Arabic" panose="020B0503020203050203" pitchFamily="34" charset="-78"/>
                <a:cs typeface="DIN Next LT Arabic" panose="020B0503020203050203" pitchFamily="34" charset="-78"/>
              </a:defRPr>
            </a:lvl2pPr>
            <a:lvl3pPr>
              <a:defRPr>
                <a:latin typeface="DIN Next LT Arabic" panose="020B0503020203050203" pitchFamily="34" charset="-78"/>
                <a:cs typeface="DIN Next LT Arabic" panose="020B0503020203050203" pitchFamily="34" charset="-78"/>
              </a:defRPr>
            </a:lvl3pPr>
            <a:lvl4pPr>
              <a:defRPr>
                <a:latin typeface="DIN Next LT Arabic" panose="020B0503020203050203" pitchFamily="34" charset="-78"/>
                <a:cs typeface="DIN Next LT Arabic" panose="020B0503020203050203" pitchFamily="34" charset="-78"/>
              </a:defRPr>
            </a:lvl4pPr>
            <a:lvl5pPr>
              <a:defRPr>
                <a:latin typeface="DIN Next LT Arabic" panose="020B0503020203050203" pitchFamily="34" charset="-78"/>
                <a:cs typeface="DIN Next LT Arabic" panose="020B0503020203050203" pitchFamily="34" charset="-7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EC8B4E-4F3D-8952-2B49-981561BBFB30}"/>
              </a:ext>
            </a:extLst>
          </p:cNvPr>
          <p:cNvSpPr>
            <a:spLocks noGrp="1"/>
          </p:cNvSpPr>
          <p:nvPr>
            <p:ph type="body" sz="quarter" idx="3"/>
          </p:nvPr>
        </p:nvSpPr>
        <p:spPr>
          <a:xfrm>
            <a:off x="6172200" y="1681163"/>
            <a:ext cx="5183188" cy="823912"/>
          </a:xfrm>
        </p:spPr>
        <p:txBody>
          <a:bodyPr anchor="b"/>
          <a:lstStyle>
            <a:lvl1pPr marL="0" indent="0">
              <a:buNone/>
              <a:defRPr sz="2400" b="1">
                <a:latin typeface="DIN Next LT Arabic" panose="020B0503020203050203" pitchFamily="34" charset="-78"/>
                <a:cs typeface="DIN Next LT Arabic" panose="020B0503020203050203" pitchFamily="34" charset="-7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0FCC89-9EDF-D5CF-08A1-5E55519C0008}"/>
              </a:ext>
            </a:extLst>
          </p:cNvPr>
          <p:cNvSpPr>
            <a:spLocks noGrp="1"/>
          </p:cNvSpPr>
          <p:nvPr>
            <p:ph sz="quarter" idx="4"/>
          </p:nvPr>
        </p:nvSpPr>
        <p:spPr>
          <a:xfrm>
            <a:off x="6172200" y="2505075"/>
            <a:ext cx="5183188" cy="3684588"/>
          </a:xfrm>
        </p:spPr>
        <p:txBody>
          <a:bodyPr/>
          <a:lstStyle>
            <a:lvl1pPr>
              <a:defRPr>
                <a:latin typeface="DIN Next LT Arabic" panose="020B0503020203050203" pitchFamily="34" charset="-78"/>
                <a:cs typeface="DIN Next LT Arabic" panose="020B0503020203050203" pitchFamily="34" charset="-78"/>
              </a:defRPr>
            </a:lvl1pPr>
            <a:lvl2pPr>
              <a:defRPr>
                <a:latin typeface="DIN Next LT Arabic" panose="020B0503020203050203" pitchFamily="34" charset="-78"/>
                <a:cs typeface="DIN Next LT Arabic" panose="020B0503020203050203" pitchFamily="34" charset="-78"/>
              </a:defRPr>
            </a:lvl2pPr>
            <a:lvl3pPr>
              <a:defRPr>
                <a:latin typeface="DIN Next LT Arabic" panose="020B0503020203050203" pitchFamily="34" charset="-78"/>
                <a:cs typeface="DIN Next LT Arabic" panose="020B0503020203050203" pitchFamily="34" charset="-78"/>
              </a:defRPr>
            </a:lvl3pPr>
            <a:lvl4pPr>
              <a:defRPr>
                <a:latin typeface="DIN Next LT Arabic" panose="020B0503020203050203" pitchFamily="34" charset="-78"/>
                <a:cs typeface="DIN Next LT Arabic" panose="020B0503020203050203" pitchFamily="34" charset="-78"/>
              </a:defRPr>
            </a:lvl4pPr>
            <a:lvl5pPr>
              <a:defRPr>
                <a:latin typeface="DIN Next LT Arabic" panose="020B0503020203050203" pitchFamily="34" charset="-78"/>
                <a:cs typeface="DIN Next LT Arabic" panose="020B0503020203050203" pitchFamily="34" charset="-7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287A60A5-2807-0E92-F4E2-9BE5550A1F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a:extLst>
              <a:ext uri="{FF2B5EF4-FFF2-40B4-BE49-F238E27FC236}">
                <a16:creationId xmlns:a16="http://schemas.microsoft.com/office/drawing/2014/main" id="{97F05A89-2C90-505C-30DC-7C2B9A91F6E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pic>
        <p:nvPicPr>
          <p:cNvPr id="7" name="Graphic 6">
            <a:extLst>
              <a:ext uri="{FF2B5EF4-FFF2-40B4-BE49-F238E27FC236}">
                <a16:creationId xmlns:a16="http://schemas.microsoft.com/office/drawing/2014/main" id="{066250F8-DE26-60C2-90EA-BC3855F928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a:extLst>
              <a:ext uri="{FF2B5EF4-FFF2-40B4-BE49-F238E27FC236}">
                <a16:creationId xmlns:a16="http://schemas.microsoft.com/office/drawing/2014/main" id="{973F56B1-4F9B-987D-87F0-E066912A27C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614999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14D33-0BE4-90FC-4AE5-0A4A211D1803}"/>
              </a:ext>
            </a:extLst>
          </p:cNvPr>
          <p:cNvSpPr>
            <a:spLocks noGrp="1"/>
          </p:cNvSpPr>
          <p:nvPr>
            <p:ph type="title"/>
          </p:nvPr>
        </p:nvSpPr>
        <p:spPr/>
        <p:txBody>
          <a:bodyPr/>
          <a:lstStyle/>
          <a:p>
            <a:r>
              <a:rPr lang="en-US"/>
              <a:t>Click to edit Master title style</a:t>
            </a:r>
          </a:p>
        </p:txBody>
      </p:sp>
      <p:pic>
        <p:nvPicPr>
          <p:cNvPr id="7" name="Graphic 6">
            <a:extLst>
              <a:ext uri="{FF2B5EF4-FFF2-40B4-BE49-F238E27FC236}">
                <a16:creationId xmlns:a16="http://schemas.microsoft.com/office/drawing/2014/main" id="{5DF5F826-F6F1-CFCA-D42B-E759F28DD1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a:extLst>
              <a:ext uri="{FF2B5EF4-FFF2-40B4-BE49-F238E27FC236}">
                <a16:creationId xmlns:a16="http://schemas.microsoft.com/office/drawing/2014/main" id="{1DDF20CF-E57F-42E5-6EFD-7AD8EB6F06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pic>
        <p:nvPicPr>
          <p:cNvPr id="3" name="Graphic 2">
            <a:extLst>
              <a:ext uri="{FF2B5EF4-FFF2-40B4-BE49-F238E27FC236}">
                <a16:creationId xmlns:a16="http://schemas.microsoft.com/office/drawing/2014/main" id="{9206A17D-4EB6-D71A-3BD6-ACDD0BD045F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4" name="Picture 3">
            <a:extLst>
              <a:ext uri="{FF2B5EF4-FFF2-40B4-BE49-F238E27FC236}">
                <a16:creationId xmlns:a16="http://schemas.microsoft.com/office/drawing/2014/main" id="{3CB74696-59FE-0A64-7DB8-AB9150D3BFE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01283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3D930E-17D8-84EC-D92C-061363439E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pic>
        <p:nvPicPr>
          <p:cNvPr id="2" name="Picture 1">
            <a:extLst>
              <a:ext uri="{FF2B5EF4-FFF2-40B4-BE49-F238E27FC236}">
                <a16:creationId xmlns:a16="http://schemas.microsoft.com/office/drawing/2014/main" id="{9A5664C5-CCCD-04D8-8874-B105BCA8490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555965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9ED7-E623-FCE4-FB92-360B98ADBBF1}"/>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ED58EE0-622A-334F-1443-5A4528051E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8AE8A4-A68D-5A4A-A023-8C2D5F871D0F}"/>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a:extLst>
              <a:ext uri="{FF2B5EF4-FFF2-40B4-BE49-F238E27FC236}">
                <a16:creationId xmlns:a16="http://schemas.microsoft.com/office/drawing/2014/main" id="{785CBBC2-61B8-7F43-0B0A-9D30B71ECC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a:extLst>
              <a:ext uri="{FF2B5EF4-FFF2-40B4-BE49-F238E27FC236}">
                <a16:creationId xmlns:a16="http://schemas.microsoft.com/office/drawing/2014/main" id="{37A3BA6B-E9E4-F0D0-8FB5-E35191C1669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pic>
        <p:nvPicPr>
          <p:cNvPr id="5" name="Graphic 4">
            <a:extLst>
              <a:ext uri="{FF2B5EF4-FFF2-40B4-BE49-F238E27FC236}">
                <a16:creationId xmlns:a16="http://schemas.microsoft.com/office/drawing/2014/main" id="{A69F786D-1F10-912B-ADD0-140337B8953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6" name="Picture 5">
            <a:extLst>
              <a:ext uri="{FF2B5EF4-FFF2-40B4-BE49-F238E27FC236}">
                <a16:creationId xmlns:a16="http://schemas.microsoft.com/office/drawing/2014/main" id="{8E3D33C7-A98C-9AFA-590C-C755634983F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9257744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1D87-5687-C9B5-AE49-A83726D9BC05}"/>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5FA632-D2F7-E2BA-A935-20B1A394FA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5BA056-00E2-82F6-5FA4-32B76E5B3E0B}"/>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a:extLst>
              <a:ext uri="{FF2B5EF4-FFF2-40B4-BE49-F238E27FC236}">
                <a16:creationId xmlns:a16="http://schemas.microsoft.com/office/drawing/2014/main" id="{55E1618B-D136-C5BB-2E38-B80F9B3CF5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pic>
        <p:nvPicPr>
          <p:cNvPr id="5" name="Picture 4">
            <a:extLst>
              <a:ext uri="{FF2B5EF4-FFF2-40B4-BE49-F238E27FC236}">
                <a16:creationId xmlns:a16="http://schemas.microsoft.com/office/drawing/2014/main" id="{7EDF8AB1-7F76-6B61-7B5B-5B437CA98F4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156236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FCBA-3B8B-9D62-253A-5E58F2AA60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21F39B-5912-FF25-7793-DBF7785760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27A3DEB6-94B4-A533-8E42-30DCFEB3B6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pic>
        <p:nvPicPr>
          <p:cNvPr id="4" name="Picture 3">
            <a:extLst>
              <a:ext uri="{FF2B5EF4-FFF2-40B4-BE49-F238E27FC236}">
                <a16:creationId xmlns:a16="http://schemas.microsoft.com/office/drawing/2014/main" id="{0F46275D-A010-81F0-5BAB-774C8DD043F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373683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3ECA9A-730D-7BDC-4EB3-94B6B2FA80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87C848-B2DE-F9EC-9D0C-9077EB2B77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16726B3-A797-03A8-1C35-BD44D85A18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pic>
        <p:nvPicPr>
          <p:cNvPr id="4" name="Picture 3">
            <a:extLst>
              <a:ext uri="{FF2B5EF4-FFF2-40B4-BE49-F238E27FC236}">
                <a16:creationId xmlns:a16="http://schemas.microsoft.com/office/drawing/2014/main" id="{40456EE4-A800-FAC5-5ECA-BD481392C1D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1840421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514526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6278680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857F2E-339D-E6C5-BCBC-2B077CAE8311}"/>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29156AB4-EC91-B384-E7B4-E95B4CBC35C4}"/>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2751916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Section Hea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211263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Section Hea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585134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7EBF4-2CD4-F34B-E5E2-783C7FC90783}"/>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302689-B02C-F697-CBBE-D4B715CAEE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D59A43A-2FDE-9674-4AB5-0E6557C388F6}"/>
              </a:ext>
            </a:extLst>
          </p:cNvPr>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a:t> </a:t>
            </a:r>
            <a:r>
              <a:rPr lang="en-US"/>
              <a:t>University of Technology and Applied Sciences</a:t>
            </a:r>
            <a:r>
              <a:rPr lang="ar-DZ"/>
              <a:t> جامعة التقنية والعلوم التطبيقية - </a:t>
            </a:r>
            <a:r>
              <a:rPr lang="en-US"/>
              <a:t> </a:t>
            </a:r>
          </a:p>
          <a:p>
            <a:endParaRPr lang="en-US"/>
          </a:p>
          <a:p>
            <a:endParaRPr lang="en-US" dirty="0"/>
          </a:p>
        </p:txBody>
      </p:sp>
    </p:spTree>
    <p:extLst>
      <p:ext uri="{BB962C8B-B14F-4D97-AF65-F5344CB8AC3E}">
        <p14:creationId xmlns:p14="http://schemas.microsoft.com/office/powerpoint/2010/main" val="307766600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664" r:id="rId18"/>
    <p:sldLayoutId id="2147483660" r:id="rId19"/>
    <p:sldLayoutId id="2147483665"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sansorg.egnyte.com/dl/6Btqoa63at"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C5BB2-0847-90FD-A4B9-58B4E1F0AEA3}"/>
              </a:ext>
            </a:extLst>
          </p:cNvPr>
          <p:cNvSpPr>
            <a:spLocks noGrp="1"/>
          </p:cNvSpPr>
          <p:nvPr>
            <p:ph type="ctrTitle"/>
          </p:nvPr>
        </p:nvSpPr>
        <p:spPr/>
        <p:txBody>
          <a:bodyPr/>
          <a:lstStyle/>
          <a:p>
            <a:r>
              <a:rPr lang="en-US" dirty="0"/>
              <a:t>Chapter/Topic 5 </a:t>
            </a:r>
          </a:p>
        </p:txBody>
      </p:sp>
      <p:sp>
        <p:nvSpPr>
          <p:cNvPr id="3" name="Subtitle 2">
            <a:extLst>
              <a:ext uri="{FF2B5EF4-FFF2-40B4-BE49-F238E27FC236}">
                <a16:creationId xmlns:a16="http://schemas.microsoft.com/office/drawing/2014/main" id="{88893B68-7396-A123-DEDF-BCF392D104FF}"/>
              </a:ext>
            </a:extLst>
          </p:cNvPr>
          <p:cNvSpPr>
            <a:spLocks noGrp="1"/>
          </p:cNvSpPr>
          <p:nvPr>
            <p:ph type="subTitle" idx="1"/>
          </p:nvPr>
        </p:nvSpPr>
        <p:spPr/>
        <p:txBody>
          <a:bodyPr>
            <a:noAutofit/>
          </a:bodyPr>
          <a:lstStyle/>
          <a:p>
            <a:r>
              <a:rPr lang="en-GB" sz="3200" dirty="0"/>
              <a:t>Incident Response and Investigation</a:t>
            </a:r>
          </a:p>
          <a:p>
            <a:r>
              <a:rPr lang="en-US" sz="2000" dirty="0">
                <a:solidFill>
                  <a:schemeClr val="bg1"/>
                </a:solidFill>
              </a:rPr>
              <a:t>CSSY4103 - Security Operations Centre (SOC)</a:t>
            </a:r>
          </a:p>
          <a:p>
            <a:endParaRPr lang="en-GB" dirty="0"/>
          </a:p>
        </p:txBody>
      </p:sp>
    </p:spTree>
    <p:extLst>
      <p:ext uri="{BB962C8B-B14F-4D97-AF65-F5344CB8AC3E}">
        <p14:creationId xmlns:p14="http://schemas.microsoft.com/office/powerpoint/2010/main" val="4193284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7D-6E98-D3D8-FDEC-CB1B57869DB8}"/>
              </a:ext>
            </a:extLst>
          </p:cNvPr>
          <p:cNvSpPr>
            <a:spLocks noGrp="1"/>
          </p:cNvSpPr>
          <p:nvPr>
            <p:ph type="title"/>
          </p:nvPr>
        </p:nvSpPr>
        <p:spPr>
          <a:xfrm>
            <a:off x="838200" y="365126"/>
            <a:ext cx="10515600" cy="1325563"/>
          </a:xfrm>
        </p:spPr>
        <p:txBody>
          <a:bodyPr>
            <a:normAutofit/>
          </a:bodyPr>
          <a:lstStyle/>
          <a:p>
            <a:r>
              <a:rPr lang="en-US" dirty="0"/>
              <a:t>Objectives</a:t>
            </a:r>
          </a:p>
        </p:txBody>
      </p:sp>
      <p:sp>
        <p:nvSpPr>
          <p:cNvPr id="3" name="Content Placeholder 2">
            <a:extLst>
              <a:ext uri="{FF2B5EF4-FFF2-40B4-BE49-F238E27FC236}">
                <a16:creationId xmlns:a16="http://schemas.microsoft.com/office/drawing/2014/main" id="{84B4EC71-6F30-9AC0-70DF-60AB709659E6}"/>
              </a:ext>
            </a:extLst>
          </p:cNvPr>
          <p:cNvSpPr>
            <a:spLocks noGrp="1"/>
          </p:cNvSpPr>
          <p:nvPr>
            <p:ph idx="1"/>
          </p:nvPr>
        </p:nvSpPr>
        <p:spPr>
          <a:xfrm>
            <a:off x="838200" y="1825625"/>
            <a:ext cx="10515600" cy="4351338"/>
          </a:xfrm>
        </p:spPr>
        <p:txBody>
          <a:bodyPr>
            <a:normAutofit/>
          </a:bodyPr>
          <a:lstStyle/>
          <a:p>
            <a:r>
              <a:rPr lang="en-US" dirty="0"/>
              <a:t>After studying this chapter, you should be able to: </a:t>
            </a:r>
          </a:p>
          <a:p>
            <a:pPr lvl="1"/>
            <a:r>
              <a:rPr lang="en-US" dirty="0"/>
              <a:t>Understand the incident response lifecycle (PICERL).</a:t>
            </a:r>
          </a:p>
          <a:p>
            <a:pPr lvl="1"/>
            <a:r>
              <a:rPr lang="en-US" dirty="0"/>
              <a:t>Develop a comprehensive understanding of incident handling procedures tailored to various types of cybersecurity threats.</a:t>
            </a:r>
          </a:p>
          <a:p>
            <a:pPr lvl="1"/>
            <a:r>
              <a:rPr lang="en-US" dirty="0"/>
              <a:t>Gain foundational knowledge in digital forensics to support incident response efforts.</a:t>
            </a:r>
            <a:endParaRPr lang="en-US" altLang="en-US" dirty="0"/>
          </a:p>
          <a:p>
            <a:endParaRPr lang="en-US" dirty="0"/>
          </a:p>
          <a:p>
            <a:endParaRPr lang="en-US" alt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850008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AF7E1-930E-23BD-DBEF-8AA9C0FE7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810DD-80E1-AF2D-8F79-1B57B622FF40}"/>
              </a:ext>
            </a:extLst>
          </p:cNvPr>
          <p:cNvSpPr>
            <a:spLocks noGrp="1"/>
          </p:cNvSpPr>
          <p:nvPr>
            <p:ph type="title"/>
          </p:nvPr>
        </p:nvSpPr>
        <p:spPr/>
        <p:txBody>
          <a:bodyPr>
            <a:normAutofit/>
          </a:bodyPr>
          <a:lstStyle/>
          <a:p>
            <a:r>
              <a:rPr lang="en-US" dirty="0"/>
              <a:t>Incident Response</a:t>
            </a:r>
          </a:p>
        </p:txBody>
      </p:sp>
      <p:sp>
        <p:nvSpPr>
          <p:cNvPr id="7" name="Content Placeholder 6">
            <a:extLst>
              <a:ext uri="{FF2B5EF4-FFF2-40B4-BE49-F238E27FC236}">
                <a16:creationId xmlns:a16="http://schemas.microsoft.com/office/drawing/2014/main" id="{4CC21024-B31D-4135-49CF-574813E4A5FE}"/>
              </a:ext>
            </a:extLst>
          </p:cNvPr>
          <p:cNvSpPr>
            <a:spLocks noGrp="1"/>
          </p:cNvSpPr>
          <p:nvPr>
            <p:ph idx="1"/>
          </p:nvPr>
        </p:nvSpPr>
        <p:spPr/>
        <p:txBody>
          <a:bodyPr>
            <a:normAutofit/>
          </a:bodyPr>
          <a:lstStyle/>
          <a:p>
            <a:r>
              <a:rPr lang="en-US" altLang="en-US" dirty="0"/>
              <a:t>Incident response is a systematic procedure that enables organizations to identify, prioritize, restrict, and eliminate cyberattacks. </a:t>
            </a:r>
          </a:p>
          <a:p>
            <a:r>
              <a:rPr lang="en-US" altLang="en-US" dirty="0"/>
              <a:t>The objective of incident response is to guarantee that companies are promptly informed of important security occurrences and take immediate steps to halt the attacker, mitigate the resulting harm, and prevent more attacks or similar incidents from occurring in the future.</a:t>
            </a:r>
          </a:p>
          <a:p>
            <a:endParaRPr lang="en-US" dirty="0"/>
          </a:p>
        </p:txBody>
      </p:sp>
    </p:spTree>
    <p:extLst>
      <p:ext uri="{BB962C8B-B14F-4D97-AF65-F5344CB8AC3E}">
        <p14:creationId xmlns:p14="http://schemas.microsoft.com/office/powerpoint/2010/main" val="1616270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DAFFA-9A2E-8211-B926-692B0EA27105}"/>
              </a:ext>
            </a:extLst>
          </p:cNvPr>
          <p:cNvSpPr>
            <a:spLocks noGrp="1"/>
          </p:cNvSpPr>
          <p:nvPr>
            <p:ph type="title"/>
          </p:nvPr>
        </p:nvSpPr>
        <p:spPr/>
        <p:txBody>
          <a:bodyPr/>
          <a:lstStyle/>
          <a:p>
            <a:r>
              <a:rPr lang="en-US" dirty="0"/>
              <a:t>Incident Response Frameworks</a:t>
            </a:r>
          </a:p>
        </p:txBody>
      </p:sp>
      <p:sp>
        <p:nvSpPr>
          <p:cNvPr id="3" name="Content Placeholder 2">
            <a:extLst>
              <a:ext uri="{FF2B5EF4-FFF2-40B4-BE49-F238E27FC236}">
                <a16:creationId xmlns:a16="http://schemas.microsoft.com/office/drawing/2014/main" id="{5D5287D4-2019-1FE5-CC4E-794770937215}"/>
              </a:ext>
            </a:extLst>
          </p:cNvPr>
          <p:cNvSpPr>
            <a:spLocks noGrp="1"/>
          </p:cNvSpPr>
          <p:nvPr>
            <p:ph idx="1"/>
          </p:nvPr>
        </p:nvSpPr>
        <p:spPr>
          <a:xfrm>
            <a:off x="838200" y="1825625"/>
            <a:ext cx="10515600" cy="4813300"/>
          </a:xfrm>
        </p:spPr>
        <p:txBody>
          <a:bodyPr>
            <a:normAutofit/>
          </a:bodyPr>
          <a:lstStyle/>
          <a:p>
            <a:r>
              <a:rPr lang="en-US" dirty="0"/>
              <a:t>Incident response (IR) frameworks provide a structured approach for dealing with cybersecurity threats and breaches. </a:t>
            </a:r>
          </a:p>
          <a:p>
            <a:r>
              <a:rPr lang="en-US" dirty="0"/>
              <a:t>In a SOC, these frameworks ensure that incidents are managed effectively and consistently, minimizing damage and aiding in swift recovery. </a:t>
            </a:r>
          </a:p>
          <a:p>
            <a:r>
              <a:rPr lang="en-US" dirty="0"/>
              <a:t>Several established frameworks offer guidance on how to detect, contain, and respond to security incidents.</a:t>
            </a:r>
          </a:p>
          <a:p>
            <a:pPr lvl="1"/>
            <a:r>
              <a:rPr lang="en-US" sz="2200" dirty="0"/>
              <a:t>NIST Incident Response Framework (NIST 800-61)</a:t>
            </a:r>
          </a:p>
          <a:p>
            <a:pPr lvl="1"/>
            <a:r>
              <a:rPr lang="en-US" sz="2200" dirty="0"/>
              <a:t>SANS Incident Response Process</a:t>
            </a:r>
          </a:p>
          <a:p>
            <a:pPr lvl="1"/>
            <a:r>
              <a:rPr lang="fr-FR" sz="2200" dirty="0"/>
              <a:t>ISO/IEC 27035 Incident Management</a:t>
            </a:r>
            <a:br>
              <a:rPr lang="en-US" dirty="0"/>
            </a:br>
            <a:endParaRPr lang="en-US" dirty="0"/>
          </a:p>
        </p:txBody>
      </p:sp>
    </p:spTree>
    <p:extLst>
      <p:ext uri="{BB962C8B-B14F-4D97-AF65-F5344CB8AC3E}">
        <p14:creationId xmlns:p14="http://schemas.microsoft.com/office/powerpoint/2010/main" val="1706381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D90B0-1A60-2138-DF2C-E819E778BCF2}"/>
              </a:ext>
            </a:extLst>
          </p:cNvPr>
          <p:cNvSpPr>
            <a:spLocks noGrp="1"/>
          </p:cNvSpPr>
          <p:nvPr>
            <p:ph type="title"/>
          </p:nvPr>
        </p:nvSpPr>
        <p:spPr>
          <a:xfrm>
            <a:off x="838200" y="365126"/>
            <a:ext cx="10515600" cy="1325563"/>
          </a:xfrm>
        </p:spPr>
        <p:txBody>
          <a:bodyPr/>
          <a:lstStyle/>
          <a:p>
            <a:r>
              <a:rPr lang="en-US" dirty="0"/>
              <a:t>Incident Response Frameworks</a:t>
            </a:r>
          </a:p>
        </p:txBody>
      </p:sp>
      <p:sp>
        <p:nvSpPr>
          <p:cNvPr id="3" name="Content Placeholder 2">
            <a:extLst>
              <a:ext uri="{FF2B5EF4-FFF2-40B4-BE49-F238E27FC236}">
                <a16:creationId xmlns:a16="http://schemas.microsoft.com/office/drawing/2014/main" id="{A0908788-568B-2490-C731-CF38A0A75AFB}"/>
              </a:ext>
            </a:extLst>
          </p:cNvPr>
          <p:cNvSpPr>
            <a:spLocks noGrp="1"/>
          </p:cNvSpPr>
          <p:nvPr>
            <p:ph idx="1"/>
          </p:nvPr>
        </p:nvSpPr>
        <p:spPr>
          <a:xfrm>
            <a:off x="838200" y="1825625"/>
            <a:ext cx="10515600" cy="4351338"/>
          </a:xfrm>
        </p:spPr>
        <p:txBody>
          <a:bodyPr>
            <a:normAutofit/>
          </a:bodyPr>
          <a:lstStyle/>
          <a:p>
            <a:pPr marL="0" indent="0">
              <a:buNone/>
            </a:pPr>
            <a:r>
              <a:rPr lang="en-US" dirty="0"/>
              <a:t>NIST 800-61</a:t>
            </a:r>
          </a:p>
          <a:p>
            <a:r>
              <a:rPr lang="en-US" dirty="0"/>
              <a:t>Title: Computer Security Incident Handling Guide</a:t>
            </a:r>
          </a:p>
          <a:p>
            <a:r>
              <a:rPr lang="en-US" dirty="0"/>
              <a:t>Publisher: National Institute of Standards and Technology (NIST)</a:t>
            </a:r>
          </a:p>
          <a:p>
            <a:r>
              <a:rPr lang="en-US" dirty="0"/>
              <a:t>Focus: Provides guidelines for incident handling to ensure effective management of cybersecurity incidents in organizations.</a:t>
            </a:r>
          </a:p>
          <a:p>
            <a:r>
              <a:rPr lang="en-US" dirty="0"/>
              <a:t>Purpose: Aims to help organizations prepare for, detect, analyze, and respond to incidents, ensuring lessons learned are incorporated into future incident handling.</a:t>
            </a:r>
          </a:p>
          <a:p>
            <a:endParaRPr lang="en-US" dirty="0"/>
          </a:p>
        </p:txBody>
      </p:sp>
    </p:spTree>
    <p:extLst>
      <p:ext uri="{BB962C8B-B14F-4D97-AF65-F5344CB8AC3E}">
        <p14:creationId xmlns:p14="http://schemas.microsoft.com/office/powerpoint/2010/main" val="1720667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22C43-9F88-12DE-CB5E-A550FFA5804C}"/>
              </a:ext>
            </a:extLst>
          </p:cNvPr>
          <p:cNvSpPr>
            <a:spLocks noGrp="1"/>
          </p:cNvSpPr>
          <p:nvPr>
            <p:ph type="title"/>
          </p:nvPr>
        </p:nvSpPr>
        <p:spPr>
          <a:xfrm>
            <a:off x="838200" y="365126"/>
            <a:ext cx="10515600" cy="1325563"/>
          </a:xfrm>
        </p:spPr>
        <p:txBody>
          <a:bodyPr/>
          <a:lstStyle/>
          <a:p>
            <a:r>
              <a:rPr lang="en-US" dirty="0"/>
              <a:t>Incident Response Frameworks</a:t>
            </a:r>
          </a:p>
        </p:txBody>
      </p:sp>
      <p:sp>
        <p:nvSpPr>
          <p:cNvPr id="3" name="Content Placeholder 2">
            <a:extLst>
              <a:ext uri="{FF2B5EF4-FFF2-40B4-BE49-F238E27FC236}">
                <a16:creationId xmlns:a16="http://schemas.microsoft.com/office/drawing/2014/main" id="{8D8216B9-9C32-D463-A7C8-9E1237C0DAC4}"/>
              </a:ext>
            </a:extLst>
          </p:cNvPr>
          <p:cNvSpPr>
            <a:spLocks noGrp="1"/>
          </p:cNvSpPr>
          <p:nvPr>
            <p:ph idx="1"/>
          </p:nvPr>
        </p:nvSpPr>
        <p:spPr>
          <a:xfrm>
            <a:off x="838200" y="1825625"/>
            <a:ext cx="10515600" cy="4351338"/>
          </a:xfrm>
        </p:spPr>
        <p:txBody>
          <a:bodyPr/>
          <a:lstStyle/>
          <a:p>
            <a:pPr marL="0" indent="0">
              <a:buNone/>
            </a:pPr>
            <a:r>
              <a:rPr lang="en-US" dirty="0"/>
              <a:t>SANS Incident Response</a:t>
            </a:r>
          </a:p>
          <a:p>
            <a:r>
              <a:rPr lang="en-US" dirty="0"/>
              <a:t>Title: SANS Institute Incident Response Process</a:t>
            </a:r>
          </a:p>
          <a:p>
            <a:r>
              <a:rPr lang="en-US" dirty="0"/>
              <a:t>Publisher: SANS Institute</a:t>
            </a:r>
          </a:p>
          <a:p>
            <a:r>
              <a:rPr lang="en-US" dirty="0"/>
              <a:t>Focus: Offers a comprehensive process for responding to cybersecurity incidents based on practical experiences and training.</a:t>
            </a:r>
          </a:p>
          <a:p>
            <a:r>
              <a:rPr lang="en-US" dirty="0"/>
              <a:t>Purpose: Provides a clear, actionable framework for organizations to follow when handling incidents, emphasizing the importance of preparation and learning from past incidents.</a:t>
            </a:r>
          </a:p>
          <a:p>
            <a:endParaRPr lang="en-US" dirty="0"/>
          </a:p>
        </p:txBody>
      </p:sp>
    </p:spTree>
    <p:extLst>
      <p:ext uri="{BB962C8B-B14F-4D97-AF65-F5344CB8AC3E}">
        <p14:creationId xmlns:p14="http://schemas.microsoft.com/office/powerpoint/2010/main" val="2167827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3481B-6303-2288-E2FD-8BA39313E5EE}"/>
              </a:ext>
            </a:extLst>
          </p:cNvPr>
          <p:cNvSpPr>
            <a:spLocks noGrp="1"/>
          </p:cNvSpPr>
          <p:nvPr>
            <p:ph type="title"/>
          </p:nvPr>
        </p:nvSpPr>
        <p:spPr>
          <a:xfrm>
            <a:off x="838200" y="365126"/>
            <a:ext cx="10515600" cy="1325563"/>
          </a:xfrm>
        </p:spPr>
        <p:txBody>
          <a:bodyPr/>
          <a:lstStyle/>
          <a:p>
            <a:r>
              <a:rPr lang="en-US" dirty="0"/>
              <a:t>Incident Response Frameworks</a:t>
            </a:r>
          </a:p>
        </p:txBody>
      </p:sp>
      <p:sp>
        <p:nvSpPr>
          <p:cNvPr id="3" name="Content Placeholder 2">
            <a:extLst>
              <a:ext uri="{FF2B5EF4-FFF2-40B4-BE49-F238E27FC236}">
                <a16:creationId xmlns:a16="http://schemas.microsoft.com/office/drawing/2014/main" id="{8D41495D-B717-131A-27F9-14343912E007}"/>
              </a:ext>
            </a:extLst>
          </p:cNvPr>
          <p:cNvSpPr>
            <a:spLocks noGrp="1"/>
          </p:cNvSpPr>
          <p:nvPr>
            <p:ph idx="1"/>
          </p:nvPr>
        </p:nvSpPr>
        <p:spPr>
          <a:xfrm>
            <a:off x="838200" y="1825625"/>
            <a:ext cx="10515600" cy="4351338"/>
          </a:xfrm>
        </p:spPr>
        <p:txBody>
          <a:bodyPr/>
          <a:lstStyle/>
          <a:p>
            <a:pPr marL="0" indent="0">
              <a:buNone/>
            </a:pPr>
            <a:r>
              <a:rPr lang="en-US" dirty="0"/>
              <a:t>ISO/IEC 27035</a:t>
            </a:r>
          </a:p>
          <a:p>
            <a:r>
              <a:rPr lang="en-US" dirty="0"/>
              <a:t>Title: Information Security Incident Management</a:t>
            </a:r>
          </a:p>
          <a:p>
            <a:r>
              <a:rPr lang="en-US" dirty="0"/>
              <a:t>Publisher: International Organization for Standardization (ISO) and International Electrotechnical Commission (IEC)</a:t>
            </a:r>
          </a:p>
          <a:p>
            <a:r>
              <a:rPr lang="en-US" dirty="0"/>
              <a:t>Focus: A standard for managing information security incidents, applicable to any organization, regardless of size or type.</a:t>
            </a:r>
          </a:p>
          <a:p>
            <a:r>
              <a:rPr lang="en-US" dirty="0"/>
              <a:t>Purpose: Establishes guidelines for incident management processes to help organizations prepare for, detect, respond to, and recover from incidents effectively.</a:t>
            </a:r>
          </a:p>
          <a:p>
            <a:endParaRPr lang="en-US" dirty="0"/>
          </a:p>
        </p:txBody>
      </p:sp>
    </p:spTree>
    <p:extLst>
      <p:ext uri="{BB962C8B-B14F-4D97-AF65-F5344CB8AC3E}">
        <p14:creationId xmlns:p14="http://schemas.microsoft.com/office/powerpoint/2010/main" val="2493353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6B127-A054-94B4-43EC-CD3B10345725}"/>
              </a:ext>
            </a:extLst>
          </p:cNvPr>
          <p:cNvSpPr>
            <a:spLocks noGrp="1"/>
          </p:cNvSpPr>
          <p:nvPr>
            <p:ph type="title"/>
          </p:nvPr>
        </p:nvSpPr>
        <p:spPr/>
        <p:txBody>
          <a:bodyPr/>
          <a:lstStyle/>
          <a:p>
            <a:r>
              <a:rPr lang="en-US" dirty="0"/>
              <a:t>Strengths and Limitations</a:t>
            </a:r>
          </a:p>
        </p:txBody>
      </p:sp>
      <p:graphicFrame>
        <p:nvGraphicFramePr>
          <p:cNvPr id="8" name="Content Placeholder 7">
            <a:extLst>
              <a:ext uri="{FF2B5EF4-FFF2-40B4-BE49-F238E27FC236}">
                <a16:creationId xmlns:a16="http://schemas.microsoft.com/office/drawing/2014/main" id="{BD5540CB-03A8-374A-D532-BC0A2A85F59A}"/>
              </a:ext>
            </a:extLst>
          </p:cNvPr>
          <p:cNvGraphicFramePr>
            <a:graphicFrameLocks noGrp="1"/>
          </p:cNvGraphicFramePr>
          <p:nvPr>
            <p:ph idx="1"/>
            <p:extLst>
              <p:ext uri="{D42A27DB-BD31-4B8C-83A1-F6EECF244321}">
                <p14:modId xmlns:p14="http://schemas.microsoft.com/office/powerpoint/2010/main" val="2587617725"/>
              </p:ext>
            </p:extLst>
          </p:nvPr>
        </p:nvGraphicFramePr>
        <p:xfrm>
          <a:off x="767081" y="1603046"/>
          <a:ext cx="10586719" cy="4795923"/>
        </p:xfrm>
        <a:graphic>
          <a:graphicData uri="http://schemas.openxmlformats.org/drawingml/2006/table">
            <a:tbl>
              <a:tblPr firstRow="1" firstCol="1" bandCol="1">
                <a:tableStyleId>{00A15C55-8517-42AA-B614-E9B94910E393}</a:tableStyleId>
              </a:tblPr>
              <a:tblGrid>
                <a:gridCol w="2601325">
                  <a:extLst>
                    <a:ext uri="{9D8B030D-6E8A-4147-A177-3AD203B41FA5}">
                      <a16:colId xmlns:a16="http://schemas.microsoft.com/office/drawing/2014/main" val="2958509120"/>
                    </a:ext>
                  </a:extLst>
                </a:gridCol>
                <a:gridCol w="3941715">
                  <a:extLst>
                    <a:ext uri="{9D8B030D-6E8A-4147-A177-3AD203B41FA5}">
                      <a16:colId xmlns:a16="http://schemas.microsoft.com/office/drawing/2014/main" val="1763628025"/>
                    </a:ext>
                  </a:extLst>
                </a:gridCol>
                <a:gridCol w="4043679">
                  <a:extLst>
                    <a:ext uri="{9D8B030D-6E8A-4147-A177-3AD203B41FA5}">
                      <a16:colId xmlns:a16="http://schemas.microsoft.com/office/drawing/2014/main" val="614122720"/>
                    </a:ext>
                  </a:extLst>
                </a:gridCol>
              </a:tblGrid>
              <a:tr h="655587">
                <a:tc>
                  <a:txBody>
                    <a:bodyPr/>
                    <a:lstStyle/>
                    <a:p>
                      <a:pPr algn="l" fontAlgn="b"/>
                      <a:r>
                        <a:rPr lang="en-US" sz="1800" b="0" u="none" strike="noStrike" dirty="0">
                          <a:solidFill>
                            <a:srgbClr val="000000"/>
                          </a:solidFill>
                          <a:effectLst/>
                        </a:rPr>
                        <a:t>Framework</a:t>
                      </a:r>
                      <a:endParaRPr lang="en-US" sz="1800" b="0" i="0" u="none" strike="noStrike" dirty="0">
                        <a:solidFill>
                          <a:srgbClr val="000000"/>
                        </a:solidFill>
                        <a:effectLst/>
                        <a:latin typeface="DIN Next LT Arabic" panose="020B0503020203050203" pitchFamily="34" charset="-78"/>
                        <a:cs typeface="DIN Next LT Arabic" panose="020B0503020203050203" pitchFamily="34" charset="-78"/>
                      </a:endParaRPr>
                    </a:p>
                  </a:txBody>
                  <a:tcPr marL="4689" marR="4689" marT="4689" marB="0" anchor="ctr"/>
                </a:tc>
                <a:tc>
                  <a:txBody>
                    <a:bodyPr/>
                    <a:lstStyle/>
                    <a:p>
                      <a:pPr algn="l" fontAlgn="b"/>
                      <a:r>
                        <a:rPr lang="en-US" sz="1800" b="0" u="none" strike="noStrike" dirty="0">
                          <a:solidFill>
                            <a:srgbClr val="000000"/>
                          </a:solidFill>
                          <a:effectLst/>
                        </a:rPr>
                        <a:t>Strengths</a:t>
                      </a:r>
                      <a:endParaRPr lang="en-US" sz="1800" b="0" i="0" u="none" strike="noStrike" dirty="0">
                        <a:solidFill>
                          <a:srgbClr val="000000"/>
                        </a:solidFill>
                        <a:effectLst/>
                        <a:latin typeface="DIN Next LT Arabic" panose="020B0503020203050203" pitchFamily="34" charset="-78"/>
                        <a:cs typeface="DIN Next LT Arabic" panose="020B0503020203050203" pitchFamily="34" charset="-78"/>
                      </a:endParaRPr>
                    </a:p>
                  </a:txBody>
                  <a:tcPr marL="4689" marR="4689" marT="4689" marB="0" anchor="ctr"/>
                </a:tc>
                <a:tc>
                  <a:txBody>
                    <a:bodyPr/>
                    <a:lstStyle/>
                    <a:p>
                      <a:pPr algn="l" fontAlgn="b"/>
                      <a:r>
                        <a:rPr lang="en-US" sz="1800" b="0" u="none" strike="noStrike" dirty="0">
                          <a:solidFill>
                            <a:srgbClr val="000000"/>
                          </a:solidFill>
                          <a:effectLst/>
                        </a:rPr>
                        <a:t>Limitations</a:t>
                      </a:r>
                      <a:endParaRPr lang="en-US" sz="1800" b="0" i="0" u="none" strike="noStrike" dirty="0">
                        <a:solidFill>
                          <a:srgbClr val="000000"/>
                        </a:solidFill>
                        <a:effectLst/>
                        <a:latin typeface="DIN Next LT Arabic" panose="020B0503020203050203" pitchFamily="34" charset="-78"/>
                        <a:cs typeface="DIN Next LT Arabic" panose="020B0503020203050203" pitchFamily="34" charset="-78"/>
                      </a:endParaRPr>
                    </a:p>
                  </a:txBody>
                  <a:tcPr marL="4689" marR="4689" marT="4689" marB="0" anchor="ctr"/>
                </a:tc>
                <a:extLst>
                  <a:ext uri="{0D108BD9-81ED-4DB2-BD59-A6C34878D82A}">
                    <a16:rowId xmlns:a16="http://schemas.microsoft.com/office/drawing/2014/main" val="1114822103"/>
                  </a:ext>
                </a:extLst>
              </a:tr>
              <a:tr h="1242570">
                <a:tc>
                  <a:txBody>
                    <a:bodyPr/>
                    <a:lstStyle/>
                    <a:p>
                      <a:pPr algn="l" fontAlgn="b"/>
                      <a:r>
                        <a:rPr lang="en-US" sz="1800" b="0" u="none" strike="noStrike" dirty="0">
                          <a:solidFill>
                            <a:srgbClr val="000000"/>
                          </a:solidFill>
                          <a:effectLst/>
                        </a:rPr>
                        <a:t>NIST 800-61</a:t>
                      </a:r>
                      <a:endParaRPr lang="en-US" sz="1800" b="0" i="0" u="none" strike="noStrike" dirty="0">
                        <a:solidFill>
                          <a:srgbClr val="000000"/>
                        </a:solidFill>
                        <a:effectLst/>
                        <a:latin typeface="DIN Next LT Arabic" panose="020B0503020203050203" pitchFamily="34" charset="-78"/>
                        <a:cs typeface="DIN Next LT Arabic" panose="020B0503020203050203" pitchFamily="34" charset="-78"/>
                      </a:endParaRPr>
                    </a:p>
                  </a:txBody>
                  <a:tcPr marL="4689" marR="4689" marT="4689" marB="0"/>
                </a:tc>
                <a:tc>
                  <a:txBody>
                    <a:bodyPr/>
                    <a:lstStyle/>
                    <a:p>
                      <a:pPr algn="l" fontAlgn="b"/>
                      <a:r>
                        <a:rPr lang="en-US" sz="1800" b="0" u="none" strike="noStrike" dirty="0">
                          <a:solidFill>
                            <a:srgbClr val="000000"/>
                          </a:solidFill>
                          <a:effectLst/>
                        </a:rPr>
                        <a:t>Comprehensive and systematic approach; Well-recognized in both public and private sectors</a:t>
                      </a:r>
                      <a:endParaRPr lang="en-US" sz="1800" b="0" i="0" u="none" strike="noStrike" dirty="0">
                        <a:solidFill>
                          <a:srgbClr val="000000"/>
                        </a:solidFill>
                        <a:effectLst/>
                        <a:latin typeface="DIN Next LT Arabic" panose="020B0503020203050203" pitchFamily="34" charset="-78"/>
                        <a:cs typeface="DIN Next LT Arabic" panose="020B0503020203050203" pitchFamily="34" charset="-78"/>
                      </a:endParaRPr>
                    </a:p>
                  </a:txBody>
                  <a:tcPr marL="4689" marR="4689" marT="4689" marB="0"/>
                </a:tc>
                <a:tc>
                  <a:txBody>
                    <a:bodyPr/>
                    <a:lstStyle/>
                    <a:p>
                      <a:pPr algn="l" fontAlgn="b"/>
                      <a:r>
                        <a:rPr lang="en-US" sz="1800" b="0" u="none" strike="noStrike" dirty="0">
                          <a:solidFill>
                            <a:srgbClr val="000000"/>
                          </a:solidFill>
                          <a:effectLst/>
                        </a:rPr>
                        <a:t>May be overly complex for smaller organizations; Requires adaptation to fit specific environments</a:t>
                      </a:r>
                      <a:endParaRPr lang="en-US" sz="1800" b="0" i="0" u="none" strike="noStrike" dirty="0">
                        <a:solidFill>
                          <a:srgbClr val="000000"/>
                        </a:solidFill>
                        <a:effectLst/>
                        <a:latin typeface="DIN Next LT Arabic" panose="020B0503020203050203" pitchFamily="34" charset="-78"/>
                        <a:cs typeface="DIN Next LT Arabic" panose="020B0503020203050203" pitchFamily="34" charset="-78"/>
                      </a:endParaRPr>
                    </a:p>
                  </a:txBody>
                  <a:tcPr marL="4689" marR="4689" marT="4689" marB="0"/>
                </a:tc>
                <a:extLst>
                  <a:ext uri="{0D108BD9-81ED-4DB2-BD59-A6C34878D82A}">
                    <a16:rowId xmlns:a16="http://schemas.microsoft.com/office/drawing/2014/main" val="691765189"/>
                  </a:ext>
                </a:extLst>
              </a:tr>
              <a:tr h="1448883">
                <a:tc>
                  <a:txBody>
                    <a:bodyPr/>
                    <a:lstStyle/>
                    <a:p>
                      <a:pPr algn="l" fontAlgn="b"/>
                      <a:r>
                        <a:rPr lang="en-US" sz="1800" b="0" u="none" strike="noStrike">
                          <a:solidFill>
                            <a:srgbClr val="000000"/>
                          </a:solidFill>
                          <a:effectLst/>
                        </a:rPr>
                        <a:t>SANS Incident Response</a:t>
                      </a:r>
                      <a:endParaRPr lang="en-US" sz="1800" b="0" i="0" u="none" strike="noStrike">
                        <a:solidFill>
                          <a:srgbClr val="000000"/>
                        </a:solidFill>
                        <a:effectLst/>
                        <a:latin typeface="DIN Next LT Arabic" panose="020B0503020203050203" pitchFamily="34" charset="-78"/>
                        <a:cs typeface="DIN Next LT Arabic" panose="020B0503020203050203" pitchFamily="34" charset="-78"/>
                      </a:endParaRPr>
                    </a:p>
                  </a:txBody>
                  <a:tcPr marL="4689" marR="4689" marT="4689" marB="0"/>
                </a:tc>
                <a:tc>
                  <a:txBody>
                    <a:bodyPr/>
                    <a:lstStyle/>
                    <a:p>
                      <a:pPr algn="l" fontAlgn="b"/>
                      <a:r>
                        <a:rPr lang="en-US" sz="1800" b="0" u="none" strike="noStrike">
                          <a:solidFill>
                            <a:srgbClr val="000000"/>
                          </a:solidFill>
                          <a:effectLst/>
                        </a:rPr>
                        <a:t>Practical and actionable steps; Focus on training and real-world application</a:t>
                      </a:r>
                      <a:endParaRPr lang="en-US" sz="1800" b="0" i="0" u="none" strike="noStrike">
                        <a:solidFill>
                          <a:srgbClr val="000000"/>
                        </a:solidFill>
                        <a:effectLst/>
                        <a:latin typeface="DIN Next LT Arabic" panose="020B0503020203050203" pitchFamily="34" charset="-78"/>
                        <a:cs typeface="DIN Next LT Arabic" panose="020B0503020203050203" pitchFamily="34" charset="-78"/>
                      </a:endParaRPr>
                    </a:p>
                  </a:txBody>
                  <a:tcPr marL="4689" marR="4689" marT="4689" marB="0"/>
                </a:tc>
                <a:tc>
                  <a:txBody>
                    <a:bodyPr/>
                    <a:lstStyle/>
                    <a:p>
                      <a:pPr algn="l" fontAlgn="b"/>
                      <a:r>
                        <a:rPr lang="en-US" sz="1800" b="0" u="none" strike="noStrike">
                          <a:solidFill>
                            <a:srgbClr val="000000"/>
                          </a:solidFill>
                          <a:effectLst/>
                        </a:rPr>
                        <a:t>Less formal structure may lead to variability in implementation; Not as widely recognized as an official standard</a:t>
                      </a:r>
                      <a:endParaRPr lang="en-US" sz="1800" b="0" i="0" u="none" strike="noStrike">
                        <a:solidFill>
                          <a:srgbClr val="000000"/>
                        </a:solidFill>
                        <a:effectLst/>
                        <a:latin typeface="DIN Next LT Arabic" panose="020B0503020203050203" pitchFamily="34" charset="-78"/>
                        <a:cs typeface="DIN Next LT Arabic" panose="020B0503020203050203" pitchFamily="34" charset="-78"/>
                      </a:endParaRPr>
                    </a:p>
                  </a:txBody>
                  <a:tcPr marL="4689" marR="4689" marT="4689" marB="0"/>
                </a:tc>
                <a:extLst>
                  <a:ext uri="{0D108BD9-81ED-4DB2-BD59-A6C34878D82A}">
                    <a16:rowId xmlns:a16="http://schemas.microsoft.com/office/drawing/2014/main" val="2078624517"/>
                  </a:ext>
                </a:extLst>
              </a:tr>
              <a:tr h="1448883">
                <a:tc>
                  <a:txBody>
                    <a:bodyPr/>
                    <a:lstStyle/>
                    <a:p>
                      <a:pPr algn="l" fontAlgn="b"/>
                      <a:r>
                        <a:rPr lang="en-US" sz="1800" b="0" u="none" strike="noStrike">
                          <a:solidFill>
                            <a:srgbClr val="000000"/>
                          </a:solidFill>
                          <a:effectLst/>
                        </a:rPr>
                        <a:t>ISO/IEC 27035</a:t>
                      </a:r>
                      <a:endParaRPr lang="en-US" sz="1800" b="0" i="0" u="none" strike="noStrike">
                        <a:solidFill>
                          <a:srgbClr val="000000"/>
                        </a:solidFill>
                        <a:effectLst/>
                        <a:latin typeface="DIN Next LT Arabic" panose="020B0503020203050203" pitchFamily="34" charset="-78"/>
                        <a:cs typeface="DIN Next LT Arabic" panose="020B0503020203050203" pitchFamily="34" charset="-78"/>
                      </a:endParaRPr>
                    </a:p>
                  </a:txBody>
                  <a:tcPr marL="4689" marR="4689" marT="4689" marB="0"/>
                </a:tc>
                <a:tc>
                  <a:txBody>
                    <a:bodyPr/>
                    <a:lstStyle/>
                    <a:p>
                      <a:pPr algn="l" fontAlgn="b"/>
                      <a:r>
                        <a:rPr lang="en-US" sz="1800" b="0" u="none" strike="noStrike" dirty="0">
                          <a:solidFill>
                            <a:srgbClr val="000000"/>
                          </a:solidFill>
                          <a:effectLst/>
                        </a:rPr>
                        <a:t>Internationally recognized standard; Provides a formalized approach to incident management</a:t>
                      </a:r>
                      <a:endParaRPr lang="en-US" sz="1800" b="0" i="0" u="none" strike="noStrike" dirty="0">
                        <a:solidFill>
                          <a:srgbClr val="000000"/>
                        </a:solidFill>
                        <a:effectLst/>
                        <a:latin typeface="DIN Next LT Arabic" panose="020B0503020203050203" pitchFamily="34" charset="-78"/>
                        <a:cs typeface="DIN Next LT Arabic" panose="020B0503020203050203" pitchFamily="34" charset="-78"/>
                      </a:endParaRPr>
                    </a:p>
                  </a:txBody>
                  <a:tcPr marL="4689" marR="4689" marT="4689" marB="0"/>
                </a:tc>
                <a:tc>
                  <a:txBody>
                    <a:bodyPr/>
                    <a:lstStyle/>
                    <a:p>
                      <a:pPr algn="l" fontAlgn="b"/>
                      <a:r>
                        <a:rPr lang="en-US" sz="1800" b="0" u="none" strike="noStrike" dirty="0">
                          <a:solidFill>
                            <a:srgbClr val="000000"/>
                          </a:solidFill>
                          <a:effectLst/>
                        </a:rPr>
                        <a:t>Implementation may be complex and resource-intensive; Requires commitment from all levels of the organization</a:t>
                      </a:r>
                      <a:endParaRPr lang="en-US" sz="1800" b="0" i="0" u="none" strike="noStrike" dirty="0">
                        <a:solidFill>
                          <a:srgbClr val="000000"/>
                        </a:solidFill>
                        <a:effectLst/>
                        <a:latin typeface="DIN Next LT Arabic" panose="020B0503020203050203" pitchFamily="34" charset="-78"/>
                        <a:cs typeface="DIN Next LT Arabic" panose="020B0503020203050203" pitchFamily="34" charset="-78"/>
                      </a:endParaRPr>
                    </a:p>
                  </a:txBody>
                  <a:tcPr marL="4689" marR="4689" marT="4689" marB="0"/>
                </a:tc>
                <a:extLst>
                  <a:ext uri="{0D108BD9-81ED-4DB2-BD59-A6C34878D82A}">
                    <a16:rowId xmlns:a16="http://schemas.microsoft.com/office/drawing/2014/main" val="1990885063"/>
                  </a:ext>
                </a:extLst>
              </a:tr>
            </a:tbl>
          </a:graphicData>
        </a:graphic>
      </p:graphicFrame>
    </p:spTree>
    <p:extLst>
      <p:ext uri="{BB962C8B-B14F-4D97-AF65-F5344CB8AC3E}">
        <p14:creationId xmlns:p14="http://schemas.microsoft.com/office/powerpoint/2010/main" val="1639225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436E88-F4A1-40D0-837D-328A889527C2}"/>
              </a:ext>
            </a:extLst>
          </p:cNvPr>
          <p:cNvSpPr>
            <a:spLocks noGrp="1"/>
          </p:cNvSpPr>
          <p:nvPr>
            <p:ph type="title"/>
          </p:nvPr>
        </p:nvSpPr>
        <p:spPr/>
        <p:txBody>
          <a:bodyPr/>
          <a:lstStyle/>
          <a:p>
            <a:r>
              <a:rPr lang="en-US" dirty="0"/>
              <a:t>PICERL framework</a:t>
            </a:r>
          </a:p>
        </p:txBody>
      </p:sp>
      <p:sp>
        <p:nvSpPr>
          <p:cNvPr id="5" name="Text Placeholder 4">
            <a:extLst>
              <a:ext uri="{FF2B5EF4-FFF2-40B4-BE49-F238E27FC236}">
                <a16:creationId xmlns:a16="http://schemas.microsoft.com/office/drawing/2014/main" id="{5D930635-E725-4D2D-B08D-8701870B77A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081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7D0AB-B1B2-FCC7-002B-C49339F1565D}"/>
              </a:ext>
            </a:extLst>
          </p:cNvPr>
          <p:cNvSpPr>
            <a:spLocks noGrp="1"/>
          </p:cNvSpPr>
          <p:nvPr>
            <p:ph type="title"/>
          </p:nvPr>
        </p:nvSpPr>
        <p:spPr/>
        <p:txBody>
          <a:bodyPr/>
          <a:lstStyle/>
          <a:p>
            <a:r>
              <a:rPr lang="en-US" dirty="0"/>
              <a:t>SANS Incident Response Framework</a:t>
            </a:r>
          </a:p>
        </p:txBody>
      </p:sp>
      <p:sp>
        <p:nvSpPr>
          <p:cNvPr id="3" name="Content Placeholder 2">
            <a:extLst>
              <a:ext uri="{FF2B5EF4-FFF2-40B4-BE49-F238E27FC236}">
                <a16:creationId xmlns:a16="http://schemas.microsoft.com/office/drawing/2014/main" id="{9ADB9C3A-A47E-66D0-7F03-76C3A683EE57}"/>
              </a:ext>
            </a:extLst>
          </p:cNvPr>
          <p:cNvSpPr>
            <a:spLocks noGrp="1"/>
          </p:cNvSpPr>
          <p:nvPr>
            <p:ph idx="1"/>
          </p:nvPr>
        </p:nvSpPr>
        <p:spPr/>
        <p:txBody>
          <a:bodyPr>
            <a:normAutofit/>
          </a:bodyPr>
          <a:lstStyle/>
          <a:p>
            <a:r>
              <a:rPr lang="en-US" dirty="0"/>
              <a:t>The PICERL framework, which stands for Preparation, Identification, Containment, Eradication, Recovery, and Lessons Learned, was proposed by the SANS Institute. </a:t>
            </a:r>
          </a:p>
          <a:p>
            <a:r>
              <a:rPr lang="en-US" dirty="0"/>
              <a:t>The framework is designed to provide a structured approach to incident response, emphasizing the need for thorough preparation and post-incident analysis</a:t>
            </a:r>
          </a:p>
          <a:p>
            <a:endParaRPr lang="en-US" dirty="0"/>
          </a:p>
        </p:txBody>
      </p:sp>
    </p:spTree>
    <p:extLst>
      <p:ext uri="{BB962C8B-B14F-4D97-AF65-F5344CB8AC3E}">
        <p14:creationId xmlns:p14="http://schemas.microsoft.com/office/powerpoint/2010/main" val="3377116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ED140-3083-2047-40D1-ED62FB1C4990}"/>
            </a:ext>
          </a:extLst>
        </p:cNvPr>
        <p:cNvGrpSpPr/>
        <p:nvPr/>
      </p:nvGrpSpPr>
      <p:grpSpPr>
        <a:xfrm>
          <a:off x="0" y="0"/>
          <a:ext cx="0" cy="0"/>
          <a:chOff x="0" y="0"/>
          <a:chExt cx="0" cy="0"/>
        </a:xfrm>
      </p:grpSpPr>
      <p:pic>
        <p:nvPicPr>
          <p:cNvPr id="11" name="Picture 10" descr="A diagram of a diagram&#10;&#10;Description automatically generated">
            <a:extLst>
              <a:ext uri="{FF2B5EF4-FFF2-40B4-BE49-F238E27FC236}">
                <a16:creationId xmlns:a16="http://schemas.microsoft.com/office/drawing/2014/main" id="{ADF47D36-D027-5F69-EE96-7571DA794B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599" y="532264"/>
            <a:ext cx="6076952" cy="6061760"/>
          </a:xfrm>
          <a:prstGeom prst="rect">
            <a:avLst/>
          </a:prstGeom>
          <a:noFill/>
        </p:spPr>
      </p:pic>
      <p:sp>
        <p:nvSpPr>
          <p:cNvPr id="2" name="Title 1">
            <a:extLst>
              <a:ext uri="{FF2B5EF4-FFF2-40B4-BE49-F238E27FC236}">
                <a16:creationId xmlns:a16="http://schemas.microsoft.com/office/drawing/2014/main" id="{CFCBDFAD-6FEB-D665-7618-093830A1670C}"/>
              </a:ext>
            </a:extLst>
          </p:cNvPr>
          <p:cNvSpPr>
            <a:spLocks noGrp="1"/>
          </p:cNvSpPr>
          <p:nvPr>
            <p:ph type="title"/>
          </p:nvPr>
        </p:nvSpPr>
        <p:spPr/>
        <p:txBody>
          <a:bodyPr anchor="ctr">
            <a:normAutofit/>
          </a:bodyPr>
          <a:lstStyle/>
          <a:p>
            <a:r>
              <a:rPr lang="en-US" dirty="0"/>
              <a:t>Incident response lifecycle</a:t>
            </a:r>
          </a:p>
        </p:txBody>
      </p:sp>
      <p:sp>
        <p:nvSpPr>
          <p:cNvPr id="4" name="Content Placeholder 3">
            <a:extLst>
              <a:ext uri="{FF2B5EF4-FFF2-40B4-BE49-F238E27FC236}">
                <a16:creationId xmlns:a16="http://schemas.microsoft.com/office/drawing/2014/main" id="{84EB1F98-3BC1-BE7A-89DE-2C01D3CB9D29}"/>
              </a:ext>
            </a:extLst>
          </p:cNvPr>
          <p:cNvSpPr>
            <a:spLocks noGrp="1"/>
          </p:cNvSpPr>
          <p:nvPr>
            <p:ph sz="half" idx="1"/>
          </p:nvPr>
        </p:nvSpPr>
        <p:spPr/>
        <p:txBody>
          <a:bodyPr>
            <a:normAutofit lnSpcReduction="10000"/>
          </a:bodyPr>
          <a:lstStyle/>
          <a:p>
            <a:r>
              <a:rPr lang="en-US" sz="2400" dirty="0"/>
              <a:t>PICERL stands for Preparation, Identification, Containment, Eradication, Recovery, and Lessons Learned.</a:t>
            </a:r>
          </a:p>
          <a:p>
            <a:r>
              <a:rPr lang="en-US" sz="2400" dirty="0"/>
              <a:t>It is a framework for handling cybersecurity incidents, guiding teams through the stages of identifying and responding to threats.</a:t>
            </a:r>
          </a:p>
          <a:p>
            <a:r>
              <a:rPr lang="en-US" sz="2400" dirty="0"/>
              <a:t>Each phase of the PICERL process serves a critical function in addressing and recovering from cybersecurity incidents.</a:t>
            </a:r>
          </a:p>
        </p:txBody>
      </p:sp>
    </p:spTree>
    <p:extLst>
      <p:ext uri="{BB962C8B-B14F-4D97-AF65-F5344CB8AC3E}">
        <p14:creationId xmlns:p14="http://schemas.microsoft.com/office/powerpoint/2010/main" val="1201852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427F1E1-3915-8D7D-FB6C-15A7D90A99B7}"/>
              </a:ext>
            </a:extLst>
          </p:cNvPr>
          <p:cNvSpPr>
            <a:spLocks noGrp="1"/>
          </p:cNvSpPr>
          <p:nvPr>
            <p:ph type="title"/>
          </p:nvPr>
        </p:nvSpPr>
        <p:spPr/>
        <p:txBody>
          <a:bodyPr/>
          <a:lstStyle/>
          <a:p>
            <a:r>
              <a:rPr lang="en-US" sz="4400" dirty="0"/>
              <a:t>PICERL | </a:t>
            </a:r>
            <a:r>
              <a:rPr lang="en-US" dirty="0"/>
              <a:t>Preparation</a:t>
            </a:r>
          </a:p>
        </p:txBody>
      </p:sp>
      <p:sp>
        <p:nvSpPr>
          <p:cNvPr id="6" name="Content Placeholder 5">
            <a:extLst>
              <a:ext uri="{FF2B5EF4-FFF2-40B4-BE49-F238E27FC236}">
                <a16:creationId xmlns:a16="http://schemas.microsoft.com/office/drawing/2014/main" id="{601C6182-DC63-A660-4374-E73831474DCF}"/>
              </a:ext>
            </a:extLst>
          </p:cNvPr>
          <p:cNvSpPr>
            <a:spLocks noGrp="1"/>
          </p:cNvSpPr>
          <p:nvPr>
            <p:ph idx="1"/>
          </p:nvPr>
        </p:nvSpPr>
        <p:spPr>
          <a:xfrm>
            <a:off x="838200" y="1552575"/>
            <a:ext cx="10515600" cy="4624388"/>
          </a:xfrm>
        </p:spPr>
        <p:txBody>
          <a:bodyPr>
            <a:noAutofit/>
          </a:bodyPr>
          <a:lstStyle/>
          <a:p>
            <a:r>
              <a:rPr lang="en-US" sz="2400" dirty="0"/>
              <a:t>Identifying potential </a:t>
            </a:r>
            <a:r>
              <a:rPr lang="en-US" sz="2400" dirty="0">
                <a:solidFill>
                  <a:srgbClr val="C00000"/>
                </a:solidFill>
              </a:rPr>
              <a:t>vulnerabilities</a:t>
            </a:r>
            <a:r>
              <a:rPr lang="en-US" sz="2400" dirty="0"/>
              <a:t> in an organization's security posture and developing a </a:t>
            </a:r>
            <a:r>
              <a:rPr lang="en-US" sz="2400" dirty="0">
                <a:solidFill>
                  <a:srgbClr val="C00000"/>
                </a:solidFill>
              </a:rPr>
              <a:t>plan</a:t>
            </a:r>
            <a:r>
              <a:rPr lang="en-US" sz="2400" dirty="0"/>
              <a:t> to address them. </a:t>
            </a:r>
          </a:p>
          <a:p>
            <a:r>
              <a:rPr lang="en-US" sz="2400" dirty="0"/>
              <a:t>This phase involves </a:t>
            </a:r>
            <a:r>
              <a:rPr lang="en-US" sz="2400" dirty="0">
                <a:solidFill>
                  <a:srgbClr val="C00000"/>
                </a:solidFill>
              </a:rPr>
              <a:t>getting ready </a:t>
            </a:r>
            <a:r>
              <a:rPr lang="en-US" sz="2400" dirty="0"/>
              <a:t>before any incident occurs. It focuses on establishing policies, procedures, and tools to handle incidents efficiently. </a:t>
            </a:r>
          </a:p>
          <a:p>
            <a:r>
              <a:rPr lang="en-US" sz="2400" dirty="0"/>
              <a:t>Key activities include:</a:t>
            </a:r>
          </a:p>
          <a:p>
            <a:pPr lvl="1"/>
            <a:r>
              <a:rPr lang="en-US" dirty="0"/>
              <a:t>Developing and testing an incident response plan.</a:t>
            </a:r>
          </a:p>
          <a:p>
            <a:pPr lvl="1"/>
            <a:r>
              <a:rPr lang="en-US" dirty="0"/>
              <a:t>Setting up security measures such as firewalls, IDS, and others.</a:t>
            </a:r>
          </a:p>
          <a:p>
            <a:pPr lvl="1"/>
            <a:r>
              <a:rPr lang="en-US" dirty="0"/>
              <a:t>Training staff to recognize and respond to security threats.</a:t>
            </a:r>
          </a:p>
          <a:p>
            <a:pPr lvl="1"/>
            <a:r>
              <a:rPr lang="en-US" dirty="0"/>
              <a:t>Defining roles and responsibilities for the incident response team.</a:t>
            </a:r>
          </a:p>
          <a:p>
            <a:r>
              <a:rPr lang="en-US" sz="2400" dirty="0"/>
              <a:t>Goal: Build a solid foundation for identifying and responding to incidents quickly and effectively.</a:t>
            </a:r>
          </a:p>
        </p:txBody>
      </p:sp>
    </p:spTree>
    <p:extLst>
      <p:ext uri="{BB962C8B-B14F-4D97-AF65-F5344CB8AC3E}">
        <p14:creationId xmlns:p14="http://schemas.microsoft.com/office/powerpoint/2010/main" val="3035771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1C172-2D29-37AA-2DD1-EC6F67B258C2}"/>
              </a:ext>
            </a:extLst>
          </p:cNvPr>
          <p:cNvSpPr>
            <a:spLocks noGrp="1"/>
          </p:cNvSpPr>
          <p:nvPr>
            <p:ph type="title"/>
          </p:nvPr>
        </p:nvSpPr>
        <p:spPr/>
        <p:txBody>
          <a:bodyPr/>
          <a:lstStyle/>
          <a:p>
            <a:r>
              <a:rPr lang="en-US" sz="4400" dirty="0"/>
              <a:t>PICERL | Identification</a:t>
            </a:r>
            <a:endParaRPr lang="en-US" dirty="0"/>
          </a:p>
        </p:txBody>
      </p:sp>
      <p:sp>
        <p:nvSpPr>
          <p:cNvPr id="6" name="Content Placeholder 5">
            <a:extLst>
              <a:ext uri="{FF2B5EF4-FFF2-40B4-BE49-F238E27FC236}">
                <a16:creationId xmlns:a16="http://schemas.microsoft.com/office/drawing/2014/main" id="{601C6182-DC63-A660-4374-E73831474DCF}"/>
              </a:ext>
            </a:extLst>
          </p:cNvPr>
          <p:cNvSpPr>
            <a:spLocks noGrp="1"/>
          </p:cNvSpPr>
          <p:nvPr>
            <p:ph idx="1"/>
          </p:nvPr>
        </p:nvSpPr>
        <p:spPr>
          <a:xfrm>
            <a:off x="838200" y="1825624"/>
            <a:ext cx="10515600" cy="4667249"/>
          </a:xfrm>
        </p:spPr>
        <p:txBody>
          <a:bodyPr>
            <a:normAutofit/>
          </a:bodyPr>
          <a:lstStyle/>
          <a:p>
            <a:r>
              <a:rPr lang="en-US" sz="2400" dirty="0"/>
              <a:t>Identifying the </a:t>
            </a:r>
            <a:r>
              <a:rPr lang="en-US" sz="2400" dirty="0">
                <a:solidFill>
                  <a:srgbClr val="C00000"/>
                </a:solidFill>
              </a:rPr>
              <a:t>nature</a:t>
            </a:r>
            <a:r>
              <a:rPr lang="en-US" sz="2400" dirty="0"/>
              <a:t> of the security incident and determining its potential </a:t>
            </a:r>
            <a:r>
              <a:rPr lang="en-US" sz="2400" dirty="0">
                <a:solidFill>
                  <a:srgbClr val="C00000"/>
                </a:solidFill>
              </a:rPr>
              <a:t>impact</a:t>
            </a:r>
            <a:r>
              <a:rPr lang="en-US" sz="2400" dirty="0"/>
              <a:t> on the organization. </a:t>
            </a:r>
          </a:p>
          <a:p>
            <a:r>
              <a:rPr lang="en-US" sz="2400" dirty="0"/>
              <a:t>In this phase, the organization focuses on </a:t>
            </a:r>
            <a:r>
              <a:rPr lang="en-US" sz="2400" dirty="0">
                <a:solidFill>
                  <a:srgbClr val="C00000"/>
                </a:solidFill>
              </a:rPr>
              <a:t>detecting</a:t>
            </a:r>
            <a:r>
              <a:rPr lang="en-US" sz="2400" dirty="0"/>
              <a:t> and </a:t>
            </a:r>
            <a:r>
              <a:rPr lang="en-US" sz="2400" dirty="0">
                <a:solidFill>
                  <a:srgbClr val="C00000"/>
                </a:solidFill>
              </a:rPr>
              <a:t>verifying</a:t>
            </a:r>
            <a:r>
              <a:rPr lang="en-US" sz="2400" dirty="0"/>
              <a:t> potential security incidents. This includes monitoring systems, reviewing alerts, and analyzing suspicious activity to determine whether a real threat is present. </a:t>
            </a:r>
          </a:p>
          <a:p>
            <a:r>
              <a:rPr lang="en-US" sz="2400" dirty="0"/>
              <a:t>Common tasks include:</a:t>
            </a:r>
          </a:p>
          <a:p>
            <a:pPr lvl="1"/>
            <a:r>
              <a:rPr lang="en-US" sz="2000" dirty="0"/>
              <a:t>Reviewing logs from security tools (e.g., IDS/IPS, SIEM).</a:t>
            </a:r>
          </a:p>
          <a:p>
            <a:pPr lvl="1"/>
            <a:r>
              <a:rPr lang="en-US" sz="2000" dirty="0"/>
              <a:t>Monitoring network traffic and user activity.</a:t>
            </a:r>
          </a:p>
          <a:p>
            <a:pPr lvl="1"/>
            <a:r>
              <a:rPr lang="en-US" sz="2000" dirty="0"/>
              <a:t>Analyzing anomalies or suspicious events.</a:t>
            </a:r>
          </a:p>
          <a:p>
            <a:pPr lvl="1"/>
            <a:r>
              <a:rPr lang="en-US" sz="2000" dirty="0"/>
              <a:t>Identifying indicators of compromise (</a:t>
            </a:r>
            <a:r>
              <a:rPr lang="en-US" sz="2000" dirty="0" err="1"/>
              <a:t>IoCs</a:t>
            </a:r>
            <a:r>
              <a:rPr lang="en-US" sz="2000" dirty="0"/>
              <a:t>).</a:t>
            </a:r>
          </a:p>
          <a:p>
            <a:r>
              <a:rPr lang="en-US" sz="2400" dirty="0"/>
              <a:t>Goal: Detect security incidents early to limit potential damage.</a:t>
            </a:r>
          </a:p>
        </p:txBody>
      </p:sp>
    </p:spTree>
    <p:extLst>
      <p:ext uri="{BB962C8B-B14F-4D97-AF65-F5344CB8AC3E}">
        <p14:creationId xmlns:p14="http://schemas.microsoft.com/office/powerpoint/2010/main" val="1195877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1C172-2D29-37AA-2DD1-EC6F67B258C2}"/>
              </a:ext>
            </a:extLst>
          </p:cNvPr>
          <p:cNvSpPr>
            <a:spLocks noGrp="1"/>
          </p:cNvSpPr>
          <p:nvPr>
            <p:ph type="title"/>
          </p:nvPr>
        </p:nvSpPr>
        <p:spPr/>
        <p:txBody>
          <a:bodyPr/>
          <a:lstStyle/>
          <a:p>
            <a:r>
              <a:rPr lang="en-US" dirty="0"/>
              <a:t>PICERL | Containment</a:t>
            </a:r>
          </a:p>
        </p:txBody>
      </p:sp>
      <p:sp>
        <p:nvSpPr>
          <p:cNvPr id="6" name="Content Placeholder 5">
            <a:extLst>
              <a:ext uri="{FF2B5EF4-FFF2-40B4-BE49-F238E27FC236}">
                <a16:creationId xmlns:a16="http://schemas.microsoft.com/office/drawing/2014/main" id="{601C6182-DC63-A660-4374-E73831474DCF}"/>
              </a:ext>
            </a:extLst>
          </p:cNvPr>
          <p:cNvSpPr>
            <a:spLocks noGrp="1"/>
          </p:cNvSpPr>
          <p:nvPr>
            <p:ph idx="1"/>
          </p:nvPr>
        </p:nvSpPr>
        <p:spPr>
          <a:xfrm>
            <a:off x="838200" y="1825624"/>
            <a:ext cx="10515600" cy="4746625"/>
          </a:xfrm>
        </p:spPr>
        <p:txBody>
          <a:bodyPr>
            <a:normAutofit/>
          </a:bodyPr>
          <a:lstStyle/>
          <a:p>
            <a:r>
              <a:rPr lang="en-US" sz="2400" dirty="0"/>
              <a:t>Execution of steps to </a:t>
            </a:r>
            <a:r>
              <a:rPr lang="en-US" sz="2400" dirty="0">
                <a:solidFill>
                  <a:srgbClr val="C00000"/>
                </a:solidFill>
              </a:rPr>
              <a:t>prevent</a:t>
            </a:r>
            <a:r>
              <a:rPr lang="en-US" sz="2400" dirty="0"/>
              <a:t> the security incident from spreading further or </a:t>
            </a:r>
            <a:r>
              <a:rPr lang="en-US" sz="2400" dirty="0">
                <a:solidFill>
                  <a:srgbClr val="C00000"/>
                </a:solidFill>
              </a:rPr>
              <a:t>causing more harm</a:t>
            </a:r>
            <a:r>
              <a:rPr lang="en-US" sz="2400" dirty="0"/>
              <a:t>. </a:t>
            </a:r>
          </a:p>
          <a:p>
            <a:r>
              <a:rPr lang="en-US" sz="2400" dirty="0"/>
              <a:t>Once an incident is confirmed, the next step is to contain the threat to prevent further harm. </a:t>
            </a:r>
          </a:p>
          <a:p>
            <a:r>
              <a:rPr lang="en-US" sz="2400" dirty="0"/>
              <a:t>Containment strategies are divided into:</a:t>
            </a:r>
          </a:p>
          <a:p>
            <a:pPr lvl="1"/>
            <a:r>
              <a:rPr lang="en-US" sz="2000" dirty="0"/>
              <a:t>Short-term containment: Immediate actions to prevent further damage, such as isolating compromised systems.</a:t>
            </a:r>
          </a:p>
          <a:p>
            <a:pPr lvl="1"/>
            <a:r>
              <a:rPr lang="en-US" sz="2000" dirty="0"/>
              <a:t>Long-term containment: Implementing measures that will remain in place while planning for complete eradication.</a:t>
            </a:r>
          </a:p>
          <a:p>
            <a:r>
              <a:rPr lang="en-US" sz="2400" dirty="0"/>
              <a:t>Goal: Stop the spread of the attack while keeping critical systems operational.</a:t>
            </a:r>
          </a:p>
          <a:p>
            <a:endParaRPr lang="en-US" sz="2400" dirty="0"/>
          </a:p>
        </p:txBody>
      </p:sp>
    </p:spTree>
    <p:extLst>
      <p:ext uri="{BB962C8B-B14F-4D97-AF65-F5344CB8AC3E}">
        <p14:creationId xmlns:p14="http://schemas.microsoft.com/office/powerpoint/2010/main" val="1572913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F85AF-73D5-7339-11CF-C7914D65731F}"/>
              </a:ext>
            </a:extLst>
          </p:cNvPr>
          <p:cNvSpPr>
            <a:spLocks noGrp="1"/>
          </p:cNvSpPr>
          <p:nvPr>
            <p:ph type="title"/>
          </p:nvPr>
        </p:nvSpPr>
        <p:spPr/>
        <p:txBody>
          <a:bodyPr/>
          <a:lstStyle/>
          <a:p>
            <a:r>
              <a:rPr lang="en-US" dirty="0"/>
              <a:t>PICERL | Eradication</a:t>
            </a:r>
          </a:p>
        </p:txBody>
      </p:sp>
      <p:sp>
        <p:nvSpPr>
          <p:cNvPr id="3" name="Content Placeholder 2">
            <a:extLst>
              <a:ext uri="{FF2B5EF4-FFF2-40B4-BE49-F238E27FC236}">
                <a16:creationId xmlns:a16="http://schemas.microsoft.com/office/drawing/2014/main" id="{F532B627-7C75-63FF-FFCA-912CD64638ED}"/>
              </a:ext>
            </a:extLst>
          </p:cNvPr>
          <p:cNvSpPr>
            <a:spLocks noGrp="1"/>
          </p:cNvSpPr>
          <p:nvPr>
            <p:ph idx="1"/>
          </p:nvPr>
        </p:nvSpPr>
        <p:spPr>
          <a:xfrm>
            <a:off x="838200" y="1825625"/>
            <a:ext cx="10515600" cy="4667249"/>
          </a:xfrm>
        </p:spPr>
        <p:txBody>
          <a:bodyPr>
            <a:normAutofit/>
          </a:bodyPr>
          <a:lstStyle/>
          <a:p>
            <a:r>
              <a:rPr lang="en-US" sz="2400" dirty="0"/>
              <a:t>Executing steps to </a:t>
            </a:r>
            <a:r>
              <a:rPr lang="en-US" sz="2400" dirty="0">
                <a:solidFill>
                  <a:srgbClr val="C00000"/>
                </a:solidFill>
              </a:rPr>
              <a:t>remove</a:t>
            </a:r>
            <a:r>
              <a:rPr lang="en-US" sz="2400" dirty="0"/>
              <a:t> the root cause of the security incident and </a:t>
            </a:r>
            <a:r>
              <a:rPr lang="en-US" sz="2400" dirty="0">
                <a:solidFill>
                  <a:srgbClr val="C00000"/>
                </a:solidFill>
              </a:rPr>
              <a:t>prevent</a:t>
            </a:r>
            <a:r>
              <a:rPr lang="en-US" sz="2400" dirty="0"/>
              <a:t> it from occurring again in the future. </a:t>
            </a:r>
          </a:p>
          <a:p>
            <a:r>
              <a:rPr lang="en-US" sz="2400" dirty="0"/>
              <a:t>In this phase, the focus shifts to eliminating the root cause of the incident. May involves removing malware, closing exploited vulnerabilities, or disabling compromised accounts. </a:t>
            </a:r>
          </a:p>
          <a:p>
            <a:r>
              <a:rPr lang="en-US" sz="2400" dirty="0"/>
              <a:t>Key tasks include:</a:t>
            </a:r>
          </a:p>
          <a:p>
            <a:pPr lvl="1"/>
            <a:r>
              <a:rPr lang="en-US" sz="2000" dirty="0"/>
              <a:t>Cleaning infected systems (e.g., removing malware).Patching vulnerabilities or flaws exploited by attackers.</a:t>
            </a:r>
          </a:p>
          <a:p>
            <a:pPr lvl="1"/>
            <a:r>
              <a:rPr lang="en-US" sz="2000" dirty="0"/>
              <a:t>Strengthening defenses to prevent re-entry.</a:t>
            </a:r>
          </a:p>
          <a:p>
            <a:pPr lvl="1"/>
            <a:r>
              <a:rPr lang="en-US" sz="2000" dirty="0"/>
              <a:t>Verifying that no remaining threats (backdoors, hidden malware) exist.</a:t>
            </a:r>
          </a:p>
          <a:p>
            <a:r>
              <a:rPr lang="en-US" sz="2400" dirty="0"/>
              <a:t>Goal: Fully remove the attacker’s presence and prevent re-infection.</a:t>
            </a:r>
          </a:p>
        </p:txBody>
      </p:sp>
    </p:spTree>
    <p:extLst>
      <p:ext uri="{BB962C8B-B14F-4D97-AF65-F5344CB8AC3E}">
        <p14:creationId xmlns:p14="http://schemas.microsoft.com/office/powerpoint/2010/main" val="1458788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F85AF-73D5-7339-11CF-C7914D65731F}"/>
              </a:ext>
            </a:extLst>
          </p:cNvPr>
          <p:cNvSpPr>
            <a:spLocks noGrp="1"/>
          </p:cNvSpPr>
          <p:nvPr>
            <p:ph type="title"/>
          </p:nvPr>
        </p:nvSpPr>
        <p:spPr/>
        <p:txBody>
          <a:bodyPr/>
          <a:lstStyle/>
          <a:p>
            <a:r>
              <a:rPr lang="en-US" dirty="0"/>
              <a:t>PICERL | Recovery</a:t>
            </a:r>
          </a:p>
        </p:txBody>
      </p:sp>
      <p:sp>
        <p:nvSpPr>
          <p:cNvPr id="3" name="Content Placeholder 2">
            <a:extLst>
              <a:ext uri="{FF2B5EF4-FFF2-40B4-BE49-F238E27FC236}">
                <a16:creationId xmlns:a16="http://schemas.microsoft.com/office/drawing/2014/main" id="{F532B627-7C75-63FF-FFCA-912CD64638ED}"/>
              </a:ext>
            </a:extLst>
          </p:cNvPr>
          <p:cNvSpPr>
            <a:spLocks noGrp="1"/>
          </p:cNvSpPr>
          <p:nvPr>
            <p:ph idx="1"/>
          </p:nvPr>
        </p:nvSpPr>
        <p:spPr>
          <a:xfrm>
            <a:off x="838200" y="1825625"/>
            <a:ext cx="10515600" cy="4908550"/>
          </a:xfrm>
        </p:spPr>
        <p:txBody>
          <a:bodyPr>
            <a:normAutofit/>
          </a:bodyPr>
          <a:lstStyle/>
          <a:p>
            <a:r>
              <a:rPr lang="en-US" sz="2400" dirty="0"/>
              <a:t>Performing steps to </a:t>
            </a:r>
            <a:r>
              <a:rPr lang="en-US" sz="2400" dirty="0">
                <a:solidFill>
                  <a:srgbClr val="C00000"/>
                </a:solidFill>
              </a:rPr>
              <a:t>restore</a:t>
            </a:r>
            <a:r>
              <a:rPr lang="en-US" sz="2400" dirty="0"/>
              <a:t> affected systems or data and ensure that the organization can </a:t>
            </a:r>
            <a:r>
              <a:rPr lang="en-US" sz="2400" dirty="0">
                <a:solidFill>
                  <a:srgbClr val="C00000"/>
                </a:solidFill>
              </a:rPr>
              <a:t>continue</a:t>
            </a:r>
            <a:r>
              <a:rPr lang="en-US" sz="2400" dirty="0"/>
              <a:t> to function normally. </a:t>
            </a:r>
          </a:p>
          <a:p>
            <a:r>
              <a:rPr lang="en-US" sz="2400" dirty="0"/>
              <a:t>After eradicating the threat, the organization works to restore normal operations while ensuring that systems are functioning correctly. </a:t>
            </a:r>
          </a:p>
          <a:p>
            <a:r>
              <a:rPr lang="en-US" sz="2400" dirty="0"/>
              <a:t>Key tasks include:</a:t>
            </a:r>
          </a:p>
          <a:p>
            <a:pPr lvl="1"/>
            <a:r>
              <a:rPr lang="en-US" sz="2000" dirty="0"/>
              <a:t>Restoring data from backups.</a:t>
            </a:r>
          </a:p>
          <a:p>
            <a:pPr lvl="1"/>
            <a:r>
              <a:rPr lang="en-US" sz="2000" dirty="0"/>
              <a:t>Bringing systems back online safely.</a:t>
            </a:r>
          </a:p>
          <a:p>
            <a:pPr lvl="1"/>
            <a:r>
              <a:rPr lang="en-US" sz="2000" dirty="0"/>
              <a:t>Monitoring restored systems for any signs of abnormal activity.</a:t>
            </a:r>
          </a:p>
          <a:p>
            <a:pPr lvl="1"/>
            <a:r>
              <a:rPr lang="en-US" sz="2000" dirty="0"/>
              <a:t>Confirming that security issues have been fully resolved.</a:t>
            </a:r>
          </a:p>
          <a:p>
            <a:r>
              <a:rPr lang="en-US" sz="2400" dirty="0"/>
              <a:t>Goal: Safely return systems to normal operations without reintroducing the attack.</a:t>
            </a:r>
          </a:p>
        </p:txBody>
      </p:sp>
    </p:spTree>
    <p:extLst>
      <p:ext uri="{BB962C8B-B14F-4D97-AF65-F5344CB8AC3E}">
        <p14:creationId xmlns:p14="http://schemas.microsoft.com/office/powerpoint/2010/main" val="2083346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F85AF-73D5-7339-11CF-C7914D65731F}"/>
              </a:ext>
            </a:extLst>
          </p:cNvPr>
          <p:cNvSpPr>
            <a:spLocks noGrp="1"/>
          </p:cNvSpPr>
          <p:nvPr>
            <p:ph type="title"/>
          </p:nvPr>
        </p:nvSpPr>
        <p:spPr/>
        <p:txBody>
          <a:bodyPr/>
          <a:lstStyle/>
          <a:p>
            <a:r>
              <a:rPr lang="en-US" dirty="0"/>
              <a:t>PICERL | Lessons Learned</a:t>
            </a:r>
          </a:p>
        </p:txBody>
      </p:sp>
      <p:sp>
        <p:nvSpPr>
          <p:cNvPr id="3" name="Content Placeholder 2">
            <a:extLst>
              <a:ext uri="{FF2B5EF4-FFF2-40B4-BE49-F238E27FC236}">
                <a16:creationId xmlns:a16="http://schemas.microsoft.com/office/drawing/2014/main" id="{F532B627-7C75-63FF-FFCA-912CD64638ED}"/>
              </a:ext>
            </a:extLst>
          </p:cNvPr>
          <p:cNvSpPr>
            <a:spLocks noGrp="1"/>
          </p:cNvSpPr>
          <p:nvPr>
            <p:ph idx="1"/>
          </p:nvPr>
        </p:nvSpPr>
        <p:spPr>
          <a:xfrm>
            <a:off x="838200" y="1863725"/>
            <a:ext cx="10515600" cy="4908550"/>
          </a:xfrm>
        </p:spPr>
        <p:txBody>
          <a:bodyPr>
            <a:normAutofit/>
          </a:bodyPr>
          <a:lstStyle/>
          <a:p>
            <a:r>
              <a:rPr lang="en-US" sz="2400" dirty="0">
                <a:solidFill>
                  <a:srgbClr val="C00000"/>
                </a:solidFill>
              </a:rPr>
              <a:t>Documenting</a:t>
            </a:r>
            <a:r>
              <a:rPr lang="en-US" sz="2400" dirty="0"/>
              <a:t> what was learned from the security incident and how it can be applied to prevent similar incidents in the future. </a:t>
            </a:r>
          </a:p>
          <a:p>
            <a:r>
              <a:rPr lang="en-US" sz="2400" dirty="0"/>
              <a:t>Once the incident has been fully resolved, it’s important to review the entire process and identify areas for improvement. </a:t>
            </a:r>
          </a:p>
          <a:p>
            <a:r>
              <a:rPr lang="en-US" sz="2400" dirty="0"/>
              <a:t>Key tasks include:</a:t>
            </a:r>
          </a:p>
          <a:p>
            <a:pPr lvl="1"/>
            <a:r>
              <a:rPr lang="en-US" sz="2000" dirty="0"/>
              <a:t>Conducting a post-incident analysis to assess what went wrong and what worked well.</a:t>
            </a:r>
          </a:p>
          <a:p>
            <a:pPr lvl="1"/>
            <a:r>
              <a:rPr lang="en-US" sz="2000" dirty="0"/>
              <a:t>Updating the incident response plan based on the experience.</a:t>
            </a:r>
          </a:p>
          <a:p>
            <a:pPr lvl="1"/>
            <a:r>
              <a:rPr lang="en-US" sz="2000" dirty="0"/>
              <a:t>Providing additional training or resources to the team if necessary.</a:t>
            </a:r>
          </a:p>
          <a:p>
            <a:pPr lvl="1"/>
            <a:r>
              <a:rPr lang="en-US" sz="2000" dirty="0"/>
              <a:t>Documenting the entire incident and response process.</a:t>
            </a:r>
          </a:p>
          <a:p>
            <a:r>
              <a:rPr lang="en-US" sz="2400" dirty="0"/>
              <a:t>Goal: Improve the organization’s incident response plan and strengthen security for future incidents.</a:t>
            </a:r>
          </a:p>
        </p:txBody>
      </p:sp>
    </p:spTree>
    <p:extLst>
      <p:ext uri="{BB962C8B-B14F-4D97-AF65-F5344CB8AC3E}">
        <p14:creationId xmlns:p14="http://schemas.microsoft.com/office/powerpoint/2010/main" val="234820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E214F-2A3D-E093-6868-7789077D1A1B}"/>
              </a:ext>
            </a:extLst>
          </p:cNvPr>
          <p:cNvSpPr>
            <a:spLocks noGrp="1"/>
          </p:cNvSpPr>
          <p:nvPr>
            <p:ph type="title"/>
          </p:nvPr>
        </p:nvSpPr>
        <p:spPr/>
        <p:txBody>
          <a:bodyPr/>
          <a:lstStyle/>
          <a:p>
            <a:r>
              <a:rPr lang="en-US" dirty="0"/>
              <a:t>Student Self Study!</a:t>
            </a:r>
          </a:p>
        </p:txBody>
      </p:sp>
      <p:sp>
        <p:nvSpPr>
          <p:cNvPr id="3" name="Content Placeholder 2">
            <a:extLst>
              <a:ext uri="{FF2B5EF4-FFF2-40B4-BE49-F238E27FC236}">
                <a16:creationId xmlns:a16="http://schemas.microsoft.com/office/drawing/2014/main" id="{787BCFCA-0B90-B921-0E06-DEB71BDDE5B4}"/>
              </a:ext>
            </a:extLst>
          </p:cNvPr>
          <p:cNvSpPr>
            <a:spLocks noGrp="1"/>
          </p:cNvSpPr>
          <p:nvPr>
            <p:ph idx="1"/>
          </p:nvPr>
        </p:nvSpPr>
        <p:spPr/>
        <p:txBody>
          <a:bodyPr/>
          <a:lstStyle/>
          <a:p>
            <a:r>
              <a:rPr lang="en-US" dirty="0"/>
              <a:t>Download </a:t>
            </a:r>
            <a:r>
              <a:rPr lang="en-US" b="1" dirty="0"/>
              <a:t>The Incident Handlers Handbook </a:t>
            </a:r>
            <a:r>
              <a:rPr lang="en-US" dirty="0"/>
              <a:t>from here (</a:t>
            </a:r>
            <a:r>
              <a:rPr lang="en-US" dirty="0">
                <a:hlinkClick r:id="rId2"/>
              </a:rPr>
              <a:t>https://sansorg.egnyte.com/dl/6Btqoa63at</a:t>
            </a:r>
            <a:r>
              <a:rPr lang="en-US" dirty="0"/>
              <a:t>) </a:t>
            </a:r>
          </a:p>
          <a:p>
            <a:r>
              <a:rPr lang="en-US" dirty="0"/>
              <a:t>Familiarize your self with the Incident Handlers Checklist (pp 11)</a:t>
            </a:r>
          </a:p>
          <a:p>
            <a:r>
              <a:rPr lang="en-US" dirty="0"/>
              <a:t>Understand how anomalies are identified in Window OS  (Section 9) and Linux OS (Section 10) and what indicators point can be collected.</a:t>
            </a:r>
          </a:p>
        </p:txBody>
      </p:sp>
    </p:spTree>
    <p:extLst>
      <p:ext uri="{BB962C8B-B14F-4D97-AF65-F5344CB8AC3E}">
        <p14:creationId xmlns:p14="http://schemas.microsoft.com/office/powerpoint/2010/main" val="3611364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41461-F5A3-BF33-B5BF-CFD08B31111F}"/>
              </a:ext>
            </a:extLst>
          </p:cNvPr>
          <p:cNvSpPr>
            <a:spLocks noGrp="1"/>
          </p:cNvSpPr>
          <p:nvPr>
            <p:ph type="title"/>
          </p:nvPr>
        </p:nvSpPr>
        <p:spPr/>
        <p:txBody>
          <a:bodyPr/>
          <a:lstStyle/>
          <a:p>
            <a:r>
              <a:rPr lang="en-US" dirty="0"/>
              <a:t>Class Activity</a:t>
            </a:r>
          </a:p>
        </p:txBody>
      </p:sp>
      <p:sp>
        <p:nvSpPr>
          <p:cNvPr id="3" name="Content Placeholder 2">
            <a:extLst>
              <a:ext uri="{FF2B5EF4-FFF2-40B4-BE49-F238E27FC236}">
                <a16:creationId xmlns:a16="http://schemas.microsoft.com/office/drawing/2014/main" id="{59164893-EA12-8131-8C09-6F9BB072A03B}"/>
              </a:ext>
            </a:extLst>
          </p:cNvPr>
          <p:cNvSpPr>
            <a:spLocks noGrp="1"/>
          </p:cNvSpPr>
          <p:nvPr>
            <p:ph idx="1"/>
          </p:nvPr>
        </p:nvSpPr>
        <p:spPr/>
        <p:txBody>
          <a:bodyPr/>
          <a:lstStyle/>
          <a:p>
            <a:r>
              <a:rPr lang="en-US" dirty="0"/>
              <a:t>Consider the following scenario:</a:t>
            </a:r>
          </a:p>
          <a:p>
            <a:pPr lvl="1"/>
            <a:r>
              <a:rPr lang="en-US" dirty="0"/>
              <a:t>A mid-sized financial services company experienced a cybersecurity incident when a </a:t>
            </a:r>
            <a:r>
              <a:rPr lang="en-US" b="1" dirty="0"/>
              <a:t>phishing email </a:t>
            </a:r>
            <a:r>
              <a:rPr lang="en-US" dirty="0"/>
              <a:t>successfully led to a malware infection on several employee workstations. </a:t>
            </a:r>
          </a:p>
          <a:p>
            <a:pPr lvl="1"/>
            <a:r>
              <a:rPr lang="en-US" dirty="0"/>
              <a:t>The Security Operations Center (SOC) is tasked with managing this incident by applying the SANS PICERL framework to ensure a structured and effective response.</a:t>
            </a:r>
          </a:p>
          <a:p>
            <a:r>
              <a:rPr lang="en-US" dirty="0"/>
              <a:t>Discuss and answer the following questions [next slide]</a:t>
            </a:r>
          </a:p>
          <a:p>
            <a:endParaRPr lang="en-US" dirty="0"/>
          </a:p>
          <a:p>
            <a:pPr lvl="1"/>
            <a:endParaRPr lang="en-US" dirty="0"/>
          </a:p>
        </p:txBody>
      </p:sp>
    </p:spTree>
    <p:extLst>
      <p:ext uri="{BB962C8B-B14F-4D97-AF65-F5344CB8AC3E}">
        <p14:creationId xmlns:p14="http://schemas.microsoft.com/office/powerpoint/2010/main" val="3739318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D9C40-AD2E-CD2E-AB06-FB8CBF45CEA7}"/>
              </a:ext>
            </a:extLst>
          </p:cNvPr>
          <p:cNvSpPr>
            <a:spLocks noGrp="1"/>
          </p:cNvSpPr>
          <p:nvPr>
            <p:ph type="title"/>
          </p:nvPr>
        </p:nvSpPr>
        <p:spPr/>
        <p:txBody>
          <a:bodyPr/>
          <a:lstStyle/>
          <a:p>
            <a:r>
              <a:rPr lang="en-US" dirty="0"/>
              <a:t>Phase-wise questions (1/2)</a:t>
            </a:r>
          </a:p>
        </p:txBody>
      </p:sp>
      <p:sp>
        <p:nvSpPr>
          <p:cNvPr id="3" name="Content Placeholder 2">
            <a:extLst>
              <a:ext uri="{FF2B5EF4-FFF2-40B4-BE49-F238E27FC236}">
                <a16:creationId xmlns:a16="http://schemas.microsoft.com/office/drawing/2014/main" id="{6E727232-CE99-9EA9-FAE8-A2778F36CB18}"/>
              </a:ext>
            </a:extLst>
          </p:cNvPr>
          <p:cNvSpPr>
            <a:spLocks noGrp="1"/>
          </p:cNvSpPr>
          <p:nvPr>
            <p:ph idx="1"/>
          </p:nvPr>
        </p:nvSpPr>
        <p:spPr/>
        <p:txBody>
          <a:bodyPr>
            <a:normAutofit/>
          </a:bodyPr>
          <a:lstStyle/>
          <a:p>
            <a:r>
              <a:rPr lang="en-US" sz="2000" dirty="0"/>
              <a:t>Preparation:</a:t>
            </a:r>
          </a:p>
          <a:p>
            <a:pPr marL="457200" lvl="1" indent="0">
              <a:buNone/>
            </a:pPr>
            <a:r>
              <a:rPr lang="en-US" sz="1800" dirty="0"/>
              <a:t>1. Describe the steps that the SOC should take in advance to prepare for potential incidents. </a:t>
            </a:r>
          </a:p>
          <a:p>
            <a:r>
              <a:rPr lang="en-US" sz="2000" dirty="0"/>
              <a:t>Identification:</a:t>
            </a:r>
          </a:p>
          <a:p>
            <a:pPr marL="457200" lvl="1" indent="0">
              <a:buNone/>
            </a:pPr>
            <a:r>
              <a:rPr lang="en-US" sz="1800" dirty="0"/>
              <a:t>2. What tools and methods would be used to identify the malware infection?</a:t>
            </a:r>
          </a:p>
          <a:p>
            <a:pPr marL="457200" lvl="1" indent="0">
              <a:buNone/>
            </a:pPr>
            <a:r>
              <a:rPr lang="en-US" sz="1800" dirty="0"/>
              <a:t>3. Outline the specific indicators of compromise (</a:t>
            </a:r>
            <a:r>
              <a:rPr lang="en-US" sz="1800" dirty="0" err="1"/>
              <a:t>IoCs</a:t>
            </a:r>
            <a:r>
              <a:rPr lang="en-US" sz="1800" dirty="0"/>
              <a:t>) the SOC analysts should look for in this scenario.</a:t>
            </a:r>
          </a:p>
          <a:p>
            <a:r>
              <a:rPr lang="en-US" sz="2000" dirty="0"/>
              <a:t>Containment:</a:t>
            </a:r>
          </a:p>
          <a:p>
            <a:pPr marL="457200" lvl="1" indent="0">
              <a:buNone/>
            </a:pPr>
            <a:r>
              <a:rPr lang="en-US" sz="1800" dirty="0"/>
              <a:t>4. Identify both short-term and long-term containment measures the SOC could implement once the incident is confirmed.</a:t>
            </a:r>
          </a:p>
          <a:p>
            <a:pPr marL="457200" lvl="1" indent="0">
              <a:buNone/>
            </a:pPr>
            <a:r>
              <a:rPr lang="en-US" sz="1800" dirty="0"/>
              <a:t>5. Discuss the importance of isolating affected systems and what actions should be taken to prevent further spread of the malware.</a:t>
            </a:r>
          </a:p>
        </p:txBody>
      </p:sp>
    </p:spTree>
    <p:extLst>
      <p:ext uri="{BB962C8B-B14F-4D97-AF65-F5344CB8AC3E}">
        <p14:creationId xmlns:p14="http://schemas.microsoft.com/office/powerpoint/2010/main" val="688343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D9C40-AD2E-CD2E-AB06-FB8CBF45CEA7}"/>
              </a:ext>
            </a:extLst>
          </p:cNvPr>
          <p:cNvSpPr>
            <a:spLocks noGrp="1"/>
          </p:cNvSpPr>
          <p:nvPr>
            <p:ph type="title"/>
          </p:nvPr>
        </p:nvSpPr>
        <p:spPr/>
        <p:txBody>
          <a:bodyPr/>
          <a:lstStyle/>
          <a:p>
            <a:r>
              <a:rPr lang="en-US" dirty="0"/>
              <a:t>Phase-wise questions (2/2)</a:t>
            </a:r>
          </a:p>
        </p:txBody>
      </p:sp>
      <p:sp>
        <p:nvSpPr>
          <p:cNvPr id="3" name="Content Placeholder 2">
            <a:extLst>
              <a:ext uri="{FF2B5EF4-FFF2-40B4-BE49-F238E27FC236}">
                <a16:creationId xmlns:a16="http://schemas.microsoft.com/office/drawing/2014/main" id="{6E727232-CE99-9EA9-FAE8-A2778F36CB18}"/>
              </a:ext>
            </a:extLst>
          </p:cNvPr>
          <p:cNvSpPr>
            <a:spLocks noGrp="1"/>
          </p:cNvSpPr>
          <p:nvPr>
            <p:ph idx="1"/>
          </p:nvPr>
        </p:nvSpPr>
        <p:spPr/>
        <p:txBody>
          <a:bodyPr>
            <a:normAutofit/>
          </a:bodyPr>
          <a:lstStyle/>
          <a:p>
            <a:r>
              <a:rPr lang="en-US" sz="2400" dirty="0"/>
              <a:t>Eradication:</a:t>
            </a:r>
          </a:p>
          <a:p>
            <a:pPr marL="457200" lvl="1" indent="0">
              <a:buNone/>
            </a:pPr>
            <a:r>
              <a:rPr lang="en-US" sz="2000" dirty="0"/>
              <a:t>6. Explain the actions the SOC should take to remove the malware from infected systems. Include steps for addressing vulnerabilities that allowed the incident to occur.</a:t>
            </a:r>
          </a:p>
          <a:p>
            <a:pPr marL="457200" lvl="1" indent="0">
              <a:buNone/>
            </a:pPr>
            <a:r>
              <a:rPr lang="en-US" sz="2000" dirty="0"/>
              <a:t>7. Discuss the role of forensic analysis in this phase and what information should be gathered.</a:t>
            </a:r>
          </a:p>
          <a:p>
            <a:r>
              <a:rPr lang="en-US" sz="2400" dirty="0"/>
              <a:t>Recovery:</a:t>
            </a:r>
          </a:p>
          <a:p>
            <a:pPr marL="457200" lvl="1" indent="0">
              <a:buNone/>
            </a:pPr>
            <a:r>
              <a:rPr lang="en-US" sz="2000" dirty="0"/>
              <a:t>8. Outline the steps the SOC should follow to restore normal operations after the incident. How can the SOC ensure that the systems are secure before reconnecting them to the network?</a:t>
            </a:r>
          </a:p>
          <a:p>
            <a:r>
              <a:rPr lang="en-US" sz="2400" dirty="0"/>
              <a:t>Lessons Learned:</a:t>
            </a:r>
          </a:p>
          <a:p>
            <a:pPr marL="457200" lvl="1" indent="0">
              <a:buNone/>
            </a:pPr>
            <a:r>
              <a:rPr lang="en-US" sz="2000" dirty="0"/>
              <a:t>9. Discuss the importance of conducting a post-incident review.</a:t>
            </a:r>
          </a:p>
        </p:txBody>
      </p:sp>
    </p:spTree>
    <p:extLst>
      <p:ext uri="{BB962C8B-B14F-4D97-AF65-F5344CB8AC3E}">
        <p14:creationId xmlns:p14="http://schemas.microsoft.com/office/powerpoint/2010/main" val="4078011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D0FC1-D15C-BBB3-0BA8-B90AC4F3190B}"/>
              </a:ext>
            </a:extLst>
          </p:cNvPr>
          <p:cNvSpPr>
            <a:spLocks noGrp="1"/>
          </p:cNvSpPr>
          <p:nvPr>
            <p:ph type="title"/>
          </p:nvPr>
        </p:nvSpPr>
        <p:spPr>
          <a:xfrm>
            <a:off x="838200" y="365126"/>
            <a:ext cx="10515600" cy="1325563"/>
          </a:xfrm>
        </p:spPr>
        <p:txBody>
          <a:bodyPr>
            <a:normAutofit fontScale="90000"/>
          </a:bodyPr>
          <a:lstStyle/>
          <a:p>
            <a:r>
              <a:rPr lang="en-US" dirty="0"/>
              <a:t>1. Describe the steps that the SOC should take in advance to prepare for potential incidents. </a:t>
            </a:r>
          </a:p>
        </p:txBody>
      </p:sp>
      <p:sp>
        <p:nvSpPr>
          <p:cNvPr id="3" name="Content Placeholder 2">
            <a:extLst>
              <a:ext uri="{FF2B5EF4-FFF2-40B4-BE49-F238E27FC236}">
                <a16:creationId xmlns:a16="http://schemas.microsoft.com/office/drawing/2014/main" id="{170A2D17-F934-3F01-280D-446EACD84F28}"/>
              </a:ext>
            </a:extLst>
          </p:cNvPr>
          <p:cNvSpPr>
            <a:spLocks noGrp="1"/>
          </p:cNvSpPr>
          <p:nvPr>
            <p:ph idx="1"/>
          </p:nvPr>
        </p:nvSpPr>
        <p:spPr>
          <a:xfrm>
            <a:off x="838200" y="1825625"/>
            <a:ext cx="10515600" cy="4351338"/>
          </a:xfrm>
        </p:spPr>
        <p:txBody>
          <a:bodyPr>
            <a:normAutofit fontScale="85000" lnSpcReduction="10000"/>
          </a:bodyPr>
          <a:lstStyle/>
          <a:p>
            <a:r>
              <a:rPr lang="en-US" dirty="0"/>
              <a:t>Before the incident, the SOC took the following practical actions:</a:t>
            </a:r>
          </a:p>
          <a:p>
            <a:pPr lvl="1"/>
            <a:r>
              <a:rPr lang="en-US" dirty="0"/>
              <a:t>Security Policy Development: </a:t>
            </a:r>
          </a:p>
          <a:p>
            <a:pPr lvl="2"/>
            <a:r>
              <a:rPr lang="en-US" dirty="0"/>
              <a:t>Established comprehensive policies regarding acceptable use, incident reporting, and security awareness.</a:t>
            </a:r>
          </a:p>
          <a:p>
            <a:pPr lvl="1"/>
            <a:r>
              <a:rPr lang="en-US" dirty="0"/>
              <a:t>Training and Awareness Programs: </a:t>
            </a:r>
          </a:p>
          <a:p>
            <a:pPr lvl="2"/>
            <a:r>
              <a:rPr lang="en-US" dirty="0"/>
              <a:t>Conducted regular training sessions for employees to recognize phishing attempts and other social engineering tactics. These sessions included simulated phishing emails to test employee awareness.</a:t>
            </a:r>
          </a:p>
          <a:p>
            <a:pPr lvl="1"/>
            <a:r>
              <a:rPr lang="en-US" dirty="0"/>
              <a:t>Tool Deployment: </a:t>
            </a:r>
          </a:p>
          <a:p>
            <a:pPr lvl="2"/>
            <a:r>
              <a:rPr lang="en-US" dirty="0"/>
              <a:t>Implemented security tools, including:</a:t>
            </a:r>
          </a:p>
          <a:p>
            <a:pPr lvl="3"/>
            <a:r>
              <a:rPr lang="en-US" dirty="0"/>
              <a:t>Anti-virus and anti-malware solutions across all workstations.</a:t>
            </a:r>
          </a:p>
          <a:p>
            <a:pPr lvl="3"/>
            <a:r>
              <a:rPr lang="en-US" dirty="0"/>
              <a:t>Firewalls and intrusion detection systems (IDS) to monitor network traffic.</a:t>
            </a:r>
          </a:p>
          <a:p>
            <a:pPr lvl="3"/>
            <a:r>
              <a:rPr lang="en-US" dirty="0"/>
              <a:t>Security information and event management (SIEM) systems for real-time alerting and monitoring.</a:t>
            </a:r>
          </a:p>
          <a:p>
            <a:pPr lvl="1"/>
            <a:r>
              <a:rPr lang="en-US" dirty="0"/>
              <a:t>Incident Response Plan: </a:t>
            </a:r>
          </a:p>
          <a:p>
            <a:pPr lvl="2"/>
            <a:r>
              <a:rPr lang="en-US" dirty="0"/>
              <a:t>Developed a documented incident response plan outlining roles, responsibilities, and procedures, ensuring that all team members knew their tasks in the event of an incident.</a:t>
            </a:r>
          </a:p>
        </p:txBody>
      </p:sp>
    </p:spTree>
    <p:extLst>
      <p:ext uri="{BB962C8B-B14F-4D97-AF65-F5344CB8AC3E}">
        <p14:creationId xmlns:p14="http://schemas.microsoft.com/office/powerpoint/2010/main" val="3996371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FC655-AE45-45C6-7000-DFFBD61CE529}"/>
              </a:ext>
            </a:extLst>
          </p:cNvPr>
          <p:cNvSpPr>
            <a:spLocks noGrp="1"/>
          </p:cNvSpPr>
          <p:nvPr>
            <p:ph type="title"/>
          </p:nvPr>
        </p:nvSpPr>
        <p:spPr>
          <a:xfrm>
            <a:off x="838200" y="365126"/>
            <a:ext cx="10515600" cy="1325563"/>
          </a:xfrm>
        </p:spPr>
        <p:txBody>
          <a:bodyPr>
            <a:noAutofit/>
          </a:bodyPr>
          <a:lstStyle/>
          <a:p>
            <a:r>
              <a:rPr lang="en-US" sz="4000" dirty="0"/>
              <a:t>2. What tools and methods would be used to identify the malware infection?</a:t>
            </a:r>
          </a:p>
        </p:txBody>
      </p:sp>
      <p:sp>
        <p:nvSpPr>
          <p:cNvPr id="3" name="Content Placeholder 2">
            <a:extLst>
              <a:ext uri="{FF2B5EF4-FFF2-40B4-BE49-F238E27FC236}">
                <a16:creationId xmlns:a16="http://schemas.microsoft.com/office/drawing/2014/main" id="{B54C3058-5A89-0F54-E14E-621EFB65E38F}"/>
              </a:ext>
            </a:extLst>
          </p:cNvPr>
          <p:cNvSpPr>
            <a:spLocks noGrp="1"/>
          </p:cNvSpPr>
          <p:nvPr>
            <p:ph idx="1"/>
          </p:nvPr>
        </p:nvSpPr>
        <p:spPr>
          <a:xfrm>
            <a:off x="838200" y="1825625"/>
            <a:ext cx="10515600" cy="4351338"/>
          </a:xfrm>
        </p:spPr>
        <p:txBody>
          <a:bodyPr>
            <a:normAutofit/>
          </a:bodyPr>
          <a:lstStyle/>
          <a:p>
            <a:r>
              <a:rPr lang="en-US" dirty="0"/>
              <a:t>Upon noticing unusual network activity, the SOC analysts performed the following steps to identify the incident:</a:t>
            </a:r>
          </a:p>
          <a:p>
            <a:pPr lvl="1"/>
            <a:r>
              <a:rPr lang="en-US" dirty="0"/>
              <a:t>Alert Monitoring: Used the SIEM system to monitor for alerts indicating unusual behavior, such as increased outbound traffic from specific workstations.</a:t>
            </a:r>
          </a:p>
          <a:p>
            <a:pPr lvl="1"/>
            <a:r>
              <a:rPr lang="en-US" dirty="0"/>
              <a:t>Log Analysis: Analyzed email logs and security event logs to trace the origin of the attack. They identified the phishing email and tracked the malware's entry point.</a:t>
            </a:r>
          </a:p>
          <a:p>
            <a:pPr lvl="1"/>
            <a:r>
              <a:rPr lang="en-US" dirty="0"/>
              <a:t>User Reports: Collected reports from employees who noticed suspicious activity on their systems, confirming the existence of the malware</a:t>
            </a:r>
          </a:p>
          <a:p>
            <a:endParaRPr lang="en-US" dirty="0"/>
          </a:p>
        </p:txBody>
      </p:sp>
    </p:spTree>
    <p:extLst>
      <p:ext uri="{BB962C8B-B14F-4D97-AF65-F5344CB8AC3E}">
        <p14:creationId xmlns:p14="http://schemas.microsoft.com/office/powerpoint/2010/main" val="189568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1C185-5444-A4FD-FA54-711472957890}"/>
              </a:ext>
            </a:extLst>
          </p:cNvPr>
          <p:cNvSpPr>
            <a:spLocks noGrp="1"/>
          </p:cNvSpPr>
          <p:nvPr>
            <p:ph type="title"/>
          </p:nvPr>
        </p:nvSpPr>
        <p:spPr>
          <a:xfrm>
            <a:off x="838200" y="365126"/>
            <a:ext cx="10515600" cy="1325563"/>
          </a:xfrm>
        </p:spPr>
        <p:txBody>
          <a:bodyPr>
            <a:noAutofit/>
          </a:bodyPr>
          <a:lstStyle/>
          <a:p>
            <a:r>
              <a:rPr lang="en-US" sz="3200" dirty="0"/>
              <a:t>3. Outline the specific indicators of compromise (</a:t>
            </a:r>
            <a:r>
              <a:rPr lang="en-US" sz="3200" dirty="0" err="1"/>
              <a:t>IoCs</a:t>
            </a:r>
            <a:r>
              <a:rPr lang="en-US" sz="3200" dirty="0"/>
              <a:t>) the SOC analysts should look for in this scenario.</a:t>
            </a:r>
          </a:p>
        </p:txBody>
      </p:sp>
      <p:sp>
        <p:nvSpPr>
          <p:cNvPr id="3" name="Content Placeholder 2">
            <a:extLst>
              <a:ext uri="{FF2B5EF4-FFF2-40B4-BE49-F238E27FC236}">
                <a16:creationId xmlns:a16="http://schemas.microsoft.com/office/drawing/2014/main" id="{31E89C74-5CAD-7F61-ACF9-8FAB620FFE23}"/>
              </a:ext>
            </a:extLst>
          </p:cNvPr>
          <p:cNvSpPr>
            <a:spLocks noGrp="1"/>
          </p:cNvSpPr>
          <p:nvPr>
            <p:ph idx="1"/>
          </p:nvPr>
        </p:nvSpPr>
        <p:spPr>
          <a:xfrm>
            <a:off x="838200" y="1825625"/>
            <a:ext cx="10515600" cy="4351338"/>
          </a:xfrm>
        </p:spPr>
        <p:txBody>
          <a:bodyPr/>
          <a:lstStyle/>
          <a:p>
            <a:r>
              <a:rPr lang="en-US" dirty="0"/>
              <a:t>Indicators of Compromise (</a:t>
            </a:r>
            <a:r>
              <a:rPr lang="en-US" dirty="0" err="1"/>
              <a:t>IoCs</a:t>
            </a:r>
            <a:r>
              <a:rPr lang="en-US" dirty="0"/>
              <a:t>):</a:t>
            </a:r>
          </a:p>
          <a:p>
            <a:pPr lvl="1"/>
            <a:r>
              <a:rPr lang="en-US" dirty="0"/>
              <a:t>Unusual outbound network traffic patterns.</a:t>
            </a:r>
          </a:p>
          <a:p>
            <a:pPr lvl="1"/>
            <a:r>
              <a:rPr lang="en-US" dirty="0"/>
              <a:t>Presence of known malicious IP addresses or domains in logs.</a:t>
            </a:r>
          </a:p>
          <a:p>
            <a:pPr lvl="1"/>
            <a:r>
              <a:rPr lang="en-US" dirty="0"/>
              <a:t>Reports from employees about suspicious emails or system behaviors.</a:t>
            </a:r>
          </a:p>
          <a:p>
            <a:pPr lvl="1"/>
            <a:r>
              <a:rPr lang="en-US" dirty="0"/>
              <a:t>Unexpected changes to files or processes on affected workstations.</a:t>
            </a:r>
          </a:p>
          <a:p>
            <a:endParaRPr lang="en-US" dirty="0"/>
          </a:p>
        </p:txBody>
      </p:sp>
      <p:pic>
        <p:nvPicPr>
          <p:cNvPr id="1026" name="Picture 2" descr="Traffic shaping using iptables and tc - Limiting outbound network ...">
            <a:extLst>
              <a:ext uri="{FF2B5EF4-FFF2-40B4-BE49-F238E27FC236}">
                <a16:creationId xmlns:a16="http://schemas.microsoft.com/office/drawing/2014/main" id="{3D7EA471-5E52-E26D-A5F1-6A8E841E59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59" y="4132263"/>
            <a:ext cx="5341339" cy="19494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87281AB-E6FE-B0DA-8349-49A41D516095}"/>
              </a:ext>
            </a:extLst>
          </p:cNvPr>
          <p:cNvSpPr txBox="1"/>
          <p:nvPr/>
        </p:nvSpPr>
        <p:spPr>
          <a:xfrm>
            <a:off x="-133350" y="6142207"/>
            <a:ext cx="6722609" cy="369332"/>
          </a:xfrm>
          <a:prstGeom prst="rect">
            <a:avLst/>
          </a:prstGeom>
          <a:noFill/>
        </p:spPr>
        <p:txBody>
          <a:bodyPr wrap="square">
            <a:spAutoFit/>
          </a:bodyPr>
          <a:lstStyle/>
          <a:p>
            <a:pPr lvl="1"/>
            <a:r>
              <a:rPr lang="en-US" dirty="0"/>
              <a:t>Example of unusual outbound network traffic patterns</a:t>
            </a:r>
          </a:p>
        </p:txBody>
      </p:sp>
      <p:pic>
        <p:nvPicPr>
          <p:cNvPr id="10" name="Picture 9">
            <a:extLst>
              <a:ext uri="{FF2B5EF4-FFF2-40B4-BE49-F238E27FC236}">
                <a16:creationId xmlns:a16="http://schemas.microsoft.com/office/drawing/2014/main" id="{65F03999-003D-2A2E-361F-196997CD4474}"/>
              </a:ext>
            </a:extLst>
          </p:cNvPr>
          <p:cNvPicPr>
            <a:picLocks noChangeAspect="1"/>
          </p:cNvPicPr>
          <p:nvPr/>
        </p:nvPicPr>
        <p:blipFill>
          <a:blip r:embed="rId3"/>
          <a:srcRect r="25489" b="75373"/>
          <a:stretch/>
        </p:blipFill>
        <p:spPr>
          <a:xfrm>
            <a:off x="5939517" y="4132263"/>
            <a:ext cx="5947683" cy="1028957"/>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87B8402E-FCAD-EFE6-FED6-CD0738C41BDC}"/>
              </a:ext>
            </a:extLst>
          </p:cNvPr>
          <p:cNvSpPr txBox="1"/>
          <p:nvPr/>
        </p:nvSpPr>
        <p:spPr>
          <a:xfrm>
            <a:off x="6589259" y="5221714"/>
            <a:ext cx="6143624" cy="369332"/>
          </a:xfrm>
          <a:prstGeom prst="rect">
            <a:avLst/>
          </a:prstGeom>
          <a:noFill/>
        </p:spPr>
        <p:txBody>
          <a:bodyPr wrap="square">
            <a:spAutoFit/>
          </a:bodyPr>
          <a:lstStyle/>
          <a:p>
            <a:r>
              <a:rPr lang="en-US" dirty="0"/>
              <a:t>Example of known malicious IP addresses </a:t>
            </a:r>
          </a:p>
        </p:txBody>
      </p:sp>
    </p:spTree>
    <p:extLst>
      <p:ext uri="{BB962C8B-B14F-4D97-AF65-F5344CB8AC3E}">
        <p14:creationId xmlns:p14="http://schemas.microsoft.com/office/powerpoint/2010/main" val="1181682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F75D68-C99C-07B5-077E-57228B7995F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8125" b="99000" l="24625" r="75500">
                        <a14:foregroundMark x1="49875" y1="59250" x2="50750" y2="54250"/>
                        <a14:foregroundMark x1="49875" y1="58875" x2="55625" y2="58000"/>
                        <a14:foregroundMark x1="50375" y1="61750" x2="44625" y2="56875"/>
                        <a14:foregroundMark x1="48125" y1="8125" x2="48125" y2="8125"/>
                        <a14:foregroundMark x1="38625" y1="92375" x2="38625" y2="92375"/>
                        <a14:foregroundMark x1="60250" y1="97875" x2="60250" y2="97875"/>
                        <a14:foregroundMark x1="38625" y1="42500" x2="38625" y2="42500"/>
                        <a14:foregroundMark x1="61375" y1="39875" x2="48125" y2="41625"/>
                        <a14:foregroundMark x1="36500" y1="41000" x2="46375" y2="41000"/>
                        <a14:foregroundMark x1="35375" y1="37625" x2="37125" y2="39000"/>
                        <a14:foregroundMark x1="35125" y1="42500" x2="41500" y2="33250"/>
                        <a14:foregroundMark x1="35125" y1="39625" x2="41500" y2="55000"/>
                        <a14:foregroundMark x1="41500" y1="55000" x2="34625" y2="41375"/>
                        <a14:foregroundMark x1="34625" y1="41375" x2="39125" y2="41000"/>
                        <a14:foregroundMark x1="58250" y1="37250" x2="65750" y2="50000"/>
                        <a14:foregroundMark x1="65750" y1="50000" x2="51500" y2="63125"/>
                        <a14:foregroundMark x1="51500" y1="63125" x2="47125" y2="43625"/>
                        <a14:foregroundMark x1="47125" y1="43625" x2="61625" y2="38125"/>
                        <a14:foregroundMark x1="44000" y1="22875" x2="45500" y2="23500"/>
                        <a14:foregroundMark x1="46125" y1="23750" x2="51875" y2="27250"/>
                        <a14:foregroundMark x1="34875" y1="99000" x2="36250" y2="95250"/>
                      </a14:backgroundRemoval>
                    </a14:imgEffect>
                  </a14:imgLayer>
                </a14:imgProps>
              </a:ext>
            </a:extLst>
          </a:blip>
          <a:srcRect l="18269" r="18029"/>
          <a:stretch/>
        </p:blipFill>
        <p:spPr>
          <a:xfrm>
            <a:off x="10035786" y="3076575"/>
            <a:ext cx="2060964" cy="3235324"/>
          </a:xfrm>
          <a:prstGeom prst="rect">
            <a:avLst/>
          </a:prstGeom>
        </p:spPr>
      </p:pic>
      <p:sp>
        <p:nvSpPr>
          <p:cNvPr id="2" name="Title 1">
            <a:extLst>
              <a:ext uri="{FF2B5EF4-FFF2-40B4-BE49-F238E27FC236}">
                <a16:creationId xmlns:a16="http://schemas.microsoft.com/office/drawing/2014/main" id="{B8FDD4DE-1E03-A106-1FB4-C47D25EA138D}"/>
              </a:ext>
            </a:extLst>
          </p:cNvPr>
          <p:cNvSpPr>
            <a:spLocks noGrp="1"/>
          </p:cNvSpPr>
          <p:nvPr>
            <p:ph type="title"/>
          </p:nvPr>
        </p:nvSpPr>
        <p:spPr/>
        <p:txBody>
          <a:bodyPr>
            <a:noAutofit/>
          </a:bodyPr>
          <a:lstStyle/>
          <a:p>
            <a:r>
              <a:rPr lang="en-US" sz="2800" dirty="0"/>
              <a:t>4. Identify both short-term and long-term containment measures the SOC could implement once the incident is confirmed.</a:t>
            </a:r>
          </a:p>
        </p:txBody>
      </p:sp>
      <p:sp>
        <p:nvSpPr>
          <p:cNvPr id="3" name="Content Placeholder 2">
            <a:extLst>
              <a:ext uri="{FF2B5EF4-FFF2-40B4-BE49-F238E27FC236}">
                <a16:creationId xmlns:a16="http://schemas.microsoft.com/office/drawing/2014/main" id="{57CF675B-66F5-1447-204F-AD6D4459C3F3}"/>
              </a:ext>
            </a:extLst>
          </p:cNvPr>
          <p:cNvSpPr>
            <a:spLocks noGrp="1"/>
          </p:cNvSpPr>
          <p:nvPr>
            <p:ph idx="1"/>
          </p:nvPr>
        </p:nvSpPr>
        <p:spPr>
          <a:xfrm>
            <a:off x="838199" y="1825625"/>
            <a:ext cx="9401175" cy="4351338"/>
          </a:xfrm>
        </p:spPr>
        <p:txBody>
          <a:bodyPr>
            <a:normAutofit/>
          </a:bodyPr>
          <a:lstStyle/>
          <a:p>
            <a:r>
              <a:rPr lang="en-US" dirty="0"/>
              <a:t>Short-Term Containment Measures:</a:t>
            </a:r>
          </a:p>
          <a:p>
            <a:pPr lvl="1"/>
            <a:r>
              <a:rPr lang="en-US" dirty="0"/>
              <a:t>Immediately isolate affected workstations from the network by disabling their network connections to prevent the spread of malware.</a:t>
            </a:r>
          </a:p>
          <a:p>
            <a:pPr lvl="1"/>
            <a:r>
              <a:rPr lang="en-US" dirty="0"/>
              <a:t>Temporarily suspend user accounts associated with infected systems to limit further access.</a:t>
            </a:r>
          </a:p>
          <a:p>
            <a:r>
              <a:rPr lang="en-US" dirty="0"/>
              <a:t>Long-Term Containment Measures:</a:t>
            </a:r>
          </a:p>
          <a:p>
            <a:pPr lvl="1"/>
            <a:r>
              <a:rPr lang="en-US" dirty="0"/>
              <a:t>Develop temporary patches for affected systems to restrict access while a more permanent solution is being implemented.</a:t>
            </a:r>
          </a:p>
          <a:p>
            <a:pPr lvl="1"/>
            <a:r>
              <a:rPr lang="en-US" dirty="0"/>
              <a:t>Review and adjust firewall rules and access controls to further limit exposure.</a:t>
            </a:r>
          </a:p>
        </p:txBody>
      </p:sp>
      <p:sp>
        <p:nvSpPr>
          <p:cNvPr id="6" name="TextBox 5">
            <a:extLst>
              <a:ext uri="{FF2B5EF4-FFF2-40B4-BE49-F238E27FC236}">
                <a16:creationId xmlns:a16="http://schemas.microsoft.com/office/drawing/2014/main" id="{E311C028-E99A-4199-98A1-7B8F21F43AA8}"/>
              </a:ext>
            </a:extLst>
          </p:cNvPr>
          <p:cNvSpPr txBox="1"/>
          <p:nvPr/>
        </p:nvSpPr>
        <p:spPr>
          <a:xfrm>
            <a:off x="981075" y="6311899"/>
            <a:ext cx="6096000" cy="230832"/>
          </a:xfrm>
          <a:prstGeom prst="rect">
            <a:avLst/>
          </a:prstGeom>
          <a:noFill/>
        </p:spPr>
        <p:txBody>
          <a:bodyPr wrap="square">
            <a:spAutoFit/>
          </a:bodyPr>
          <a:lstStyle/>
          <a:p>
            <a:r>
              <a:rPr lang="en-US" sz="900" dirty="0"/>
              <a:t>Source of image: dreamstime.com</a:t>
            </a:r>
          </a:p>
        </p:txBody>
      </p:sp>
    </p:spTree>
    <p:extLst>
      <p:ext uri="{BB962C8B-B14F-4D97-AF65-F5344CB8AC3E}">
        <p14:creationId xmlns:p14="http://schemas.microsoft.com/office/powerpoint/2010/main" val="2068721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C26B3-8FD6-FA79-65D4-D5032372528A}"/>
              </a:ext>
            </a:extLst>
          </p:cNvPr>
          <p:cNvSpPr>
            <a:spLocks noGrp="1"/>
          </p:cNvSpPr>
          <p:nvPr>
            <p:ph type="title"/>
          </p:nvPr>
        </p:nvSpPr>
        <p:spPr/>
        <p:txBody>
          <a:bodyPr>
            <a:noAutofit/>
          </a:bodyPr>
          <a:lstStyle/>
          <a:p>
            <a:r>
              <a:rPr lang="en-US" sz="2800"/>
              <a:t>5. Discuss the importance of isolating affected systems and what actions should be taken to prevent further spread of the malware.</a:t>
            </a:r>
            <a:endParaRPr lang="en-US" sz="2800" dirty="0"/>
          </a:p>
        </p:txBody>
      </p:sp>
      <p:sp>
        <p:nvSpPr>
          <p:cNvPr id="3" name="Content Placeholder 2">
            <a:extLst>
              <a:ext uri="{FF2B5EF4-FFF2-40B4-BE49-F238E27FC236}">
                <a16:creationId xmlns:a16="http://schemas.microsoft.com/office/drawing/2014/main" id="{7E399427-DA4A-E553-024B-4D151496EF75}"/>
              </a:ext>
            </a:extLst>
          </p:cNvPr>
          <p:cNvSpPr>
            <a:spLocks noGrp="1"/>
          </p:cNvSpPr>
          <p:nvPr>
            <p:ph idx="1"/>
          </p:nvPr>
        </p:nvSpPr>
        <p:spPr>
          <a:xfrm>
            <a:off x="669471" y="1484483"/>
            <a:ext cx="10853057" cy="4915085"/>
          </a:xfrm>
        </p:spPr>
        <p:txBody>
          <a:bodyPr>
            <a:noAutofit/>
          </a:bodyPr>
          <a:lstStyle/>
          <a:p>
            <a:r>
              <a:rPr lang="en-US" sz="2400" dirty="0"/>
              <a:t>Isolating affected systems during a cybersecurity incident is crucial for several reasons:</a:t>
            </a:r>
          </a:p>
          <a:p>
            <a:pPr lvl="1"/>
            <a:r>
              <a:rPr lang="en-US" sz="2000" dirty="0"/>
              <a:t>Preventing Further Spread: </a:t>
            </a:r>
          </a:p>
          <a:p>
            <a:pPr lvl="2"/>
            <a:r>
              <a:rPr lang="en-US" sz="1600" dirty="0"/>
              <a:t>The primary goal of isolating infected systems is to halt the malware's ability to propagate within the network. Once a system is compromised, malware can often spread to other connected devices or systems. Isolating the affected machines ensures that the threat does not escalate or affect additional assets​.</a:t>
            </a:r>
          </a:p>
          <a:p>
            <a:pPr lvl="1"/>
            <a:r>
              <a:rPr lang="en-US" sz="2000" dirty="0"/>
              <a:t>Minimizing Damage: </a:t>
            </a:r>
          </a:p>
          <a:p>
            <a:pPr lvl="2"/>
            <a:r>
              <a:rPr lang="en-US" sz="1600" dirty="0"/>
              <a:t>By containing the affected systems, organizations can minimize the potential damage that malware may cause. This includes preventing data loss, theft, or corruption. </a:t>
            </a:r>
          </a:p>
          <a:p>
            <a:pPr lvl="2"/>
            <a:r>
              <a:rPr lang="en-US" sz="1600" dirty="0"/>
              <a:t>Isolated systems can be assessed and remediated without risking critical business operations​.</a:t>
            </a:r>
          </a:p>
          <a:p>
            <a:pPr lvl="1"/>
            <a:r>
              <a:rPr lang="en-US" sz="2000" dirty="0"/>
              <a:t>Facilitating Forensic Investigation: </a:t>
            </a:r>
          </a:p>
          <a:p>
            <a:pPr lvl="2"/>
            <a:r>
              <a:rPr lang="en-US" sz="1600" dirty="0"/>
              <a:t>Isolating affected systems allows incident response teams to conduct a forensic investigation without interference. This is essential for identifying the root cause of the incident, understanding how the malware entered the environment, and developing strategies to prevent future occurrences.</a:t>
            </a:r>
          </a:p>
          <a:p>
            <a:pPr lvl="1"/>
            <a:r>
              <a:rPr lang="en-US" sz="2000" dirty="0"/>
              <a:t>Maintaining Business Continuity: </a:t>
            </a:r>
          </a:p>
          <a:p>
            <a:pPr lvl="2"/>
            <a:r>
              <a:rPr lang="en-US" sz="1600" dirty="0"/>
              <a:t>By isolating infected systems, organizations can continue to operate unaffected parts of their infrastructure. This containment strategy helps maintain essential services while the incident is being managed​.</a:t>
            </a:r>
          </a:p>
        </p:txBody>
      </p:sp>
    </p:spTree>
    <p:extLst>
      <p:ext uri="{BB962C8B-B14F-4D97-AF65-F5344CB8AC3E}">
        <p14:creationId xmlns:p14="http://schemas.microsoft.com/office/powerpoint/2010/main" val="36453635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8808F-41E8-360A-D5D1-F958FF0867F9}"/>
              </a:ext>
            </a:extLst>
          </p:cNvPr>
          <p:cNvSpPr>
            <a:spLocks noGrp="1"/>
          </p:cNvSpPr>
          <p:nvPr>
            <p:ph type="title"/>
          </p:nvPr>
        </p:nvSpPr>
        <p:spPr/>
        <p:txBody>
          <a:bodyPr>
            <a:normAutofit fontScale="90000"/>
          </a:bodyPr>
          <a:lstStyle/>
          <a:p>
            <a:r>
              <a:rPr lang="en-US" dirty="0"/>
              <a:t>6. Explain the actions the SOC should take to remove the malware from infected systems.</a:t>
            </a:r>
          </a:p>
        </p:txBody>
      </p:sp>
      <p:sp>
        <p:nvSpPr>
          <p:cNvPr id="3" name="Content Placeholder 2">
            <a:extLst>
              <a:ext uri="{FF2B5EF4-FFF2-40B4-BE49-F238E27FC236}">
                <a16:creationId xmlns:a16="http://schemas.microsoft.com/office/drawing/2014/main" id="{66875F34-B01F-F27C-9EF0-465E5BB97953}"/>
              </a:ext>
            </a:extLst>
          </p:cNvPr>
          <p:cNvSpPr>
            <a:spLocks noGrp="1"/>
          </p:cNvSpPr>
          <p:nvPr>
            <p:ph idx="1"/>
          </p:nvPr>
        </p:nvSpPr>
        <p:spPr>
          <a:xfrm>
            <a:off x="838200" y="1825625"/>
            <a:ext cx="7557247" cy="4351338"/>
          </a:xfrm>
        </p:spPr>
        <p:txBody>
          <a:bodyPr>
            <a:normAutofit/>
          </a:bodyPr>
          <a:lstStyle/>
          <a:p>
            <a:r>
              <a:rPr lang="en-US" sz="1800" dirty="0"/>
              <a:t>When a Security Operations Center (SOC) identifies a malware infection on systems, several critical actions should be taken to effectively eradicate the threat. These actions can be categorized into several key phases:</a:t>
            </a:r>
          </a:p>
          <a:p>
            <a:r>
              <a:rPr lang="en-US" sz="1800" dirty="0"/>
              <a:t>Phase 1: Initial Assessment and Containment:</a:t>
            </a:r>
          </a:p>
          <a:p>
            <a:pPr lvl="1"/>
            <a:r>
              <a:rPr lang="en-US" sz="1600" dirty="0"/>
              <a:t>Assess the Extent of Infection: The SOC should quickly determine the scope of the malware infection, identifying which systems are affected and the type of malware involved. This assessment helps prioritize remediation efforts .</a:t>
            </a:r>
          </a:p>
          <a:p>
            <a:pPr lvl="1"/>
            <a:r>
              <a:rPr lang="en-US" sz="1600" dirty="0"/>
              <a:t>Contain Affected Systems: Before proceeding with removal, it is essential to isolate the infected systems from the network to prevent further spread of the malware, as previously discussed .</a:t>
            </a:r>
          </a:p>
          <a:p>
            <a:endParaRPr lang="en-US" sz="1800" dirty="0"/>
          </a:p>
        </p:txBody>
      </p:sp>
      <p:pic>
        <p:nvPicPr>
          <p:cNvPr id="4" name="Picture 3">
            <a:extLst>
              <a:ext uri="{FF2B5EF4-FFF2-40B4-BE49-F238E27FC236}">
                <a16:creationId xmlns:a16="http://schemas.microsoft.com/office/drawing/2014/main" id="{10B77A0B-52EF-F682-516A-CEEB2BBA819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027" b="91892" l="9730" r="93649">
                        <a14:foregroundMark x1="12027" y1="40135" x2="19730" y2="38784"/>
                        <a14:foregroundMark x1="19730" y1="38784" x2="25405" y2="47027"/>
                        <a14:foregroundMark x1="25405" y1="47027" x2="28378" y2="63784"/>
                        <a14:foregroundMark x1="28378" y1="63784" x2="28108" y2="71757"/>
                        <a14:foregroundMark x1="28108" y1="71757" x2="35946" y2="73784"/>
                        <a14:foregroundMark x1="35946" y1="73784" x2="44865" y2="71757"/>
                        <a14:foregroundMark x1="44865" y1="71757" x2="91892" y2="80811"/>
                        <a14:foregroundMark x1="91892" y1="80811" x2="89865" y2="88784"/>
                        <a14:foregroundMark x1="89865" y1="88784" x2="34054" y2="93784"/>
                        <a14:foregroundMark x1="34054" y1="93784" x2="12027" y2="89730"/>
                        <a14:foregroundMark x1="12027" y1="89730" x2="7027" y2="84054"/>
                        <a14:foregroundMark x1="7027" y1="84054" x2="10000" y2="73378"/>
                        <a14:foregroundMark x1="10000" y1="73378" x2="9730" y2="53108"/>
                        <a14:foregroundMark x1="9730" y1="53108" x2="12027" y2="46081"/>
                        <a14:foregroundMark x1="12027" y1="46081" x2="12027" y2="40405"/>
                        <a14:foregroundMark x1="19459" y1="39189" x2="25811" y2="44595"/>
                        <a14:foregroundMark x1="25811" y1="44595" x2="25811" y2="47297"/>
                        <a14:foregroundMark x1="12432" y1="43108" x2="20811" y2="54730"/>
                        <a14:foregroundMark x1="20811" y1="54730" x2="22027" y2="50946"/>
                        <a14:foregroundMark x1="27568" y1="91892" x2="42703" y2="91622"/>
                        <a14:foregroundMark x1="42703" y1="91622" x2="55000" y2="92162"/>
                        <a14:foregroundMark x1="27703" y1="79730" x2="43243" y2="79595"/>
                        <a14:foregroundMark x1="43243" y1="79595" x2="43378" y2="79595"/>
                        <a14:foregroundMark x1="32973" y1="76757" x2="29595" y2="61486"/>
                        <a14:foregroundMark x1="35676" y1="82432" x2="49595" y2="85946"/>
                        <a14:foregroundMark x1="29595" y1="87838" x2="36081" y2="89054"/>
                        <a14:foregroundMark x1="76622" y1="55135" x2="82973" y2="54595"/>
                        <a14:foregroundMark x1="75135" y1="52162" x2="82432" y2="57973"/>
                        <a14:foregroundMark x1="77973" y1="63108" x2="77568" y2="55811"/>
                        <a14:foregroundMark x1="89324" y1="65946" x2="92027" y2="50000"/>
                        <a14:foregroundMark x1="93649" y1="49730" x2="92432" y2="46622"/>
                        <a14:foregroundMark x1="42568" y1="31757" x2="52162" y2="34324"/>
                        <a14:foregroundMark x1="45000" y1="26757" x2="49730" y2="24189"/>
                        <a14:foregroundMark x1="55135" y1="24054" x2="60135" y2="27027"/>
                        <a14:foregroundMark x1="59865" y1="30135" x2="55270" y2="33919"/>
                        <a14:foregroundMark x1="82027" y1="77297" x2="83784" y2="67297"/>
                        <a14:foregroundMark x1="83784" y1="67297" x2="83243" y2="70946"/>
                        <a14:foregroundMark x1="39595" y1="10135" x2="37838" y2="9054"/>
                        <a14:foregroundMark x1="56351" y1="8243" x2="54865" y2="9595"/>
                        <a14:foregroundMark x1="38108" y1="8378" x2="38108" y2="7838"/>
                        <a14:foregroundMark x1="57432" y1="7027" x2="56622" y2="8378"/>
                      </a14:backgroundRemoval>
                    </a14:imgEffect>
                  </a14:imgLayer>
                </a14:imgProps>
              </a:ext>
            </a:extLst>
          </a:blip>
          <a:stretch>
            <a:fillRect/>
          </a:stretch>
        </p:blipFill>
        <p:spPr>
          <a:xfrm>
            <a:off x="8556812" y="2017059"/>
            <a:ext cx="3200400" cy="3200400"/>
          </a:xfrm>
          <a:prstGeom prst="rect">
            <a:avLst/>
          </a:prstGeom>
        </p:spPr>
      </p:pic>
      <p:sp>
        <p:nvSpPr>
          <p:cNvPr id="5" name="TextBox 4">
            <a:extLst>
              <a:ext uri="{FF2B5EF4-FFF2-40B4-BE49-F238E27FC236}">
                <a16:creationId xmlns:a16="http://schemas.microsoft.com/office/drawing/2014/main" id="{1FF76A69-C513-925C-71B7-B81B97F2EE6F}"/>
              </a:ext>
            </a:extLst>
          </p:cNvPr>
          <p:cNvSpPr txBox="1"/>
          <p:nvPr/>
        </p:nvSpPr>
        <p:spPr>
          <a:xfrm>
            <a:off x="981075" y="6311899"/>
            <a:ext cx="6096000" cy="230832"/>
          </a:xfrm>
          <a:prstGeom prst="rect">
            <a:avLst/>
          </a:prstGeom>
          <a:noFill/>
        </p:spPr>
        <p:txBody>
          <a:bodyPr wrap="square">
            <a:spAutoFit/>
          </a:bodyPr>
          <a:lstStyle/>
          <a:p>
            <a:r>
              <a:rPr lang="en-US" sz="900" dirty="0"/>
              <a:t>Source of image: pinclipart.com</a:t>
            </a:r>
          </a:p>
        </p:txBody>
      </p:sp>
    </p:spTree>
    <p:extLst>
      <p:ext uri="{BB962C8B-B14F-4D97-AF65-F5344CB8AC3E}">
        <p14:creationId xmlns:p14="http://schemas.microsoft.com/office/powerpoint/2010/main" val="13449440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057A5-6799-53E7-B541-F862E0BA4BCB}"/>
              </a:ext>
            </a:extLst>
          </p:cNvPr>
          <p:cNvSpPr>
            <a:spLocks noGrp="1"/>
          </p:cNvSpPr>
          <p:nvPr>
            <p:ph type="title"/>
          </p:nvPr>
        </p:nvSpPr>
        <p:spPr/>
        <p:txBody>
          <a:bodyPr>
            <a:normAutofit fontScale="90000"/>
          </a:bodyPr>
          <a:lstStyle/>
          <a:p>
            <a:r>
              <a:rPr lang="en-US" dirty="0"/>
              <a:t>6. Explain the actions the SOC should take to remove the malware from infected systems.</a:t>
            </a:r>
          </a:p>
        </p:txBody>
      </p:sp>
      <p:sp>
        <p:nvSpPr>
          <p:cNvPr id="9" name="Content Placeholder 8">
            <a:extLst>
              <a:ext uri="{FF2B5EF4-FFF2-40B4-BE49-F238E27FC236}">
                <a16:creationId xmlns:a16="http://schemas.microsoft.com/office/drawing/2014/main" id="{2D94E58F-F99F-1F8A-2107-BAEA7163E709}"/>
              </a:ext>
            </a:extLst>
          </p:cNvPr>
          <p:cNvSpPr>
            <a:spLocks noGrp="1"/>
          </p:cNvSpPr>
          <p:nvPr>
            <p:ph idx="1"/>
          </p:nvPr>
        </p:nvSpPr>
        <p:spPr/>
        <p:txBody>
          <a:bodyPr>
            <a:normAutofit/>
          </a:bodyPr>
          <a:lstStyle/>
          <a:p>
            <a:r>
              <a:rPr lang="en-US" sz="2000" dirty="0"/>
              <a:t>Phase 2: Malware Identification:</a:t>
            </a:r>
          </a:p>
          <a:p>
            <a:pPr lvl="1"/>
            <a:r>
              <a:rPr lang="en-US" sz="1800" dirty="0"/>
              <a:t>Use Threat Intelligence: Utilize threat intelligence resources to gather information on the specific malware variant involved in the incident. This can include identifying known signatures and behavior patterns associated with the malware .</a:t>
            </a:r>
          </a:p>
          <a:p>
            <a:pPr lvl="1"/>
            <a:r>
              <a:rPr lang="en-US" sz="1800" dirty="0"/>
              <a:t>Run Scans with Updated Security Tools: Conduct comprehensive scans using reputable anti-virus and anti-malware software. It is critical to ensure that these tools are updated to recognize the latest threats.</a:t>
            </a:r>
          </a:p>
          <a:p>
            <a:r>
              <a:rPr lang="en-US" sz="2000" dirty="0"/>
              <a:t>Phase 3: Malware Removal:</a:t>
            </a:r>
          </a:p>
          <a:p>
            <a:pPr lvl="1"/>
            <a:r>
              <a:rPr lang="en-US" sz="1800" dirty="0"/>
              <a:t>Quarantine and Delete: Once the malware is identified, the SOC should quarantine the affected files and applications. Most modern anti-malware tools provide options to isolate or delete detected threats safely .</a:t>
            </a:r>
          </a:p>
          <a:p>
            <a:pPr lvl="1"/>
            <a:r>
              <a:rPr lang="en-US" sz="1800" dirty="0"/>
              <a:t>Manual Removal (if necessary): In some cases, particularly with sophisticated or rootkit malware, automated tools may not be sufficient. The SOC may need to manually remove malware components, including registry entries or malicious files, while ensuring that system integrity is maintained.</a:t>
            </a:r>
          </a:p>
          <a:p>
            <a:endParaRPr lang="en-US" sz="2000" dirty="0"/>
          </a:p>
        </p:txBody>
      </p:sp>
    </p:spTree>
    <p:extLst>
      <p:ext uri="{BB962C8B-B14F-4D97-AF65-F5344CB8AC3E}">
        <p14:creationId xmlns:p14="http://schemas.microsoft.com/office/powerpoint/2010/main" val="1537996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766CE-C448-0B17-AB89-44C0FED4B922}"/>
              </a:ext>
            </a:extLst>
          </p:cNvPr>
          <p:cNvSpPr>
            <a:spLocks noGrp="1"/>
          </p:cNvSpPr>
          <p:nvPr>
            <p:ph type="title"/>
          </p:nvPr>
        </p:nvSpPr>
        <p:spPr/>
        <p:txBody>
          <a:bodyPr>
            <a:noAutofit/>
          </a:bodyPr>
          <a:lstStyle/>
          <a:p>
            <a:r>
              <a:rPr lang="en-US" sz="3200" dirty="0"/>
              <a:t>7. Discuss the role of forensic analysis in this phase and what information should be gathered.</a:t>
            </a:r>
          </a:p>
        </p:txBody>
      </p:sp>
      <p:sp>
        <p:nvSpPr>
          <p:cNvPr id="3" name="Content Placeholder 2">
            <a:extLst>
              <a:ext uri="{FF2B5EF4-FFF2-40B4-BE49-F238E27FC236}">
                <a16:creationId xmlns:a16="http://schemas.microsoft.com/office/drawing/2014/main" id="{5F196AE9-90F2-258E-F08A-18CB04AD3C78}"/>
              </a:ext>
            </a:extLst>
          </p:cNvPr>
          <p:cNvSpPr>
            <a:spLocks noGrp="1"/>
          </p:cNvSpPr>
          <p:nvPr>
            <p:ph idx="1"/>
          </p:nvPr>
        </p:nvSpPr>
        <p:spPr>
          <a:xfrm>
            <a:off x="838200" y="1825625"/>
            <a:ext cx="10515600" cy="4775200"/>
          </a:xfrm>
        </p:spPr>
        <p:txBody>
          <a:bodyPr>
            <a:normAutofit fontScale="92500"/>
          </a:bodyPr>
          <a:lstStyle/>
          <a:p>
            <a:r>
              <a:rPr lang="en-US" sz="2400" dirty="0"/>
              <a:t>Forensic analysis helps identify the root cause of the incident, providing insights into how the attack occurred and guiding future prevention strategies.</a:t>
            </a:r>
          </a:p>
          <a:p>
            <a:r>
              <a:rPr lang="en-US" sz="2400" dirty="0"/>
              <a:t>Forensic analysis allows incident responders to thoroughly examine the malware, identifying its various components and methods of operation. Understanding the complete structure and functionality of the malware is crucial for effectively removing it without leaving remnants that could lead to a re-infection​(</a:t>
            </a:r>
          </a:p>
          <a:p>
            <a:r>
              <a:rPr lang="en-US" sz="2400" dirty="0"/>
              <a:t>Many malware strains employ techniques to persist across reboots or re-installations. Forensic analysis can uncover these persistence mechanisms—such as modified registry entries, scheduled tasks, or startup programs—ensuring that all methods of reinfection are identified and eliminated.</a:t>
            </a:r>
          </a:p>
          <a:p>
            <a:r>
              <a:rPr lang="en-US" sz="2400" dirty="0"/>
              <a:t>The evidence collected during forensic analysis may be required for legal or compliance reasons. Proper documentation of findings helps organizations meet regulatory obligations and can support legal action against perpetrators.</a:t>
            </a:r>
          </a:p>
        </p:txBody>
      </p:sp>
    </p:spTree>
    <p:extLst>
      <p:ext uri="{BB962C8B-B14F-4D97-AF65-F5344CB8AC3E}">
        <p14:creationId xmlns:p14="http://schemas.microsoft.com/office/powerpoint/2010/main" val="31073771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3786F-675A-22D5-6AE4-3236799DF2AF}"/>
              </a:ext>
            </a:extLst>
          </p:cNvPr>
          <p:cNvSpPr>
            <a:spLocks noGrp="1"/>
          </p:cNvSpPr>
          <p:nvPr>
            <p:ph type="title"/>
          </p:nvPr>
        </p:nvSpPr>
        <p:spPr/>
        <p:txBody>
          <a:bodyPr>
            <a:noAutofit/>
          </a:bodyPr>
          <a:lstStyle/>
          <a:p>
            <a:r>
              <a:rPr lang="en-US" sz="2800" dirty="0"/>
              <a:t>8. Outline the steps the SOC should follow to restore normal operations after the incident. </a:t>
            </a:r>
          </a:p>
        </p:txBody>
      </p:sp>
      <p:sp>
        <p:nvSpPr>
          <p:cNvPr id="3" name="Content Placeholder 2">
            <a:extLst>
              <a:ext uri="{FF2B5EF4-FFF2-40B4-BE49-F238E27FC236}">
                <a16:creationId xmlns:a16="http://schemas.microsoft.com/office/drawing/2014/main" id="{69529EC8-E2F1-E80A-8FF9-65C77D05890E}"/>
              </a:ext>
            </a:extLst>
          </p:cNvPr>
          <p:cNvSpPr>
            <a:spLocks noGrp="1"/>
          </p:cNvSpPr>
          <p:nvPr>
            <p:ph idx="1"/>
          </p:nvPr>
        </p:nvSpPr>
        <p:spPr/>
        <p:txBody>
          <a:bodyPr>
            <a:normAutofit/>
          </a:bodyPr>
          <a:lstStyle/>
          <a:p>
            <a:r>
              <a:rPr lang="en-US" dirty="0"/>
              <a:t>Steps for System Restoration:</a:t>
            </a:r>
          </a:p>
          <a:p>
            <a:pPr lvl="1"/>
            <a:r>
              <a:rPr lang="en-US" dirty="0"/>
              <a:t>Clean and rebuild affected workstations using secure images to ensure no remnants of the malware remain.</a:t>
            </a:r>
          </a:p>
          <a:p>
            <a:pPr lvl="1"/>
            <a:r>
              <a:rPr lang="en-US" dirty="0"/>
              <a:t>Apply security patches and updates to all systems before reconnecting them to the network.</a:t>
            </a:r>
          </a:p>
          <a:p>
            <a:r>
              <a:rPr lang="en-US" dirty="0"/>
              <a:t>Ensuring Security Before Reconnection:</a:t>
            </a:r>
          </a:p>
          <a:p>
            <a:pPr lvl="1"/>
            <a:r>
              <a:rPr lang="en-US" dirty="0"/>
              <a:t>Conduct thorough testing to verify that systems are functioning correctly and securely.</a:t>
            </a:r>
          </a:p>
          <a:p>
            <a:pPr lvl="1"/>
            <a:r>
              <a:rPr lang="en-US" dirty="0"/>
              <a:t>Monitor affected systems closely after recovery to detect any signs of residual malware or potential threats.</a:t>
            </a:r>
          </a:p>
        </p:txBody>
      </p:sp>
    </p:spTree>
    <p:extLst>
      <p:ext uri="{BB962C8B-B14F-4D97-AF65-F5344CB8AC3E}">
        <p14:creationId xmlns:p14="http://schemas.microsoft.com/office/powerpoint/2010/main" val="2787734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F608E-0D79-56AB-9352-659033D5F543}"/>
              </a:ext>
            </a:extLst>
          </p:cNvPr>
          <p:cNvSpPr>
            <a:spLocks noGrp="1"/>
          </p:cNvSpPr>
          <p:nvPr>
            <p:ph type="title"/>
          </p:nvPr>
        </p:nvSpPr>
        <p:spPr>
          <a:xfrm>
            <a:off x="838200" y="365126"/>
            <a:ext cx="10515600" cy="1325563"/>
          </a:xfrm>
        </p:spPr>
        <p:txBody>
          <a:bodyPr>
            <a:noAutofit/>
          </a:bodyPr>
          <a:lstStyle/>
          <a:p>
            <a:r>
              <a:rPr lang="en-US" sz="4000" dirty="0"/>
              <a:t>9. Discuss the importance of conducting a post-incident review. </a:t>
            </a:r>
          </a:p>
        </p:txBody>
      </p:sp>
      <p:sp>
        <p:nvSpPr>
          <p:cNvPr id="3" name="Content Placeholder 2">
            <a:extLst>
              <a:ext uri="{FF2B5EF4-FFF2-40B4-BE49-F238E27FC236}">
                <a16:creationId xmlns:a16="http://schemas.microsoft.com/office/drawing/2014/main" id="{5B4139D2-C274-FCF7-353C-2B5D221018FA}"/>
              </a:ext>
            </a:extLst>
          </p:cNvPr>
          <p:cNvSpPr>
            <a:spLocks noGrp="1"/>
          </p:cNvSpPr>
          <p:nvPr>
            <p:ph idx="1"/>
          </p:nvPr>
        </p:nvSpPr>
        <p:spPr>
          <a:xfrm>
            <a:off x="838200" y="1825625"/>
            <a:ext cx="10515600" cy="4351338"/>
          </a:xfrm>
        </p:spPr>
        <p:txBody>
          <a:bodyPr>
            <a:normAutofit fontScale="85000" lnSpcReduction="20000"/>
          </a:bodyPr>
          <a:lstStyle/>
          <a:p>
            <a:r>
              <a:rPr lang="en-US" dirty="0"/>
              <a:t>Learning from Experience: </a:t>
            </a:r>
          </a:p>
          <a:p>
            <a:pPr lvl="1"/>
            <a:r>
              <a:rPr lang="en-US" dirty="0"/>
              <a:t>The "Lessons Learned" phase helps the SOC capture insights on response effectiveness and gaps, improving defenses against future attacks.</a:t>
            </a:r>
          </a:p>
          <a:p>
            <a:r>
              <a:rPr lang="en-US" dirty="0"/>
              <a:t>Identifying Weaknesses: </a:t>
            </a:r>
          </a:p>
          <a:p>
            <a:pPr lvl="1"/>
            <a:r>
              <a:rPr lang="en-US" dirty="0"/>
              <a:t>The review identifies system and process vulnerabilities, guiding the prioritization of patches, updates, and security investments.</a:t>
            </a:r>
          </a:p>
          <a:p>
            <a:r>
              <a:rPr lang="en-US" dirty="0"/>
              <a:t>Improving Incident Response Procedures: </a:t>
            </a:r>
          </a:p>
          <a:p>
            <a:pPr lvl="1"/>
            <a:r>
              <a:rPr lang="en-US" dirty="0"/>
              <a:t>It evaluates the effectiveness of the response plan, team coordination, and decision-making during the incident.</a:t>
            </a:r>
          </a:p>
          <a:p>
            <a:r>
              <a:rPr lang="en-US" dirty="0"/>
              <a:t>Documentation for Compliance: </a:t>
            </a:r>
          </a:p>
          <a:p>
            <a:pPr lvl="1"/>
            <a:r>
              <a:rPr lang="en-US" dirty="0"/>
              <a:t>The review ensures proper documentation, meeting compliance requirements and aiding audits or legal processes.</a:t>
            </a:r>
          </a:p>
          <a:p>
            <a:r>
              <a:rPr lang="en-US" dirty="0"/>
              <a:t>Strengthening Team Competency: </a:t>
            </a:r>
          </a:p>
          <a:p>
            <a:pPr lvl="1"/>
            <a:r>
              <a:rPr lang="en-US" dirty="0"/>
              <a:t>It assesses team performance, identifying areas for improvement and targeting future training efforts.</a:t>
            </a:r>
          </a:p>
        </p:txBody>
      </p:sp>
    </p:spTree>
    <p:extLst>
      <p:ext uri="{BB962C8B-B14F-4D97-AF65-F5344CB8AC3E}">
        <p14:creationId xmlns:p14="http://schemas.microsoft.com/office/powerpoint/2010/main" val="151310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DE72E3-21AC-4F7E-9DBB-CF2A91FE0BFB}"/>
              </a:ext>
            </a:extLst>
          </p:cNvPr>
          <p:cNvSpPr>
            <a:spLocks noGrp="1"/>
          </p:cNvSpPr>
          <p:nvPr>
            <p:ph type="title"/>
          </p:nvPr>
        </p:nvSpPr>
        <p:spPr/>
        <p:txBody>
          <a:bodyPr/>
          <a:lstStyle/>
          <a:p>
            <a:r>
              <a:rPr lang="en-US" dirty="0"/>
              <a:t>Incident handling procedures </a:t>
            </a:r>
          </a:p>
        </p:txBody>
      </p:sp>
      <p:sp>
        <p:nvSpPr>
          <p:cNvPr id="5" name="Text Placeholder 4">
            <a:extLst>
              <a:ext uri="{FF2B5EF4-FFF2-40B4-BE49-F238E27FC236}">
                <a16:creationId xmlns:a16="http://schemas.microsoft.com/office/drawing/2014/main" id="{7FAC6958-B7F0-4D43-9559-69D8CEFEC22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997542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E2209-AFCB-7B11-860F-477596F3E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3FC60F-F034-F792-1698-F1F8D158B024}"/>
              </a:ext>
            </a:extLst>
          </p:cNvPr>
          <p:cNvSpPr>
            <a:spLocks noGrp="1"/>
          </p:cNvSpPr>
          <p:nvPr>
            <p:ph type="title"/>
          </p:nvPr>
        </p:nvSpPr>
        <p:spPr/>
        <p:txBody>
          <a:bodyPr>
            <a:normAutofit fontScale="90000"/>
          </a:bodyPr>
          <a:lstStyle/>
          <a:p>
            <a:br>
              <a:rPr lang="en-US" dirty="0"/>
            </a:br>
            <a:br>
              <a:rPr lang="en-US" dirty="0"/>
            </a:br>
            <a:r>
              <a:rPr lang="en-US" dirty="0"/>
              <a:t>Incident handling procedures for different types of threats</a:t>
            </a:r>
            <a:br>
              <a:rPr lang="en-US" dirty="0"/>
            </a:br>
            <a:br>
              <a:rPr lang="en-US" dirty="0"/>
            </a:br>
            <a:endParaRPr lang="en-US" dirty="0"/>
          </a:p>
        </p:txBody>
      </p:sp>
      <p:sp>
        <p:nvSpPr>
          <p:cNvPr id="7" name="Content Placeholder 6">
            <a:extLst>
              <a:ext uri="{FF2B5EF4-FFF2-40B4-BE49-F238E27FC236}">
                <a16:creationId xmlns:a16="http://schemas.microsoft.com/office/drawing/2014/main" id="{B6184A57-E028-D4A2-60A1-37EA0C50FDD3}"/>
              </a:ext>
            </a:extLst>
          </p:cNvPr>
          <p:cNvSpPr>
            <a:spLocks noGrp="1"/>
          </p:cNvSpPr>
          <p:nvPr>
            <p:ph idx="1"/>
          </p:nvPr>
        </p:nvSpPr>
        <p:spPr/>
        <p:txBody>
          <a:bodyPr>
            <a:normAutofit fontScale="70000" lnSpcReduction="20000"/>
          </a:bodyPr>
          <a:lstStyle/>
          <a:p>
            <a:r>
              <a:rPr lang="en-US" dirty="0"/>
              <a:t>Security incident handling procedures vary depending on the type of threat faced. Here are some general guidelines for handling different types of security threats:</a:t>
            </a:r>
          </a:p>
          <a:p>
            <a:r>
              <a:rPr lang="en-US" dirty="0"/>
              <a:t>Malware Infections:</a:t>
            </a:r>
          </a:p>
          <a:p>
            <a:pPr lvl="1"/>
            <a:r>
              <a:rPr lang="en-US" dirty="0"/>
              <a:t>Isolate the infected system from the network to prevent further spread.</a:t>
            </a:r>
          </a:p>
          <a:p>
            <a:pPr lvl="1"/>
            <a:r>
              <a:rPr lang="en-US" dirty="0"/>
              <a:t>Identify the type and source of the malware.</a:t>
            </a:r>
          </a:p>
          <a:p>
            <a:pPr lvl="1"/>
            <a:r>
              <a:rPr lang="en-US" dirty="0"/>
              <a:t>Use antivirus software to scan and remove the malware if possible.</a:t>
            </a:r>
          </a:p>
          <a:p>
            <a:pPr lvl="1"/>
            <a:r>
              <a:rPr lang="en-US" dirty="0"/>
              <a:t>Update antivirus signatures and apply patches to vulnerable systems.</a:t>
            </a:r>
          </a:p>
          <a:p>
            <a:pPr lvl="1"/>
            <a:r>
              <a:rPr lang="en-US" dirty="0"/>
              <a:t>Restore affected systems from clean backups if necessary.</a:t>
            </a:r>
          </a:p>
          <a:p>
            <a:pPr lvl="1"/>
            <a:r>
              <a:rPr lang="en-US" dirty="0"/>
              <a:t>Conduct a thorough investigation to determine the extent of the infection and any data breaches.</a:t>
            </a:r>
          </a:p>
          <a:p>
            <a:r>
              <a:rPr lang="en-US" dirty="0"/>
              <a:t>2. Unauthorized Access (e.g., hacking, insider threats):</a:t>
            </a:r>
          </a:p>
          <a:p>
            <a:pPr lvl="1"/>
            <a:r>
              <a:rPr lang="en-US" dirty="0"/>
              <a:t>Immediately revoke access privileges for the compromised account or system.</a:t>
            </a:r>
          </a:p>
          <a:p>
            <a:pPr lvl="1"/>
            <a:r>
              <a:rPr lang="en-US" dirty="0"/>
              <a:t>Change passwords and access credentials for affected accounts.</a:t>
            </a:r>
          </a:p>
          <a:p>
            <a:pPr lvl="1"/>
            <a:r>
              <a:rPr lang="en-US" dirty="0"/>
              <a:t>Preserve evidence by logging relevant information and activities.</a:t>
            </a:r>
          </a:p>
          <a:p>
            <a:pPr lvl="1"/>
            <a:r>
              <a:rPr lang="en-US" dirty="0"/>
              <a:t>Investigate the source of the unauthorized access and assess the damage.</a:t>
            </a:r>
          </a:p>
          <a:p>
            <a:pPr lvl="1"/>
            <a:r>
              <a:rPr lang="en-US" dirty="0"/>
              <a:t>Implement additional security measures such as two-factor authentication.</a:t>
            </a:r>
          </a:p>
          <a:p>
            <a:pPr lvl="1"/>
            <a:r>
              <a:rPr lang="en-US" dirty="0"/>
              <a:t>Patch vulnerabilities and update security configurations to prevent future breaches.</a:t>
            </a:r>
          </a:p>
          <a:p>
            <a:endParaRPr lang="en-US" dirty="0"/>
          </a:p>
        </p:txBody>
      </p:sp>
    </p:spTree>
    <p:extLst>
      <p:ext uri="{BB962C8B-B14F-4D97-AF65-F5344CB8AC3E}">
        <p14:creationId xmlns:p14="http://schemas.microsoft.com/office/powerpoint/2010/main" val="3921543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B9454-854C-F294-B779-B608A5812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E39FF-3F00-5AA3-0126-494A99569AED}"/>
              </a:ext>
            </a:extLst>
          </p:cNvPr>
          <p:cNvSpPr>
            <a:spLocks noGrp="1"/>
          </p:cNvSpPr>
          <p:nvPr>
            <p:ph type="title"/>
          </p:nvPr>
        </p:nvSpPr>
        <p:spPr/>
        <p:txBody>
          <a:bodyPr>
            <a:normAutofit fontScale="90000"/>
          </a:bodyPr>
          <a:lstStyle/>
          <a:p>
            <a:br>
              <a:rPr lang="en-US" dirty="0"/>
            </a:br>
            <a:br>
              <a:rPr lang="en-US" dirty="0"/>
            </a:br>
            <a:r>
              <a:rPr lang="en-US" dirty="0"/>
              <a:t>Incident handling procedures for different types of threats</a:t>
            </a:r>
            <a:br>
              <a:rPr lang="en-US" dirty="0"/>
            </a:br>
            <a:br>
              <a:rPr lang="en-US" dirty="0"/>
            </a:br>
            <a:endParaRPr lang="en-US" dirty="0"/>
          </a:p>
        </p:txBody>
      </p:sp>
      <p:sp>
        <p:nvSpPr>
          <p:cNvPr id="5" name="Content Placeholder 4">
            <a:extLst>
              <a:ext uri="{FF2B5EF4-FFF2-40B4-BE49-F238E27FC236}">
                <a16:creationId xmlns:a16="http://schemas.microsoft.com/office/drawing/2014/main" id="{39AF2FDD-16E4-990D-F0EB-8BFB8C2652AB}"/>
              </a:ext>
            </a:extLst>
          </p:cNvPr>
          <p:cNvSpPr>
            <a:spLocks noGrp="1"/>
          </p:cNvSpPr>
          <p:nvPr>
            <p:ph idx="1"/>
          </p:nvPr>
        </p:nvSpPr>
        <p:spPr/>
        <p:txBody>
          <a:bodyPr>
            <a:normAutofit fontScale="85000" lnSpcReduction="20000"/>
          </a:bodyPr>
          <a:lstStyle/>
          <a:p>
            <a:r>
              <a:rPr lang="en-US" dirty="0"/>
              <a:t>3. Denial-of-Service (DoS) Attacks:</a:t>
            </a:r>
          </a:p>
          <a:p>
            <a:pPr lvl="1"/>
            <a:r>
              <a:rPr lang="en-US" dirty="0"/>
              <a:t>Mitigate the impact of the attack by filtering or blocking malicious traffic.</a:t>
            </a:r>
          </a:p>
          <a:p>
            <a:pPr lvl="1"/>
            <a:r>
              <a:rPr lang="en-US" dirty="0"/>
              <a:t>Monitor network traffic and system performance to identify the source of the attack.</a:t>
            </a:r>
          </a:p>
          <a:p>
            <a:pPr lvl="1"/>
            <a:r>
              <a:rPr lang="en-US" dirty="0"/>
              <a:t>Notify internet service providers (ISPs) or relevant authorities if necessary.</a:t>
            </a:r>
          </a:p>
          <a:p>
            <a:pPr lvl="1"/>
            <a:r>
              <a:rPr lang="en-US" dirty="0"/>
              <a:t>Implement DoS protection mechanisms such as rate limiting and traffic shaping.</a:t>
            </a:r>
          </a:p>
          <a:p>
            <a:pPr lvl="1"/>
            <a:r>
              <a:rPr lang="en-US" dirty="0"/>
              <a:t>Consider deploying redundancy and failover mechanisms to maintain service availability.</a:t>
            </a:r>
          </a:p>
          <a:p>
            <a:r>
              <a:rPr lang="en-US" dirty="0"/>
              <a:t>4. Data Breaches:</a:t>
            </a:r>
          </a:p>
          <a:p>
            <a:pPr lvl="1"/>
            <a:r>
              <a:rPr lang="en-US" dirty="0"/>
              <a:t>Contain the breach and limit further exposure of sensitive data.</a:t>
            </a:r>
          </a:p>
          <a:p>
            <a:pPr lvl="1"/>
            <a:r>
              <a:rPr lang="en-US" dirty="0"/>
              <a:t>Notify affected individuals and regulatory authorities as required by law.</a:t>
            </a:r>
          </a:p>
          <a:p>
            <a:pPr lvl="1"/>
            <a:r>
              <a:rPr lang="en-US" dirty="0"/>
              <a:t>Preserve evidence for forensic analysis and legal purposes.</a:t>
            </a:r>
          </a:p>
          <a:p>
            <a:pPr lvl="1"/>
            <a:r>
              <a:rPr lang="en-US" dirty="0"/>
              <a:t>Conduct a comprehensive investigation to determine the cause and scope of the breach.</a:t>
            </a:r>
          </a:p>
          <a:p>
            <a:pPr lvl="1"/>
            <a:r>
              <a:rPr lang="en-US" dirty="0"/>
              <a:t>Implement remediation measures such as encryption, access controls, and monitoring.</a:t>
            </a:r>
          </a:p>
          <a:p>
            <a:pPr lvl="1"/>
            <a:r>
              <a:rPr lang="en-US" dirty="0"/>
              <a:t>Review and update security policies and procedures to prevent similar incidents in the future.</a:t>
            </a:r>
          </a:p>
          <a:p>
            <a:pPr lvl="1"/>
            <a:endParaRPr lang="en-US" dirty="0"/>
          </a:p>
          <a:p>
            <a:endParaRPr lang="en-US" dirty="0"/>
          </a:p>
        </p:txBody>
      </p:sp>
    </p:spTree>
    <p:extLst>
      <p:ext uri="{BB962C8B-B14F-4D97-AF65-F5344CB8AC3E}">
        <p14:creationId xmlns:p14="http://schemas.microsoft.com/office/powerpoint/2010/main" val="36847953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2A769-A216-3FF1-40C4-15DCA49A66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A7F6B-1B5D-537D-0151-7181EDF02237}"/>
              </a:ext>
            </a:extLst>
          </p:cNvPr>
          <p:cNvSpPr>
            <a:spLocks noGrp="1"/>
          </p:cNvSpPr>
          <p:nvPr>
            <p:ph type="title"/>
          </p:nvPr>
        </p:nvSpPr>
        <p:spPr/>
        <p:txBody>
          <a:bodyPr>
            <a:normAutofit fontScale="90000"/>
          </a:bodyPr>
          <a:lstStyle/>
          <a:p>
            <a:br>
              <a:rPr lang="en-US" dirty="0"/>
            </a:br>
            <a:br>
              <a:rPr lang="en-US" dirty="0"/>
            </a:br>
            <a:r>
              <a:rPr lang="en-US" dirty="0"/>
              <a:t>Incident handling procedures for different types of threats</a:t>
            </a:r>
            <a:br>
              <a:rPr lang="en-US" dirty="0"/>
            </a:br>
            <a:br>
              <a:rPr lang="en-US" dirty="0"/>
            </a:br>
            <a:endParaRPr lang="en-US" dirty="0"/>
          </a:p>
        </p:txBody>
      </p:sp>
      <p:sp>
        <p:nvSpPr>
          <p:cNvPr id="5" name="Content Placeholder 4">
            <a:extLst>
              <a:ext uri="{FF2B5EF4-FFF2-40B4-BE49-F238E27FC236}">
                <a16:creationId xmlns:a16="http://schemas.microsoft.com/office/drawing/2014/main" id="{0B61129D-4E2D-1816-BADA-F35574BF110C}"/>
              </a:ext>
            </a:extLst>
          </p:cNvPr>
          <p:cNvSpPr>
            <a:spLocks noGrp="1"/>
          </p:cNvSpPr>
          <p:nvPr>
            <p:ph idx="1"/>
          </p:nvPr>
        </p:nvSpPr>
        <p:spPr/>
        <p:txBody>
          <a:bodyPr>
            <a:normAutofit fontScale="85000" lnSpcReduction="20000"/>
          </a:bodyPr>
          <a:lstStyle/>
          <a:p>
            <a:r>
              <a:rPr lang="en-US" dirty="0"/>
              <a:t>5. Social Engineering Attacks:</a:t>
            </a:r>
          </a:p>
          <a:p>
            <a:pPr lvl="1"/>
            <a:r>
              <a:rPr lang="en-US" dirty="0"/>
              <a:t>Educate employees about common social engineering tactics and how to recognize them.</a:t>
            </a:r>
          </a:p>
          <a:p>
            <a:pPr lvl="1"/>
            <a:r>
              <a:rPr lang="en-US" dirty="0"/>
              <a:t>Establish clear procedures for verifying the identity of individuals requesting sensitive information or access.</a:t>
            </a:r>
          </a:p>
          <a:p>
            <a:pPr lvl="1"/>
            <a:r>
              <a:rPr lang="en-US" dirty="0"/>
              <a:t>Monitor and review user activities for suspicious behavior.</a:t>
            </a:r>
          </a:p>
          <a:p>
            <a:pPr lvl="1"/>
            <a:r>
              <a:rPr lang="en-US" dirty="0"/>
              <a:t>Report social engineering attempts to relevant security teams or authorities.</a:t>
            </a:r>
          </a:p>
          <a:p>
            <a:pPr lvl="1"/>
            <a:r>
              <a:rPr lang="en-US" dirty="0"/>
              <a:t>Implement controls such as employee awareness training and multi-factor authentication.</a:t>
            </a:r>
          </a:p>
          <a:p>
            <a:r>
              <a:rPr lang="en-US" dirty="0"/>
              <a:t>6. Physical Security Breaches:</a:t>
            </a:r>
          </a:p>
          <a:p>
            <a:pPr lvl="1"/>
            <a:r>
              <a:rPr lang="en-US" dirty="0"/>
              <a:t>Secure the affected area and restrict access to authorized personnel only.</a:t>
            </a:r>
          </a:p>
          <a:p>
            <a:pPr lvl="1"/>
            <a:r>
              <a:rPr lang="en-US" dirty="0"/>
              <a:t>Review surveillance footage and access logs to identify individuals involved.</a:t>
            </a:r>
          </a:p>
          <a:p>
            <a:pPr lvl="1"/>
            <a:r>
              <a:rPr lang="en-US" dirty="0"/>
              <a:t>Notify security and law enforcement agencies if necessary.</a:t>
            </a:r>
          </a:p>
          <a:p>
            <a:pPr lvl="1"/>
            <a:r>
              <a:rPr lang="en-US" dirty="0"/>
              <a:t>Conduct a security assessment to identify weaknesses in physical security measures.</a:t>
            </a:r>
          </a:p>
          <a:p>
            <a:pPr lvl="1"/>
            <a:r>
              <a:rPr lang="en-US" dirty="0"/>
              <a:t>Implement corrective actions such as installing additional locks or security cameras</a:t>
            </a:r>
          </a:p>
          <a:p>
            <a:endParaRPr lang="en-US" dirty="0"/>
          </a:p>
        </p:txBody>
      </p:sp>
    </p:spTree>
    <p:extLst>
      <p:ext uri="{BB962C8B-B14F-4D97-AF65-F5344CB8AC3E}">
        <p14:creationId xmlns:p14="http://schemas.microsoft.com/office/powerpoint/2010/main" val="1115113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A5A0B2-2599-4A32-B116-3CB037F6D536}"/>
              </a:ext>
            </a:extLst>
          </p:cNvPr>
          <p:cNvSpPr>
            <a:spLocks noGrp="1"/>
          </p:cNvSpPr>
          <p:nvPr>
            <p:ph type="title"/>
          </p:nvPr>
        </p:nvSpPr>
        <p:spPr/>
        <p:txBody>
          <a:bodyPr/>
          <a:lstStyle/>
          <a:p>
            <a:r>
              <a:rPr lang="en-US" dirty="0"/>
              <a:t>Digital Forensics Role in SOC</a:t>
            </a:r>
          </a:p>
        </p:txBody>
      </p:sp>
      <p:sp>
        <p:nvSpPr>
          <p:cNvPr id="5" name="Text Placeholder 4">
            <a:extLst>
              <a:ext uri="{FF2B5EF4-FFF2-40B4-BE49-F238E27FC236}">
                <a16:creationId xmlns:a16="http://schemas.microsoft.com/office/drawing/2014/main" id="{1E07D77F-CCB4-460F-8F3E-2426E6AE6DA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547312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A9DD5-8380-FB85-9A7F-C38EEF14CDA2}"/>
              </a:ext>
            </a:extLst>
          </p:cNvPr>
          <p:cNvSpPr>
            <a:spLocks noGrp="1"/>
          </p:cNvSpPr>
          <p:nvPr>
            <p:ph type="title"/>
          </p:nvPr>
        </p:nvSpPr>
        <p:spPr/>
        <p:txBody>
          <a:bodyPr/>
          <a:lstStyle/>
          <a:p>
            <a:r>
              <a:rPr lang="en-US" dirty="0"/>
              <a:t>Digital Forensics Role in SOC</a:t>
            </a:r>
          </a:p>
        </p:txBody>
      </p:sp>
      <p:sp>
        <p:nvSpPr>
          <p:cNvPr id="3" name="Content Placeholder 2">
            <a:extLst>
              <a:ext uri="{FF2B5EF4-FFF2-40B4-BE49-F238E27FC236}">
                <a16:creationId xmlns:a16="http://schemas.microsoft.com/office/drawing/2014/main" id="{4ECDB531-C571-74EE-038C-6FA10B1EE00A}"/>
              </a:ext>
            </a:extLst>
          </p:cNvPr>
          <p:cNvSpPr>
            <a:spLocks noGrp="1"/>
          </p:cNvSpPr>
          <p:nvPr>
            <p:ph idx="1"/>
          </p:nvPr>
        </p:nvSpPr>
        <p:spPr/>
        <p:txBody>
          <a:bodyPr/>
          <a:lstStyle/>
          <a:p>
            <a:r>
              <a:rPr lang="en-US" dirty="0"/>
              <a:t>Digital forensics plays a critical role in incident response, helping organizations </a:t>
            </a:r>
            <a:r>
              <a:rPr lang="en-US" dirty="0">
                <a:solidFill>
                  <a:srgbClr val="FF0000"/>
                </a:solidFill>
              </a:rPr>
              <a:t>identify</a:t>
            </a:r>
            <a:r>
              <a:rPr lang="en-US" dirty="0"/>
              <a:t>, </a:t>
            </a:r>
            <a:r>
              <a:rPr lang="en-US" dirty="0">
                <a:solidFill>
                  <a:srgbClr val="FF0000"/>
                </a:solidFill>
              </a:rPr>
              <a:t>manage</a:t>
            </a:r>
            <a:r>
              <a:rPr lang="en-US" dirty="0"/>
              <a:t>, and </a:t>
            </a:r>
            <a:r>
              <a:rPr lang="en-US" dirty="0">
                <a:solidFill>
                  <a:srgbClr val="FF0000"/>
                </a:solidFill>
              </a:rPr>
              <a:t>learn</a:t>
            </a:r>
            <a:r>
              <a:rPr lang="en-US" dirty="0"/>
              <a:t> from security incidents.</a:t>
            </a:r>
          </a:p>
          <a:p>
            <a:r>
              <a:rPr lang="en-US" dirty="0"/>
              <a:t>The integration of digital forensics into SOC operations is essential for effective incident management.</a:t>
            </a:r>
          </a:p>
          <a:p>
            <a:r>
              <a:rPr lang="en-US" dirty="0"/>
              <a:t>By aligning with the SANS PICERL framework, digital forensics teams enhance the organization's ability to </a:t>
            </a:r>
            <a:r>
              <a:rPr lang="en-US" dirty="0">
                <a:solidFill>
                  <a:srgbClr val="FF0000"/>
                </a:solidFill>
              </a:rPr>
              <a:t>respond</a:t>
            </a:r>
            <a:r>
              <a:rPr lang="en-US" dirty="0"/>
              <a:t> to threats and improve its overall security posture.</a:t>
            </a:r>
          </a:p>
        </p:txBody>
      </p:sp>
    </p:spTree>
    <p:extLst>
      <p:ext uri="{BB962C8B-B14F-4D97-AF65-F5344CB8AC3E}">
        <p14:creationId xmlns:p14="http://schemas.microsoft.com/office/powerpoint/2010/main" val="22085970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08D82-08AC-E264-AF90-B4AFF96BF6B4}"/>
              </a:ext>
            </a:extLst>
          </p:cNvPr>
          <p:cNvSpPr>
            <a:spLocks noGrp="1"/>
          </p:cNvSpPr>
          <p:nvPr>
            <p:ph type="title"/>
          </p:nvPr>
        </p:nvSpPr>
        <p:spPr>
          <a:xfrm>
            <a:off x="838200" y="365126"/>
            <a:ext cx="10515600" cy="1325563"/>
          </a:xfrm>
        </p:spPr>
        <p:txBody>
          <a:bodyPr/>
          <a:lstStyle/>
          <a:p>
            <a:r>
              <a:rPr lang="en-US" dirty="0"/>
              <a:t>Digital Forensics Role in SOC</a:t>
            </a:r>
          </a:p>
        </p:txBody>
      </p:sp>
      <p:sp>
        <p:nvSpPr>
          <p:cNvPr id="3" name="Content Placeholder 2">
            <a:extLst>
              <a:ext uri="{FF2B5EF4-FFF2-40B4-BE49-F238E27FC236}">
                <a16:creationId xmlns:a16="http://schemas.microsoft.com/office/drawing/2014/main" id="{C767FC19-81D7-BC49-F335-DA1633060ADF}"/>
              </a:ext>
            </a:extLst>
          </p:cNvPr>
          <p:cNvSpPr>
            <a:spLocks noGrp="1"/>
          </p:cNvSpPr>
          <p:nvPr>
            <p:ph idx="1"/>
          </p:nvPr>
        </p:nvSpPr>
        <p:spPr>
          <a:xfrm>
            <a:off x="838200" y="1825624"/>
            <a:ext cx="10515600" cy="4789779"/>
          </a:xfrm>
        </p:spPr>
        <p:txBody>
          <a:bodyPr>
            <a:normAutofit/>
          </a:bodyPr>
          <a:lstStyle/>
          <a:p>
            <a:r>
              <a:rPr lang="en-US" dirty="0"/>
              <a:t>Preparation Phase</a:t>
            </a:r>
          </a:p>
          <a:p>
            <a:pPr lvl="1"/>
            <a:r>
              <a:rPr lang="en-US" dirty="0"/>
              <a:t>Tool Selection and Configuration: </a:t>
            </a:r>
          </a:p>
          <a:p>
            <a:pPr lvl="2"/>
            <a:r>
              <a:rPr lang="en-US" dirty="0"/>
              <a:t>Digital forensics teams in a SOC are responsible for selecting and configuring forensic tools that will be used to collect, preserve, and analyze evidence from systems during incidents.</a:t>
            </a:r>
          </a:p>
          <a:p>
            <a:pPr lvl="1"/>
            <a:r>
              <a:rPr lang="en-US" dirty="0"/>
              <a:t>Training and Awareness: </a:t>
            </a:r>
          </a:p>
          <a:p>
            <a:pPr lvl="2"/>
            <a:r>
              <a:rPr lang="en-US" dirty="0"/>
              <a:t>They provide training to SOC analysts and incident response teams on the importance of digital forensics and how to recognize incidents that may require forensic analysis.</a:t>
            </a:r>
          </a:p>
          <a:p>
            <a:pPr lvl="1"/>
            <a:r>
              <a:rPr lang="en-US" dirty="0"/>
              <a:t>Documentation and Processes: </a:t>
            </a:r>
          </a:p>
          <a:p>
            <a:pPr lvl="2"/>
            <a:r>
              <a:rPr lang="en-US" dirty="0"/>
              <a:t>Establishing standard operating procedures (SOPs) for evidence handling, chain of custody, and forensic analysis to ensure consistency and legal compliance.</a:t>
            </a:r>
          </a:p>
          <a:p>
            <a:endParaRPr lang="en-US" dirty="0"/>
          </a:p>
        </p:txBody>
      </p:sp>
    </p:spTree>
    <p:extLst>
      <p:ext uri="{BB962C8B-B14F-4D97-AF65-F5344CB8AC3E}">
        <p14:creationId xmlns:p14="http://schemas.microsoft.com/office/powerpoint/2010/main" val="32877225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E0B91-F8E5-D01E-65E1-3CA4A3D95375}"/>
              </a:ext>
            </a:extLst>
          </p:cNvPr>
          <p:cNvSpPr>
            <a:spLocks noGrp="1"/>
          </p:cNvSpPr>
          <p:nvPr>
            <p:ph type="title"/>
          </p:nvPr>
        </p:nvSpPr>
        <p:spPr>
          <a:xfrm>
            <a:off x="838200" y="365126"/>
            <a:ext cx="10515600" cy="1325563"/>
          </a:xfrm>
        </p:spPr>
        <p:txBody>
          <a:bodyPr/>
          <a:lstStyle/>
          <a:p>
            <a:r>
              <a:rPr lang="en-US" dirty="0"/>
              <a:t>Digital Forensics Role in SOC</a:t>
            </a:r>
          </a:p>
        </p:txBody>
      </p:sp>
      <p:sp>
        <p:nvSpPr>
          <p:cNvPr id="3" name="Content Placeholder 2">
            <a:extLst>
              <a:ext uri="{FF2B5EF4-FFF2-40B4-BE49-F238E27FC236}">
                <a16:creationId xmlns:a16="http://schemas.microsoft.com/office/drawing/2014/main" id="{25617B67-ED0C-C04B-D583-965C4B97FFC7}"/>
              </a:ext>
            </a:extLst>
          </p:cNvPr>
          <p:cNvSpPr>
            <a:spLocks noGrp="1"/>
          </p:cNvSpPr>
          <p:nvPr>
            <p:ph idx="1"/>
          </p:nvPr>
        </p:nvSpPr>
        <p:spPr>
          <a:xfrm>
            <a:off x="838200" y="1825625"/>
            <a:ext cx="10515600" cy="4351338"/>
          </a:xfrm>
        </p:spPr>
        <p:txBody>
          <a:bodyPr/>
          <a:lstStyle/>
          <a:p>
            <a:r>
              <a:rPr lang="en-US" dirty="0"/>
              <a:t>Identification Phase</a:t>
            </a:r>
          </a:p>
          <a:p>
            <a:pPr lvl="1"/>
            <a:r>
              <a:rPr lang="en-US" dirty="0"/>
              <a:t>Incident Detection: </a:t>
            </a:r>
          </a:p>
          <a:p>
            <a:pPr lvl="2"/>
            <a:r>
              <a:rPr lang="en-US" dirty="0"/>
              <a:t>Forensics teams assist in the identification of potential security incidents by analyzing alerts, logs, and network traffic for suspicious activities.</a:t>
            </a:r>
          </a:p>
          <a:p>
            <a:pPr lvl="1"/>
            <a:r>
              <a:rPr lang="en-US" dirty="0"/>
              <a:t>Evidence Collection: </a:t>
            </a:r>
          </a:p>
          <a:p>
            <a:pPr lvl="2"/>
            <a:r>
              <a:rPr lang="en-US" dirty="0"/>
              <a:t>They guide the initial responders on what data and systems to capture for further analysis, ensuring that the right evidence is collected without compromising its integrity.</a:t>
            </a:r>
          </a:p>
          <a:p>
            <a:endParaRPr lang="en-US" dirty="0"/>
          </a:p>
        </p:txBody>
      </p:sp>
    </p:spTree>
    <p:extLst>
      <p:ext uri="{BB962C8B-B14F-4D97-AF65-F5344CB8AC3E}">
        <p14:creationId xmlns:p14="http://schemas.microsoft.com/office/powerpoint/2010/main" val="17199147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C18B4-5FEB-6645-C01C-A5455A56F827}"/>
              </a:ext>
            </a:extLst>
          </p:cNvPr>
          <p:cNvSpPr>
            <a:spLocks noGrp="1"/>
          </p:cNvSpPr>
          <p:nvPr>
            <p:ph type="title"/>
          </p:nvPr>
        </p:nvSpPr>
        <p:spPr>
          <a:xfrm>
            <a:off x="838200" y="365126"/>
            <a:ext cx="10515600" cy="1325563"/>
          </a:xfrm>
        </p:spPr>
        <p:txBody>
          <a:bodyPr/>
          <a:lstStyle/>
          <a:p>
            <a:r>
              <a:rPr lang="en-US" dirty="0"/>
              <a:t>Digital Forensics Role in SOC</a:t>
            </a:r>
          </a:p>
        </p:txBody>
      </p:sp>
      <p:sp>
        <p:nvSpPr>
          <p:cNvPr id="3" name="Content Placeholder 2">
            <a:extLst>
              <a:ext uri="{FF2B5EF4-FFF2-40B4-BE49-F238E27FC236}">
                <a16:creationId xmlns:a16="http://schemas.microsoft.com/office/drawing/2014/main" id="{13DF928F-9006-E21A-C2BF-5FEA2A3AE124}"/>
              </a:ext>
            </a:extLst>
          </p:cNvPr>
          <p:cNvSpPr>
            <a:spLocks noGrp="1"/>
          </p:cNvSpPr>
          <p:nvPr>
            <p:ph idx="1"/>
          </p:nvPr>
        </p:nvSpPr>
        <p:spPr>
          <a:xfrm>
            <a:off x="838200" y="1825625"/>
            <a:ext cx="10515600" cy="4351338"/>
          </a:xfrm>
        </p:spPr>
        <p:txBody>
          <a:bodyPr/>
          <a:lstStyle/>
          <a:p>
            <a:r>
              <a:rPr lang="en-US" dirty="0"/>
              <a:t>Containment</a:t>
            </a:r>
          </a:p>
          <a:p>
            <a:pPr lvl="1"/>
            <a:r>
              <a:rPr lang="en-US" dirty="0"/>
              <a:t>Isolating Affected Systems: </a:t>
            </a:r>
          </a:p>
          <a:p>
            <a:pPr lvl="2"/>
            <a:r>
              <a:rPr lang="en-US" dirty="0"/>
              <a:t>The forensics team advises on how to safely isolate affected systems to prevent further damage while preserving evidence for analysis.</a:t>
            </a:r>
          </a:p>
          <a:p>
            <a:pPr lvl="1"/>
            <a:r>
              <a:rPr lang="en-US" dirty="0"/>
              <a:t>Data Preservation: </a:t>
            </a:r>
          </a:p>
          <a:p>
            <a:pPr lvl="2"/>
            <a:r>
              <a:rPr lang="en-US" dirty="0"/>
              <a:t>They ensure that all data relevant to the incident is preserved properly, including memory captures, disk images, and logs, to maintain the integrity of the evidence.</a:t>
            </a:r>
          </a:p>
          <a:p>
            <a:endParaRPr lang="en-US" dirty="0"/>
          </a:p>
        </p:txBody>
      </p:sp>
    </p:spTree>
    <p:extLst>
      <p:ext uri="{BB962C8B-B14F-4D97-AF65-F5344CB8AC3E}">
        <p14:creationId xmlns:p14="http://schemas.microsoft.com/office/powerpoint/2010/main" val="2233452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10641-6B05-9134-E616-C6B6683D04EA}"/>
              </a:ext>
            </a:extLst>
          </p:cNvPr>
          <p:cNvSpPr>
            <a:spLocks noGrp="1"/>
          </p:cNvSpPr>
          <p:nvPr>
            <p:ph type="title"/>
          </p:nvPr>
        </p:nvSpPr>
        <p:spPr>
          <a:xfrm>
            <a:off x="838200" y="365126"/>
            <a:ext cx="10515600" cy="1325563"/>
          </a:xfrm>
        </p:spPr>
        <p:txBody>
          <a:bodyPr/>
          <a:lstStyle/>
          <a:p>
            <a:r>
              <a:rPr lang="en-US" dirty="0"/>
              <a:t>Digital Forensics Role in SOC</a:t>
            </a:r>
          </a:p>
        </p:txBody>
      </p:sp>
      <p:sp>
        <p:nvSpPr>
          <p:cNvPr id="3" name="Content Placeholder 2">
            <a:extLst>
              <a:ext uri="{FF2B5EF4-FFF2-40B4-BE49-F238E27FC236}">
                <a16:creationId xmlns:a16="http://schemas.microsoft.com/office/drawing/2014/main" id="{30EF8CDA-527E-28C0-25A7-C18EEB2A0D5E}"/>
              </a:ext>
            </a:extLst>
          </p:cNvPr>
          <p:cNvSpPr>
            <a:spLocks noGrp="1"/>
          </p:cNvSpPr>
          <p:nvPr>
            <p:ph idx="1"/>
          </p:nvPr>
        </p:nvSpPr>
        <p:spPr>
          <a:xfrm>
            <a:off x="838200" y="1825625"/>
            <a:ext cx="10515600" cy="4351338"/>
          </a:xfrm>
        </p:spPr>
        <p:txBody>
          <a:bodyPr/>
          <a:lstStyle/>
          <a:p>
            <a:r>
              <a:rPr lang="en-US" dirty="0"/>
              <a:t>Eradication</a:t>
            </a:r>
          </a:p>
          <a:p>
            <a:pPr lvl="1"/>
            <a:r>
              <a:rPr lang="en-US" dirty="0"/>
              <a:t>Analysis of Evidence: </a:t>
            </a:r>
          </a:p>
          <a:p>
            <a:pPr lvl="2"/>
            <a:r>
              <a:rPr lang="en-US" dirty="0"/>
              <a:t>Forensics analysts conduct detailed examinations of collected evidence to identify the root cause of the incident, including malware analysis, file analysis, and network traffic analysis.</a:t>
            </a:r>
          </a:p>
          <a:p>
            <a:pPr lvl="1"/>
            <a:r>
              <a:rPr lang="en-US" dirty="0"/>
              <a:t>Documentation: </a:t>
            </a:r>
          </a:p>
          <a:p>
            <a:pPr lvl="2"/>
            <a:r>
              <a:rPr lang="en-US" dirty="0"/>
              <a:t>They document their findings and methodologies clearly for future reference, including any identified vulnerabilities or weaknesses exploited during the attack.</a:t>
            </a:r>
          </a:p>
          <a:p>
            <a:endParaRPr lang="en-US" dirty="0"/>
          </a:p>
        </p:txBody>
      </p:sp>
    </p:spTree>
    <p:extLst>
      <p:ext uri="{BB962C8B-B14F-4D97-AF65-F5344CB8AC3E}">
        <p14:creationId xmlns:p14="http://schemas.microsoft.com/office/powerpoint/2010/main" val="39111494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ABACE-6A51-6167-60FA-D2B83E83F589}"/>
              </a:ext>
            </a:extLst>
          </p:cNvPr>
          <p:cNvSpPr>
            <a:spLocks noGrp="1"/>
          </p:cNvSpPr>
          <p:nvPr>
            <p:ph type="title"/>
          </p:nvPr>
        </p:nvSpPr>
        <p:spPr>
          <a:xfrm>
            <a:off x="838200" y="365126"/>
            <a:ext cx="10515600" cy="1325563"/>
          </a:xfrm>
        </p:spPr>
        <p:txBody>
          <a:bodyPr/>
          <a:lstStyle/>
          <a:p>
            <a:r>
              <a:rPr lang="en-US" dirty="0"/>
              <a:t>Digital Forensics Role in SOC</a:t>
            </a:r>
          </a:p>
        </p:txBody>
      </p:sp>
      <p:sp>
        <p:nvSpPr>
          <p:cNvPr id="3" name="Content Placeholder 2">
            <a:extLst>
              <a:ext uri="{FF2B5EF4-FFF2-40B4-BE49-F238E27FC236}">
                <a16:creationId xmlns:a16="http://schemas.microsoft.com/office/drawing/2014/main" id="{313DA48F-7253-5AC1-D054-59EDF3E1A01D}"/>
              </a:ext>
            </a:extLst>
          </p:cNvPr>
          <p:cNvSpPr>
            <a:spLocks noGrp="1"/>
          </p:cNvSpPr>
          <p:nvPr>
            <p:ph idx="1"/>
          </p:nvPr>
        </p:nvSpPr>
        <p:spPr>
          <a:xfrm>
            <a:off x="838200" y="1825625"/>
            <a:ext cx="10515600" cy="4351338"/>
          </a:xfrm>
        </p:spPr>
        <p:txBody>
          <a:bodyPr/>
          <a:lstStyle/>
          <a:p>
            <a:r>
              <a:rPr lang="en-US" dirty="0"/>
              <a:t>Recovery Phase</a:t>
            </a:r>
          </a:p>
          <a:p>
            <a:pPr lvl="1"/>
            <a:r>
              <a:rPr lang="en-US" dirty="0"/>
              <a:t>Restoration of Systems: </a:t>
            </a:r>
          </a:p>
          <a:p>
            <a:pPr lvl="2"/>
            <a:r>
              <a:rPr lang="en-US" dirty="0"/>
              <a:t>The digital forensics team may be involved in the recovery process by advising on system restoration, ensuring that all malicious artifacts are removed, and systems are securely configured.</a:t>
            </a:r>
          </a:p>
          <a:p>
            <a:pPr lvl="1"/>
            <a:r>
              <a:rPr lang="en-US" dirty="0"/>
              <a:t>Validation of System Integrity: </a:t>
            </a:r>
          </a:p>
          <a:p>
            <a:pPr lvl="2"/>
            <a:r>
              <a:rPr lang="en-US" dirty="0"/>
              <a:t>They conduct checks to ensure that the recovered systems are clean and that no backdoors or vulnerabilities remain.</a:t>
            </a:r>
          </a:p>
          <a:p>
            <a:endParaRPr lang="en-US" dirty="0"/>
          </a:p>
        </p:txBody>
      </p:sp>
    </p:spTree>
    <p:extLst>
      <p:ext uri="{BB962C8B-B14F-4D97-AF65-F5344CB8AC3E}">
        <p14:creationId xmlns:p14="http://schemas.microsoft.com/office/powerpoint/2010/main" val="21232817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79449-23B6-0311-FC17-B56D1EE8CB31}"/>
              </a:ext>
            </a:extLst>
          </p:cNvPr>
          <p:cNvSpPr>
            <a:spLocks noGrp="1"/>
          </p:cNvSpPr>
          <p:nvPr>
            <p:ph type="title"/>
          </p:nvPr>
        </p:nvSpPr>
        <p:spPr>
          <a:xfrm>
            <a:off x="838200" y="365126"/>
            <a:ext cx="10515600" cy="1325563"/>
          </a:xfrm>
        </p:spPr>
        <p:txBody>
          <a:bodyPr/>
          <a:lstStyle/>
          <a:p>
            <a:r>
              <a:rPr lang="en-US" dirty="0"/>
              <a:t>Digital Forensics Role in SOC</a:t>
            </a:r>
          </a:p>
        </p:txBody>
      </p:sp>
      <p:sp>
        <p:nvSpPr>
          <p:cNvPr id="3" name="Content Placeholder 2">
            <a:extLst>
              <a:ext uri="{FF2B5EF4-FFF2-40B4-BE49-F238E27FC236}">
                <a16:creationId xmlns:a16="http://schemas.microsoft.com/office/drawing/2014/main" id="{8EB40022-8E29-B42B-D3C6-DAA75E8DCD74}"/>
              </a:ext>
            </a:extLst>
          </p:cNvPr>
          <p:cNvSpPr>
            <a:spLocks noGrp="1"/>
          </p:cNvSpPr>
          <p:nvPr>
            <p:ph idx="1"/>
          </p:nvPr>
        </p:nvSpPr>
        <p:spPr>
          <a:xfrm>
            <a:off x="838200" y="1825625"/>
            <a:ext cx="10515600" cy="4351338"/>
          </a:xfrm>
        </p:spPr>
        <p:txBody>
          <a:bodyPr>
            <a:normAutofit/>
          </a:bodyPr>
          <a:lstStyle/>
          <a:p>
            <a:r>
              <a:rPr lang="en-US" dirty="0"/>
              <a:t>Lessons Learned Phase</a:t>
            </a:r>
          </a:p>
          <a:p>
            <a:pPr lvl="1"/>
            <a:r>
              <a:rPr lang="en-US" dirty="0"/>
              <a:t>Post-Incident Review: </a:t>
            </a:r>
          </a:p>
          <a:p>
            <a:pPr lvl="2"/>
            <a:r>
              <a:rPr lang="en-US" dirty="0"/>
              <a:t>Forensics professionals participate in the post-incident review to analyze the effectiveness of the response and the forensic processes used.</a:t>
            </a:r>
          </a:p>
          <a:p>
            <a:pPr lvl="1"/>
            <a:r>
              <a:rPr lang="en-US" dirty="0"/>
              <a:t>Improving Processes: </a:t>
            </a:r>
          </a:p>
          <a:p>
            <a:pPr lvl="2"/>
            <a:r>
              <a:rPr lang="en-US" dirty="0"/>
              <a:t>They provide recommendations for improvements in incident response, detection capabilities, and forensic analysis processes to enhance the overall security posture of the organization.</a:t>
            </a:r>
          </a:p>
          <a:p>
            <a:pPr lvl="1"/>
            <a:r>
              <a:rPr lang="en-US" dirty="0"/>
              <a:t>Reporting: </a:t>
            </a:r>
          </a:p>
          <a:p>
            <a:pPr lvl="2"/>
            <a:r>
              <a:rPr lang="en-US" dirty="0"/>
              <a:t>Creation of detailed reports that summarize the incident, forensic findings, and lessons learned, which can be used for training and future reference.</a:t>
            </a:r>
          </a:p>
          <a:p>
            <a:endParaRPr lang="en-US" dirty="0"/>
          </a:p>
        </p:txBody>
      </p:sp>
    </p:spTree>
    <p:extLst>
      <p:ext uri="{BB962C8B-B14F-4D97-AF65-F5344CB8AC3E}">
        <p14:creationId xmlns:p14="http://schemas.microsoft.com/office/powerpoint/2010/main" val="5807893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pattFill prst="pct25">
          <a:fgClr>
            <a:srgbClr val="2559A9"/>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76E5-1E11-67DA-204C-480183B76130}"/>
              </a:ext>
            </a:extLst>
          </p:cNvPr>
          <p:cNvSpPr>
            <a:spLocks noGrp="1"/>
          </p:cNvSpPr>
          <p:nvPr>
            <p:ph type="title"/>
          </p:nvPr>
        </p:nvSpPr>
        <p:spPr/>
        <p:txBody>
          <a:bodyPr/>
          <a:lstStyle/>
          <a:p>
            <a:r>
              <a:rPr lang="en-US" dirty="0"/>
              <a:t>References</a:t>
            </a:r>
          </a:p>
        </p:txBody>
      </p:sp>
      <p:sp>
        <p:nvSpPr>
          <p:cNvPr id="7" name="Rectangle 4">
            <a:extLst>
              <a:ext uri="{FF2B5EF4-FFF2-40B4-BE49-F238E27FC236}">
                <a16:creationId xmlns:a16="http://schemas.microsoft.com/office/drawing/2014/main" id="{C0FAA68F-10FF-4179-70A2-31FED768E621}"/>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pPr>
            <a:r>
              <a:rPr kumimoji="0" lang="en-US" altLang="en-US" sz="2000" b="0" i="0" u="none" strike="noStrike" cap="none" normalizeH="0" baseline="0" dirty="0">
                <a:ln>
                  <a:noFill/>
                </a:ln>
                <a:solidFill>
                  <a:schemeClr val="tx1"/>
                </a:solidFill>
                <a:effectLst/>
                <a:latin typeface="DIN Next LT Arabic" panose="020B0503020203050203" pitchFamily="34" charset="-78"/>
              </a:rPr>
              <a:t>Anatoly </a:t>
            </a:r>
            <a:r>
              <a:rPr kumimoji="0" lang="en-US" altLang="en-US" sz="2000" b="0" i="0" u="none" strike="noStrike" cap="none" normalizeH="0" baseline="0" dirty="0" err="1">
                <a:ln>
                  <a:noFill/>
                </a:ln>
                <a:solidFill>
                  <a:schemeClr val="tx1"/>
                </a:solidFill>
                <a:effectLst/>
                <a:latin typeface="DIN Next LT Arabic" panose="020B0503020203050203" pitchFamily="34" charset="-78"/>
              </a:rPr>
              <a:t>Tykushin</a:t>
            </a:r>
            <a:r>
              <a:rPr kumimoji="0" lang="en-US" altLang="en-US" sz="2000" b="0" i="0" u="none" strike="noStrike" cap="none" normalizeH="0" baseline="0" dirty="0">
                <a:ln>
                  <a:noFill/>
                </a:ln>
                <a:solidFill>
                  <a:schemeClr val="tx1"/>
                </a:solidFill>
                <a:effectLst/>
                <a:latin typeface="DIN Next LT Arabic" panose="020B0503020203050203" pitchFamily="34" charset="-78"/>
              </a:rPr>
              <a:t>, and Svetlana </a:t>
            </a:r>
            <a:r>
              <a:rPr kumimoji="0" lang="en-US" altLang="en-US" sz="2000" b="0" i="0" u="none" strike="noStrike" cap="none" normalizeH="0" baseline="0" dirty="0" err="1">
                <a:ln>
                  <a:noFill/>
                </a:ln>
                <a:solidFill>
                  <a:schemeClr val="tx1"/>
                </a:solidFill>
                <a:effectLst/>
                <a:latin typeface="DIN Next LT Arabic" panose="020B0503020203050203" pitchFamily="34" charset="-78"/>
              </a:rPr>
              <a:t>Ostrovskaya</a:t>
            </a:r>
            <a:r>
              <a:rPr kumimoji="0" lang="en-US" altLang="en-US" sz="2000" b="0" i="0" u="none" strike="noStrike" cap="none" normalizeH="0" baseline="0" dirty="0">
                <a:ln>
                  <a:noFill/>
                </a:ln>
                <a:solidFill>
                  <a:schemeClr val="tx1"/>
                </a:solidFill>
                <a:effectLst/>
                <a:latin typeface="DIN Next LT Arabic" panose="020B0503020203050203" pitchFamily="34" charset="-78"/>
              </a:rPr>
              <a:t>. </a:t>
            </a:r>
            <a:r>
              <a:rPr kumimoji="0" lang="en-US" altLang="en-US" sz="2000" b="0" i="1" u="none" strike="noStrike" cap="none" normalizeH="0" baseline="0" dirty="0">
                <a:ln>
                  <a:noFill/>
                </a:ln>
                <a:solidFill>
                  <a:schemeClr val="tx1"/>
                </a:solidFill>
                <a:effectLst/>
                <a:latin typeface="DIN Next LT Arabic" panose="020B0503020203050203" pitchFamily="34" charset="-78"/>
              </a:rPr>
              <a:t>Incident Response for Windows</a:t>
            </a:r>
            <a:r>
              <a:rPr kumimoji="0" lang="en-US" altLang="en-US" sz="2000" b="0" i="0" u="none" strike="noStrike" cap="none" normalizeH="0" baseline="0" dirty="0">
                <a:ln>
                  <a:noFill/>
                </a:ln>
                <a:solidFill>
                  <a:schemeClr val="tx1"/>
                </a:solidFill>
                <a:effectLst/>
                <a:latin typeface="DIN Next LT Arabic" panose="020B0503020203050203" pitchFamily="34" charset="-78"/>
              </a:rPr>
              <a:t>. </a:t>
            </a:r>
            <a:r>
              <a:rPr kumimoji="0" lang="en-US" altLang="en-US" sz="2000" b="0" i="0" u="none" strike="noStrike" cap="none" normalizeH="0" baseline="0" dirty="0" err="1">
                <a:ln>
                  <a:noFill/>
                </a:ln>
                <a:solidFill>
                  <a:schemeClr val="tx1"/>
                </a:solidFill>
                <a:effectLst/>
                <a:latin typeface="DIN Next LT Arabic" panose="020B0503020203050203" pitchFamily="34" charset="-78"/>
              </a:rPr>
              <a:t>Packt</a:t>
            </a:r>
            <a:r>
              <a:rPr kumimoji="0" lang="en-US" altLang="en-US" sz="2000" b="0" i="0" u="none" strike="noStrike" cap="none" normalizeH="0" baseline="0" dirty="0">
                <a:ln>
                  <a:noFill/>
                </a:ln>
                <a:solidFill>
                  <a:schemeClr val="tx1"/>
                </a:solidFill>
                <a:effectLst/>
                <a:latin typeface="DIN Next LT Arabic" panose="020B0503020203050203" pitchFamily="34" charset="-78"/>
              </a:rPr>
              <a:t> Publishing Ltd, 23 Aug. 2024.</a:t>
            </a:r>
          </a:p>
          <a:p>
            <a:pPr>
              <a:lnSpc>
                <a:spcPct val="100000"/>
              </a:lnSpc>
            </a:pPr>
            <a:r>
              <a:rPr kumimoji="0" lang="en-US" altLang="en-US" sz="2000" b="0" i="0" u="none" strike="noStrike" cap="none" normalizeH="0" baseline="0" dirty="0">
                <a:ln>
                  <a:noFill/>
                </a:ln>
                <a:solidFill>
                  <a:schemeClr val="tx1"/>
                </a:solidFill>
                <a:effectLst/>
                <a:latin typeface="DIN Next LT Arabic" panose="020B0503020203050203" pitchFamily="34" charset="-78"/>
              </a:rPr>
              <a:t>Anson, Steve. </a:t>
            </a:r>
            <a:r>
              <a:rPr kumimoji="0" lang="en-US" altLang="en-US" sz="2000" b="0" i="1" u="none" strike="noStrike" cap="none" normalizeH="0" baseline="0" dirty="0">
                <a:ln>
                  <a:noFill/>
                </a:ln>
                <a:solidFill>
                  <a:schemeClr val="tx1"/>
                </a:solidFill>
                <a:effectLst/>
                <a:latin typeface="DIN Next LT Arabic" panose="020B0503020203050203" pitchFamily="34" charset="-78"/>
              </a:rPr>
              <a:t>Applied Incident Response</a:t>
            </a:r>
            <a:r>
              <a:rPr kumimoji="0" lang="en-US" altLang="en-US" sz="2000" b="0" i="0" u="none" strike="noStrike" cap="none" normalizeH="0" baseline="0" dirty="0">
                <a:ln>
                  <a:noFill/>
                </a:ln>
                <a:solidFill>
                  <a:schemeClr val="tx1"/>
                </a:solidFill>
                <a:effectLst/>
                <a:latin typeface="DIN Next LT Arabic" panose="020B0503020203050203" pitchFamily="34" charset="-78"/>
              </a:rPr>
              <a:t>. Indianapolis, Indiana, Wiley, 2020.</a:t>
            </a:r>
          </a:p>
          <a:p>
            <a:pPr>
              <a:lnSpc>
                <a:spcPct val="100000"/>
              </a:lnSpc>
            </a:pPr>
            <a:r>
              <a:rPr kumimoji="0" lang="en-US" altLang="en-US" sz="2000" b="0" i="0" u="none" strike="noStrike" cap="none" normalizeH="0" baseline="0" dirty="0">
                <a:ln>
                  <a:noFill/>
                </a:ln>
                <a:solidFill>
                  <a:schemeClr val="tx1"/>
                </a:solidFill>
                <a:effectLst/>
                <a:latin typeface="DIN Next LT Arabic" panose="020B0503020203050203" pitchFamily="34" charset="-78"/>
              </a:rPr>
              <a:t>Bautista, Wilson. </a:t>
            </a:r>
            <a:r>
              <a:rPr kumimoji="0" lang="en-US" altLang="en-US" sz="2000" b="0" i="1" u="none" strike="noStrike" cap="none" normalizeH="0" baseline="0" dirty="0">
                <a:ln>
                  <a:noFill/>
                </a:ln>
                <a:solidFill>
                  <a:schemeClr val="tx1"/>
                </a:solidFill>
                <a:effectLst/>
                <a:latin typeface="DIN Next LT Arabic" panose="020B0503020203050203" pitchFamily="34" charset="-78"/>
              </a:rPr>
              <a:t>PRACTICAL CYBER INTELLIGENCE : How Action-Based Intelligence Can Be an Effective Response to </a:t>
            </a:r>
            <a:r>
              <a:rPr kumimoji="0" lang="en-US" altLang="en-US" sz="2000" b="0" i="1" u="none" strike="noStrike" cap="none" normalizeH="0" baseline="0" dirty="0" err="1">
                <a:ln>
                  <a:noFill/>
                </a:ln>
                <a:solidFill>
                  <a:schemeClr val="tx1"/>
                </a:solidFill>
                <a:effectLst/>
                <a:latin typeface="DIN Next LT Arabic" panose="020B0503020203050203" pitchFamily="34" charset="-78"/>
              </a:rPr>
              <a:t>Incidents;How</a:t>
            </a:r>
            <a:r>
              <a:rPr kumimoji="0" lang="en-US" altLang="en-US" sz="2000" b="0" i="1" u="none" strike="noStrike" cap="none" normalizeH="0" baseline="0" dirty="0">
                <a:ln>
                  <a:noFill/>
                </a:ln>
                <a:solidFill>
                  <a:schemeClr val="tx1"/>
                </a:solidFill>
                <a:effectLst/>
                <a:latin typeface="DIN Next LT Arabic" panose="020B0503020203050203" pitchFamily="34" charset="-78"/>
              </a:rPr>
              <a:t> Action-Based Intelligence Can Be An.</a:t>
            </a:r>
            <a:r>
              <a:rPr kumimoji="0" lang="en-US" altLang="en-US" sz="2000" b="0" i="0" u="none" strike="noStrike" cap="none" normalizeH="0" baseline="0" dirty="0">
                <a:ln>
                  <a:noFill/>
                </a:ln>
                <a:solidFill>
                  <a:schemeClr val="tx1"/>
                </a:solidFill>
                <a:effectLst/>
                <a:latin typeface="DIN Next LT Arabic" panose="020B0503020203050203" pitchFamily="34" charset="-78"/>
              </a:rPr>
              <a:t> </a:t>
            </a:r>
            <a:r>
              <a:rPr kumimoji="0" lang="en-US" altLang="en-US" sz="2000" b="0" i="0" u="none" strike="noStrike" cap="none" normalizeH="0" baseline="0" dirty="0" err="1">
                <a:ln>
                  <a:noFill/>
                </a:ln>
                <a:solidFill>
                  <a:schemeClr val="tx1"/>
                </a:solidFill>
                <a:effectLst/>
                <a:latin typeface="DIN Next LT Arabic" panose="020B0503020203050203" pitchFamily="34" charset="-78"/>
              </a:rPr>
              <a:t>Packt</a:t>
            </a:r>
            <a:r>
              <a:rPr kumimoji="0" lang="en-US" altLang="en-US" sz="2000" b="0" i="0" u="none" strike="noStrike" cap="none" normalizeH="0" baseline="0" dirty="0">
                <a:ln>
                  <a:noFill/>
                </a:ln>
                <a:solidFill>
                  <a:schemeClr val="tx1"/>
                </a:solidFill>
                <a:effectLst/>
                <a:latin typeface="DIN Next LT Arabic" panose="020B0503020203050203" pitchFamily="34" charset="-78"/>
              </a:rPr>
              <a:t> Publishing, 2018.</a:t>
            </a:r>
          </a:p>
          <a:p>
            <a:pPr>
              <a:lnSpc>
                <a:spcPct val="100000"/>
              </a:lnSpc>
            </a:pPr>
            <a:r>
              <a:rPr kumimoji="0" lang="en-US" altLang="en-US" sz="2000" b="0" i="0" u="none" strike="noStrike" cap="none" normalizeH="0" baseline="0" dirty="0">
                <a:ln>
                  <a:noFill/>
                </a:ln>
                <a:solidFill>
                  <a:schemeClr val="tx1"/>
                </a:solidFill>
                <a:effectLst/>
                <a:latin typeface="DIN Next LT Arabic" panose="020B0503020203050203" pitchFamily="34" charset="-78"/>
              </a:rPr>
              <a:t>Hathaway, Melissa E. </a:t>
            </a:r>
            <a:r>
              <a:rPr kumimoji="0" lang="en-US" altLang="en-US" sz="2000" b="0" i="1" u="none" strike="noStrike" cap="none" normalizeH="0" baseline="0" dirty="0">
                <a:ln>
                  <a:noFill/>
                </a:ln>
                <a:solidFill>
                  <a:schemeClr val="tx1"/>
                </a:solidFill>
                <a:effectLst/>
                <a:latin typeface="DIN Next LT Arabic" panose="020B0503020203050203" pitchFamily="34" charset="-78"/>
              </a:rPr>
              <a:t>Best Practices in Computer Network Defense : Incident Detection and Response</a:t>
            </a:r>
            <a:r>
              <a:rPr kumimoji="0" lang="en-US" altLang="en-US" sz="2000" b="0" i="0" u="none" strike="noStrike" cap="none" normalizeH="0" baseline="0" dirty="0">
                <a:ln>
                  <a:noFill/>
                </a:ln>
                <a:solidFill>
                  <a:schemeClr val="tx1"/>
                </a:solidFill>
                <a:effectLst/>
                <a:latin typeface="DIN Next LT Arabic" panose="020B0503020203050203" pitchFamily="34" charset="-78"/>
              </a:rPr>
              <a:t>. Amsterdam ; Berlin ; Tokyo ; Washington, Dc, Ios Press, 2014.</a:t>
            </a:r>
          </a:p>
          <a:p>
            <a:pPr>
              <a:lnSpc>
                <a:spcPct val="100000"/>
              </a:lnSpc>
            </a:pPr>
            <a:r>
              <a:rPr kumimoji="0" lang="en-US" altLang="en-US" sz="2000" b="0" i="0" u="none" strike="noStrike" cap="none" normalizeH="0" baseline="0" dirty="0">
                <a:ln>
                  <a:noFill/>
                </a:ln>
                <a:solidFill>
                  <a:schemeClr val="tx1"/>
                </a:solidFill>
                <a:effectLst/>
                <a:latin typeface="DIN Next LT Arabic" panose="020B0503020203050203" pitchFamily="34" charset="-78"/>
              </a:rPr>
              <a:t>Johansen, Gerard. </a:t>
            </a:r>
            <a:r>
              <a:rPr kumimoji="0" lang="en-US" altLang="en-US" sz="2000" b="0" i="1" u="none" strike="noStrike" cap="none" normalizeH="0" baseline="0" dirty="0">
                <a:ln>
                  <a:noFill/>
                </a:ln>
                <a:solidFill>
                  <a:schemeClr val="tx1"/>
                </a:solidFill>
                <a:effectLst/>
                <a:latin typeface="DIN Next LT Arabic" panose="020B0503020203050203" pitchFamily="34" charset="-78"/>
              </a:rPr>
              <a:t>Digital Forensics and Incident Response</a:t>
            </a:r>
            <a:r>
              <a:rPr kumimoji="0" lang="en-US" altLang="en-US" sz="2000" b="0" i="0" u="none" strike="noStrike" cap="none" normalizeH="0" baseline="0" dirty="0">
                <a:ln>
                  <a:noFill/>
                </a:ln>
                <a:solidFill>
                  <a:schemeClr val="tx1"/>
                </a:solidFill>
                <a:effectLst/>
                <a:latin typeface="DIN Next LT Arabic" panose="020B0503020203050203" pitchFamily="34" charset="-78"/>
              </a:rPr>
              <a:t>. </a:t>
            </a:r>
            <a:r>
              <a:rPr kumimoji="0" lang="en-US" altLang="en-US" sz="2000" b="0" i="0" u="none" strike="noStrike" cap="none" normalizeH="0" baseline="0" dirty="0" err="1">
                <a:ln>
                  <a:noFill/>
                </a:ln>
                <a:solidFill>
                  <a:schemeClr val="tx1"/>
                </a:solidFill>
                <a:effectLst/>
                <a:latin typeface="DIN Next LT Arabic" panose="020B0503020203050203" pitchFamily="34" charset="-78"/>
              </a:rPr>
              <a:t>Packt</a:t>
            </a:r>
            <a:r>
              <a:rPr kumimoji="0" lang="en-US" altLang="en-US" sz="2000" b="0" i="0" u="none" strike="noStrike" cap="none" normalizeH="0" baseline="0" dirty="0">
                <a:ln>
                  <a:noFill/>
                </a:ln>
                <a:solidFill>
                  <a:schemeClr val="tx1"/>
                </a:solidFill>
                <a:effectLst/>
                <a:latin typeface="DIN Next LT Arabic" panose="020B0503020203050203" pitchFamily="34" charset="-78"/>
              </a:rPr>
              <a:t> Publishing Ltd, 16 Dec. 2022.</a:t>
            </a:r>
          </a:p>
          <a:p>
            <a:pPr>
              <a:lnSpc>
                <a:spcPct val="100000"/>
              </a:lnSpc>
            </a:pPr>
            <a:endParaRPr kumimoji="0" lang="en-US" altLang="en-US" sz="2000" b="0" i="0" u="none" strike="noStrike" cap="none" normalizeH="0" baseline="0" dirty="0">
              <a:ln>
                <a:noFill/>
              </a:ln>
              <a:solidFill>
                <a:schemeClr val="tx1"/>
              </a:solidFill>
              <a:effectLst/>
              <a:latin typeface="DIN Next LT Arabic" panose="020B0503020203050203" pitchFamily="34" charset="-78"/>
            </a:endParaRPr>
          </a:p>
        </p:txBody>
      </p:sp>
    </p:spTree>
    <p:extLst>
      <p:ext uri="{BB962C8B-B14F-4D97-AF65-F5344CB8AC3E}">
        <p14:creationId xmlns:p14="http://schemas.microsoft.com/office/powerpoint/2010/main" val="1130136567"/>
      </p:ext>
    </p:extLst>
  </p:cSld>
  <p:clrMapOvr>
    <a:masterClrMapping/>
  </p:clrMapOvr>
</p:sld>
</file>

<file path=ppt/theme/theme1.xml><?xml version="1.0" encoding="utf-8"?>
<a:theme xmlns:a="http://schemas.openxmlformats.org/drawingml/2006/main" name="UTAS_PPT_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TAS_PPT_THEME" id="{21D37FD8-F586-4FB4-85E3-46F0175EBF65}" vid="{96743AEB-0C85-4F49-B963-9884536DE63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7F44AC08C22843AA6B00621437D67C" ma:contentTypeVersion="8" ma:contentTypeDescription="Create a new document." ma:contentTypeScope="" ma:versionID="85accf2fcf5ab104785b9850b78f1698">
  <xsd:schema xmlns:xsd="http://www.w3.org/2001/XMLSchema" xmlns:xs="http://www.w3.org/2001/XMLSchema" xmlns:p="http://schemas.microsoft.com/office/2006/metadata/properties" xmlns:ns2="084f926a-dc4b-4f8e-a8dc-31dc72d5aeff" targetNamespace="http://schemas.microsoft.com/office/2006/metadata/properties" ma:root="true" ma:fieldsID="106e0b6b8c56e2a4021e0f03184b8b62" ns2:_="">
    <xsd:import namespace="084f926a-dc4b-4f8e-a8dc-31dc72d5ae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f926a-dc4b-4f8e-a8dc-31dc72d5ae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D7EE365-E1DF-4E3D-9532-E838225755BF}"/>
</file>

<file path=customXml/itemProps2.xml><?xml version="1.0" encoding="utf-8"?>
<ds:datastoreItem xmlns:ds="http://schemas.openxmlformats.org/officeDocument/2006/customXml" ds:itemID="{6FCD69EA-8CD7-4F15-8655-61D88862C57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F7FD99E-5A30-4A5C-9697-143E1394522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UTAS_PPT_THEME</Template>
  <TotalTime>2801</TotalTime>
  <Words>4630</Words>
  <Application>Microsoft Office PowerPoint</Application>
  <PresentationFormat>Widescreen</PresentationFormat>
  <Paragraphs>347</Paragraphs>
  <Slides>44</Slides>
  <Notes>2</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UTAS_PPT_THEME</vt:lpstr>
      <vt:lpstr>Chapter/Topic 5 </vt:lpstr>
      <vt:lpstr>Objectives</vt:lpstr>
      <vt:lpstr>Incident Response</vt:lpstr>
      <vt:lpstr>Incident Response Frameworks</vt:lpstr>
      <vt:lpstr>Incident Response Frameworks</vt:lpstr>
      <vt:lpstr>Incident Response Frameworks</vt:lpstr>
      <vt:lpstr>Incident Response Frameworks</vt:lpstr>
      <vt:lpstr>Strengths and Limitations</vt:lpstr>
      <vt:lpstr>PICERL framework</vt:lpstr>
      <vt:lpstr>SANS Incident Response Framework</vt:lpstr>
      <vt:lpstr>Incident response lifecycle</vt:lpstr>
      <vt:lpstr>PICERL | Preparation</vt:lpstr>
      <vt:lpstr>PICERL | Identification</vt:lpstr>
      <vt:lpstr>PICERL | Containment</vt:lpstr>
      <vt:lpstr>PICERL | Eradication</vt:lpstr>
      <vt:lpstr>PICERL | Recovery</vt:lpstr>
      <vt:lpstr>PICERL | Lessons Learned</vt:lpstr>
      <vt:lpstr>Student Self Study!</vt:lpstr>
      <vt:lpstr>Class Activity</vt:lpstr>
      <vt:lpstr>Phase-wise questions (1/2)</vt:lpstr>
      <vt:lpstr>Phase-wise questions (2/2)</vt:lpstr>
      <vt:lpstr>1. Describe the steps that the SOC should take in advance to prepare for potential incidents. </vt:lpstr>
      <vt:lpstr>2. What tools and methods would be used to identify the malware infection?</vt:lpstr>
      <vt:lpstr>3. Outline the specific indicators of compromise (IoCs) the SOC analysts should look for in this scenario.</vt:lpstr>
      <vt:lpstr>4. Identify both short-term and long-term containment measures the SOC could implement once the incident is confirmed.</vt:lpstr>
      <vt:lpstr>5. Discuss the importance of isolating affected systems and what actions should be taken to prevent further spread of the malware.</vt:lpstr>
      <vt:lpstr>6. Explain the actions the SOC should take to remove the malware from infected systems.</vt:lpstr>
      <vt:lpstr>6. Explain the actions the SOC should take to remove the malware from infected systems.</vt:lpstr>
      <vt:lpstr>7. Discuss the role of forensic analysis in this phase and what information should be gathered.</vt:lpstr>
      <vt:lpstr>8. Outline the steps the SOC should follow to restore normal operations after the incident. </vt:lpstr>
      <vt:lpstr>9. Discuss the importance of conducting a post-incident review. </vt:lpstr>
      <vt:lpstr>Incident handling procedures </vt:lpstr>
      <vt:lpstr>  Incident handling procedures for different types of threats  </vt:lpstr>
      <vt:lpstr>  Incident handling procedures for different types of threats  </vt:lpstr>
      <vt:lpstr>  Incident handling procedures for different types of threats  </vt:lpstr>
      <vt:lpstr>Digital Forensics Role in SOC</vt:lpstr>
      <vt:lpstr>Digital Forensics Role in SOC</vt:lpstr>
      <vt:lpstr>Digital Forensics Role in SOC</vt:lpstr>
      <vt:lpstr>Digital Forensics Role in SOC</vt:lpstr>
      <vt:lpstr>Digital Forensics Role in SOC</vt:lpstr>
      <vt:lpstr>Digital Forensics Role in SOC</vt:lpstr>
      <vt:lpstr>Digital Forensics Role in SOC</vt:lpstr>
      <vt:lpstr>Digital Forensics Role in SOC</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Karthikeyan Subramanian</dc:creator>
  <cp:lastModifiedBy>Qais Al Janabi</cp:lastModifiedBy>
  <cp:revision>12</cp:revision>
  <dcterms:created xsi:type="dcterms:W3CDTF">2024-01-08T13:56:07Z</dcterms:created>
  <dcterms:modified xsi:type="dcterms:W3CDTF">2026-02-03T06:58:21Z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2024-09-26T08:33:44Z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dc2b733b-a224-4576-9839-d0ca720b0032</vt:lpwstr>
  </property>
  <property fmtid="{D5CDD505-2E9C-101B-9397-08002B2CF9AE}" pid="7" name="MSIP_Label_defa4170-0d19-0005-0004-bc88714345d2_ActionId">
    <vt:lpwstr>447ba64a-e191-4bf7-a7fa-b436ebeab41d</vt:lpwstr>
  </property>
  <property fmtid="{D5CDD505-2E9C-101B-9397-08002B2CF9AE}" pid="8" name="MSIP_Label_defa4170-0d19-0005-0004-bc88714345d2_ContentBits">
    <vt:lpwstr>0</vt:lpwstr>
  </property>
  <property fmtid="{D5CDD505-2E9C-101B-9397-08002B2CF9AE}" pid="9" name="ContentTypeId">
    <vt:lpwstr>0x010100247F44AC08C22843AA6B00621437D67C</vt:lpwstr>
  </property>
</Properties>
</file>